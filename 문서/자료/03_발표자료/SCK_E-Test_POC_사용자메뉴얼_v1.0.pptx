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36"/>
  </p:notesMasterIdLst>
  <p:sldIdLst>
    <p:sldId id="257" r:id="rId2"/>
    <p:sldId id="289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88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90" r:id="rId34"/>
    <p:sldId id="287" r:id="rId35"/>
  </p:sldIdLst>
  <p:sldSz cx="9906000" cy="6858000" type="A4"/>
  <p:notesSz cx="6805613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8DEA"/>
    <a:srgbClr val="F74E19"/>
    <a:srgbClr val="3A98E6"/>
    <a:srgbClr val="009CE1"/>
    <a:srgbClr val="F2F2F2"/>
    <a:srgbClr val="1283B6"/>
    <a:srgbClr val="4AABC6"/>
    <a:srgbClr val="4BDAE1"/>
    <a:srgbClr val="376889"/>
    <a:srgbClr val="0D97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33" autoAdjust="0"/>
    <p:restoredTop sz="91841" autoAdjust="0"/>
  </p:normalViewPr>
  <p:slideViewPr>
    <p:cSldViewPr snapToGrid="0">
      <p:cViewPr varScale="1">
        <p:scale>
          <a:sx n="84" d="100"/>
          <a:sy n="84" d="100"/>
        </p:scale>
        <p:origin x="1464" y="76"/>
      </p:cViewPr>
      <p:guideLst/>
    </p:cSldViewPr>
  </p:slideViewPr>
  <p:outlineViewPr>
    <p:cViewPr>
      <p:scale>
        <a:sx n="33" d="100"/>
        <a:sy n="33" d="100"/>
      </p:scale>
      <p:origin x="0" y="-209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90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1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0E5B6F-C10B-4B3A-83EF-10CE51EA9189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3463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C71613-9850-4640-BEA1-E291504B1E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4023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jpeg"/><Relationship Id="rId4" Type="http://schemas.openxmlformats.org/officeDocument/2006/relationships/image" Target="../media/image10.emf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내용 개체 틀 3"/>
          <p:cNvSpPr>
            <a:spLocks noGrp="1"/>
          </p:cNvSpPr>
          <p:nvPr>
            <p:ph sz="quarter" idx="16" hasCustomPrompt="1"/>
          </p:nvPr>
        </p:nvSpPr>
        <p:spPr>
          <a:xfrm>
            <a:off x="331931" y="286891"/>
            <a:ext cx="1597298" cy="276225"/>
          </a:xfrm>
        </p:spPr>
        <p:txBody>
          <a:bodyPr>
            <a:noAutofit/>
          </a:bodyPr>
          <a:lstStyle>
            <a:lvl1pPr marL="0" indent="0">
              <a:buNone/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ko-KR" altLang="en-US" dirty="0" err="1" smtClean="0"/>
              <a:t>고객사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CI (optional)</a:t>
            </a:r>
            <a:endParaRPr lang="ko-KR" altLang="en-US" dirty="0"/>
          </a:p>
        </p:txBody>
      </p:sp>
      <p:sp>
        <p:nvSpPr>
          <p:cNvPr id="15" name="모서리가 둥근 직사각형 14"/>
          <p:cNvSpPr/>
          <p:nvPr userDrawn="1"/>
        </p:nvSpPr>
        <p:spPr>
          <a:xfrm flipH="1">
            <a:off x="1044250" y="951722"/>
            <a:ext cx="6428792" cy="4712335"/>
          </a:xfrm>
          <a:prstGeom prst="roundRect">
            <a:avLst>
              <a:gd name="adj" fmla="val 3485"/>
            </a:avLst>
          </a:prstGeom>
          <a:solidFill>
            <a:srgbClr val="028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모서리가 둥근 직사각형 15"/>
          <p:cNvSpPr/>
          <p:nvPr userDrawn="1"/>
        </p:nvSpPr>
        <p:spPr>
          <a:xfrm>
            <a:off x="4617875" y="951722"/>
            <a:ext cx="2855167" cy="1951214"/>
          </a:xfrm>
          <a:prstGeom prst="roundRect">
            <a:avLst>
              <a:gd name="adj" fmla="val 0"/>
            </a:avLst>
          </a:prstGeom>
          <a:solidFill>
            <a:srgbClr val="028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이등변 삼각형 4"/>
          <p:cNvSpPr/>
          <p:nvPr userDrawn="1"/>
        </p:nvSpPr>
        <p:spPr>
          <a:xfrm flipH="1">
            <a:off x="4798025" y="2024331"/>
            <a:ext cx="4982547" cy="3905832"/>
          </a:xfrm>
          <a:custGeom>
            <a:avLst/>
            <a:gdLst>
              <a:gd name="connsiteX0" fmla="*/ 0 w 4982547"/>
              <a:gd name="connsiteY0" fmla="*/ 4086807 h 4086807"/>
              <a:gd name="connsiteX1" fmla="*/ 1721271 w 4982547"/>
              <a:gd name="connsiteY1" fmla="*/ 0 h 4086807"/>
              <a:gd name="connsiteX2" fmla="*/ 4982547 w 4982547"/>
              <a:gd name="connsiteY2" fmla="*/ 4086807 h 4086807"/>
              <a:gd name="connsiteX3" fmla="*/ 0 w 4982547"/>
              <a:gd name="connsiteY3" fmla="*/ 4086807 h 4086807"/>
              <a:gd name="connsiteX0" fmla="*/ 0 w 4982547"/>
              <a:gd name="connsiteY0" fmla="*/ 3905832 h 3905832"/>
              <a:gd name="connsiteX1" fmla="*/ 1616496 w 4982547"/>
              <a:gd name="connsiteY1" fmla="*/ 0 h 3905832"/>
              <a:gd name="connsiteX2" fmla="*/ 4982547 w 4982547"/>
              <a:gd name="connsiteY2" fmla="*/ 3905832 h 3905832"/>
              <a:gd name="connsiteX3" fmla="*/ 0 w 4982547"/>
              <a:gd name="connsiteY3" fmla="*/ 3905832 h 3905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82547" h="3905832">
                <a:moveTo>
                  <a:pt x="0" y="3905832"/>
                </a:moveTo>
                <a:lnTo>
                  <a:pt x="1616496" y="0"/>
                </a:lnTo>
                <a:lnTo>
                  <a:pt x="4982547" y="3905832"/>
                </a:lnTo>
                <a:lnTo>
                  <a:pt x="0" y="390583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1311569" y="2830036"/>
            <a:ext cx="5826349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그림 2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509"/>
          <a:stretch/>
        </p:blipFill>
        <p:spPr>
          <a:xfrm>
            <a:off x="975437" y="5951663"/>
            <a:ext cx="1398939" cy="504090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45033" y="3843453"/>
            <a:ext cx="1980000" cy="1631250"/>
          </a:xfrm>
          <a:prstGeom prst="rect">
            <a:avLst/>
          </a:prstGeom>
        </p:spPr>
      </p:pic>
      <p:sp>
        <p:nvSpPr>
          <p:cNvPr id="23" name="TextBox 22"/>
          <p:cNvSpPr txBox="1"/>
          <p:nvPr userDrawn="1"/>
        </p:nvSpPr>
        <p:spPr>
          <a:xfrm>
            <a:off x="2374376" y="6188025"/>
            <a:ext cx="32624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© 2026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Miracom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Inc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Co., Ltd.</a:t>
            </a:r>
            <a:r>
              <a:rPr lang="en-US" altLang="ko-KR" sz="900" b="0" baseline="0" dirty="0" smtClean="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All rights reserved   |  Confidential </a:t>
            </a:r>
          </a:p>
        </p:txBody>
      </p:sp>
    </p:spTree>
    <p:extLst>
      <p:ext uri="{BB962C8B-B14F-4D97-AF65-F5344CB8AC3E}">
        <p14:creationId xmlns:p14="http://schemas.microsoft.com/office/powerpoint/2010/main" val="2288213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877078" y="984160"/>
            <a:ext cx="4683967" cy="106729"/>
          </a:xfrm>
          <a:prstGeom prst="rect">
            <a:avLst/>
          </a:prstGeom>
          <a:solidFill>
            <a:srgbClr val="028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/>
          <p:cNvSpPr/>
          <p:nvPr userDrawn="1"/>
        </p:nvSpPr>
        <p:spPr>
          <a:xfrm>
            <a:off x="877078" y="4333850"/>
            <a:ext cx="4683967" cy="106729"/>
          </a:xfrm>
          <a:prstGeom prst="rect">
            <a:avLst/>
          </a:prstGeom>
          <a:solidFill>
            <a:srgbClr val="028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 userDrawn="1"/>
        </p:nvSpPr>
        <p:spPr>
          <a:xfrm>
            <a:off x="0" y="6064898"/>
            <a:ext cx="9906000" cy="7931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509"/>
          <a:stretch/>
        </p:blipFill>
        <p:spPr>
          <a:xfrm>
            <a:off x="8508768" y="6206474"/>
            <a:ext cx="1268152" cy="456962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737119" y="6353727"/>
            <a:ext cx="32624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© 2026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Miracom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Inc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Co., Ltd.</a:t>
            </a:r>
            <a:r>
              <a:rPr lang="en-US" altLang="ko-KR" sz="900" b="0" baseline="0" dirty="0" smtClean="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All rights reserved   |  Confidential </a:t>
            </a: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998495" y="1946644"/>
            <a:ext cx="1980000" cy="1631250"/>
          </a:xfrm>
          <a:prstGeom prst="rect">
            <a:avLst/>
          </a:prstGeom>
        </p:spPr>
      </p:pic>
      <p:sp>
        <p:nvSpPr>
          <p:cNvPr id="25" name="Title 1"/>
          <p:cNvSpPr>
            <a:spLocks noGrp="1"/>
          </p:cNvSpPr>
          <p:nvPr>
            <p:ph type="ctrTitle"/>
          </p:nvPr>
        </p:nvSpPr>
        <p:spPr>
          <a:xfrm>
            <a:off x="877079" y="1366962"/>
            <a:ext cx="5106568" cy="1300342"/>
          </a:xfrm>
        </p:spPr>
        <p:txBody>
          <a:bodyPr vert="horz" lIns="0" tIns="45720" rIns="91440" bIns="45720" rtlCol="0" anchor="t">
            <a:noAutofit/>
          </a:bodyPr>
          <a:lstStyle>
            <a:lvl1pPr>
              <a:defRPr 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ct val="20000"/>
              </a:spcBef>
              <a:buFont typeface="Arial" pitchFamily="34" charset="0"/>
            </a:pPr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26" name="Subtitle 2"/>
          <p:cNvSpPr>
            <a:spLocks noGrp="1"/>
          </p:cNvSpPr>
          <p:nvPr>
            <p:ph type="subTitle" idx="1"/>
          </p:nvPr>
        </p:nvSpPr>
        <p:spPr>
          <a:xfrm>
            <a:off x="877078" y="2727427"/>
            <a:ext cx="4249272" cy="882784"/>
          </a:xfrm>
        </p:spPr>
        <p:txBody>
          <a:bodyPr vert="horz" lIns="0" tIns="45720" rIns="91440" bIns="45720" rtlCol="0">
            <a:noAutofit/>
          </a:bodyPr>
          <a:lstStyle>
            <a:lvl1pPr>
              <a:def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spcBef>
                <a:spcPct val="20000"/>
              </a:spcBef>
              <a:buNone/>
            </a:pPr>
            <a:r>
              <a:rPr lang="ko-KR" altLang="en-US" dirty="0" smtClean="0"/>
              <a:t>마스터 부제목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451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9"/>
          <p:cNvSpPr txBox="1">
            <a:spLocks noChangeArrowheads="1"/>
          </p:cNvSpPr>
          <p:nvPr userDrawn="1"/>
        </p:nvSpPr>
        <p:spPr bwMode="auto">
          <a:xfrm>
            <a:off x="452500" y="6424420"/>
            <a:ext cx="3701985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>
            <a:spAutoFit/>
          </a:bodyPr>
          <a:lstStyle/>
          <a:p>
            <a:pPr marL="0" marR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© 2026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Miracom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Inc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Co., Ltd.</a:t>
            </a:r>
            <a:r>
              <a:rPr lang="en-US" altLang="ko-KR" sz="900" b="0" baseline="0" dirty="0" smtClean="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All rights reserved   |  Confidential </a:t>
            </a:r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509"/>
          <a:stretch/>
        </p:blipFill>
        <p:spPr>
          <a:xfrm>
            <a:off x="8240824" y="6141523"/>
            <a:ext cx="1425691" cy="513729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758458" y="2594219"/>
            <a:ext cx="5106568" cy="1300342"/>
          </a:xfrm>
        </p:spPr>
        <p:txBody>
          <a:bodyPr vert="horz" lIns="0" tIns="45720" rIns="91440" bIns="45720" rtlCol="0" anchor="t">
            <a:noAutofit/>
          </a:bodyPr>
          <a:lstStyle>
            <a:lvl1pPr>
              <a:defRPr lang="en-US" sz="3200" b="1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ct val="20000"/>
              </a:spcBef>
              <a:buFont typeface="Arial" pitchFamily="34" charset="0"/>
            </a:pPr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6" name="내용 개체 틀 3"/>
          <p:cNvSpPr>
            <a:spLocks noGrp="1"/>
          </p:cNvSpPr>
          <p:nvPr>
            <p:ph sz="quarter" idx="16" hasCustomPrompt="1"/>
          </p:nvPr>
        </p:nvSpPr>
        <p:spPr>
          <a:xfrm>
            <a:off x="331931" y="286891"/>
            <a:ext cx="1597298" cy="276225"/>
          </a:xfrm>
        </p:spPr>
        <p:txBody>
          <a:bodyPr>
            <a:noAutofit/>
          </a:bodyPr>
          <a:lstStyle>
            <a:lvl1pPr marL="0" indent="0">
              <a:buNone/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ko-KR" altLang="en-US" dirty="0" err="1" smtClean="0"/>
              <a:t>고객사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CI (optional)</a:t>
            </a:r>
            <a:endParaRPr lang="ko-KR" altLang="en-US" dirty="0"/>
          </a:p>
        </p:txBody>
      </p:sp>
      <p:pic>
        <p:nvPicPr>
          <p:cNvPr id="7" name="Picture 8" descr="반도체부문영문좌우조합-1"/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0" y="0"/>
            <a:ext cx="2135188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768515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175" y="1380566"/>
            <a:ext cx="8693649" cy="409686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9087" y="2128657"/>
            <a:ext cx="5106568" cy="1300342"/>
          </a:xfrm>
        </p:spPr>
        <p:txBody>
          <a:bodyPr vert="horz" lIns="0" tIns="45720" rIns="91440" bIns="45720" rtlCol="0" anchor="t">
            <a:noAutofit/>
          </a:bodyPr>
          <a:lstStyle>
            <a:lvl1pPr>
              <a:defRPr lang="en-US" sz="3200" b="1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ct val="20000"/>
              </a:spcBef>
              <a:buFont typeface="Arial" pitchFamily="34" charset="0"/>
            </a:pPr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89086" y="3489122"/>
            <a:ext cx="4249272" cy="882784"/>
          </a:xfrm>
        </p:spPr>
        <p:txBody>
          <a:bodyPr vert="horz" lIns="0" tIns="45720" rIns="91440" bIns="45720" rtlCol="0">
            <a:noAutofit/>
          </a:bodyPr>
          <a:lstStyle>
            <a:lvl1pPr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indent="0">
              <a:spcBef>
                <a:spcPct val="20000"/>
              </a:spcBef>
              <a:buNone/>
            </a:pPr>
            <a:r>
              <a:rPr lang="ko-KR" altLang="en-US" dirty="0" smtClean="0"/>
              <a:t>마스터 부제목 스타일 편집</a:t>
            </a:r>
            <a:endParaRPr 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7" t="1461" r="5575" b="59767"/>
          <a:stretch/>
        </p:blipFill>
        <p:spPr>
          <a:xfrm>
            <a:off x="8240028" y="6068987"/>
            <a:ext cx="1145555" cy="458923"/>
          </a:xfrm>
          <a:prstGeom prst="rect">
            <a:avLst/>
          </a:prstGeom>
        </p:spPr>
      </p:pic>
      <p:sp>
        <p:nvSpPr>
          <p:cNvPr id="17" name="내용 개체 틀 3"/>
          <p:cNvSpPr>
            <a:spLocks noGrp="1"/>
          </p:cNvSpPr>
          <p:nvPr>
            <p:ph sz="quarter" idx="16" hasCustomPrompt="1"/>
          </p:nvPr>
        </p:nvSpPr>
        <p:spPr>
          <a:xfrm>
            <a:off x="331931" y="286891"/>
            <a:ext cx="1597298" cy="276225"/>
          </a:xfrm>
        </p:spPr>
        <p:txBody>
          <a:bodyPr>
            <a:noAutofit/>
          </a:bodyPr>
          <a:lstStyle>
            <a:lvl1pPr marL="0" indent="0">
              <a:buNone/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ko-KR" altLang="en-US" dirty="0" err="1" smtClean="0"/>
              <a:t>고객사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CI (optional)</a:t>
            </a:r>
            <a:endParaRPr lang="ko-KR" altLang="en-US" dirty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4977596" y="6248348"/>
            <a:ext cx="32624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© 2026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Miracom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Inc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Co., Ltd.</a:t>
            </a:r>
            <a:r>
              <a:rPr lang="en-US" altLang="ko-KR" sz="900" b="0" baseline="0" dirty="0" smtClean="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All rights reserved   |  Confidential </a:t>
            </a:r>
          </a:p>
        </p:txBody>
      </p:sp>
      <p:pic>
        <p:nvPicPr>
          <p:cNvPr id="8" name="Picture 8" descr="반도체부문영문좌우조합-1"/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0" y="11394"/>
            <a:ext cx="2135188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65416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573633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07715" y="1355782"/>
            <a:ext cx="4998285" cy="1300342"/>
          </a:xfrm>
        </p:spPr>
        <p:txBody>
          <a:bodyPr vert="horz" lIns="0" tIns="45720" rIns="91440" bIns="45720" rtlCol="0" anchor="t">
            <a:noAutofit/>
          </a:bodyPr>
          <a:lstStyle>
            <a:lvl1pPr>
              <a:defRPr lang="en-US" sz="3200" b="1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ct val="20000"/>
              </a:spcBef>
              <a:buFont typeface="Arial" pitchFamily="34" charset="0"/>
            </a:pPr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0870" y="3796092"/>
            <a:ext cx="4249272" cy="882784"/>
          </a:xfrm>
        </p:spPr>
        <p:txBody>
          <a:bodyPr vert="horz" lIns="0" tIns="45720" rIns="91440" bIns="45720" rtlCol="0">
            <a:noAutofit/>
          </a:bodyPr>
          <a:lstStyle>
            <a:lvl1pPr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indent="0">
              <a:spcBef>
                <a:spcPct val="20000"/>
              </a:spcBef>
              <a:buNone/>
            </a:pPr>
            <a:r>
              <a:rPr lang="ko-KR" altLang="en-US" dirty="0" smtClean="0"/>
              <a:t>마스터 부제목 스타일 편집</a:t>
            </a:r>
            <a:endParaRPr 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7" t="1461" r="5575" b="59767"/>
          <a:stretch/>
        </p:blipFill>
        <p:spPr>
          <a:xfrm>
            <a:off x="8714068" y="6069419"/>
            <a:ext cx="992149" cy="397467"/>
          </a:xfrm>
          <a:prstGeom prst="rect">
            <a:avLst/>
          </a:prstGeom>
        </p:spPr>
      </p:pic>
      <p:sp>
        <p:nvSpPr>
          <p:cNvPr id="17" name="내용 개체 틀 3"/>
          <p:cNvSpPr>
            <a:spLocks noGrp="1"/>
          </p:cNvSpPr>
          <p:nvPr>
            <p:ph sz="quarter" idx="16" hasCustomPrompt="1"/>
          </p:nvPr>
        </p:nvSpPr>
        <p:spPr>
          <a:xfrm>
            <a:off x="331931" y="286891"/>
            <a:ext cx="1597298" cy="276225"/>
          </a:xfrm>
        </p:spPr>
        <p:txBody>
          <a:bodyPr>
            <a:noAutofit/>
          </a:bodyPr>
          <a:lstStyle>
            <a:lvl1pPr marL="0" indent="0">
              <a:buNone/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ko-KR" altLang="en-US" dirty="0" err="1" smtClean="0"/>
              <a:t>고객사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CI (optional)</a:t>
            </a:r>
            <a:endParaRPr lang="ko-KR" altLang="en-US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331931" y="6236054"/>
            <a:ext cx="32624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© 2026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Miracom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Inc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Co., Ltd.</a:t>
            </a:r>
            <a:r>
              <a:rPr lang="en-US" altLang="ko-KR" sz="900" b="0" baseline="0" dirty="0" smtClean="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All rights reserved   |  Confidential </a:t>
            </a:r>
          </a:p>
        </p:txBody>
      </p:sp>
      <p:pic>
        <p:nvPicPr>
          <p:cNvPr id="9" name="Picture 8" descr="반도체부문영문좌우조합-1"/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0" y="0"/>
            <a:ext cx="2135188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78770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5573889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7" t="1461" r="5575" b="59767"/>
          <a:stretch/>
        </p:blipFill>
        <p:spPr>
          <a:xfrm>
            <a:off x="8687898" y="6207359"/>
            <a:ext cx="1028748" cy="412129"/>
          </a:xfrm>
          <a:prstGeom prst="rect">
            <a:avLst/>
          </a:prstGeom>
        </p:spPr>
      </p:pic>
      <p:sp>
        <p:nvSpPr>
          <p:cNvPr id="17" name="내용 개체 틀 3"/>
          <p:cNvSpPr>
            <a:spLocks noGrp="1"/>
          </p:cNvSpPr>
          <p:nvPr>
            <p:ph sz="quarter" idx="16" hasCustomPrompt="1"/>
          </p:nvPr>
        </p:nvSpPr>
        <p:spPr>
          <a:xfrm>
            <a:off x="331931" y="286891"/>
            <a:ext cx="1597298" cy="276225"/>
          </a:xfrm>
        </p:spPr>
        <p:txBody>
          <a:bodyPr>
            <a:noAutofit/>
          </a:bodyPr>
          <a:lstStyle>
            <a:lvl1pPr marL="0" indent="0">
              <a:buNone/>
              <a:defRPr sz="1200" baseline="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ko-KR" altLang="en-US" dirty="0" err="1" smtClean="0"/>
              <a:t>고객사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CI (optional)</a:t>
            </a:r>
            <a:endParaRPr lang="ko-KR" altLang="en-US" dirty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405596" y="6328657"/>
            <a:ext cx="32624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© 2026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Miracom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Inc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Co., Ltd.</a:t>
            </a:r>
            <a:r>
              <a:rPr lang="en-US" altLang="ko-KR" sz="900" b="0" baseline="0" dirty="0" smtClean="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All rights reserved   |  Confidential </a:t>
            </a:r>
          </a:p>
        </p:txBody>
      </p:sp>
      <p:sp>
        <p:nvSpPr>
          <p:cNvPr id="7" name="직사각형 6"/>
          <p:cNvSpPr/>
          <p:nvPr userDrawn="1"/>
        </p:nvSpPr>
        <p:spPr>
          <a:xfrm>
            <a:off x="609892" y="712109"/>
            <a:ext cx="4599992" cy="5271796"/>
          </a:xfrm>
          <a:prstGeom prst="rect">
            <a:avLst/>
          </a:prstGeom>
          <a:solidFill>
            <a:srgbClr val="028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9575" y="1358676"/>
            <a:ext cx="4998285" cy="1300342"/>
          </a:xfrm>
        </p:spPr>
        <p:txBody>
          <a:bodyPr vert="horz" lIns="0" tIns="45720" rIns="91440" bIns="45720" rtlCol="0" anchor="t">
            <a:noAutofit/>
          </a:bodyPr>
          <a:lstStyle>
            <a:lvl1pPr>
              <a:defRPr lang="en-US" sz="3200" b="1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ct val="20000"/>
              </a:spcBef>
              <a:buFont typeface="Arial" pitchFamily="34" charset="0"/>
            </a:pPr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9575" y="3348007"/>
            <a:ext cx="4249272" cy="882784"/>
          </a:xfrm>
        </p:spPr>
        <p:txBody>
          <a:bodyPr vert="horz" lIns="0" tIns="45720" rIns="91440" bIns="45720" rtlCol="0">
            <a:noAutofit/>
          </a:bodyPr>
          <a:lstStyle>
            <a:lvl1pPr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indent="0">
              <a:spcBef>
                <a:spcPct val="20000"/>
              </a:spcBef>
              <a:buNone/>
            </a:pPr>
            <a:r>
              <a:rPr lang="ko-KR" altLang="en-US" dirty="0" smtClean="0"/>
              <a:t>마스터 부제목 스타일 편집</a:t>
            </a:r>
            <a:endParaRPr lang="en-US" dirty="0"/>
          </a:p>
        </p:txBody>
      </p:sp>
      <p:sp>
        <p:nvSpPr>
          <p:cNvPr id="9" name="직사각형 8"/>
          <p:cNvSpPr/>
          <p:nvPr userDrawn="1"/>
        </p:nvSpPr>
        <p:spPr>
          <a:xfrm>
            <a:off x="483929" y="583121"/>
            <a:ext cx="4851919" cy="5529773"/>
          </a:xfrm>
          <a:prstGeom prst="rect">
            <a:avLst/>
          </a:prstGeom>
          <a:noFill/>
          <a:ln>
            <a:solidFill>
              <a:srgbClr val="028D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469017" y="5212996"/>
            <a:ext cx="4290803" cy="250830"/>
          </a:xfrm>
          <a:prstGeom prst="rect">
            <a:avLst/>
          </a:prstGeom>
        </p:spPr>
      </p:pic>
      <p:pic>
        <p:nvPicPr>
          <p:cNvPr id="11" name="Picture 8" descr="반도체부문영문좌우조합-1"/>
          <p:cNvPicPr>
            <a:picLocks noChangeAspect="1" noChangeArrowheads="1"/>
          </p:cNvPicPr>
          <p:nvPr userDrawn="1"/>
        </p:nvPicPr>
        <p:blipFill>
          <a:blip r:embed="rId5"/>
          <a:srcRect/>
          <a:stretch>
            <a:fillRect/>
          </a:stretch>
        </p:blipFill>
        <p:spPr bwMode="auto">
          <a:xfrm>
            <a:off x="0" y="-17909"/>
            <a:ext cx="2135188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43331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 userDrawn="1"/>
        </p:nvSpPr>
        <p:spPr>
          <a:xfrm>
            <a:off x="0" y="6184232"/>
            <a:ext cx="9906000" cy="689548"/>
          </a:xfrm>
          <a:prstGeom prst="rect">
            <a:avLst/>
          </a:prstGeom>
          <a:solidFill>
            <a:srgbClr val="D7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7" t="1461" r="5575" b="59767"/>
          <a:stretch/>
        </p:blipFill>
        <p:spPr>
          <a:xfrm>
            <a:off x="8673352" y="6330111"/>
            <a:ext cx="992149" cy="397467"/>
          </a:xfrm>
          <a:prstGeom prst="rect">
            <a:avLst/>
          </a:prstGeom>
        </p:spPr>
      </p:pic>
      <p:sp>
        <p:nvSpPr>
          <p:cNvPr id="20" name="텍스트 개체 틀 19"/>
          <p:cNvSpPr>
            <a:spLocks noGrp="1"/>
          </p:cNvSpPr>
          <p:nvPr>
            <p:ph type="body" sz="quarter" idx="13"/>
          </p:nvPr>
        </p:nvSpPr>
        <p:spPr>
          <a:xfrm>
            <a:off x="4124330" y="1397711"/>
            <a:ext cx="4868156" cy="2551112"/>
          </a:xfrm>
        </p:spPr>
        <p:txBody>
          <a:bodyPr>
            <a:normAutofit/>
          </a:bodyPr>
          <a:lstStyle>
            <a:lvl1pPr marL="361950" indent="-361950">
              <a:buFont typeface="+mj-lt"/>
              <a:buAutoNum type="romanUcPeriod"/>
              <a:defRPr sz="18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21" name="TextBox 20"/>
          <p:cNvSpPr txBox="1"/>
          <p:nvPr userDrawn="1"/>
        </p:nvSpPr>
        <p:spPr>
          <a:xfrm>
            <a:off x="1001676" y="1394537"/>
            <a:ext cx="1908212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algn="l" defTabSz="914400" rtl="0" eaLnBrk="1" latinLnBrk="1" hangingPunct="1"/>
            <a:r>
              <a:rPr lang="en-US" altLang="ko-KR" sz="4000" b="1" kern="1200" dirty="0" smtClean="0">
                <a:solidFill>
                  <a:srgbClr val="028DE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Agenda</a:t>
            </a:r>
            <a:endParaRPr lang="ko-KR" altLang="en-US" sz="4000" b="1" kern="1200" dirty="0" err="1" smtClean="0">
              <a:solidFill>
                <a:srgbClr val="028DEA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440766" y="6413428"/>
            <a:ext cx="32624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© 2026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Miracom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Inc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Co., Ltd.</a:t>
            </a:r>
            <a:r>
              <a:rPr lang="en-US" altLang="ko-KR" sz="900" b="0" baseline="0" dirty="0" smtClean="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All rights reserved   |  Confidential </a:t>
            </a:r>
          </a:p>
        </p:txBody>
      </p:sp>
    </p:spTree>
    <p:extLst>
      <p:ext uri="{BB962C8B-B14F-4D97-AF65-F5344CB8AC3E}">
        <p14:creationId xmlns:p14="http://schemas.microsoft.com/office/powerpoint/2010/main" val="3895574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1013791"/>
            <a:ext cx="5933661" cy="696806"/>
          </a:xfrm>
          <a:prstGeom prst="rect">
            <a:avLst/>
          </a:prstGeom>
          <a:solidFill>
            <a:srgbClr val="028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자유형 7"/>
          <p:cNvSpPr/>
          <p:nvPr userDrawn="1"/>
        </p:nvSpPr>
        <p:spPr>
          <a:xfrm>
            <a:off x="1302026" y="875383"/>
            <a:ext cx="7729329" cy="2680869"/>
          </a:xfrm>
          <a:custGeom>
            <a:avLst/>
            <a:gdLst>
              <a:gd name="connsiteX0" fmla="*/ 2768600 w 5723467"/>
              <a:gd name="connsiteY0" fmla="*/ 25400 h 4114800"/>
              <a:gd name="connsiteX1" fmla="*/ 0 w 5723467"/>
              <a:gd name="connsiteY1" fmla="*/ 4106333 h 4114800"/>
              <a:gd name="connsiteX2" fmla="*/ 5715000 w 5723467"/>
              <a:gd name="connsiteY2" fmla="*/ 4114800 h 4114800"/>
              <a:gd name="connsiteX3" fmla="*/ 5723467 w 5723467"/>
              <a:gd name="connsiteY3" fmla="*/ 0 h 4114800"/>
              <a:gd name="connsiteX4" fmla="*/ 2768600 w 5723467"/>
              <a:gd name="connsiteY4" fmla="*/ 25400 h 4114800"/>
              <a:gd name="connsiteX0" fmla="*/ 1074882 w 5723467"/>
              <a:gd name="connsiteY0" fmla="*/ 77354 h 4114800"/>
              <a:gd name="connsiteX1" fmla="*/ 0 w 5723467"/>
              <a:gd name="connsiteY1" fmla="*/ 4106333 h 4114800"/>
              <a:gd name="connsiteX2" fmla="*/ 5715000 w 5723467"/>
              <a:gd name="connsiteY2" fmla="*/ 4114800 h 4114800"/>
              <a:gd name="connsiteX3" fmla="*/ 5723467 w 5723467"/>
              <a:gd name="connsiteY3" fmla="*/ 0 h 4114800"/>
              <a:gd name="connsiteX4" fmla="*/ 1074882 w 5723467"/>
              <a:gd name="connsiteY4" fmla="*/ 77354 h 4114800"/>
              <a:gd name="connsiteX0" fmla="*/ 2010064 w 6658649"/>
              <a:gd name="connsiteY0" fmla="*/ 77354 h 4116724"/>
              <a:gd name="connsiteX1" fmla="*/ 0 w 6658649"/>
              <a:gd name="connsiteY1" fmla="*/ 4116724 h 4116724"/>
              <a:gd name="connsiteX2" fmla="*/ 6650182 w 6658649"/>
              <a:gd name="connsiteY2" fmla="*/ 4114800 h 4116724"/>
              <a:gd name="connsiteX3" fmla="*/ 6658649 w 6658649"/>
              <a:gd name="connsiteY3" fmla="*/ 0 h 4116724"/>
              <a:gd name="connsiteX4" fmla="*/ 2010064 w 6658649"/>
              <a:gd name="connsiteY4" fmla="*/ 77354 h 4116724"/>
              <a:gd name="connsiteX0" fmla="*/ 2010064 w 6658649"/>
              <a:gd name="connsiteY0" fmla="*/ 28118 h 4116724"/>
              <a:gd name="connsiteX1" fmla="*/ 0 w 6658649"/>
              <a:gd name="connsiteY1" fmla="*/ 4116724 h 4116724"/>
              <a:gd name="connsiteX2" fmla="*/ 6650182 w 6658649"/>
              <a:gd name="connsiteY2" fmla="*/ 4114800 h 4116724"/>
              <a:gd name="connsiteX3" fmla="*/ 6658649 w 6658649"/>
              <a:gd name="connsiteY3" fmla="*/ 0 h 4116724"/>
              <a:gd name="connsiteX4" fmla="*/ 2010064 w 6658649"/>
              <a:gd name="connsiteY4" fmla="*/ 28118 h 4116724"/>
              <a:gd name="connsiteX0" fmla="*/ 2010064 w 6658649"/>
              <a:gd name="connsiteY0" fmla="*/ 0 h 4088606"/>
              <a:gd name="connsiteX1" fmla="*/ 0 w 6658649"/>
              <a:gd name="connsiteY1" fmla="*/ 4088606 h 4088606"/>
              <a:gd name="connsiteX2" fmla="*/ 6650182 w 6658649"/>
              <a:gd name="connsiteY2" fmla="*/ 4086682 h 4088606"/>
              <a:gd name="connsiteX3" fmla="*/ 6658649 w 6658649"/>
              <a:gd name="connsiteY3" fmla="*/ 77390 h 4088606"/>
              <a:gd name="connsiteX4" fmla="*/ 2010064 w 6658649"/>
              <a:gd name="connsiteY4" fmla="*/ 0 h 4088606"/>
              <a:gd name="connsiteX0" fmla="*/ 2010064 w 6650479"/>
              <a:gd name="connsiteY0" fmla="*/ 7016 h 4095622"/>
              <a:gd name="connsiteX1" fmla="*/ 0 w 6650479"/>
              <a:gd name="connsiteY1" fmla="*/ 4095622 h 4095622"/>
              <a:gd name="connsiteX2" fmla="*/ 6650182 w 6650479"/>
              <a:gd name="connsiteY2" fmla="*/ 4093698 h 4095622"/>
              <a:gd name="connsiteX3" fmla="*/ 6637548 w 6650479"/>
              <a:gd name="connsiteY3" fmla="*/ 0 h 4095622"/>
              <a:gd name="connsiteX4" fmla="*/ 2010064 w 6650479"/>
              <a:gd name="connsiteY4" fmla="*/ 7016 h 4095622"/>
              <a:gd name="connsiteX0" fmla="*/ 2010064 w 6650640"/>
              <a:gd name="connsiteY0" fmla="*/ 7016 h 4095622"/>
              <a:gd name="connsiteX1" fmla="*/ 0 w 6650640"/>
              <a:gd name="connsiteY1" fmla="*/ 4095622 h 4095622"/>
              <a:gd name="connsiteX2" fmla="*/ 6650182 w 6650640"/>
              <a:gd name="connsiteY2" fmla="*/ 4093698 h 4095622"/>
              <a:gd name="connsiteX3" fmla="*/ 6644581 w 6650640"/>
              <a:gd name="connsiteY3" fmla="*/ 0 h 4095622"/>
              <a:gd name="connsiteX4" fmla="*/ 2010064 w 6650640"/>
              <a:gd name="connsiteY4" fmla="*/ 7016 h 4095622"/>
              <a:gd name="connsiteX0" fmla="*/ 2018531 w 6650640"/>
              <a:gd name="connsiteY0" fmla="*/ 0 h 4101306"/>
              <a:gd name="connsiteX1" fmla="*/ 0 w 6650640"/>
              <a:gd name="connsiteY1" fmla="*/ 4101306 h 4101306"/>
              <a:gd name="connsiteX2" fmla="*/ 6650182 w 6650640"/>
              <a:gd name="connsiteY2" fmla="*/ 4099382 h 4101306"/>
              <a:gd name="connsiteX3" fmla="*/ 6644581 w 6650640"/>
              <a:gd name="connsiteY3" fmla="*/ 5684 h 4101306"/>
              <a:gd name="connsiteX4" fmla="*/ 2018531 w 6650640"/>
              <a:gd name="connsiteY4" fmla="*/ 0 h 4101306"/>
              <a:gd name="connsiteX0" fmla="*/ 2018531 w 6650527"/>
              <a:gd name="connsiteY0" fmla="*/ 2782 h 4104088"/>
              <a:gd name="connsiteX1" fmla="*/ 0 w 6650527"/>
              <a:gd name="connsiteY1" fmla="*/ 4104088 h 4104088"/>
              <a:gd name="connsiteX2" fmla="*/ 6650182 w 6650527"/>
              <a:gd name="connsiteY2" fmla="*/ 4102164 h 4104088"/>
              <a:gd name="connsiteX3" fmla="*/ 6640348 w 6650527"/>
              <a:gd name="connsiteY3" fmla="*/ 0 h 4104088"/>
              <a:gd name="connsiteX4" fmla="*/ 2018531 w 6650527"/>
              <a:gd name="connsiteY4" fmla="*/ 2782 h 4104088"/>
              <a:gd name="connsiteX0" fmla="*/ 2018531 w 6650865"/>
              <a:gd name="connsiteY0" fmla="*/ 2782 h 4104088"/>
              <a:gd name="connsiteX1" fmla="*/ 0 w 6650865"/>
              <a:gd name="connsiteY1" fmla="*/ 4104088 h 4104088"/>
              <a:gd name="connsiteX2" fmla="*/ 6650182 w 6650865"/>
              <a:gd name="connsiteY2" fmla="*/ 4102164 h 4104088"/>
              <a:gd name="connsiteX3" fmla="*/ 6648815 w 6650865"/>
              <a:gd name="connsiteY3" fmla="*/ 0 h 4104088"/>
              <a:gd name="connsiteX4" fmla="*/ 2018531 w 6650865"/>
              <a:gd name="connsiteY4" fmla="*/ 2782 h 4104088"/>
              <a:gd name="connsiteX0" fmla="*/ 2018531 w 6650865"/>
              <a:gd name="connsiteY0" fmla="*/ 2782 h 4106397"/>
              <a:gd name="connsiteX1" fmla="*/ 0 w 6650865"/>
              <a:gd name="connsiteY1" fmla="*/ 4104088 h 4106397"/>
              <a:gd name="connsiteX2" fmla="*/ 6650182 w 6650865"/>
              <a:gd name="connsiteY2" fmla="*/ 4106397 h 4106397"/>
              <a:gd name="connsiteX3" fmla="*/ 6648815 w 6650865"/>
              <a:gd name="connsiteY3" fmla="*/ 0 h 4106397"/>
              <a:gd name="connsiteX4" fmla="*/ 2018531 w 6650865"/>
              <a:gd name="connsiteY4" fmla="*/ 2782 h 4106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50865" h="4106397">
                <a:moveTo>
                  <a:pt x="2018531" y="2782"/>
                </a:moveTo>
                <a:lnTo>
                  <a:pt x="0" y="4104088"/>
                </a:lnTo>
                <a:lnTo>
                  <a:pt x="6650182" y="4106397"/>
                </a:lnTo>
                <a:cubicBezTo>
                  <a:pt x="6653004" y="2734797"/>
                  <a:pt x="6645993" y="1371600"/>
                  <a:pt x="6648815" y="0"/>
                </a:cubicBezTo>
                <a:lnTo>
                  <a:pt x="2018531" y="278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7" t="1461" r="5575" b="59767"/>
          <a:stretch/>
        </p:blipFill>
        <p:spPr>
          <a:xfrm>
            <a:off x="8673352" y="6330111"/>
            <a:ext cx="992149" cy="397467"/>
          </a:xfrm>
          <a:prstGeom prst="rect">
            <a:avLst/>
          </a:prstGeom>
        </p:spPr>
      </p:pic>
      <p:sp>
        <p:nvSpPr>
          <p:cNvPr id="20" name="텍스트 개체 틀 19"/>
          <p:cNvSpPr>
            <a:spLocks noGrp="1"/>
          </p:cNvSpPr>
          <p:nvPr>
            <p:ph type="body" sz="quarter" idx="13"/>
          </p:nvPr>
        </p:nvSpPr>
        <p:spPr>
          <a:xfrm>
            <a:off x="3267601" y="2007160"/>
            <a:ext cx="5246462" cy="2934407"/>
          </a:xfrm>
        </p:spPr>
        <p:txBody>
          <a:bodyPr>
            <a:normAutofit/>
          </a:bodyPr>
          <a:lstStyle>
            <a:lvl1pPr marL="361950" indent="-361950">
              <a:buFont typeface="+mj-lt"/>
              <a:buAutoNum type="romanUcPeriod"/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21" name="TextBox 20"/>
          <p:cNvSpPr txBox="1"/>
          <p:nvPr userDrawn="1"/>
        </p:nvSpPr>
        <p:spPr>
          <a:xfrm>
            <a:off x="794652" y="1183007"/>
            <a:ext cx="2056502" cy="31861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algn="l" defTabSz="914400" rtl="0" eaLnBrk="1" latinLnBrk="1" hangingPunct="1"/>
            <a:r>
              <a:rPr lang="en-US" altLang="ko-KR" sz="3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Agenda</a:t>
            </a:r>
            <a:endParaRPr lang="ko-KR" altLang="en-US" sz="3200" b="1" kern="1200" dirty="0" err="1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440766" y="6413428"/>
            <a:ext cx="32624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© 2026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Miracom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900" b="1" dirty="0" err="1" smtClean="0">
                <a:solidFill>
                  <a:schemeClr val="bg1">
                    <a:lumMod val="50000"/>
                  </a:schemeClr>
                </a:solidFill>
              </a:rPr>
              <a:t>Inc</a:t>
            </a:r>
            <a:r>
              <a:rPr lang="en-US" altLang="ko-KR" sz="900" b="1" dirty="0" smtClean="0">
                <a:solidFill>
                  <a:schemeClr val="bg1">
                    <a:lumMod val="50000"/>
                  </a:schemeClr>
                </a:solidFill>
              </a:rPr>
              <a:t> Co., Ltd.</a:t>
            </a:r>
            <a:r>
              <a:rPr lang="en-US" altLang="ko-KR" sz="900" b="0" baseline="0" dirty="0" smtClean="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lang="en-US" altLang="ko-KR" sz="900" dirty="0" smtClean="0">
                <a:solidFill>
                  <a:schemeClr val="bg1">
                    <a:lumMod val="50000"/>
                  </a:schemeClr>
                </a:solidFill>
              </a:rPr>
              <a:t>All rights reserved   |  Confidential </a:t>
            </a:r>
          </a:p>
        </p:txBody>
      </p:sp>
    </p:spTree>
    <p:extLst>
      <p:ext uri="{BB962C8B-B14F-4D97-AF65-F5344CB8AC3E}">
        <p14:creationId xmlns:p14="http://schemas.microsoft.com/office/powerpoint/2010/main" val="1333802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326571"/>
            <a:ext cx="9906000" cy="7761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974" y="443062"/>
            <a:ext cx="9241467" cy="597399"/>
          </a:xfrm>
        </p:spPr>
        <p:txBody>
          <a:bodyPr>
            <a:normAutofit/>
          </a:bodyPr>
          <a:lstStyle>
            <a:lvl1pPr>
              <a:defRPr sz="2000" b="1">
                <a:solidFill>
                  <a:srgbClr val="028DEA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740" y="1237492"/>
            <a:ext cx="9182554" cy="849614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82175" y="6638575"/>
            <a:ext cx="2228850" cy="139844"/>
          </a:xfrm>
        </p:spPr>
        <p:txBody>
          <a:bodyPr/>
          <a:lstStyle>
            <a:lvl1pPr>
              <a:defRPr sz="1000">
                <a:solidFill>
                  <a:srgbClr val="009CE1"/>
                </a:solidFill>
              </a:defRPr>
            </a:lvl1pPr>
          </a:lstStyle>
          <a:p>
            <a:fld id="{8645AF44-5734-4C67-803C-E5F57A8BDDF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3"/>
          </p:nvPr>
        </p:nvSpPr>
        <p:spPr>
          <a:xfrm>
            <a:off x="7153947" y="76376"/>
            <a:ext cx="2646530" cy="268872"/>
          </a:xfrm>
        </p:spPr>
        <p:txBody>
          <a:bodyPr>
            <a:noAutofit/>
          </a:bodyPr>
          <a:lstStyle>
            <a:lvl1pPr marL="0" indent="0" algn="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14"/>
          </p:nvPr>
        </p:nvSpPr>
        <p:spPr>
          <a:xfrm>
            <a:off x="205740" y="1988449"/>
            <a:ext cx="5087413" cy="1804988"/>
          </a:xfrm>
        </p:spPr>
        <p:txBody>
          <a:bodyPr/>
          <a:lstStyle>
            <a:lvl1pPr marL="185738" indent="-185738">
              <a:buFont typeface="Arial" panose="020B0604020202020204" pitchFamily="34" charset="0"/>
              <a:buChar char="•"/>
              <a:defRPr sz="1400"/>
            </a:lvl1pPr>
            <a:lvl2pPr marL="358775" indent="-173038">
              <a:buFont typeface="Calibri" panose="020F0502020204030204" pitchFamily="34" charset="0"/>
              <a:buChar char="–"/>
              <a:defRPr sz="1200"/>
            </a:lvl2pPr>
            <a:lvl3pPr marL="542925" indent="-184150">
              <a:buFont typeface="Wingdings" panose="05000000000000000000" pitchFamily="2" charset="2"/>
              <a:buChar char="§"/>
              <a:defRPr sz="1200"/>
            </a:lvl3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647"/>
          <a:stretch/>
        </p:blipFill>
        <p:spPr>
          <a:xfrm>
            <a:off x="120907" y="6504981"/>
            <a:ext cx="793492" cy="313194"/>
          </a:xfrm>
          <a:prstGeom prst="rect">
            <a:avLst/>
          </a:prstGeom>
        </p:spPr>
      </p:pic>
      <p:sp>
        <p:nvSpPr>
          <p:cNvPr id="20" name="Text Box 9"/>
          <p:cNvSpPr txBox="1">
            <a:spLocks noChangeArrowheads="1"/>
          </p:cNvSpPr>
          <p:nvPr userDrawn="1"/>
        </p:nvSpPr>
        <p:spPr bwMode="auto">
          <a:xfrm>
            <a:off x="5653978" y="6605832"/>
            <a:ext cx="360040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>
            <a:spAutoFit/>
          </a:bodyPr>
          <a:lstStyle/>
          <a:p>
            <a:pPr algn="r" eaLnBrk="0" latinLnBrk="0" hangingPunct="0"/>
            <a:r>
              <a:rPr lang="en-US" altLang="ko-KR" sz="700" dirty="0" smtClean="0">
                <a:solidFill>
                  <a:prstClr val="black"/>
                </a:solidFill>
              </a:rPr>
              <a:t>Copyright </a:t>
            </a:r>
            <a:r>
              <a:rPr lang="en-US" altLang="ko-KR" sz="700" dirty="0">
                <a:solidFill>
                  <a:prstClr val="black"/>
                </a:solidFill>
              </a:rPr>
              <a:t>© </a:t>
            </a:r>
            <a:r>
              <a:rPr lang="en-US" altLang="ko-KR" sz="700" dirty="0" smtClean="0">
                <a:solidFill>
                  <a:prstClr val="black"/>
                </a:solidFill>
              </a:rPr>
              <a:t>2026 </a:t>
            </a:r>
            <a:r>
              <a:rPr lang="en-US" altLang="ko-KR" sz="700" b="1" dirty="0" smtClean="0">
                <a:solidFill>
                  <a:prstClr val="black"/>
                </a:solidFill>
              </a:rPr>
              <a:t>Miracom Inc Co., Ltd.</a:t>
            </a:r>
            <a:r>
              <a:rPr lang="en-US" altLang="ko-KR" sz="700" b="0" baseline="0" dirty="0" smtClean="0">
                <a:solidFill>
                  <a:prstClr val="black"/>
                </a:solidFill>
              </a:rPr>
              <a:t> </a:t>
            </a:r>
            <a:r>
              <a:rPr lang="en-US" altLang="ko-KR" sz="700" dirty="0" smtClean="0">
                <a:solidFill>
                  <a:prstClr val="black"/>
                </a:solidFill>
              </a:rPr>
              <a:t>All </a:t>
            </a:r>
            <a:r>
              <a:rPr lang="en-US" altLang="ko-KR" sz="700" dirty="0">
                <a:solidFill>
                  <a:prstClr val="black"/>
                </a:solidFill>
              </a:rPr>
              <a:t>rights </a:t>
            </a:r>
            <a:r>
              <a:rPr lang="en-US" altLang="ko-KR" sz="700" dirty="0" smtClean="0">
                <a:solidFill>
                  <a:prstClr val="black"/>
                </a:solidFill>
              </a:rPr>
              <a:t>reserved.   </a:t>
            </a:r>
            <a:r>
              <a:rPr lang="en-US" altLang="ko-KR" sz="700" dirty="0">
                <a:solidFill>
                  <a:prstClr val="black"/>
                </a:solidFill>
              </a:rPr>
              <a:t>|  </a:t>
            </a:r>
            <a:r>
              <a:rPr lang="en-US" altLang="ko-KR" sz="700" dirty="0" smtClean="0">
                <a:solidFill>
                  <a:prstClr val="black"/>
                </a:solidFill>
              </a:rPr>
              <a:t>Confidential </a:t>
            </a:r>
            <a:endParaRPr lang="en-US" altLang="ko-KR" sz="700" dirty="0">
              <a:solidFill>
                <a:prstClr val="black"/>
              </a:solidFill>
            </a:endParaRPr>
          </a:p>
        </p:txBody>
      </p:sp>
      <p:sp>
        <p:nvSpPr>
          <p:cNvPr id="5" name="평행 사변형 4"/>
          <p:cNvSpPr/>
          <p:nvPr userDrawn="1"/>
        </p:nvSpPr>
        <p:spPr>
          <a:xfrm rot="283436">
            <a:off x="1026" y="156930"/>
            <a:ext cx="787112" cy="1013791"/>
          </a:xfrm>
          <a:prstGeom prst="parallelogram">
            <a:avLst>
              <a:gd name="adj" fmla="val 75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자유형 6"/>
          <p:cNvSpPr/>
          <p:nvPr userDrawn="1"/>
        </p:nvSpPr>
        <p:spPr>
          <a:xfrm>
            <a:off x="-19878" y="308113"/>
            <a:ext cx="576469" cy="785191"/>
          </a:xfrm>
          <a:custGeom>
            <a:avLst/>
            <a:gdLst>
              <a:gd name="connsiteX0" fmla="*/ 0 w 576469"/>
              <a:gd name="connsiteY0" fmla="*/ 0 h 785191"/>
              <a:gd name="connsiteX1" fmla="*/ 576469 w 576469"/>
              <a:gd name="connsiteY1" fmla="*/ 0 h 785191"/>
              <a:gd name="connsiteX2" fmla="*/ 19878 w 576469"/>
              <a:gd name="connsiteY2" fmla="*/ 785191 h 785191"/>
              <a:gd name="connsiteX3" fmla="*/ 0 w 576469"/>
              <a:gd name="connsiteY3" fmla="*/ 0 h 785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6469" h="785191">
                <a:moveTo>
                  <a:pt x="0" y="0"/>
                </a:moveTo>
                <a:lnTo>
                  <a:pt x="576469" y="0"/>
                </a:lnTo>
                <a:lnTo>
                  <a:pt x="19878" y="785191"/>
                </a:lnTo>
                <a:lnTo>
                  <a:pt x="0" y="0"/>
                </a:lnTo>
                <a:close/>
              </a:path>
            </a:pathLst>
          </a:custGeom>
          <a:solidFill>
            <a:srgbClr val="028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4254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571" y="132054"/>
            <a:ext cx="9241467" cy="316414"/>
          </a:xfrm>
        </p:spPr>
        <p:txBody>
          <a:bodyPr>
            <a:normAutofit/>
          </a:bodyPr>
          <a:lstStyle>
            <a:lvl1pPr>
              <a:defRPr sz="1600" b="1">
                <a:solidFill>
                  <a:srgbClr val="009CE1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82175" y="6638575"/>
            <a:ext cx="2228850" cy="139844"/>
          </a:xfrm>
        </p:spPr>
        <p:txBody>
          <a:bodyPr/>
          <a:lstStyle>
            <a:lvl1pPr>
              <a:defRPr sz="1000">
                <a:solidFill>
                  <a:srgbClr val="009CE1"/>
                </a:solidFill>
              </a:defRPr>
            </a:lvl1pPr>
          </a:lstStyle>
          <a:p>
            <a:fld id="{8645AF44-5734-4C67-803C-E5F57A8BDDF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326571" y="76479"/>
            <a:ext cx="9302621" cy="0"/>
          </a:xfrm>
          <a:prstGeom prst="line">
            <a:avLst/>
          </a:prstGeom>
          <a:ln w="38100">
            <a:solidFill>
              <a:srgbClr val="028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>
            <a:off x="334261" y="504042"/>
            <a:ext cx="9302621" cy="0"/>
          </a:xfrm>
          <a:prstGeom prst="line">
            <a:avLst/>
          </a:prstGeom>
          <a:ln w="6350">
            <a:solidFill>
              <a:srgbClr val="028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그림 1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647"/>
          <a:stretch/>
        </p:blipFill>
        <p:spPr>
          <a:xfrm>
            <a:off x="120907" y="6504981"/>
            <a:ext cx="793492" cy="313194"/>
          </a:xfrm>
          <a:prstGeom prst="rect">
            <a:avLst/>
          </a:prstGeom>
        </p:spPr>
      </p:pic>
      <p:sp>
        <p:nvSpPr>
          <p:cNvPr id="20" name="Text Box 9"/>
          <p:cNvSpPr txBox="1">
            <a:spLocks noChangeArrowheads="1"/>
          </p:cNvSpPr>
          <p:nvPr userDrawn="1"/>
        </p:nvSpPr>
        <p:spPr bwMode="auto">
          <a:xfrm>
            <a:off x="5653978" y="6605832"/>
            <a:ext cx="360040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>
            <a:spAutoFit/>
          </a:bodyPr>
          <a:lstStyle/>
          <a:p>
            <a:pPr algn="r" eaLnBrk="0" latinLnBrk="0" hangingPunct="0"/>
            <a:r>
              <a:rPr lang="en-US" altLang="ko-KR" sz="700" dirty="0" smtClean="0">
                <a:solidFill>
                  <a:prstClr val="black"/>
                </a:solidFill>
              </a:rPr>
              <a:t>Copyright </a:t>
            </a:r>
            <a:r>
              <a:rPr lang="en-US" altLang="ko-KR" sz="700" dirty="0">
                <a:solidFill>
                  <a:prstClr val="black"/>
                </a:solidFill>
              </a:rPr>
              <a:t>© </a:t>
            </a:r>
            <a:r>
              <a:rPr lang="en-US" altLang="ko-KR" sz="700" dirty="0" smtClean="0">
                <a:solidFill>
                  <a:prstClr val="black"/>
                </a:solidFill>
              </a:rPr>
              <a:t>2026 </a:t>
            </a:r>
            <a:r>
              <a:rPr lang="en-US" altLang="ko-KR" sz="700" b="1" dirty="0" smtClean="0">
                <a:solidFill>
                  <a:prstClr val="black"/>
                </a:solidFill>
              </a:rPr>
              <a:t>Miracom Inc Co., Ltd.</a:t>
            </a:r>
            <a:r>
              <a:rPr lang="en-US" altLang="ko-KR" sz="700" b="0" baseline="0" dirty="0" smtClean="0">
                <a:solidFill>
                  <a:prstClr val="black"/>
                </a:solidFill>
              </a:rPr>
              <a:t> </a:t>
            </a:r>
            <a:r>
              <a:rPr lang="en-US" altLang="ko-KR" sz="700" dirty="0" smtClean="0">
                <a:solidFill>
                  <a:prstClr val="black"/>
                </a:solidFill>
              </a:rPr>
              <a:t>All </a:t>
            </a:r>
            <a:r>
              <a:rPr lang="en-US" altLang="ko-KR" sz="700" dirty="0">
                <a:solidFill>
                  <a:prstClr val="black"/>
                </a:solidFill>
              </a:rPr>
              <a:t>rights </a:t>
            </a:r>
            <a:r>
              <a:rPr lang="en-US" altLang="ko-KR" sz="700" dirty="0" smtClean="0">
                <a:solidFill>
                  <a:prstClr val="black"/>
                </a:solidFill>
              </a:rPr>
              <a:t>reserved.   </a:t>
            </a:r>
            <a:r>
              <a:rPr lang="en-US" altLang="ko-KR" sz="700" dirty="0">
                <a:solidFill>
                  <a:prstClr val="black"/>
                </a:solidFill>
              </a:rPr>
              <a:t>|  </a:t>
            </a:r>
            <a:r>
              <a:rPr lang="en-US" altLang="ko-KR" sz="700" dirty="0" smtClean="0">
                <a:solidFill>
                  <a:prstClr val="black"/>
                </a:solidFill>
              </a:rPr>
              <a:t>Confidential </a:t>
            </a:r>
            <a:endParaRPr lang="en-US" altLang="ko-KR" sz="7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767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>
            <a:spLocks noGrp="1"/>
          </p:cNvSpPr>
          <p:nvPr>
            <p:ph idx="1"/>
          </p:nvPr>
        </p:nvSpPr>
        <p:spPr bwMode="auto">
          <a:xfrm>
            <a:off x="272587" y="2057403"/>
            <a:ext cx="9360827" cy="1338263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ko-KR" dirty="0" smtClean="0"/>
              <a:t>Text on first level here</a:t>
            </a:r>
          </a:p>
          <a:p>
            <a:pPr lvl="1"/>
            <a:r>
              <a:rPr lang="en-US" altLang="ko-KR" dirty="0" smtClean="0"/>
              <a:t>Second level</a:t>
            </a:r>
          </a:p>
          <a:p>
            <a:pPr lvl="2"/>
            <a:r>
              <a:rPr lang="en-US" altLang="ko-KR" dirty="0" smtClean="0"/>
              <a:t>Third level</a:t>
            </a:r>
          </a:p>
          <a:p>
            <a:pPr lvl="3"/>
            <a:r>
              <a:rPr lang="en-US" altLang="ko-KR" dirty="0" smtClean="0"/>
              <a:t>Fourth level</a:t>
            </a:r>
          </a:p>
          <a:p>
            <a:pPr lvl="4"/>
            <a:r>
              <a:rPr lang="en-US" altLang="ko-KR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178400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0CB39C-1549-4F20-960B-CD7D0719942E}" type="datetime1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45AF44-5734-4C67-803C-E5F57A8BDD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8058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7" r:id="rId2"/>
    <p:sldLayoutId id="2147483688" r:id="rId3"/>
    <p:sldLayoutId id="2147483686" r:id="rId4"/>
    <p:sldLayoutId id="2147483672" r:id="rId5"/>
    <p:sldLayoutId id="2147483685" r:id="rId6"/>
    <p:sldLayoutId id="2147483677" r:id="rId7"/>
    <p:sldLayoutId id="2147483689" r:id="rId8"/>
    <p:sldLayoutId id="2147483662" r:id="rId9"/>
    <p:sldLayoutId id="2147483691" r:id="rId10"/>
    <p:sldLayoutId id="2147483690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1044226" y="1455453"/>
            <a:ext cx="5106568" cy="1300342"/>
          </a:xfrm>
        </p:spPr>
        <p:txBody>
          <a:bodyPr/>
          <a:lstStyle/>
          <a:p>
            <a:r>
              <a:rPr lang="en-US" altLang="ko-KR" sz="3600" dirty="0" smtClean="0"/>
              <a:t>SCK E-Test POC</a:t>
            </a:r>
            <a:endParaRPr lang="ko-KR" altLang="en-US" sz="3600" dirty="0"/>
          </a:p>
          <a:p>
            <a:r>
              <a:rPr lang="en-US" altLang="ko-KR" sz="3600" dirty="0" err="1" smtClean="0"/>
              <a:t>사용자</a:t>
            </a:r>
            <a:r>
              <a:rPr lang="en-US" altLang="ko-KR" sz="3600" dirty="0" smtClean="0"/>
              <a:t> </a:t>
            </a:r>
            <a:r>
              <a:rPr lang="ko-KR" altLang="en-US" sz="3600" dirty="0" smtClean="0"/>
              <a:t>메</a:t>
            </a:r>
            <a:r>
              <a:rPr lang="en-US" altLang="ko-KR" sz="3600" dirty="0" err="1" smtClean="0"/>
              <a:t>뉴얼</a:t>
            </a:r>
            <a:endParaRPr lang="ko-KR" altLang="en-US" sz="3600" dirty="0"/>
          </a:p>
        </p:txBody>
      </p:sp>
      <p:sp>
        <p:nvSpPr>
          <p:cNvPr id="6" name="부제목 1"/>
          <p:cNvSpPr txBox="1">
            <a:spLocks/>
          </p:cNvSpPr>
          <p:nvPr/>
        </p:nvSpPr>
        <p:spPr>
          <a:xfrm>
            <a:off x="1044226" y="4569843"/>
            <a:ext cx="3723902" cy="34695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600" b="1" kern="1200" dirty="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2026.10</a:t>
            </a:r>
            <a:endParaRPr kumimoji="0" lang="en-US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4275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smtClean="0"/>
              <a:t>설치 정보</a:t>
            </a:r>
            <a:endParaRPr lang="ko-KR" altLang="en-US" b="0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70" y="2820604"/>
            <a:ext cx="3002401" cy="23296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 6"/>
          <p:cNvSpPr/>
          <p:nvPr/>
        </p:nvSpPr>
        <p:spPr>
          <a:xfrm>
            <a:off x="326571" y="673380"/>
            <a:ext cx="3002400" cy="396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en-US" altLang="ko-KR" sz="1600" b="1" dirty="0" smtClean="0">
                <a:solidFill>
                  <a:schemeClr val="bg1"/>
                </a:solidFill>
                <a:latin typeface="+mn-ea"/>
              </a:rPr>
              <a:t>FTP </a:t>
            </a:r>
            <a:r>
              <a:rPr lang="ko-KR" altLang="en-US" sz="1600" b="1" dirty="0" smtClean="0">
                <a:solidFill>
                  <a:schemeClr val="bg1"/>
                </a:solidFill>
                <a:latin typeface="+mn-ea"/>
              </a:rPr>
              <a:t>접속 정보</a:t>
            </a:r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Rectangle 7"/>
          <p:cNvSpPr/>
          <p:nvPr/>
        </p:nvSpPr>
        <p:spPr>
          <a:xfrm>
            <a:off x="326570" y="1134180"/>
            <a:ext cx="9241467" cy="5429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latinLnBrk="0"/>
            <a:r>
              <a:rPr lang="en-US" dirty="0">
                <a:solidFill>
                  <a:schemeClr val="tx1"/>
                </a:solidFill>
                <a:latin typeface="+mn-ea"/>
              </a:rPr>
              <a:t>ftp://</a:t>
            </a:r>
            <a:r>
              <a:rPr lang="en-US" dirty="0" smtClean="0">
                <a:solidFill>
                  <a:schemeClr val="tx1"/>
                </a:solidFill>
                <a:latin typeface="+mn-ea"/>
              </a:rPr>
              <a:t>10.86.253.162/SetupFile/</a:t>
            </a:r>
            <a:r>
              <a:rPr lang="en-US" dirty="0">
                <a:solidFill>
                  <a:schemeClr val="tx1"/>
                </a:solidFill>
                <a:latin typeface="+mn-ea"/>
              </a:rPr>
              <a:t/>
            </a:r>
            <a:br>
              <a:rPr lang="en-US" dirty="0">
                <a:solidFill>
                  <a:schemeClr val="tx1"/>
                </a:solidFill>
                <a:latin typeface="+mn-ea"/>
              </a:rPr>
            </a:br>
            <a:r>
              <a:rPr lang="en-US" dirty="0" smtClean="0">
                <a:solidFill>
                  <a:schemeClr val="tx1"/>
                </a:solidFill>
                <a:latin typeface="+mn-ea"/>
              </a:rPr>
              <a:t>POC / POC</a:t>
            </a:r>
            <a:endParaRPr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Rectangle 6"/>
          <p:cNvSpPr/>
          <p:nvPr/>
        </p:nvSpPr>
        <p:spPr>
          <a:xfrm>
            <a:off x="326571" y="1752092"/>
            <a:ext cx="3002400" cy="396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600" b="1" dirty="0" smtClean="0">
                <a:solidFill>
                  <a:schemeClr val="bg1"/>
                </a:solidFill>
                <a:latin typeface="+mn-ea"/>
              </a:rPr>
              <a:t>설치 서버 주소</a:t>
            </a:r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Rectangle 7"/>
          <p:cNvSpPr/>
          <p:nvPr/>
        </p:nvSpPr>
        <p:spPr>
          <a:xfrm>
            <a:off x="326570" y="2212892"/>
            <a:ext cx="9241467" cy="5429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latinLnBrk="0"/>
            <a:r>
              <a:rPr lang="en-US" dirty="0">
                <a:solidFill>
                  <a:schemeClr val="tx1"/>
                </a:solidFill>
                <a:latin typeface="+mn-ea"/>
              </a:rPr>
              <a:t>10.86.253.162</a:t>
            </a:r>
            <a:endParaRPr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Rectangle 6"/>
          <p:cNvSpPr/>
          <p:nvPr/>
        </p:nvSpPr>
        <p:spPr>
          <a:xfrm>
            <a:off x="326571" y="5298607"/>
            <a:ext cx="3002400" cy="396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en-US" altLang="ko-KR" sz="1600" b="1" dirty="0" smtClean="0">
                <a:solidFill>
                  <a:schemeClr val="bg1"/>
                </a:solidFill>
                <a:latin typeface="+mn-ea"/>
              </a:rPr>
              <a:t>Log In </a:t>
            </a:r>
            <a:r>
              <a:rPr lang="ko-KR" altLang="en-US" sz="1600" b="1" dirty="0" smtClean="0">
                <a:solidFill>
                  <a:schemeClr val="bg1"/>
                </a:solidFill>
                <a:latin typeface="+mn-ea"/>
              </a:rPr>
              <a:t>정보</a:t>
            </a:r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Rectangle 7"/>
          <p:cNvSpPr/>
          <p:nvPr/>
        </p:nvSpPr>
        <p:spPr>
          <a:xfrm>
            <a:off x="326570" y="5759407"/>
            <a:ext cx="9241467" cy="5429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latinLnBrk="0"/>
            <a:r>
              <a:rPr lang="en-US" dirty="0" smtClean="0">
                <a:solidFill>
                  <a:schemeClr val="tx1"/>
                </a:solidFill>
                <a:latin typeface="+mn-ea"/>
              </a:rPr>
              <a:t>ADMIN / 1111</a:t>
            </a:r>
            <a:endParaRPr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70845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화면 구성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449180"/>
              </p:ext>
            </p:extLst>
          </p:nvPr>
        </p:nvGraphicFramePr>
        <p:xfrm>
          <a:off x="342000" y="831600"/>
          <a:ext cx="9117532" cy="564837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69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28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48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5349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+mn-ea"/>
                          <a:ea typeface="+mn-ea"/>
                        </a:rPr>
                        <a:t>메뉴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+mn-ea"/>
                          <a:ea typeface="+mn-ea"/>
                        </a:rPr>
                        <a:t>화면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+mn-ea"/>
                          <a:ea typeface="+mn-ea"/>
                        </a:rPr>
                        <a:t>역할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349">
                <a:tc rowSpan="6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POC Setup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GDS Map </a:t>
                      </a:r>
                      <a:r>
                        <a:rPr sz="95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Setup</a:t>
                      </a:r>
                      <a:endParaRPr sz="95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GDS </a:t>
                      </a:r>
                      <a:r>
                        <a:rPr sz="950" b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파일</a:t>
                      </a:r>
                      <a:r>
                        <a:rPr lang="ko-KR" altLang="en-US" sz="95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을</a:t>
                      </a:r>
                      <a:r>
                        <a:rPr sz="95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Device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Map으로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DB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등록함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3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Wafer Map Setup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KLARF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파일로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원형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Wafer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Map을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만들어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저장함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3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E-Test Para </a:t>
                      </a:r>
                      <a:r>
                        <a:rPr sz="95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Register</a:t>
                      </a:r>
                      <a:endParaRPr sz="95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E-Test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결과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파일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헤더를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Parameter로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등록함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53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E-Test Para </a:t>
                      </a:r>
                      <a:r>
                        <a:rPr sz="95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Setup</a:t>
                      </a:r>
                      <a:endParaRPr sz="95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등록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Parameter의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GDS Chain, Spec,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사용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설정함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3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E-Test Bin </a:t>
                      </a:r>
                      <a:r>
                        <a:rPr sz="95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Setup</a:t>
                      </a:r>
                      <a:endParaRPr sz="95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E-Test </a:t>
                      </a:r>
                      <a:r>
                        <a:rPr sz="95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Bin</a:t>
                      </a:r>
                      <a:r>
                        <a:rPr lang="en-US" sz="950" b="0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설정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3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Defect Type Define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Defect Class </a:t>
                      </a:r>
                      <a:r>
                        <a:rPr lang="ko-KR" altLang="en-US" sz="950" b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설정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349">
                <a:tc rowSpan="2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POC Data Upload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KLARF File </a:t>
                      </a:r>
                      <a:r>
                        <a:rPr sz="95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Upload</a:t>
                      </a:r>
                      <a:endParaRPr sz="95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KLARF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파일과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Defect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이미지를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DMS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DB에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저장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53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E-Test Result </a:t>
                      </a:r>
                      <a:r>
                        <a:rPr sz="95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Upload</a:t>
                      </a:r>
                      <a:endParaRPr sz="95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E-Test 결과 파일을 DB에 저장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5349">
                <a:tc rowSpan="4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POC View /</a:t>
                      </a:r>
                      <a:br>
                        <a:rPr sz="105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</a:br>
                      <a:r>
                        <a:rPr sz="105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Analysis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GDS Map </a:t>
                      </a:r>
                      <a:r>
                        <a:rPr sz="95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View</a:t>
                      </a:r>
                      <a:endParaRPr sz="95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DB의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GDS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Map을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조회하고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Chain을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설정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저장함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53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Wafer Map </a:t>
                      </a:r>
                      <a:r>
                        <a:rPr sz="95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View</a:t>
                      </a:r>
                      <a:endParaRPr sz="95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저장된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Wafer Map </a:t>
                      </a:r>
                      <a:r>
                        <a:rPr sz="950" b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조회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53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E-Test Result </a:t>
                      </a:r>
                      <a:r>
                        <a:rPr sz="95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View</a:t>
                      </a:r>
                      <a:endParaRPr sz="95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저장된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E-Test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결과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파일을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조회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3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GDS-KLARF-ET </a:t>
                      </a:r>
                      <a:r>
                        <a:rPr sz="950" b="1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Correlation</a:t>
                      </a:r>
                      <a:endParaRPr sz="95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KLARF </a:t>
                      </a:r>
                      <a:r>
                        <a:rPr sz="950" b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Defect와</a:t>
                      </a:r>
                      <a:r>
                        <a:rPr sz="95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GDS Chain </a:t>
                      </a:r>
                      <a:r>
                        <a:rPr sz="950" b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위치의</a:t>
                      </a:r>
                      <a:r>
                        <a:rPr sz="95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연관성을</a:t>
                      </a:r>
                      <a:r>
                        <a:rPr sz="95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분석함</a:t>
                      </a:r>
                      <a:endParaRPr sz="95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5349">
                <a:tc rowSpan="4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DMS Analysis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Defect Map </a:t>
                      </a:r>
                      <a:r>
                        <a:rPr sz="95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Viewer</a:t>
                      </a:r>
                      <a:endParaRPr sz="95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선택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Wafer의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Defect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위치를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Wafer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Map에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표시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53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Chart </a:t>
                      </a:r>
                      <a:r>
                        <a:rPr sz="95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Analysis</a:t>
                      </a:r>
                      <a:endParaRPr sz="95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선택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Wafer의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Defect를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기준 항목별 차트로 집계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53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Defect Map </a:t>
                      </a:r>
                      <a:r>
                        <a:rPr sz="95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Gallery</a:t>
                      </a:r>
                      <a:endParaRPr sz="95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여러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Wafer의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Defect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Map을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한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화면에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나열해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비교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53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Defect Image Gallery 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선택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Wafer의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Defect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이미지를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Class별로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표시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5349">
                <a:tc rowSpan="7"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TEST Analysis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TEST Map View 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Wafer 1장의 Bin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맵과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측정값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맵을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분석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53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Bin Map Gallery 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여러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Wafer의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Bin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맵을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바둑판으로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놓고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비교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53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Test Map Gallery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여러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Wafer의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측정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항목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값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맵을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나란히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비교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353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Wafer Cum Report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여러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Wafer의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Bin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발생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위치를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누적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맵으로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표시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353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Wafer Bin Report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Wafer,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Lot별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Bin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구성과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수율을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차트로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비교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353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Yield Report 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Wafer, Lot,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일자별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수율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추이를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차트로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표시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353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Param Analysis</a:t>
                      </a: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Wafer 1장의 측정 항목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통계와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추이를</a:t>
                      </a:r>
                      <a:r>
                        <a:rPr sz="950" b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950" b="0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표시</a:t>
                      </a:r>
                      <a:endParaRPr sz="950" b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4000" marR="54000" marT="10800" marB="10800" anchor="ctr">
                    <a:lnL w="63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3572239" y="1889416"/>
            <a:ext cx="4868156" cy="2551112"/>
          </a:xfrm>
        </p:spPr>
        <p:txBody>
          <a:bodyPr>
            <a:normAutofit lnSpcReduction="10000"/>
          </a:bodyPr>
          <a:lstStyle/>
          <a:p>
            <a:r>
              <a:rPr lang="en-US" altLang="ko-KR" sz="5400" dirty="0" smtClean="0">
                <a:solidFill>
                  <a:schemeClr val="tx1"/>
                </a:solidFill>
              </a:rPr>
              <a:t>POC</a:t>
            </a:r>
          </a:p>
          <a:p>
            <a:r>
              <a:rPr lang="en-US" altLang="ko-KR" sz="5400" dirty="0">
                <a:solidFill>
                  <a:schemeClr val="bg2">
                    <a:lumMod val="90000"/>
                  </a:schemeClr>
                </a:solidFill>
              </a:rPr>
              <a:t>DMS Analysis</a:t>
            </a:r>
          </a:p>
          <a:p>
            <a:r>
              <a:rPr lang="en-US" altLang="ko-KR" sz="5400" dirty="0" smtClean="0">
                <a:solidFill>
                  <a:schemeClr val="bg2">
                    <a:lumMod val="90000"/>
                  </a:schemeClr>
                </a:solidFill>
              </a:rPr>
              <a:t>TEST Analysis</a:t>
            </a:r>
          </a:p>
        </p:txBody>
      </p:sp>
    </p:spTree>
    <p:extLst>
      <p:ext uri="{BB962C8B-B14F-4D97-AF65-F5344CB8AC3E}">
        <p14:creationId xmlns:p14="http://schemas.microsoft.com/office/powerpoint/2010/main" val="1499338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GDS Map Setup (GDS Map 설정)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1844693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545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POC → Setup → GDS Map Setup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GDS 도면을 Layer 색으로 표시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마우스 휠 확대, 축소, 드래그 이동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Layer별 도형 수, 선택 합계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체크한 Layer만 Device </a:t>
                      </a: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Map으로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저장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적용: 2027-01-31 이후 저장, 수정, 삭제 불가(메뉴 비활성)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6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파일 열기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GDS 파일 선택 후 도면 표시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Device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Map을 저장할 Device 이름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DB 저장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체크한 Layer 도형만 DB 저장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저장 중지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진행 중인 저장 중지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Layer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체크한 Layer만 표시, 저장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원점 표시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도면 원점 십자선 표시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b="1" dirty="0" smtClean="0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GDS 파일의 Layer를 선택해 Device Map으로 DB 등록함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01_gds_map_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Wafer Map Setup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8458694"/>
              </p:ext>
            </p:extLst>
          </p:nvPr>
        </p:nvGraphicFramePr>
        <p:xfrm>
          <a:off x="341719" y="830005"/>
          <a:ext cx="9226799" cy="5794620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545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POC → Setup → Wafer Map Setup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KLARF 기준 원형 Wafer Map 미리보기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Net Die, 생성 Die, 검사 Die 개수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마우스 위치의 Die 번호, 좌표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Map 위 Die 번호 표시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Wafer 크기, Edge, XY 방향 설정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원점, Die Pitch, Flat Zone 설정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새 Map ID로 저장, 같은 ID는 덮어씀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적용: 2027-01-31 이후 저장, 수정, 삭제 불가(메뉴 비활성)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6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파일 선택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KLARF 파일 선택 후 Map 생성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새 Map ID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저장할 Map ID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Edge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Wafer 가장자리 제외 폭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약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500 정도로)</a:t>
                      </a:r>
                      <a:endParaRPr kumimoji="1" lang="ko-KR" alt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XY 방향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Die 번호 시작 위치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Die Pitch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Die 간격, 초기값은 KLARF 값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다시 그리기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변경한 설정으로 Map 재생성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Map 저장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새 Map ID로 저장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b="1" dirty="0" smtClean="0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KLARF 파일로 원형 Wafer Map을 만들어 저장함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02_wafer_map_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5723924" y="2238149"/>
            <a:ext cx="317475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630324" y="21445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124" y="2393774"/>
            <a:ext cx="890175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51524" y="23001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5124" y="2960249"/>
            <a:ext cx="890175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51524" y="28666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436" y="2960249"/>
            <a:ext cx="438862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02836" y="28666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5124" y="3570299"/>
            <a:ext cx="921300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51524" y="34766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5124" y="3781949"/>
            <a:ext cx="547800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51524" y="36883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5124" y="3900224"/>
            <a:ext cx="890175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51524" y="380662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E-Test Para Register (E-Test Para 등록)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696146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4553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POC → Setup → E-Test Para Register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헤더별 등록 상태(신규, 등록됨, 오류)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헤더에서 나눈 측정, 조건, Chain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파일명에서 읽은 Device, 공정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체크한 신규 헤더를 Parameter로 등록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Device 단위 등록 정보, 결과 삭제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적용: 2027-01-31 이후 저장, 수정, 삭제 불가(메뉴 비활성)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94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결과 파일 열기 :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E-Test 결과 파일을 읽어 헤더 표시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규칙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파일명 구성 규칙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신규 행만 등록 가능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저장 이름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DB에 저장할 Parameter 이름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신규 전체 선택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표시된 신규 행 전체 체크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등록 Device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Parameter가 등록된 Device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Device 삭제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 Device의 등록 정보, 결과 삭제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b="1" dirty="0" smtClean="0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E-Test 결과 파일 헤더를 Parameter로 등록함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03_et_para_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1951574" y="2216361"/>
            <a:ext cx="454425" cy="933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857974" y="212276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7786" y="2319074"/>
            <a:ext cx="108937" cy="560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334186" y="22254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9686" y="2512049"/>
            <a:ext cx="236550" cy="1182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16086" y="24184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61311" y="2512049"/>
            <a:ext cx="827925" cy="1182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767711" y="24184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2974" y="2406224"/>
            <a:ext cx="404625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509374" y="231262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899" y="2309736"/>
            <a:ext cx="1089375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5299" y="221613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3174" y="2306624"/>
            <a:ext cx="370387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459574" y="221302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E-Test Para Setup (E-Test Para 설정)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691985"/>
              </p:ext>
            </p:extLst>
          </p:nvPr>
        </p:nvGraphicFramePr>
        <p:xfrm>
          <a:off x="341719" y="830005"/>
          <a:ext cx="9226799" cy="5794620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545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POC → Setup → E-Test Para Setup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Device, 공정별 등록 Parameter 목록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측정, Chain 1, 사용 여부 필터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같은 이름 GDS Device의 Setup Chain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Chain별 사용 Parameter 수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Parameter별 GDS Chain 이름 입력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Lower, Upper, Enable Spec 입력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사용 여부, 비고 수정 후 </a:t>
                      </a: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저장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적용: 2027-01-31 이후 저장, 수정, 삭제 불가(메뉴 비활성)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6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측정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측정 항목 필터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GDS Chain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Chain 1에 연결할 GDS Chain 이름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Lower / Upper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Spec 하한, 상한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Enable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Spec 판정 사용 여부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사용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결과 업로드 시 값 저장 여부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GDS Setup Chain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더블클릭 시 Chain 이름 복사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필터 해제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모든 필터 초기화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b="1" dirty="0" smtClean="0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등록 Parameter의 GDS Chain, Spec, 사용 설정함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04_et_para_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426449" y="2359536"/>
            <a:ext cx="432637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32849" y="226593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3498486" y="2449799"/>
            <a:ext cx="516675" cy="1182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404886" y="23561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96486" y="2449799"/>
            <a:ext cx="454425" cy="1182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902886" y="23561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2236" y="2449799"/>
            <a:ext cx="174300" cy="1182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338636" y="23561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61536" y="2449799"/>
            <a:ext cx="155625" cy="1182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267936" y="23561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32149" y="2624099"/>
            <a:ext cx="827925" cy="1182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138549" y="25304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72074" y="2343974"/>
            <a:ext cx="317475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978474" y="22503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E-Test Bin Setup (E-Test Bin 설정)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2908648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545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POC → Setup → E-Test Bin Setup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Device, 공정별 Bin 목록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Bin별 Software Bin 번호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Bin별 표시 색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양품 Bin 수, 파일 Die 수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Bin 이름, 양품, 색, 설명 수정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Bin 추가, </a:t>
                      </a: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삭제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적용: 2027-01-31 이후 저장, 수정, 삭제 불가(메뉴 비활성)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6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Bin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Hardware Bin 번호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이름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Bin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이름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양품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YMS 수율 계산 시 양품 Bin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색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더블클릭 시 색 선택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Software Bin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Software Bin 번호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Bin 추가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새 Bin 행 추가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선택 삭제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 Bin 정의 삭제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b="1" dirty="0" smtClean="0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E-Test Bin의 이름, 양품, 색, 설명을 설정함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05_et_bin_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498036" y="2449799"/>
            <a:ext cx="192975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04436" y="23561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672336" y="2449799"/>
            <a:ext cx="485550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78736" y="23561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39211" y="2449799"/>
            <a:ext cx="155625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45611" y="23561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76161" y="2449799"/>
            <a:ext cx="267675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2561" y="23561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2061" y="2449799"/>
            <a:ext cx="357937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938461" y="23561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899" y="2343974"/>
            <a:ext cx="317475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5299" y="22503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399" y="2343974"/>
            <a:ext cx="342375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18799" y="22503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Defect Type Define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686436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9734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POC → Setup → Defect Type Define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Class 번호별 이름, 설명, 그룹, 색 목록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Class별 등록, 수정 사용자와 시각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새 Class 번호, 이름, 그룹, 색 등록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이름, 설명, Group ID, 색 수정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선택한 Class 삭제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적용: 2027-01-31 이후 저장, 수정, 삭제 불가(메뉴 비활성)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2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Search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목록 다시 조회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CLASSNUMBER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Class 번호(KLARF Class 값)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Group ID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Defect Group 선택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Insert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새 Class 입력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Edit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 Class 수정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Save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입력, 수정 내용 저장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Delete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 Class 삭제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b="1" dirty="0" smtClean="0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Defect Class 번호별 이름, 그룹, 색을 등록함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06_defect_type_def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6019611" y="2281724"/>
            <a:ext cx="339262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926011" y="218812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413999" y="2396886"/>
            <a:ext cx="420187" cy="10271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20399" y="230328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43399" y="2471586"/>
            <a:ext cx="846600" cy="5415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449799" y="237798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06761" y="5322636"/>
            <a:ext cx="273900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013161" y="522903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58961" y="5409786"/>
            <a:ext cx="273900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465361" y="531618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32861" y="5322636"/>
            <a:ext cx="273900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739261" y="522903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32861" y="5409786"/>
            <a:ext cx="273900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739261" y="531618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KLARF File Upload (KLARF File 업로드)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3656770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364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POC → Data Upload → KLARF File Upload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Lot, Device, Step, Defect 수 요약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Wafer별 Defect, 검사 Die, 이미지 수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선택 Wafer의 Map, Defect 목록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KLARF Defect, 이미지를 DB에 저장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Product, Step ID, 설비 저장 값 수정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등록된 Wafer 재등록 또는 제외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적용: 2027-01-31 이후 저장, 수정, 삭제 불가(메뉴 비활성)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16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KLARF 파일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 시 파일을 읽어 미리보기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이미지 폴더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Defect 이미지 폴더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저장 값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저장할 Product, Step ID, 설비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DB 저장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Defect, 이미지 DB 저장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Wafer별 저장 결과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Class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KLARF Class 번호, Map 색 기준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분류명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Class 번호의 분류 이름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b="1" dirty="0" smtClean="0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KLARF 파일과 Defect 이미지를 DMS DB에 저장함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07_klarf_up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470024" y="2281724"/>
            <a:ext cx="280125" cy="9960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76424" y="218812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024" y="2381324"/>
            <a:ext cx="280125" cy="9960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76424" y="228772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674" y="2493374"/>
            <a:ext cx="5484225" cy="1867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39074" y="23997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16899" y="2552511"/>
            <a:ext cx="454425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823299" y="245891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2036" y="2826411"/>
            <a:ext cx="267675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388436" y="273281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35836" y="3501824"/>
            <a:ext cx="202312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42236" y="340822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19474" y="3501824"/>
            <a:ext cx="239662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625874" y="340822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E-Test Result Upload (E-Test 결과 업로드)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0846075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4553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POC → Data Upload → E-Test Result Upload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분석 상태와 사유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Die별 판정, Fail 수, Map 좌표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선택한 Die의 Parameter 값, Spec, 판정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사용 중인 Parameter 값만 저장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정보 표의 Device, 공정, Lot 값 수정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같은 Wafer, 공정 결과는 덮어씀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적용: 2027-01-31 이후 저장, 수정, 삭제 불가(메뉴 비활성)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94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파일 열기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E-Test 결과 파일 읽기, 분석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다시 읽기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설정 변경 후 재분석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업로드 미리보기 :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파일 정보, 분석 상태, 더블클릭 시 수정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1단계: Die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Die별 판정, Fail 수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2단계: 정의 Para 값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 Die의 측정값, Spec, 판정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Map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Map 기준 Die 좌표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저장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분석 결과 DB 저장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b="1" dirty="0" smtClean="0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E-Test 결과 파일(xlsx) 1개를 분석해 DB에 저장함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08_et_result_up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908886" y="2219474"/>
            <a:ext cx="354825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15286" y="21258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263711" y="2219474"/>
            <a:ext cx="317475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0111" y="21258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3999" y="2325299"/>
            <a:ext cx="1525125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20399" y="22316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32899" y="2325299"/>
            <a:ext cx="4457100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839299" y="22316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45349" y="4239486"/>
            <a:ext cx="557137" cy="560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851749" y="414588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59311" y="2393774"/>
            <a:ext cx="252112" cy="12450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265711" y="23001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72524" y="2219474"/>
            <a:ext cx="292575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978924" y="21258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GDS Map View (GDS Map 조회)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728695"/>
              </p:ext>
            </p:extLst>
          </p:nvPr>
        </p:nvGraphicFramePr>
        <p:xfrm>
          <a:off x="341719" y="830005"/>
          <a:ext cx="9226799" cy="5794620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545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POC → View / Analysis → GDS Map View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체크한 Layer만 DB에서 받아 도면 표시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Front, Back side 보기 전환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체크한 Chain을 색 외곽선으로 표시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Device별 Map 정보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Chain 생성, Input 지정, 경로 찾기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Chain 도형 추가, 제외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Chain 저장, Map 복사, 삭제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일부 적용: 2027-01-31 이후 Chain 저장, Map 복사, 삭제 불가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6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Device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조회할 Device 선택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새 Chain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새 Chain 생성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Input 지정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Chain 시작 도형 지정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후보 경로 찾기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Input에서 연결된 도형 탐색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도형 추가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Map 클릭으로 Chain 도형 추가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도형 제외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Map 클릭으로 Chain 도형 제외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Chain 저장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변경된 Chain DB 반영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endParaRPr kumimoji="1" lang="ko-KR" alt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b="1" dirty="0" smtClean="0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DB의 GDS Map을 조회하고 Chain을 설정, 저장함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09_gds_map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429561" y="2228811"/>
            <a:ext cx="582037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35961" y="213521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5325524" y="2396886"/>
            <a:ext cx="364162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231924" y="230328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3261" y="2328411"/>
            <a:ext cx="329925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59661" y="223481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27474" y="2328411"/>
            <a:ext cx="404625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633874" y="223481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59449" y="2328411"/>
            <a:ext cx="317475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565849" y="223481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70699" y="2328411"/>
            <a:ext cx="317475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877099" y="223481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99424" y="2496486"/>
            <a:ext cx="451312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505824" y="240288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Wafer Map View (Wafer Map 조회)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5987943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1923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POC → View / Analysis → Wafer Map View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Map 목록의 Wafer, Net Die, XY 방향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선택 Map 형상, 사용, 제거 Die 수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XY 방향 기준 Die 번호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미적용(조회 화면)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20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조회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Map 목록 다시 조회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b="1" dirty="0" smtClean="0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저장된 Wafer Map 형상과 Die 수를 조회함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10_wafer_map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8" name="Oval 7"/>
          <p:cNvSpPr/>
          <p:nvPr/>
        </p:nvSpPr>
        <p:spPr>
          <a:xfrm>
            <a:off x="351524" y="21445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E-Test Result View (E-Test 결과 조회)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5002840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742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POC → View / Analysis → E-Test Result View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Device, 공정, Lot별 저장 파일 목록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파일별 Spec Pass, Fail Die 수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추가 Parameter, Spec 변경, YMS 반영 상태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선택한 파일의 Die 판정, Para 값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선택 </a:t>
                      </a: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파일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삭제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미적용(선택 파일 삭제도 제한 없음)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72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Spec Fail Die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Spec Fail Die 수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추가 Para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저장 후 추가 등록된 Parameter 수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Spec 바뀜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판정 후 Spec 변경 여부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Map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좌표 계산에 사용한 Map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YMS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YMS 반영 상태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Lower / Upper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Spec 하한, 상한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선택 파일 삭제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 파일, Die, 측정값 삭제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b="1" dirty="0" smtClean="0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저장된 E-Test 결과 파일을 조회하고 삭제함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11_et_result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2340636" y="2325299"/>
            <a:ext cx="345487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247036" y="22316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3059624" y="2325299"/>
            <a:ext cx="280125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966024" y="22316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21074" y="2325299"/>
            <a:ext cx="289462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227474" y="22316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91861" y="2325299"/>
            <a:ext cx="189862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498261" y="22316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44686" y="2325299"/>
            <a:ext cx="196087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351086" y="22316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95999" y="4678349"/>
            <a:ext cx="423300" cy="12450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802399" y="45847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54249" y="2219474"/>
            <a:ext cx="404625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860649" y="21258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GDS-KLARF-ET Correlation (GDS-KLARF-ET 연관 분석)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7439779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184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POC → View / Analysis → GDS-KLARF-ET Correlation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Die별 Chain 위 Defect 수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Die별 Chain 위, 밖 Defect 수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선택 Die의 Defect 이미지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마우스 위치의 Die X, Y, Index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Defect 영역 판정 방식, 허용오차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GDS Chain 면, KLARF 위치 보정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Map 색 구간, 표시 기준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미적용(조회 화면)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68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색 구간 설정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Map 색 구간, 표시 기준 설정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Defect 크기 + 허용오차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Defect 크기에 허용오차를 더해 판정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Defect 중심 정사각형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Defect 중심 정사각형으로 판정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GDS Chain 면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Chain 면 선택(FS, BS)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KLARF 위치 조정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KLARF 좌표 X, Y 보정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다시 분석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변경한 설정으로 재분석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종합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Die별 Chain 위, 밖 Defect 수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b="1" dirty="0" smtClean="0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KLARF Defect와 GDS Chain 위치의 연관성을 분석함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12_gds_klarf_et_co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3800399" y="2337749"/>
            <a:ext cx="410850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706799" y="22441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4267274" y="2515161"/>
            <a:ext cx="479325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173674" y="242156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67274" y="2602311"/>
            <a:ext cx="448200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173674" y="250871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7274" y="2695686"/>
            <a:ext cx="504225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173674" y="260208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45486" y="2801511"/>
            <a:ext cx="326812" cy="653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151886" y="270791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19611" y="2879324"/>
            <a:ext cx="345487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926011" y="278572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45486" y="2994486"/>
            <a:ext cx="115162" cy="653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151886" y="290088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1017885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184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POC → View / Analysis → GDS-KLARF-ET Correlation → Die 더블클릭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Die별 Defect, Chain 위 Defect 수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Chain별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걸린 Defect 목록, Chain 밖 Defect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선택 Chain의 E-Test 값(E-Test 있는 Wafer만)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도면 표시 범위, 원점 표시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도면에 표시할 Chain </a:t>
                      </a: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선택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굴림" panose="020B0600000101010101" pitchFamily="50" charset="-127"/>
                          <a:cs typeface="+mn-cs"/>
                        </a:rPr>
                        <a:t>Limit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굴림" panose="020B0600000101010101" pitchFamily="50" charset="-127"/>
                        <a:cs typeface="+mn-cs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굴림" panose="020B0600000101010101" pitchFamily="50" charset="-127"/>
                          <a:cs typeface="+mn-cs"/>
                        </a:rPr>
                        <a:t>미적용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굴림" panose="020B0600000101010101" pitchFamily="50" charset="-127"/>
                          <a:cs typeface="+mn-cs"/>
                        </a:rPr>
                        <a:t>(</a:t>
                      </a:r>
                      <a:r>
                        <a:rPr kumimoji="1" lang="en-US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굴림" panose="020B0600000101010101" pitchFamily="50" charset="-127"/>
                          <a:cs typeface="+mn-cs"/>
                        </a:rPr>
                        <a:t>조회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굴림" panose="020B0600000101010101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굴림" panose="020B0600000101010101" pitchFamily="50" charset="-127"/>
                          <a:cs typeface="+mn-cs"/>
                        </a:rPr>
                        <a:t>화면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굴림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68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Die 목록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선택한 Die로 상세 화면 전환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다시 분석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원래 분석 화면 설정으로 재분석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전체 도면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Chain Layer 외 전체 Layer 표시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원점 표시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도면 원점 위치 표시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걸린 / Fail Chain 만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Defect가 걸리거나 E-Test Fail인 Chain만 표시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전체 표시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모든 Chain 도면 표시 켜기, 끄기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표시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Chain별 도면 표시 여부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1" name="그림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236" y="2208419"/>
            <a:ext cx="6025338" cy="3285977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GDS-KLARF-ET Correlation 상세보기 (Die 상세 분석)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b="1" dirty="0" smtClean="0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선택한 Die의 GDS 도면에서 Chain, Defect 위치와 E-Test 값을 확인함</a:t>
            </a:r>
            <a:endParaRPr kumimoji="1" lang="ko-KR" altLang="ko-KR" sz="1400" dirty="0">
              <a:latin typeface="+mn-ea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413999" y="2200799"/>
            <a:ext cx="1098712" cy="17430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8"/>
          <p:cNvSpPr/>
          <p:nvPr/>
        </p:nvSpPr>
        <p:spPr>
          <a:xfrm>
            <a:off x="320399" y="21071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9"/>
          <p:cNvSpPr/>
          <p:nvPr/>
        </p:nvSpPr>
        <p:spPr>
          <a:xfrm>
            <a:off x="5972924" y="2213249"/>
            <a:ext cx="392175" cy="1120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10"/>
          <p:cNvSpPr/>
          <p:nvPr/>
        </p:nvSpPr>
        <p:spPr>
          <a:xfrm>
            <a:off x="5879324" y="21196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1"/>
          <p:cNvSpPr/>
          <p:nvPr/>
        </p:nvSpPr>
        <p:spPr>
          <a:xfrm>
            <a:off x="2284611" y="2443574"/>
            <a:ext cx="255225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2"/>
          <p:cNvSpPr/>
          <p:nvPr/>
        </p:nvSpPr>
        <p:spPr>
          <a:xfrm>
            <a:off x="2191011" y="23499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3"/>
          <p:cNvSpPr/>
          <p:nvPr/>
        </p:nvSpPr>
        <p:spPr>
          <a:xfrm>
            <a:off x="2539836" y="2443574"/>
            <a:ext cx="255225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4"/>
          <p:cNvSpPr/>
          <p:nvPr/>
        </p:nvSpPr>
        <p:spPr>
          <a:xfrm>
            <a:off x="2446236" y="23499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198799" y="2648999"/>
            <a:ext cx="438862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6"/>
          <p:cNvSpPr/>
          <p:nvPr/>
        </p:nvSpPr>
        <p:spPr>
          <a:xfrm>
            <a:off x="4105199" y="25553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646999" y="2648999"/>
            <a:ext cx="255225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8"/>
          <p:cNvSpPr/>
          <p:nvPr/>
        </p:nvSpPr>
        <p:spPr>
          <a:xfrm>
            <a:off x="4553399" y="25553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186349" y="2723699"/>
            <a:ext cx="166567" cy="1703521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20"/>
          <p:cNvSpPr/>
          <p:nvPr/>
        </p:nvSpPr>
        <p:spPr>
          <a:xfrm>
            <a:off x="4092749" y="3991817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3572239" y="1889416"/>
            <a:ext cx="4868156" cy="2551112"/>
          </a:xfrm>
        </p:spPr>
        <p:txBody>
          <a:bodyPr>
            <a:normAutofit lnSpcReduction="10000"/>
          </a:bodyPr>
          <a:lstStyle/>
          <a:p>
            <a:r>
              <a:rPr lang="en-US" altLang="ko-KR" sz="5400" dirty="0" smtClean="0">
                <a:solidFill>
                  <a:schemeClr val="bg2">
                    <a:lumMod val="90000"/>
                  </a:schemeClr>
                </a:solidFill>
              </a:rPr>
              <a:t>POC</a:t>
            </a:r>
          </a:p>
          <a:p>
            <a:r>
              <a:rPr lang="en-US" altLang="ko-KR" sz="5400" dirty="0">
                <a:solidFill>
                  <a:schemeClr val="tx1"/>
                </a:solidFill>
              </a:rPr>
              <a:t>DMS Analysis</a:t>
            </a:r>
          </a:p>
          <a:p>
            <a:r>
              <a:rPr lang="en-US" altLang="ko-KR" sz="5400" dirty="0" smtClean="0">
                <a:solidFill>
                  <a:schemeClr val="bg2">
                    <a:lumMod val="90000"/>
                  </a:schemeClr>
                </a:solidFill>
              </a:rPr>
              <a:t>TEST Analysis</a:t>
            </a:r>
          </a:p>
        </p:txBody>
      </p:sp>
    </p:spTree>
    <p:extLst>
      <p:ext uri="{BB962C8B-B14F-4D97-AF65-F5344CB8AC3E}">
        <p14:creationId xmlns:p14="http://schemas.microsoft.com/office/powerpoint/2010/main" val="1499338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DMSearch (왼쪽 Wafer 조회 창)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504663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9372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DMS Analysis, Correlation 화면을 열면 왼쪽에 표시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기간, 조건에 맞는 Wafer 검사 목록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검사별 Defect 수, 이미지 수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조건 항목별 </a:t>
                      </a: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묶음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트리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기간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없이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Lot, Wafer </a:t>
                      </a: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조건으로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미적용(조회 화면)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46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From / To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검사 기간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Last Inspection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마지막 검사만 조회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Not Use Date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기간 없이 Lot, Wafer 조건으로 조회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Dynamic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항목별 조회 조건 입력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조회 아이콘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조건에 맞는 검사 목록 조회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Search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 Wafer를 분석 화면에 전달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b="1" dirty="0" smtClean="0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조건에 맞는 Wafer 검사를 찾아 분석 화면에 전달함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p_dm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1198800"/>
            <a:ext cx="1881630" cy="51912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459551" y="1327744"/>
            <a:ext cx="778440" cy="27221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65951" y="123414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237992" y="1303865"/>
            <a:ext cx="553982" cy="10506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44392" y="1210265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37992" y="1494894"/>
            <a:ext cx="496673" cy="10506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44392" y="140129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8654" y="1719352"/>
            <a:ext cx="1690601" cy="8405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85054" y="1625752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31050" y="2034549"/>
            <a:ext cx="181477" cy="51577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037450" y="19409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62450" y="6218074"/>
            <a:ext cx="859627" cy="162374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368850" y="61244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lang="en-US" sz="1000" b="1" dirty="0" smtClean="0">
                <a:solidFill>
                  <a:srgbClr val="000000"/>
                </a:solidFill>
              </a:rPr>
              <a:t>6</a:t>
            </a:r>
            <a:endParaRPr sz="10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Defect Map Viewer (Defect 맵 조회)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329309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545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DMS Analysis → Defect Map Viewer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Map 위 Defect 위치, Class별 색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Class, Size별 Defect 분포 차트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선택 Defect 이미지, Die, Class, 크기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Map 정보, 선택 Defect 상세 정보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Defect Count Color 구간, 색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Class별 표시 색(Defect Color 탭)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미적용(조회 화면)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6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Defect Select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드래그로 Defect 선택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X-Axis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차트 기준 항목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Chart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막대 클릭 시 해당 Defect만 표시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Defect Count Color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Die별 Defect 수 구간 색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ImageList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 Defect 이미지, 더블클릭 시 확대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Raw Data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 Defect의 ID, 좌표, 크기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Information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Map 정보, 선택 Defect 정보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b="1" dirty="0" smtClean="0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선택 Wafer의 Defect 위치를 Wafer Map에 표시함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13_defect_map_vi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5415786" y="3056736"/>
            <a:ext cx="155625" cy="560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322186" y="296313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5365986" y="2963361"/>
            <a:ext cx="168075" cy="7470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272386" y="286976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81549" y="2291061"/>
            <a:ext cx="479325" cy="8403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287949" y="219746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20811" y="5434686"/>
            <a:ext cx="217875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627211" y="534108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29349" y="5434686"/>
            <a:ext cx="211650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835749" y="534108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34774" y="5434686"/>
            <a:ext cx="233437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041174" y="534108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Chart Analysis (Chart 분석)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699797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9734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DMS Analysis → Chart Analysis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Step, Wafer, Class 등 기준별 차트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Defect 수, 밀도, 불량 Die </a:t>
                      </a: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비율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미적용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2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Chart Type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Bar, Line 선택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X-Axis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차트 기준 항목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Y-Axis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집계 값(Defect Count 등)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필터 아이콘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Size 구간, Defect Type 선택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Normalize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비율로 표시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 Label / X Insp. Time / X Value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X축 정렬 기준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Redraw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변경한 옵션으로 차트 다시 그림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b="1" dirty="0" smtClean="0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선택 Wafer의 Defect를 기준 항목별 차트로 집계함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14_chart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1665224" y="2266161"/>
            <a:ext cx="364162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71624" y="217256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665224" y="2350199"/>
            <a:ext cx="277012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571624" y="22565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65224" y="2437349"/>
            <a:ext cx="277012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571624" y="23437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42236" y="2350199"/>
            <a:ext cx="87150" cy="1680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848636" y="22565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886" y="2437349"/>
            <a:ext cx="277012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558286" y="23437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47574" y="2278611"/>
            <a:ext cx="317475" cy="2147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853974" y="218501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41399" y="2266161"/>
            <a:ext cx="342375" cy="17118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947799" y="217256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Defect Map Gallery (Defect 맵 갤러리)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4876115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9734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DMS Analysis → Defect Map Gallery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검사별 Defect Map 나란히 비교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Lot, Step, Class 기준 행렬 배치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Map별 Lot, Wafer 등 정보 글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한 화면 Map 가로, 세로 개수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Die 격자, 이미지 표시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묶음 기준(Column, Row)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미적용(조회 화면)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2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Column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가로 묶음 기준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Row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세로 묶음 기준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Col / Row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한 화면 Map 가로, 세로 개수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Apply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개수 적용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Show dies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Die 격자 표시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New defects only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신규 Defect만 표시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Image Mark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이미지가 있는 Defect 표시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b="1" dirty="0" smtClean="0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여러 Wafer의 Defect Map을 한 화면에 나열해 비교함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15_defect_map_gall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1649661" y="2219474"/>
            <a:ext cx="638062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56061" y="21258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7724" y="2219474"/>
            <a:ext cx="610050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194124" y="21258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7724" y="2219474"/>
            <a:ext cx="893287" cy="871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194124" y="21258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30011" y="2216361"/>
            <a:ext cx="183637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336411" y="212276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32324" y="2225699"/>
            <a:ext cx="280125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538724" y="21320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12449" y="2225699"/>
            <a:ext cx="401512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818849" y="21320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13961" y="2225699"/>
            <a:ext cx="301912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220361" y="21320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Defect Image Gallery (Defect 이미지 갤러리)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912633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7545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DMS Analysis → Defect Image Gallery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Defect Class별 이미지 썸네일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Wafer별 이미지 비교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더블클릭 시 확대 이미지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한 화면 이미지 가로, 세로 개수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Class 구분 </a:t>
                      </a: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없이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나열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미적용(조회 화면)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64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Col / Row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한 화면 이미지 가로, 세로 개수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Apply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개수 적용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NONE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Class 구분 없이 나열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 Display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썸네일 아래 정보 숨김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Zoom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 이미지 확대 창 표시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Information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 이미지의 Defect 정보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Remove Image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 이미지 삭제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b="1" dirty="0" smtClean="0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선택 Wafer의 Defect 이미지를 Class별로 표시함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16_defect_image_gall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1680786" y="2216361"/>
            <a:ext cx="504225" cy="8403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87186" y="212276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2181899" y="2213249"/>
            <a:ext cx="183637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088299" y="21196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65536" y="2200799"/>
            <a:ext cx="202312" cy="1120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271936" y="21071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49174" y="2200799"/>
            <a:ext cx="286350" cy="1120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455574" y="21071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16849" y="2200799"/>
            <a:ext cx="196087" cy="11205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723249" y="21071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78036" y="2207024"/>
            <a:ext cx="249000" cy="7470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384436" y="211342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29349" y="2207024"/>
            <a:ext cx="320587" cy="7470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835749" y="211342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3572239" y="1889416"/>
            <a:ext cx="4868156" cy="2551112"/>
          </a:xfrm>
        </p:spPr>
        <p:txBody>
          <a:bodyPr>
            <a:normAutofit lnSpcReduction="10000"/>
          </a:bodyPr>
          <a:lstStyle/>
          <a:p>
            <a:r>
              <a:rPr lang="en-US" altLang="ko-KR" sz="5400" dirty="0" smtClean="0">
                <a:solidFill>
                  <a:schemeClr val="bg2">
                    <a:lumMod val="90000"/>
                  </a:schemeClr>
                </a:solidFill>
              </a:rPr>
              <a:t>POC</a:t>
            </a:r>
          </a:p>
          <a:p>
            <a:r>
              <a:rPr lang="en-US" altLang="ko-KR" sz="5400" dirty="0">
                <a:solidFill>
                  <a:schemeClr val="bg2">
                    <a:lumMod val="90000"/>
                  </a:schemeClr>
                </a:solidFill>
              </a:rPr>
              <a:t>DMS Analysis</a:t>
            </a:r>
          </a:p>
          <a:p>
            <a:r>
              <a:rPr lang="en-US" altLang="ko-KR" sz="5400" dirty="0" smtClean="0">
                <a:solidFill>
                  <a:schemeClr val="tx1"/>
                </a:solidFill>
              </a:rPr>
              <a:t>TEST Analysis</a:t>
            </a:r>
          </a:p>
        </p:txBody>
      </p:sp>
    </p:spTree>
    <p:extLst>
      <p:ext uri="{BB962C8B-B14F-4D97-AF65-F5344CB8AC3E}">
        <p14:creationId xmlns:p14="http://schemas.microsoft.com/office/powerpoint/2010/main" val="1499338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TESTSearch (왼쪽 TEST 조회 창)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561630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1923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 Analysis 화면을 열면 왼쪽에 표시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기간, 조건에 맞는 Wafer 목록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Wafer별 수율, 검사 Die 수, 테스트 시간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체크 항목 기준 Lot, 제품별 묶음 트리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조회 조건 항목 추가, 삭제, 순서 변경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마지막 조회 조건, 기간 자동 복원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미적용(조회 화면)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20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From / To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테스트 기간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Last Test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재측정 Wafer는 최신 결과만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Not Use Date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기간 없이 Lot, Wafer 조건으로 조회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조건 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조회 조건 입력(쉼표, * 사용)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설정 아이콘(공구 모양)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조회 조건 항목 설정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조회 아이콘(표 모양)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조건에 맞는 검사 목록 조회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Search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 Wafer를 분석 화면에 전달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b="1" dirty="0" smtClean="0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조건에 맞는 TEST Wafer를 찾아 분석 화면에 전달함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p_test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1198800"/>
            <a:ext cx="1881630" cy="51912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507308" y="1332519"/>
            <a:ext cx="778440" cy="267439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13708" y="123891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5749" y="1375501"/>
            <a:ext cx="396383" cy="10506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92149" y="128190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5749" y="1475791"/>
            <a:ext cx="496673" cy="10506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92149" y="138219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9102" y="1590408"/>
            <a:ext cx="1719255" cy="916936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75502" y="1496808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50152" y="1580857"/>
            <a:ext cx="171925" cy="38205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056552" y="1487257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50152" y="1934259"/>
            <a:ext cx="171925" cy="563534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056552" y="184065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76777" y="6203747"/>
            <a:ext cx="845300" cy="176701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383177" y="6110147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TEST Map View (TEST 맵 분석)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908029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364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 Analysis → TEST Map View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Bin 색 Wafer 맵, Bin별 수량, 비율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Bin별 수량 차트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측정 항목 값 구간별 색 맵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Die별 측정값(Raw Data)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미적용(조회 화면)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16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Bin Select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표시할 Bin 선택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Map Draw (Option)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 Bin으로 맵 다시 그림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Bin / Wafer Info / Zone Map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Bin 번호, Wafer 정보, Zone 표시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Test Item 목록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 항목 값으로 색 구간 맵 표시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Section Filter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색 구간 수, 표시 구간 선택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Para Limit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판정 규격 선택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Para Analysis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 항목 분포 차트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b="1" dirty="0" smtClean="0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Wafer 1장의 Bin 맵과 측정값 맵을 분석함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17_test_map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5415786" y="2269274"/>
            <a:ext cx="974212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322186" y="21756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8286" y="5229261"/>
            <a:ext cx="273900" cy="1431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944686" y="513566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25124" y="5229261"/>
            <a:ext cx="292575" cy="2054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331524" y="513566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18099" y="5434686"/>
            <a:ext cx="199200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524499" y="534108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Bin Map Gallery (Probe 맵 갤러리)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439058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742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 Analysis → Bin Map Gallery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Wafer별 Bin 색 맵 한 화면 비교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맵별 제품, Program, 수율, Tester 정보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맵 1장 </a:t>
                      </a: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확대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미적용(조회 화면)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72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Col Cnt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한 줄에 표시할 맵 수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Redraw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맵 다시 배치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Map View Mode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더블클릭 시 맵 분석 창 표시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&lt;&lt; &lt; &gt; &gt;&gt;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확대 보기 이동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중지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맵 생성 중지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맵 클릭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맵 선택(Ctrl, Shift 다중 선택)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b="1" dirty="0" smtClean="0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여러 Wafer의 Bin 맵을 바둑판으로 놓고 비교함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18_bin_map_gall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1649661" y="2200799"/>
            <a:ext cx="317475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56061" y="21071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948461" y="2200799"/>
            <a:ext cx="192975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854861" y="21071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38686" y="2207024"/>
            <a:ext cx="382837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845086" y="211342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47661" y="2200799"/>
            <a:ext cx="417075" cy="809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054061" y="21071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8149" y="5428461"/>
            <a:ext cx="161850" cy="933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134549" y="533486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Test Map Gallery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4105116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742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 Analysis → Test Map Gallery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같은 측정 항목 값 맵 여러 장 비교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규격선 기준 판정 맵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선택 항목의 </a:t>
                      </a:r>
                      <a:r>
                        <a:rPr kumimoji="1" lang="en-US" altLang="ko-KR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Die별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값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미적용(조회 화면)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72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Column Count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한 줄에 표시할 맵 수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필터 칸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항목 이름 필터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Total Para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전체 항목 표시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Decimal Length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값 소수 자리 수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Map Draw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 항목으로 맵 다시 그림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Section Filter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색 구간 수, 표시 구간 선택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Spec Limit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판정 규격 선택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b="1" dirty="0" smtClean="0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여러 Wafer의 측정 항목 값 맵을 나란히 비교함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19_test_map_gall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1658999" y="2228811"/>
            <a:ext cx="678525" cy="8403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65399" y="213521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7374" y="2331524"/>
            <a:ext cx="902625" cy="8403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393774" y="223792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99824" y="4513386"/>
            <a:ext cx="273900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406224" y="441978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35574" y="4504049"/>
            <a:ext cx="441975" cy="8403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841974" y="44104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26636" y="4603649"/>
            <a:ext cx="345487" cy="19608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733036" y="45100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93599" y="4793511"/>
            <a:ext cx="283237" cy="7470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399999" y="469991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58161" y="4793511"/>
            <a:ext cx="242775" cy="7470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664561" y="469991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Wafer Cum Report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9191905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742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 Analysis → Wafer Cum Report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Wafer별 Bin 수량, 비율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선택 Bin 위치의 누적 맵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선택 Bin별 Die 수 막대 차트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누적 횟수 구간별 색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표 값 비율, 수량 전환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미적용(조회 화면)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72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Rate / Count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비율, 수량 표시 전환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Bin 열(노란 칸)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누적할 Bin 선택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Apply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 Wafer, Bin으로 누적 맵 표시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 / Y / Count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Die 좌표, 누적 횟수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Cum Chart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 Bin별 Die 수 차트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Cum Count Color Setup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누적 횟수 구간별 색 설정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b="1" dirty="0" smtClean="0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여러 Wafer의 Bin 발생 위치를 누적 맵으로 표시함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20_wafer_cum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5546511" y="2238149"/>
            <a:ext cx="373500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452911" y="21445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413999" y="2325299"/>
            <a:ext cx="5976000" cy="3078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20399" y="223169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60474" y="2219474"/>
            <a:ext cx="410850" cy="1058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866874" y="21258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15024" y="2851311"/>
            <a:ext cx="236550" cy="8403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621424" y="275771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06936" y="2854424"/>
            <a:ext cx="1883062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413336" y="276082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06936" y="4186574"/>
            <a:ext cx="1883062" cy="90262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413336" y="40929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Wafer Bin Report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328032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742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 Analysis → Wafer Bin Report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Wafer별 Bin 누적 막대, 수율 선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Lot 단위 합산 비교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Bin별 수량, 비율, 불량률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차트 Y축 최대, 최소, 간격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Bin별 차트 표시, 값 라벨 표시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미적용(조회 화면)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72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Wafer Base / Lot Base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Wafer 단위, Lot 단위 전환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Rate Mode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Bin 값을 비율로 표시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Item Visible (범례)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차트에 표시할 Bin 선택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Label Visible (범례)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막대 위 값 표시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Size Reset (우클릭)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확대한 차트 원래 크기로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Chart Config (우클릭)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Y축 범위, 간격 설정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b="1" dirty="0" smtClean="0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Wafer, Lot별 Bin 구성과 수율을 차트로 비교함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21_wafer_bin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1674561" y="2222586"/>
            <a:ext cx="535350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80961" y="212898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8086" y="2222586"/>
            <a:ext cx="283237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994486" y="212898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42599" y="2319074"/>
            <a:ext cx="239662" cy="560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648999" y="22254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42599" y="2371986"/>
            <a:ext cx="261450" cy="5602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648999" y="227838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Yield Report (수율 리포트)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4505643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8931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 Analysis → Yield Report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Wafer별 수율 선 차트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Lot, 일자별 평균 수율 추이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Lot별 Wafer 수율 분포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가로축 글자, 점 값 표시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미적용(조회 화면)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506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Wafer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Wafer별 수율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Lot별 평균 수율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Day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일자별 평균 수율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Scatter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Lot별 Wafer 수율 분포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Box Plot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Lot별 수율 상자 그림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Label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/ </a:t>
                      </a:r>
                      <a:r>
                        <a:rPr kumimoji="1" lang="ko-KR" altLang="en-US" sz="10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Y</a:t>
                      </a: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Label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가로축 글자, 점 값 표시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ToExcel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표, 차트 Excel 저장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b="1" dirty="0" smtClean="0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Wafer, Lot, 일자별 수율 추이를 차트로 표시함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22_yield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1683899" y="2418674"/>
            <a:ext cx="242775" cy="933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90299" y="23250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6674" y="2418674"/>
            <a:ext cx="242775" cy="933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833074" y="23250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69449" y="2418674"/>
            <a:ext cx="242775" cy="933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075849" y="23250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93549" y="2418674"/>
            <a:ext cx="233437" cy="933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299949" y="23250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26986" y="2418674"/>
            <a:ext cx="236550" cy="933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533386" y="23250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74124" y="2434236"/>
            <a:ext cx="454425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580524" y="234063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8549" y="2412449"/>
            <a:ext cx="261450" cy="10893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034949" y="23188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 smtClean="0">
                <a:latin typeface="맑은 고딕"/>
                <a:ea typeface="맑은 고딕"/>
              </a:rPr>
              <a:t>Param Analysis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31</a:t>
            </a:fld>
            <a:endParaRPr lang="ko-KR" altLang="en-US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6235960"/>
              </p:ext>
            </p:extLst>
          </p:nvPr>
        </p:nvGraphicFramePr>
        <p:xfrm>
          <a:off x="341719" y="830005"/>
          <a:ext cx="9226799" cy="5648399"/>
        </p:xfrm>
        <a:graphic>
          <a:graphicData uri="http://schemas.openxmlformats.org/drawingml/2006/table">
            <a:tbl>
              <a:tblPr/>
              <a:tblGrid>
                <a:gridCol w="61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화면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기능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6742">
                <a:tc rowSpan="3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ko-KR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메뉴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 Analysis → Param Analysis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조회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Die별 측정값(Raw)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항목별 최소, 최대, 평균, 표준편차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Setup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추이선, Sigma 선, 규격선 표시</a:t>
                      </a: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차트 Y축 최대, 최소</a:t>
                      </a:r>
                    </a:p>
                    <a:p>
                      <a:pPr marL="0" marR="0" lvl="0" indent="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</a:rPr>
                        <a:t>Limit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미적용(조회 화면)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항목 설명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72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282575" algn="l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574675" algn="l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860425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1147763" algn="l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16049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0621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25193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29765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Item Search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항목 이름 필터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Total Para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전체 항목 표시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Analysis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선택 항목 표, 차트 생성</a:t>
                      </a:r>
                    </a:p>
                    <a:p>
                      <a:pPr marL="228600" marR="0" lvl="0" indent="-228600" algn="l" defTabSz="914400" rtl="0" eaLnBrk="0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ea"/>
                        <a:buAutoNum type="circleNumDbPlain"/>
                        <a:tabLst/>
                      </a:pPr>
                      <a:r>
                        <a:rPr kumimoji="1" lang="ko-KR" altLang="en-US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Raw / 통계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: Die별 값, 항목별 통계</a:t>
                      </a:r>
                    </a:p>
                  </a:txBody>
                  <a:tcPr marT="42203" marB="42203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5600" y="524543"/>
            <a:ext cx="93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latinLnBrk="0"/>
            <a:r>
              <a:rPr kumimoji="1" lang="ko-KR" altLang="en-US" sz="1400" dirty="0" smtClean="0">
                <a:latin typeface="+mn-ea"/>
              </a:rPr>
              <a:t>- </a:t>
            </a:r>
            <a:r>
              <a:rPr kumimoji="1" lang="ko-KR" altLang="en-US" sz="1400" b="1" dirty="0" smtClean="0">
                <a:latin typeface="+mn-ea"/>
              </a:rPr>
              <a:t>역할</a:t>
            </a:r>
            <a:r>
              <a:rPr kumimoji="1" lang="ko-KR" altLang="en-US" sz="1400" dirty="0" smtClean="0">
                <a:latin typeface="+mn-ea"/>
              </a:rPr>
              <a:t> : Wafer 1장의 측정 항목 통계와 추이를 표시함</a:t>
            </a:r>
            <a:endParaRPr kumimoji="1" lang="ko-KR" altLang="ko-KR" sz="1400" dirty="0">
              <a:latin typeface="+mn-ea"/>
            </a:endParaRPr>
          </a:p>
        </p:txBody>
      </p:sp>
      <p:pic>
        <p:nvPicPr>
          <p:cNvPr id="6" name="Picture 5" descr="23_param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9" y="2001599"/>
            <a:ext cx="5976000" cy="3585600"/>
          </a:xfrm>
          <a:prstGeom prst="rect">
            <a:avLst/>
          </a:prstGeom>
          <a:ln w="9525">
            <a:solidFill>
              <a:srgbClr val="7F7F7F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1680786" y="2287949"/>
            <a:ext cx="1123612" cy="8403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87186" y="2194349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674561" y="4158561"/>
            <a:ext cx="273900" cy="68475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580961" y="4064961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02886" y="4136774"/>
            <a:ext cx="498000" cy="108937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309286" y="4043174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41349" y="2210136"/>
            <a:ext cx="317475" cy="74700"/>
          </a:xfrm>
          <a:prstGeom prst="rect">
            <a:avLst/>
          </a:prstGeom>
          <a:noFill/>
          <a:ln w="15875">
            <a:solidFill>
              <a:srgbClr val="FF0000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847749" y="2116536"/>
            <a:ext cx="187200" cy="18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eaLnBrk="0" latinLnBrk="0"/>
            <a:r>
              <a:rPr sz="1000" b="1">
                <a:solidFill>
                  <a:srgbClr val="0000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49235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 smtClean="0"/>
              <a:t>트러블 슈팅</a:t>
            </a:r>
            <a:endParaRPr lang="ko-KR" altLang="en-US" b="0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5AF44-5734-4C67-803C-E5F57A8BDDF5}" type="slidenum">
              <a:rPr lang="ko-KR" altLang="en-US" smtClean="0"/>
              <a:pPr/>
              <a:t>32</a:t>
            </a:fld>
            <a:endParaRPr lang="ko-KR" altLang="en-US" dirty="0"/>
          </a:p>
        </p:txBody>
      </p:sp>
      <p:sp>
        <p:nvSpPr>
          <p:cNvPr id="4" name="Rectangle 6"/>
          <p:cNvSpPr/>
          <p:nvPr/>
        </p:nvSpPr>
        <p:spPr>
          <a:xfrm>
            <a:off x="327600" y="673200"/>
            <a:ext cx="3002400" cy="396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en-US" altLang="ko-KR" sz="1600" b="1" dirty="0" smtClean="0">
                <a:solidFill>
                  <a:schemeClr val="bg1"/>
                </a:solidFill>
                <a:latin typeface="+mn-ea"/>
              </a:rPr>
              <a:t>Oracle 접속 끊김</a:t>
            </a:r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Rectangle 7"/>
          <p:cNvSpPr/>
          <p:nvPr/>
        </p:nvSpPr>
        <p:spPr>
          <a:xfrm>
            <a:off x="327600" y="1134000"/>
            <a:ext cx="9241200" cy="1319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latinLnBrk="0"/>
            <a:r>
              <a:rPr lang="ko-KR" sz="1300" b="1" dirty="0">
                <a:solidFill>
                  <a:schemeClr val="tx1"/>
                </a:solidFill>
                <a:latin typeface="+mn-ea"/>
              </a:rPr>
              <a:t>현상</a:t>
            </a:r>
            <a:r>
              <a:rPr lang="ko-KR" sz="1300" b="0" dirty="0">
                <a:solidFill>
                  <a:schemeClr val="tx1"/>
                </a:solidFill>
                <a:latin typeface="+mn-ea"/>
              </a:rPr>
              <a:t> : 프로그램을 켜 둔 채 일정 시간 사용하지 않으면 조회, 저장 시 DB 오류 </a:t>
            </a:r>
            <a:r>
              <a:rPr lang="ko-KR" sz="1300" b="0" dirty="0" smtClean="0">
                <a:solidFill>
                  <a:schemeClr val="tx1"/>
                </a:solidFill>
                <a:latin typeface="+mn-ea"/>
              </a:rPr>
              <a:t>발생</a:t>
            </a:r>
            <a:endParaRPr lang="en-US" altLang="ko-KR" sz="1300" b="0" dirty="0" smtClean="0">
              <a:solidFill>
                <a:schemeClr val="tx1"/>
              </a:solidFill>
              <a:latin typeface="+mn-ea"/>
            </a:endParaRPr>
          </a:p>
          <a:p>
            <a:pPr latinLnBrk="0"/>
            <a:r>
              <a:rPr lang="ko-KR" sz="1300" b="1" dirty="0" smtClean="0">
                <a:solidFill>
                  <a:schemeClr val="tx1"/>
                </a:solidFill>
                <a:latin typeface="+mn-ea"/>
              </a:rPr>
              <a:t>원인</a:t>
            </a:r>
            <a:r>
              <a:rPr lang="ko-KR" sz="1300" b="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sz="1300" b="0" dirty="0">
                <a:solidFill>
                  <a:schemeClr val="tx1"/>
                </a:solidFill>
                <a:latin typeface="+mn-ea"/>
              </a:rPr>
              <a:t>: DB </a:t>
            </a:r>
            <a:r>
              <a:rPr lang="ko-KR" sz="1300" b="0" dirty="0" smtClean="0">
                <a:solidFill>
                  <a:schemeClr val="tx1"/>
                </a:solidFill>
                <a:latin typeface="+mn-ea"/>
              </a:rPr>
              <a:t>유휴 </a:t>
            </a:r>
            <a:r>
              <a:rPr lang="ko-KR" sz="1300" b="0" dirty="0">
                <a:solidFill>
                  <a:schemeClr val="tx1"/>
                </a:solidFill>
                <a:latin typeface="+mn-ea"/>
              </a:rPr>
              <a:t>시간 제한 설정으로</a:t>
            </a:r>
            <a:r>
              <a:rPr lang="ko-KR" sz="1300" b="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sz="1300" b="0" dirty="0">
                <a:solidFill>
                  <a:schemeClr val="tx1"/>
                </a:solidFill>
                <a:latin typeface="+mn-ea"/>
              </a:rPr>
              <a:t>DB가 사용하지 않는 접속을 끊음</a:t>
            </a:r>
          </a:p>
          <a:p>
            <a:pPr latinLnBrk="0"/>
            <a:r>
              <a:rPr lang="ko-KR" sz="1300" b="1" dirty="0">
                <a:solidFill>
                  <a:schemeClr val="tx1"/>
                </a:solidFill>
                <a:latin typeface="+mn-ea"/>
              </a:rPr>
              <a:t>조치</a:t>
            </a:r>
            <a:r>
              <a:rPr lang="ko-KR" sz="1300" b="0" dirty="0">
                <a:solidFill>
                  <a:schemeClr val="tx1"/>
                </a:solidFill>
                <a:latin typeface="+mn-ea"/>
              </a:rPr>
              <a:t> : 프로그램 다시 </a:t>
            </a:r>
            <a:r>
              <a:rPr lang="ko-KR" sz="1300" b="0" dirty="0" smtClean="0">
                <a:solidFill>
                  <a:schemeClr val="tx1"/>
                </a:solidFill>
                <a:latin typeface="+mn-ea"/>
              </a:rPr>
              <a:t>실행</a:t>
            </a:r>
            <a:r>
              <a:rPr lang="en-US" altLang="ko-KR" sz="13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300" dirty="0" smtClean="0">
                <a:solidFill>
                  <a:schemeClr val="tx1"/>
                </a:solidFill>
                <a:latin typeface="+mn-ea"/>
              </a:rPr>
              <a:t>또는 재조회 여러 번</a:t>
            </a:r>
            <a:endParaRPr lang="ko-KR" sz="13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327600" y="2598000"/>
            <a:ext cx="3002400" cy="396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en-US" altLang="ko-KR" sz="1600" b="1" dirty="0" smtClean="0">
                <a:solidFill>
                  <a:schemeClr val="bg1"/>
                </a:solidFill>
                <a:latin typeface="+mn-ea"/>
              </a:rPr>
              <a:t>공유 폴더 File 열기 멈춤</a:t>
            </a:r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Rectangle 7"/>
          <p:cNvSpPr/>
          <p:nvPr/>
        </p:nvSpPr>
        <p:spPr>
          <a:xfrm>
            <a:off x="327600" y="3058800"/>
            <a:ext cx="9241200" cy="1319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latinLnBrk="0"/>
            <a:r>
              <a:rPr lang="ko-KR" sz="1300" b="1" dirty="0">
                <a:solidFill>
                  <a:schemeClr val="tx1"/>
                </a:solidFill>
                <a:latin typeface="+mn-ea"/>
              </a:rPr>
              <a:t>현상</a:t>
            </a:r>
            <a:r>
              <a:rPr lang="ko-KR" sz="1300" b="0" dirty="0">
                <a:solidFill>
                  <a:schemeClr val="tx1"/>
                </a:solidFill>
                <a:latin typeface="+mn-ea"/>
              </a:rPr>
              <a:t> : 공유 폴더(네트워크 경로)에 있는 GDS, KLARF, E-Test 파일을 바로 열면 화면이 멈춤</a:t>
            </a:r>
          </a:p>
          <a:p>
            <a:pPr latinLnBrk="0"/>
            <a:r>
              <a:rPr lang="ko-KR" sz="1300" b="1" dirty="0" smtClean="0">
                <a:solidFill>
                  <a:schemeClr val="tx1"/>
                </a:solidFill>
                <a:latin typeface="+mn-ea"/>
              </a:rPr>
              <a:t>조치</a:t>
            </a:r>
            <a:r>
              <a:rPr lang="ko-KR" sz="1300" b="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sz="1300" b="0" dirty="0">
                <a:solidFill>
                  <a:schemeClr val="tx1"/>
                </a:solidFill>
                <a:latin typeface="+mn-ea"/>
              </a:rPr>
              <a:t>: 파일을 PC Local 폴더로 복사한 뒤 Local 경로에서 열어 작업</a:t>
            </a:r>
          </a:p>
        </p:txBody>
      </p:sp>
      <p:sp>
        <p:nvSpPr>
          <p:cNvPr id="8" name="Rectangle 6"/>
          <p:cNvSpPr/>
          <p:nvPr/>
        </p:nvSpPr>
        <p:spPr>
          <a:xfrm>
            <a:off x="327600" y="4522800"/>
            <a:ext cx="3002400" cy="396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en-US" altLang="ko-KR" sz="1600" b="1" dirty="0" smtClean="0">
                <a:solidFill>
                  <a:schemeClr val="bg1"/>
                </a:solidFill>
                <a:latin typeface="+mn-ea"/>
              </a:rPr>
              <a:t>GDS 화면 그래픽 카드 필요</a:t>
            </a:r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Rectangle 7"/>
          <p:cNvSpPr/>
          <p:nvPr/>
        </p:nvSpPr>
        <p:spPr>
          <a:xfrm>
            <a:off x="327600" y="4983599"/>
            <a:ext cx="9241200" cy="1319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latinLnBrk="0"/>
            <a:r>
              <a:rPr lang="ko-KR" sz="1300" b="1" dirty="0">
                <a:solidFill>
                  <a:schemeClr val="tx1"/>
                </a:solidFill>
                <a:latin typeface="+mn-ea"/>
              </a:rPr>
              <a:t>현상</a:t>
            </a:r>
            <a:r>
              <a:rPr lang="ko-KR" sz="1300" b="0" dirty="0">
                <a:solidFill>
                  <a:schemeClr val="tx1"/>
                </a:solidFill>
                <a:latin typeface="+mn-ea"/>
              </a:rPr>
              <a:t> : 그래픽 카드가 없는 PC에서 GDS 도면이 보이지 않거나 화면 오류 발생</a:t>
            </a:r>
          </a:p>
          <a:p>
            <a:pPr latinLnBrk="0"/>
            <a:r>
              <a:rPr lang="ko-KR" sz="1300" b="1" dirty="0">
                <a:solidFill>
                  <a:schemeClr val="tx1"/>
                </a:solidFill>
                <a:latin typeface="+mn-ea"/>
              </a:rPr>
              <a:t>원인</a:t>
            </a:r>
            <a:r>
              <a:rPr lang="ko-KR" sz="1300" b="0" dirty="0">
                <a:solidFill>
                  <a:schemeClr val="tx1"/>
                </a:solidFill>
                <a:latin typeface="+mn-ea"/>
              </a:rPr>
              <a:t> : GDS 도면을 그래픽 </a:t>
            </a:r>
            <a:r>
              <a:rPr lang="ko-KR" sz="1300" b="0" dirty="0" smtClean="0">
                <a:solidFill>
                  <a:schemeClr val="tx1"/>
                </a:solidFill>
                <a:latin typeface="+mn-ea"/>
              </a:rPr>
              <a:t>카드로 </a:t>
            </a:r>
            <a:r>
              <a:rPr lang="ko-KR" sz="1300" b="0" dirty="0">
                <a:solidFill>
                  <a:schemeClr val="tx1"/>
                </a:solidFill>
                <a:latin typeface="+mn-ea"/>
              </a:rPr>
              <a:t>그림</a:t>
            </a:r>
          </a:p>
          <a:p>
            <a:pPr latinLnBrk="0"/>
            <a:r>
              <a:rPr lang="ko-KR" sz="1300" b="1" dirty="0">
                <a:solidFill>
                  <a:schemeClr val="tx1"/>
                </a:solidFill>
                <a:latin typeface="+mn-ea"/>
              </a:rPr>
              <a:t>대상 화면</a:t>
            </a:r>
            <a:r>
              <a:rPr lang="ko-KR" sz="1300" b="0" dirty="0">
                <a:solidFill>
                  <a:schemeClr val="tx1"/>
                </a:solidFill>
                <a:latin typeface="+mn-ea"/>
              </a:rPr>
              <a:t> : GDS Map Setup, GDS Map View, GDS-KLARF-ET Correlation 상세보기</a:t>
            </a:r>
          </a:p>
          <a:p>
            <a:pPr latinLnBrk="0"/>
            <a:r>
              <a:rPr lang="ko-KR" sz="1300" b="1" dirty="0">
                <a:solidFill>
                  <a:schemeClr val="tx1"/>
                </a:solidFill>
                <a:latin typeface="+mn-ea"/>
              </a:rPr>
              <a:t>조치</a:t>
            </a:r>
            <a:r>
              <a:rPr lang="ko-KR" sz="1300" b="0" dirty="0">
                <a:solidFill>
                  <a:schemeClr val="tx1"/>
                </a:solidFill>
                <a:latin typeface="+mn-ea"/>
              </a:rPr>
              <a:t> : 그래픽 카드와 드라이버가 있는 PC에서 사용(내장 그래픽 가능). 원격 데스크톱, VDI, 가상 PC는 안 될 수 있음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680" y="1275025"/>
            <a:ext cx="2867980" cy="108717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509"/>
          <a:stretch/>
        </p:blipFill>
        <p:spPr>
          <a:xfrm>
            <a:off x="1460612" y="2852936"/>
            <a:ext cx="1610306" cy="580254"/>
          </a:xfrm>
          <a:prstGeom prst="rect">
            <a:avLst/>
          </a:prstGeom>
        </p:spPr>
      </p:pic>
      <p:sp>
        <p:nvSpPr>
          <p:cNvPr id="8" name="텍스트 개체 틀 22"/>
          <p:cNvSpPr txBox="1">
            <a:spLocks/>
          </p:cNvSpPr>
          <p:nvPr/>
        </p:nvSpPr>
        <p:spPr>
          <a:xfrm>
            <a:off x="6126443" y="3423915"/>
            <a:ext cx="2350003" cy="9695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138113" indent="-138113" algn="l" rtl="0" eaLnBrk="1" fontAlgn="base" latinLnBrk="1" hangingPunct="1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Tx/>
              <a:buSzPct val="100000"/>
              <a:buFont typeface="Wingdings" pitchFamily="2" charset="2"/>
              <a:buChar char="§"/>
              <a:defRPr lang="en-US" altLang="ko-KR" sz="1200" kern="1200" dirty="0" smtClean="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1pPr>
            <a:lvl2pPr marL="466725" indent="-171450" algn="l" rtl="0" eaLnBrk="1" fontAlgn="base" latinLnBrk="1" hangingPunct="1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Tx/>
              <a:buFont typeface="Arial" pitchFamily="34" charset="0"/>
              <a:buChar char="-"/>
              <a:defRPr lang="en-US" altLang="ko-KR" sz="1200" kern="1200" dirty="0" smtClean="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2pPr>
            <a:lvl3pPr marL="685800" indent="-161925" algn="l" rtl="0" eaLnBrk="1" fontAlgn="base" latinLnBrk="1" hangingPunct="1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Tx/>
              <a:buFont typeface="Arial" pitchFamily="34" charset="0"/>
              <a:buChar char="-"/>
              <a:defRPr lang="en-US" altLang="ko-KR" sz="1200" kern="1200" dirty="0" smtClean="0">
                <a:solidFill>
                  <a:schemeClr val="tx1"/>
                </a:solidFill>
                <a:latin typeface="Arial" pitchFamily="34" charset="0"/>
                <a:ea typeface="맑은 고딕" panose="020B0503020000020004" pitchFamily="50" charset="-127"/>
                <a:cs typeface="Arial" pitchFamily="34" charset="0"/>
              </a:defRPr>
            </a:lvl3pPr>
            <a:lvl4pPr marL="936625" indent="-171450" algn="l" rtl="0" eaLnBrk="1" fontAlgn="base" latinLnBrk="1" hangingPunct="1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Tx/>
              <a:buFont typeface="Arial" pitchFamily="34" charset="0"/>
              <a:buChar char="-"/>
              <a:defRPr lang="en-US" altLang="ko-KR" sz="12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466725" indent="-171450" algn="l" rtl="0" eaLnBrk="1" fontAlgn="base" latinLnBrk="1" hangingPunct="1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rgbClr val="002060"/>
              </a:buClr>
              <a:buFont typeface="Arial" pitchFamily="34" charset="0"/>
              <a:buChar char="-"/>
              <a:defRPr lang="en-US" altLang="ko-KR" sz="12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lang="en-US" altLang="ko-KR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Wingdings" pitchFamily="2" charset="2"/>
              <a:buNone/>
            </a:pPr>
            <a:r>
              <a:rPr sz="7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Copyright ⓒ</a:t>
            </a:r>
            <a:r>
              <a:rPr sz="700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2026 </a:t>
            </a:r>
            <a:r>
              <a:rPr sz="700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Miracom</a:t>
            </a:r>
            <a:r>
              <a:rPr sz="700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Inc. Co., Ltd. All rights reserved</a:t>
            </a:r>
            <a:endParaRPr sz="7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3" name="직선 연결선 2"/>
          <p:cNvCxnSpPr/>
          <p:nvPr/>
        </p:nvCxnSpPr>
        <p:spPr>
          <a:xfrm flipV="1">
            <a:off x="3154865" y="2955863"/>
            <a:ext cx="0" cy="468052"/>
          </a:xfrm>
          <a:prstGeom prst="line">
            <a:avLst/>
          </a:prstGeom>
          <a:ln w="3175" cap="flat">
            <a:solidFill>
              <a:schemeClr val="tx1">
                <a:lumMod val="40000"/>
                <a:lumOff val="60000"/>
              </a:schemeClr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1509" y="3009387"/>
            <a:ext cx="5291328" cy="4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167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8927</TotalTime>
  <Words>3973</Words>
  <Application>Microsoft Office PowerPoint</Application>
  <PresentationFormat>A4 용지(210x297mm)</PresentationFormat>
  <Paragraphs>850</Paragraphs>
  <Slides>34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1" baseType="lpstr">
      <vt:lpstr>굴림</vt:lpstr>
      <vt:lpstr>맑은 고딕</vt:lpstr>
      <vt:lpstr>Arial</vt:lpstr>
      <vt:lpstr>Calibri</vt:lpstr>
      <vt:lpstr>Calibri Light</vt:lpstr>
      <vt:lpstr>Wingdings</vt:lpstr>
      <vt:lpstr>Office 테마</vt:lpstr>
      <vt:lpstr>SCK E-Test POC 사용자 메뉴얼</vt:lpstr>
      <vt:lpstr>설치 정보</vt:lpstr>
      <vt:lpstr>화면 구성</vt:lpstr>
      <vt:lpstr>PowerPoint 프레젠테이션</vt:lpstr>
      <vt:lpstr>GDS Map Setup (GDS Map 설정)</vt:lpstr>
      <vt:lpstr>Wafer Map Setup</vt:lpstr>
      <vt:lpstr>E-Test Para Register (E-Test Para 등록)</vt:lpstr>
      <vt:lpstr>E-Test Para Setup (E-Test Para 설정)</vt:lpstr>
      <vt:lpstr>E-Test Bin Setup (E-Test Bin 설정)</vt:lpstr>
      <vt:lpstr>Defect Type Define</vt:lpstr>
      <vt:lpstr>KLARF File Upload (KLARF File 업로드)</vt:lpstr>
      <vt:lpstr>E-Test Result Upload (E-Test 결과 업로드)</vt:lpstr>
      <vt:lpstr>GDS Map View (GDS Map 조회)</vt:lpstr>
      <vt:lpstr>Wafer Map View (Wafer Map 조회)</vt:lpstr>
      <vt:lpstr>E-Test Result View (E-Test 결과 조회)</vt:lpstr>
      <vt:lpstr>GDS-KLARF-ET Correlation (GDS-KLARF-ET 연관 분석)</vt:lpstr>
      <vt:lpstr>GDS-KLARF-ET Correlation 상세보기 (Die 상세 분석)</vt:lpstr>
      <vt:lpstr>PowerPoint 프레젠테이션</vt:lpstr>
      <vt:lpstr>DMSearch (왼쪽 Wafer 조회 창)</vt:lpstr>
      <vt:lpstr>Defect Map Viewer (Defect 맵 조회)</vt:lpstr>
      <vt:lpstr>Chart Analysis (Chart 분석)</vt:lpstr>
      <vt:lpstr>Defect Map Gallery (Defect 맵 갤러리)</vt:lpstr>
      <vt:lpstr>Defect Image Gallery (Defect 이미지 갤러리)</vt:lpstr>
      <vt:lpstr>PowerPoint 프레젠테이션</vt:lpstr>
      <vt:lpstr>TESTSearch (왼쪽 TEST 조회 창)</vt:lpstr>
      <vt:lpstr>TEST Map View (TEST 맵 분석)</vt:lpstr>
      <vt:lpstr>Bin Map Gallery (Probe 맵 갤러리)</vt:lpstr>
      <vt:lpstr>Test Map Gallery</vt:lpstr>
      <vt:lpstr>Wafer Cum Report</vt:lpstr>
      <vt:lpstr>Wafer Bin Report</vt:lpstr>
      <vt:lpstr>Yield Report (수율 리포트)</vt:lpstr>
      <vt:lpstr>Param Analysis</vt:lpstr>
      <vt:lpstr>트러블 슈팅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SCK E-Test POC 사용자 메뉴얼 (2차 시안)</dc:title>
  <dc:subject/>
  <dc:creator/>
  <cp:keywords/>
  <dc:description/>
  <cp:lastModifiedBy>BJ</cp:lastModifiedBy>
  <cp:revision>47</cp:revision>
  <dcterms:created xsi:type="dcterms:W3CDTF">2014-01-27T23:50:26Z</dcterms:created>
  <dcterms:modified xsi:type="dcterms:W3CDTF">2026-10-27T07:29:36Z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