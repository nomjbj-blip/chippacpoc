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9" r:id="rId6"/>
    <p:sldId id="261" r:id="rId7"/>
    <p:sldId id="262" r:id="rId8"/>
    <p:sldId id="278" r:id="rId9"/>
    <p:sldId id="280" r:id="rId10"/>
    <p:sldId id="279" r:id="rId11"/>
    <p:sldId id="277" r:id="rId12"/>
    <p:sldId id="270" r:id="rId13"/>
    <p:sldId id="271" r:id="rId14"/>
    <p:sldId id="276" r:id="rId15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9" autoAdjust="0"/>
    <p:restoredTop sz="92832" autoAdjust="0"/>
  </p:normalViewPr>
  <p:slideViewPr>
    <p:cSldViewPr snapToGrid="0">
      <p:cViewPr varScale="1">
        <p:scale>
          <a:sx n="100" d="100"/>
          <a:sy n="100" d="100"/>
        </p:scale>
        <p:origin x="1760" y="52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latin typeface="맑은 고딕"/>
              </a:rPr>
              <a:t>안녕하십니까, </a:t>
            </a:r>
            <a:r>
              <a:rPr lang="ko-KR" dirty="0" err="1">
                <a:latin typeface="맑은 고딕"/>
              </a:rPr>
              <a:t>미라콤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정병주입니다</a:t>
            </a:r>
            <a:r>
              <a:rPr lang="ko-KR" dirty="0">
                <a:latin typeface="맑은 고딕"/>
              </a:rPr>
              <a:t>.</a:t>
            </a:r>
          </a:p>
          <a:p>
            <a:r>
              <a:rPr lang="ko-KR" dirty="0">
                <a:latin typeface="맑은 고딕"/>
              </a:rPr>
              <a:t>지금부터 </a:t>
            </a:r>
            <a:r>
              <a:rPr lang="ko-KR" dirty="0" err="1" smtClean="0">
                <a:latin typeface="맑은 고딕"/>
              </a:rPr>
              <a:t>스태츠칩팩Defect</a:t>
            </a:r>
            <a:r>
              <a:rPr lang="ko-KR" dirty="0" smtClean="0">
                <a:latin typeface="맑은 고딕"/>
              </a:rPr>
              <a:t> </a:t>
            </a:r>
            <a:r>
              <a:rPr lang="ko-KR" dirty="0">
                <a:latin typeface="맑은 고딕"/>
              </a:rPr>
              <a:t>/ </a:t>
            </a:r>
            <a:r>
              <a:rPr lang="ko-KR" dirty="0" err="1">
                <a:latin typeface="맑은 고딕"/>
              </a:rPr>
              <a:t>E-Test</a:t>
            </a:r>
            <a:r>
              <a:rPr lang="ko-KR" dirty="0">
                <a:latin typeface="맑은 고딕"/>
              </a:rPr>
              <a:t> 연관 분석 시스템 구축 POC 완료 보고를 시작하겠습니다</a:t>
            </a:r>
            <a:r>
              <a:rPr lang="ko-KR" dirty="0" smtClean="0">
                <a:latin typeface="맑은 고딕"/>
              </a:rPr>
              <a:t>.</a:t>
            </a:r>
            <a:endParaRPr lang="ko-KR" dirty="0">
              <a:latin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>
                <a:latin typeface="맑은 고딕"/>
              </a:rPr>
              <a:t>보고는 POC 개요, 주요 POC 기능 및 결과, 종료 후 운영 방안 순서로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 smtClean="0"/>
              <a:t>POC 배경 및 목표 입니다</a:t>
            </a:r>
            <a:r>
              <a:rPr lang="en-US" altLang="ko-KR" dirty="0" smtClean="0"/>
              <a:t>. </a:t>
            </a:r>
            <a:endParaRPr lang="en-US" altLang="ko-KR" dirty="0" smtClean="0">
              <a:latin typeface="맑은 고딕"/>
            </a:endParaRPr>
          </a:p>
          <a:p>
            <a:r>
              <a:rPr lang="ko-KR" altLang="en-US" dirty="0" smtClean="0">
                <a:latin typeface="맑은 고딕"/>
              </a:rPr>
              <a:t>왼쪽과 같이 </a:t>
            </a:r>
            <a:r>
              <a:rPr lang="en-US" altLang="ko-KR" dirty="0" smtClean="0">
                <a:latin typeface="맑은 고딕"/>
              </a:rPr>
              <a:t>Packaging </a:t>
            </a:r>
            <a:r>
              <a:rPr lang="ko-KR" altLang="en-US" dirty="0" smtClean="0">
                <a:latin typeface="맑은 고딕"/>
              </a:rPr>
              <a:t>공정 후 </a:t>
            </a:r>
            <a:r>
              <a:rPr lang="en-US" altLang="ko-KR" dirty="0" smtClean="0">
                <a:latin typeface="맑은 고딕"/>
              </a:rPr>
              <a:t>AOI, E-Test</a:t>
            </a:r>
            <a:r>
              <a:rPr lang="en-US" altLang="ko-KR" baseline="0" dirty="0" smtClean="0">
                <a:latin typeface="맑은 고딕"/>
              </a:rPr>
              <a:t> </a:t>
            </a:r>
            <a:r>
              <a:rPr lang="ko-KR" altLang="en-US" baseline="0" dirty="0" smtClean="0">
                <a:latin typeface="맑은 고딕"/>
              </a:rPr>
              <a:t>검사를 진행하는데요</a:t>
            </a:r>
            <a:r>
              <a:rPr lang="en-US" altLang="ko-KR" baseline="0" dirty="0" smtClean="0">
                <a:latin typeface="맑은 고딕"/>
              </a:rPr>
              <a:t>.</a:t>
            </a:r>
          </a:p>
          <a:p>
            <a:r>
              <a:rPr lang="ko-KR" altLang="en-US" baseline="0" dirty="0" smtClean="0">
                <a:latin typeface="맑은 고딕"/>
              </a:rPr>
              <a:t>각 공정에서 생성되는 불량 </a:t>
            </a:r>
            <a:r>
              <a:rPr lang="en-US" altLang="ko-KR" baseline="0" dirty="0" smtClean="0">
                <a:latin typeface="맑은 고딕"/>
              </a:rPr>
              <a:t>Data </a:t>
            </a:r>
            <a:r>
              <a:rPr lang="ko-KR" altLang="en-US" baseline="0" dirty="0" smtClean="0">
                <a:latin typeface="맑은 고딕"/>
              </a:rPr>
              <a:t>기반으로 외관 불량이 전기 불량에 영향이 있는지에 대한 근거를 시스템이 제시해 </a:t>
            </a:r>
            <a:r>
              <a:rPr lang="ko-KR" altLang="en-US" baseline="0" dirty="0" err="1" smtClean="0">
                <a:latin typeface="맑은 고딕"/>
              </a:rPr>
              <a:t>주는것이</a:t>
            </a:r>
            <a:endParaRPr lang="en-US" altLang="ko-KR" baseline="0" dirty="0" smtClean="0">
              <a:latin typeface="맑은 고딕"/>
            </a:endParaRPr>
          </a:p>
          <a:p>
            <a:r>
              <a:rPr lang="ko-KR" altLang="en-US" baseline="0" dirty="0" smtClean="0">
                <a:latin typeface="맑은 고딕"/>
              </a:rPr>
              <a:t>이번 </a:t>
            </a:r>
            <a:r>
              <a:rPr lang="en-US" altLang="ko-KR" baseline="0" dirty="0" smtClean="0">
                <a:latin typeface="맑은 고딕"/>
              </a:rPr>
              <a:t>POC</a:t>
            </a:r>
            <a:r>
              <a:rPr lang="ko-KR" altLang="en-US" baseline="0" dirty="0" smtClean="0">
                <a:latin typeface="맑은 고딕"/>
              </a:rPr>
              <a:t>의 목표 입니다</a:t>
            </a:r>
            <a:r>
              <a:rPr lang="en-US" altLang="ko-KR" baseline="0" dirty="0" smtClean="0">
                <a:latin typeface="맑은 고딕"/>
              </a:rPr>
              <a:t>.</a:t>
            </a:r>
          </a:p>
          <a:p>
            <a:endParaRPr lang="en-US" altLang="ko-KR" dirty="0" smtClean="0">
              <a:latin typeface="맑은 고딕"/>
            </a:endParaRPr>
          </a:p>
          <a:p>
            <a:r>
              <a:rPr lang="ko-KR" dirty="0">
                <a:latin typeface="맑은 고딕"/>
              </a:rPr>
              <a:t>아래 현황처럼 지금은 세 데이터가 따로 </a:t>
            </a:r>
            <a:r>
              <a:rPr lang="ko-KR" dirty="0" smtClean="0">
                <a:latin typeface="맑은 고딕"/>
              </a:rPr>
              <a:t>있</a:t>
            </a:r>
            <a:r>
              <a:rPr lang="ko-KR" altLang="en-US" dirty="0" smtClean="0">
                <a:latin typeface="맑은 고딕"/>
              </a:rPr>
              <a:t>고 엔지니어가 수동을 일일이 확인하는데 </a:t>
            </a:r>
            <a:r>
              <a:rPr lang="ko-KR" dirty="0" smtClean="0">
                <a:latin typeface="맑은 고딕"/>
              </a:rPr>
              <a:t>어렵</a:t>
            </a:r>
            <a:r>
              <a:rPr lang="ko-KR" altLang="en-US" dirty="0" smtClean="0">
                <a:latin typeface="맑은 고딕"/>
              </a:rPr>
              <a:t>기때문에 이번 </a:t>
            </a:r>
            <a:r>
              <a:rPr lang="en-US" altLang="ko-KR" dirty="0" smtClean="0">
                <a:latin typeface="맑은 고딕"/>
              </a:rPr>
              <a:t>POC </a:t>
            </a:r>
            <a:r>
              <a:rPr lang="ko-KR" altLang="en-US" dirty="0" smtClean="0">
                <a:latin typeface="맑은 고딕"/>
              </a:rPr>
              <a:t>에서는 각</a:t>
            </a:r>
            <a:r>
              <a:rPr lang="en-US" altLang="ko-KR" baseline="0" dirty="0" smtClean="0">
                <a:latin typeface="맑은 고딕"/>
              </a:rPr>
              <a:t> </a:t>
            </a:r>
            <a:r>
              <a:rPr lang="ko-KR" altLang="en-US" baseline="0" dirty="0" smtClean="0">
                <a:latin typeface="맑은 고딕"/>
              </a:rPr>
              <a:t>데이터를 </a:t>
            </a:r>
            <a:r>
              <a:rPr lang="ko-KR" altLang="en-US" baseline="0" dirty="0" err="1" smtClean="0">
                <a:latin typeface="맑은 고딕"/>
              </a:rPr>
              <a:t>한화면에</a:t>
            </a:r>
            <a:endParaRPr lang="en-US" altLang="ko-KR" baseline="0" dirty="0" smtClean="0">
              <a:latin typeface="맑은 고딕"/>
            </a:endParaRPr>
          </a:p>
          <a:p>
            <a:r>
              <a:rPr lang="ko-KR" altLang="en-US" baseline="0" dirty="0" smtClean="0">
                <a:latin typeface="맑은 고딕"/>
              </a:rPr>
              <a:t>연결하여 불량에 대한 근거를 시스템에서 제공하는데 있습니다</a:t>
            </a:r>
            <a:r>
              <a:rPr lang="en-US" altLang="ko-KR" baseline="0" dirty="0" smtClean="0">
                <a:latin typeface="맑은 고딕"/>
              </a:rPr>
              <a:t>. </a:t>
            </a:r>
            <a:endParaRPr lang="en-US" altLang="ko-KR" dirty="0" smtClean="0">
              <a:latin typeface="맑은 고딕"/>
            </a:endParaRPr>
          </a:p>
          <a:p>
            <a:endParaRPr lang="en-US" altLang="ko-KR" dirty="0" smtClean="0">
              <a:latin typeface="맑은 고딕"/>
            </a:endParaRPr>
          </a:p>
          <a:p>
            <a:r>
              <a:rPr lang="ko-KR" dirty="0" smtClean="0">
                <a:latin typeface="맑은 고딕"/>
              </a:rPr>
              <a:t>이번 </a:t>
            </a:r>
            <a:r>
              <a:rPr lang="ko-KR" dirty="0" err="1">
                <a:latin typeface="맑은 고딕"/>
              </a:rPr>
              <a:t>POC는</a:t>
            </a:r>
            <a:r>
              <a:rPr lang="ko-KR" dirty="0">
                <a:latin typeface="맑은 고딕"/>
              </a:rPr>
              <a:t> </a:t>
            </a:r>
            <a:r>
              <a:rPr lang="ko-KR" dirty="0" smtClean="0">
                <a:latin typeface="맑은 고딕"/>
              </a:rPr>
              <a:t>U9</a:t>
            </a:r>
            <a:r>
              <a:rPr lang="en-US" altLang="ko-KR" dirty="0" smtClean="0">
                <a:latin typeface="맑은 고딕"/>
              </a:rPr>
              <a:t>,</a:t>
            </a:r>
            <a:r>
              <a:rPr lang="ko-KR" dirty="0" smtClean="0">
                <a:latin typeface="맑은 고딕"/>
              </a:rPr>
              <a:t>U8</a:t>
            </a:r>
            <a:r>
              <a:rPr lang="en-US" altLang="ko-KR" dirty="0" smtClean="0">
                <a:latin typeface="맑은 고딕"/>
              </a:rPr>
              <a:t> </a:t>
            </a:r>
            <a:r>
              <a:rPr lang="ko-KR" altLang="en-US" dirty="0" smtClean="0">
                <a:latin typeface="맑은 고딕"/>
              </a:rPr>
              <a:t>디바이스 대상으로 진행 </a:t>
            </a:r>
            <a:r>
              <a:rPr lang="ko-KR" dirty="0" smtClean="0">
                <a:latin typeface="맑은 고딕"/>
              </a:rPr>
              <a:t>확인했습니다</a:t>
            </a:r>
            <a:r>
              <a:rPr lang="ko-KR" dirty="0">
                <a:latin typeface="맑은 고딕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>
                <a:latin typeface="맑은 고딕"/>
              </a:rPr>
              <a:t>처음 </a:t>
            </a:r>
            <a:r>
              <a:rPr lang="ko-KR" dirty="0" err="1">
                <a:latin typeface="맑은 고딕"/>
              </a:rPr>
              <a:t>제안드린</a:t>
            </a:r>
            <a:r>
              <a:rPr lang="ko-KR" dirty="0">
                <a:latin typeface="맑은 고딕"/>
              </a:rPr>
              <a:t> POC 기능 25개는 모두 화면으로 구현했습니다.</a:t>
            </a:r>
          </a:p>
          <a:p>
            <a:r>
              <a:rPr lang="ko-KR" dirty="0">
                <a:latin typeface="맑은 고딕"/>
              </a:rPr>
              <a:t>기존 솔루션 기능은 그대로 쓰고, 신규 개발은 GDS, </a:t>
            </a:r>
            <a:r>
              <a:rPr lang="ko-KR" dirty="0" err="1">
                <a:latin typeface="맑은 고딕"/>
              </a:rPr>
              <a:t>Chain</a:t>
            </a:r>
            <a:r>
              <a:rPr lang="ko-KR" dirty="0">
                <a:latin typeface="맑은 고딕"/>
              </a:rPr>
              <a:t>, 연관 분석, 파일 업로드에 집중했습니다.</a:t>
            </a:r>
          </a:p>
          <a:p>
            <a:r>
              <a:rPr lang="ko-KR" dirty="0">
                <a:latin typeface="맑은 고딕"/>
              </a:rPr>
              <a:t>아래는 역할 분담입니다. </a:t>
            </a:r>
            <a:r>
              <a:rPr lang="ko-KR" dirty="0" err="1">
                <a:latin typeface="맑은 고딕"/>
              </a:rPr>
              <a:t>미라콤은</a:t>
            </a:r>
            <a:r>
              <a:rPr lang="ko-KR" dirty="0">
                <a:latin typeface="맑은 고딕"/>
              </a:rPr>
              <a:t> 설계, 개발, 검증과 인계를 맡았습니다.</a:t>
            </a:r>
          </a:p>
          <a:p>
            <a:r>
              <a:rPr lang="ko-KR" dirty="0">
                <a:latin typeface="맑은 고딕"/>
              </a:rPr>
              <a:t>연구소는 요건과 샘플 데이터 제공, 결과 검증을 맡아 주셨고, </a:t>
            </a:r>
            <a:r>
              <a:rPr lang="ko-KR" dirty="0" err="1">
                <a:latin typeface="맑은 고딕"/>
              </a:rPr>
              <a:t>IT팀은</a:t>
            </a:r>
            <a:r>
              <a:rPr lang="ko-KR" dirty="0">
                <a:latin typeface="맑은 고딕"/>
              </a:rPr>
              <a:t> 서버와 </a:t>
            </a:r>
            <a:r>
              <a:rPr lang="ko-KR" dirty="0" err="1">
                <a:latin typeface="맑은 고딕"/>
              </a:rPr>
              <a:t>DB를</a:t>
            </a:r>
            <a:r>
              <a:rPr lang="ko-KR" dirty="0">
                <a:latin typeface="맑은 고딕"/>
              </a:rPr>
              <a:t> 지원해 주셨습니다.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>
                <a:latin typeface="맑은 고딕"/>
              </a:rPr>
              <a:t>이번 </a:t>
            </a:r>
            <a:r>
              <a:rPr lang="ko-KR" dirty="0" err="1">
                <a:latin typeface="맑은 고딕"/>
              </a:rPr>
              <a:t>POC는</a:t>
            </a:r>
            <a:r>
              <a:rPr lang="ko-KR" dirty="0">
                <a:latin typeface="맑은 고딕"/>
              </a:rPr>
              <a:t> 처음부터 새로 만든 것이 아니라 </a:t>
            </a:r>
            <a:r>
              <a:rPr lang="ko-KR" dirty="0" err="1">
                <a:latin typeface="맑은 고딕"/>
              </a:rPr>
              <a:t>미라콤의</a:t>
            </a:r>
            <a:r>
              <a:rPr lang="ko-KR" dirty="0">
                <a:latin typeface="맑은 고딕"/>
              </a:rPr>
              <a:t> 기존 솔루션을 활용했습니다.</a:t>
            </a:r>
          </a:p>
          <a:p>
            <a:r>
              <a:rPr lang="ko-KR" dirty="0">
                <a:latin typeface="맑은 고딕"/>
              </a:rPr>
              <a:t>왼쪽 </a:t>
            </a:r>
            <a:r>
              <a:rPr lang="ko-KR" dirty="0" err="1">
                <a:latin typeface="맑은 고딕"/>
              </a:rPr>
              <a:t>DMS는</a:t>
            </a:r>
            <a:r>
              <a:rPr lang="ko-KR" dirty="0">
                <a:latin typeface="맑은 고딕"/>
              </a:rPr>
              <a:t> 외관 불량 데이터, 가운데 </a:t>
            </a:r>
            <a:r>
              <a:rPr lang="ko-KR" dirty="0" err="1">
                <a:latin typeface="맑은 고딕"/>
              </a:rPr>
              <a:t>YMS는</a:t>
            </a:r>
            <a:r>
              <a:rPr lang="ko-KR" dirty="0">
                <a:latin typeface="맑은 고딕"/>
              </a:rPr>
              <a:t> 전기 검사 데이터를 분석하는 기존 기능입니다.</a:t>
            </a:r>
          </a:p>
          <a:p>
            <a:r>
              <a:rPr lang="ko-KR" dirty="0">
                <a:latin typeface="맑은 고딕"/>
              </a:rPr>
              <a:t>오른쪽 GDS, </a:t>
            </a:r>
            <a:r>
              <a:rPr lang="ko-KR" dirty="0" err="1">
                <a:latin typeface="맑은 고딕"/>
              </a:rPr>
              <a:t>Chain만</a:t>
            </a:r>
            <a:r>
              <a:rPr lang="ko-KR" dirty="0">
                <a:latin typeface="맑은 고딕"/>
              </a:rPr>
              <a:t> 새로 개발해 세 데이터를 연결했습니다</a:t>
            </a:r>
            <a:r>
              <a:rPr lang="ko-KR" dirty="0" smtClean="0">
                <a:latin typeface="맑은 고딕"/>
              </a:rPr>
              <a:t>.</a:t>
            </a:r>
            <a:endParaRPr lang="ko-KR" dirty="0">
              <a:latin typeface="맑은 고딕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>
                <a:latin typeface="맑은 고딕"/>
              </a:rPr>
              <a:t>다음은 </a:t>
            </a:r>
            <a:r>
              <a:rPr lang="ko-KR" dirty="0" err="1">
                <a:latin typeface="맑은 고딕"/>
              </a:rPr>
              <a:t>Setup</a:t>
            </a:r>
            <a:r>
              <a:rPr lang="ko-KR" dirty="0">
                <a:latin typeface="맑은 고딕"/>
              </a:rPr>
              <a:t> 편의성입니다.</a:t>
            </a:r>
          </a:p>
          <a:p>
            <a:r>
              <a:rPr lang="ko-KR" dirty="0">
                <a:latin typeface="맑은 고딕"/>
              </a:rPr>
              <a:t>왼쪽 GDS </a:t>
            </a:r>
            <a:r>
              <a:rPr lang="ko-KR" dirty="0" err="1">
                <a:latin typeface="맑은 고딕"/>
              </a:rPr>
              <a:t>Chain은</a:t>
            </a:r>
            <a:r>
              <a:rPr lang="ko-KR" dirty="0">
                <a:latin typeface="맑은 고딕"/>
              </a:rPr>
              <a:t> 시작 도형 하나만 찍으면 이어진 배선을 시스템이 자동으로 찾아 </a:t>
            </a:r>
            <a:r>
              <a:rPr lang="ko-KR" dirty="0" err="1">
                <a:latin typeface="맑은 고딕"/>
              </a:rPr>
              <a:t>Chain을</a:t>
            </a:r>
            <a:r>
              <a:rPr lang="ko-KR" dirty="0">
                <a:latin typeface="맑은 고딕"/>
              </a:rPr>
              <a:t> 만들고, 근처 </a:t>
            </a:r>
            <a:r>
              <a:rPr lang="ko-KR" dirty="0" err="1">
                <a:latin typeface="맑은 고딕"/>
              </a:rPr>
              <a:t>Label로</a:t>
            </a:r>
            <a:r>
              <a:rPr lang="ko-KR" dirty="0">
                <a:latin typeface="맑은 고딕"/>
              </a:rPr>
              <a:t> 이름까지 붙여 줍니다.</a:t>
            </a:r>
          </a:p>
          <a:p>
            <a:r>
              <a:rPr lang="ko-KR" dirty="0">
                <a:latin typeface="맑은 고딕"/>
              </a:rPr>
              <a:t>U9은 이렇게 </a:t>
            </a:r>
            <a:r>
              <a:rPr lang="ko-KR" dirty="0" err="1">
                <a:latin typeface="맑은 고딕"/>
              </a:rPr>
              <a:t>Chain</a:t>
            </a:r>
            <a:r>
              <a:rPr lang="ko-KR" dirty="0">
                <a:latin typeface="맑은 고딕"/>
              </a:rPr>
              <a:t> 19개를 등록했습니다.</a:t>
            </a:r>
          </a:p>
          <a:p>
            <a:r>
              <a:rPr lang="ko-KR" dirty="0">
                <a:latin typeface="맑은 고딕"/>
              </a:rPr>
              <a:t>오른쪽 </a:t>
            </a:r>
            <a:r>
              <a:rPr lang="ko-KR" dirty="0" err="1">
                <a:latin typeface="맑은 고딕"/>
              </a:rPr>
              <a:t>Wafer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Map과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E-Test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Parameter는</a:t>
            </a:r>
            <a:r>
              <a:rPr lang="ko-KR" dirty="0">
                <a:latin typeface="맑은 고딕"/>
              </a:rPr>
              <a:t> 파일을 읽어 바로 등록합니다. KLARF 파일로 </a:t>
            </a:r>
            <a:r>
              <a:rPr lang="ko-KR" dirty="0" err="1">
                <a:latin typeface="맑은 고딕"/>
              </a:rPr>
              <a:t>Wafer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Map을</a:t>
            </a:r>
            <a:r>
              <a:rPr lang="ko-KR" dirty="0">
                <a:latin typeface="맑은 고딕"/>
              </a:rPr>
              <a:t> 만들고, </a:t>
            </a:r>
            <a:r>
              <a:rPr lang="ko-KR" dirty="0" err="1">
                <a:latin typeface="맑은 고딕"/>
              </a:rPr>
              <a:t>E-Test</a:t>
            </a:r>
            <a:r>
              <a:rPr lang="ko-KR" dirty="0">
                <a:latin typeface="맑은 고딕"/>
              </a:rPr>
              <a:t> 결과 파일 헤더 2,755개를 한 번에 </a:t>
            </a:r>
            <a:r>
              <a:rPr lang="ko-KR" dirty="0" err="1">
                <a:latin typeface="맑은 고딕"/>
              </a:rPr>
              <a:t>Parameter로</a:t>
            </a:r>
            <a:r>
              <a:rPr lang="ko-KR" dirty="0">
                <a:latin typeface="맑은 고딕"/>
              </a:rPr>
              <a:t> 등록했습니다.</a:t>
            </a:r>
          </a:p>
          <a:p>
            <a:r>
              <a:rPr lang="ko-KR" dirty="0">
                <a:latin typeface="맑은 고딕"/>
              </a:rPr>
              <a:t>그래서 새 </a:t>
            </a:r>
            <a:r>
              <a:rPr lang="ko-KR" dirty="0" err="1">
                <a:latin typeface="맑은 고딕"/>
              </a:rPr>
              <a:t>Device가</a:t>
            </a:r>
            <a:r>
              <a:rPr lang="ko-KR" dirty="0">
                <a:latin typeface="맑은 고딕"/>
              </a:rPr>
              <a:t> 들어와도 연구소에서 직접 </a:t>
            </a:r>
            <a:r>
              <a:rPr lang="ko-KR" dirty="0" err="1">
                <a:latin typeface="맑은 고딕"/>
              </a:rPr>
              <a:t>기준정보를</a:t>
            </a:r>
            <a:r>
              <a:rPr lang="ko-KR" dirty="0">
                <a:latin typeface="맑은 고딕"/>
              </a:rPr>
              <a:t> 설정하실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 smtClean="0">
                <a:latin typeface="맑은 고딕"/>
              </a:rPr>
              <a:t>데이터는</a:t>
            </a:r>
            <a:r>
              <a:rPr lang="en-US" altLang="ko-KR" dirty="0" smtClean="0">
                <a:latin typeface="맑은 고딕"/>
              </a:rPr>
              <a:t> </a:t>
            </a:r>
            <a:r>
              <a:rPr lang="ko-KR" altLang="en-US" dirty="0" err="1" smtClean="0">
                <a:latin typeface="맑은 고딕"/>
              </a:rPr>
              <a:t>칩팩에서</a:t>
            </a:r>
            <a:r>
              <a:rPr lang="ko-KR" altLang="en-US" dirty="0" smtClean="0">
                <a:latin typeface="맑은 고딕"/>
              </a:rPr>
              <a:t> 사용중인</a:t>
            </a:r>
            <a:r>
              <a:rPr lang="ko-KR" dirty="0" smtClean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MES나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QMS와</a:t>
            </a:r>
            <a:r>
              <a:rPr lang="ko-KR" dirty="0">
                <a:latin typeface="맑은 고딕"/>
              </a:rPr>
              <a:t> 연동하지 않고, KLARF 파일과 </a:t>
            </a:r>
            <a:r>
              <a:rPr lang="ko-KR" dirty="0" err="1">
                <a:latin typeface="맑은 고딕"/>
              </a:rPr>
              <a:t>E-Test</a:t>
            </a:r>
            <a:r>
              <a:rPr lang="ko-KR" dirty="0">
                <a:latin typeface="맑은 고딕"/>
              </a:rPr>
              <a:t> 결과 파일을 직접 올리는 방식입니다.</a:t>
            </a:r>
          </a:p>
          <a:p>
            <a:r>
              <a:rPr lang="ko-KR" dirty="0">
                <a:latin typeface="맑은 고딕"/>
              </a:rPr>
              <a:t>파일 안에 있는 </a:t>
            </a:r>
            <a:r>
              <a:rPr lang="ko-KR" dirty="0" err="1">
                <a:latin typeface="맑은 고딕"/>
              </a:rPr>
              <a:t>Lot</a:t>
            </a:r>
            <a:r>
              <a:rPr lang="ko-KR" dirty="0">
                <a:latin typeface="맑은 고딕"/>
              </a:rPr>
              <a:t>, </a:t>
            </a:r>
            <a:r>
              <a:rPr lang="ko-KR" dirty="0" err="1">
                <a:latin typeface="맑은 고딕"/>
              </a:rPr>
              <a:t>Wafer</a:t>
            </a:r>
            <a:r>
              <a:rPr lang="ko-KR" dirty="0">
                <a:latin typeface="맑은 고딕"/>
              </a:rPr>
              <a:t>, </a:t>
            </a:r>
            <a:r>
              <a:rPr lang="ko-KR" dirty="0" err="1">
                <a:latin typeface="맑은 고딕"/>
              </a:rPr>
              <a:t>Device</a:t>
            </a:r>
            <a:r>
              <a:rPr lang="ko-KR" dirty="0">
                <a:latin typeface="맑은 고딕"/>
              </a:rPr>
              <a:t> 정보로 </a:t>
            </a:r>
            <a:r>
              <a:rPr lang="ko-KR" dirty="0" err="1">
                <a:latin typeface="맑은 고딕"/>
              </a:rPr>
              <a:t>기준정보를</a:t>
            </a:r>
            <a:r>
              <a:rPr lang="ko-KR" dirty="0">
                <a:latin typeface="맑은 고딕"/>
              </a:rPr>
              <a:t> 만들고, </a:t>
            </a:r>
            <a:r>
              <a:rPr lang="ko-KR" dirty="0" err="1">
                <a:latin typeface="맑은 고딕"/>
              </a:rPr>
              <a:t>Die</a:t>
            </a:r>
            <a:r>
              <a:rPr lang="ko-KR" dirty="0">
                <a:latin typeface="맑은 고딕"/>
              </a:rPr>
              <a:t> 좌표와 </a:t>
            </a:r>
            <a:r>
              <a:rPr lang="ko-KR" dirty="0" err="1">
                <a:latin typeface="맑은 고딕"/>
              </a:rPr>
              <a:t>Chain</a:t>
            </a:r>
            <a:r>
              <a:rPr lang="ko-KR" dirty="0">
                <a:latin typeface="맑은 고딕"/>
              </a:rPr>
              <a:t> 이름으로 서로 연결합니다.</a:t>
            </a:r>
          </a:p>
          <a:p>
            <a:r>
              <a:rPr lang="ko-KR" dirty="0">
                <a:latin typeface="맑은 고딕"/>
              </a:rPr>
              <a:t>자동 수집과 MES 연동은 </a:t>
            </a:r>
            <a:r>
              <a:rPr lang="ko-KR" dirty="0" err="1">
                <a:latin typeface="맑은 고딕"/>
              </a:rPr>
              <a:t>본사업에서</a:t>
            </a:r>
            <a:r>
              <a:rPr lang="ko-KR" dirty="0">
                <a:latin typeface="맑은 고딕"/>
              </a:rPr>
              <a:t> 추진할 범위입니다.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sz="1000" dirty="0">
                <a:latin typeface="맑은 고딕"/>
              </a:rPr>
              <a:t>이 화면이 이번 </a:t>
            </a:r>
            <a:r>
              <a:rPr lang="ko-KR" sz="1000" dirty="0" err="1">
                <a:latin typeface="맑은 고딕"/>
              </a:rPr>
              <a:t>POC의</a:t>
            </a:r>
            <a:r>
              <a:rPr lang="ko-KR" sz="1000" dirty="0">
                <a:latin typeface="맑은 고딕"/>
              </a:rPr>
              <a:t> 최종 결과 화면입니다.</a:t>
            </a:r>
          </a:p>
          <a:p>
            <a:r>
              <a:rPr lang="ko-KR" sz="1000" dirty="0">
                <a:latin typeface="맑은 고딕"/>
              </a:rPr>
              <a:t>1번은 선택한 </a:t>
            </a:r>
            <a:r>
              <a:rPr lang="ko-KR" sz="1000" dirty="0" err="1">
                <a:latin typeface="맑은 고딕"/>
              </a:rPr>
              <a:t>Die의</a:t>
            </a:r>
            <a:r>
              <a:rPr lang="ko-KR" sz="1000" dirty="0">
                <a:latin typeface="맑은 고딕"/>
              </a:rPr>
              <a:t> 불량과 </a:t>
            </a:r>
            <a:r>
              <a:rPr lang="ko-KR" sz="1000" dirty="0" err="1">
                <a:latin typeface="맑은 고딕"/>
              </a:rPr>
              <a:t>Fail</a:t>
            </a:r>
            <a:r>
              <a:rPr lang="ko-KR" sz="1000" dirty="0">
                <a:latin typeface="맑은 고딕"/>
              </a:rPr>
              <a:t> </a:t>
            </a:r>
            <a:r>
              <a:rPr lang="ko-KR" sz="1000" dirty="0" err="1">
                <a:latin typeface="맑은 고딕"/>
              </a:rPr>
              <a:t>Chain</a:t>
            </a:r>
            <a:r>
              <a:rPr lang="ko-KR" sz="1000" dirty="0">
                <a:latin typeface="맑은 고딕"/>
              </a:rPr>
              <a:t> 요약이고, 2번은 도면 위에 외관 불량 위치를 겹쳐 보여 주는 </a:t>
            </a:r>
            <a:r>
              <a:rPr lang="ko-KR" sz="1000" dirty="0" err="1">
                <a:latin typeface="맑은 고딕"/>
              </a:rPr>
              <a:t>Map입니다</a:t>
            </a:r>
            <a:r>
              <a:rPr lang="ko-KR" sz="1000" dirty="0">
                <a:latin typeface="맑은 고딕"/>
              </a:rPr>
              <a:t>.</a:t>
            </a:r>
          </a:p>
          <a:p>
            <a:r>
              <a:rPr lang="ko-KR" sz="1000" dirty="0">
                <a:latin typeface="맑은 고딕"/>
              </a:rPr>
              <a:t>3번에서는 </a:t>
            </a:r>
            <a:r>
              <a:rPr lang="ko-KR" sz="1000" dirty="0" err="1">
                <a:latin typeface="맑은 고딕"/>
              </a:rPr>
              <a:t>Chain별로</a:t>
            </a:r>
            <a:r>
              <a:rPr lang="ko-KR" sz="1000" dirty="0">
                <a:latin typeface="맑은 고딕"/>
              </a:rPr>
              <a:t> 불량이 </a:t>
            </a:r>
            <a:r>
              <a:rPr lang="ko-KR" sz="1100" dirty="0">
                <a:latin typeface="맑은 고딕"/>
              </a:rPr>
              <a:t>배선 안에 있는지 밖에 있는지 확인합니다.</a:t>
            </a:r>
          </a:p>
          <a:p>
            <a:r>
              <a:rPr lang="ko-KR" sz="1100" dirty="0">
                <a:latin typeface="맑은 고딕"/>
              </a:rPr>
              <a:t>4번에서는 그 </a:t>
            </a:r>
            <a:r>
              <a:rPr lang="ko-KR" sz="1100" dirty="0" err="1">
                <a:latin typeface="맑은 고딕"/>
              </a:rPr>
              <a:t>Chain의</a:t>
            </a:r>
            <a:r>
              <a:rPr lang="ko-KR" sz="1100" dirty="0">
                <a:latin typeface="맑은 고딕"/>
              </a:rPr>
              <a:t> 전기 검사 값과 </a:t>
            </a:r>
            <a:r>
              <a:rPr lang="ko-KR" sz="1100" dirty="0" err="1">
                <a:latin typeface="맑은 고딕"/>
              </a:rPr>
              <a:t>Spec을</a:t>
            </a:r>
            <a:r>
              <a:rPr lang="ko-KR" sz="1100" dirty="0">
                <a:latin typeface="맑은 고딕"/>
              </a:rPr>
              <a:t> 함께 봅니다.</a:t>
            </a:r>
          </a:p>
          <a:p>
            <a:r>
              <a:rPr lang="ko-KR" sz="1100" dirty="0">
                <a:latin typeface="맑은 고딕"/>
              </a:rPr>
              <a:t>불량 위치와 전기 불량을 한 화면에서 비교해 엔지니어가 판단할 근거를 드리는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>
                <a:latin typeface="맑은 고딕"/>
              </a:rPr>
              <a:t>결론부터 말씀드리면, 도면을 기준으로 불량 연관 분석이 가능하다는 것을 확인했습니다.</a:t>
            </a:r>
          </a:p>
          <a:p>
            <a:r>
              <a:rPr lang="ko-KR" dirty="0">
                <a:latin typeface="맑은 고딕"/>
              </a:rPr>
              <a:t>세 데이터를 한 화면에 연결했고, </a:t>
            </a:r>
            <a:r>
              <a:rPr lang="ko-KR" dirty="0" err="1">
                <a:latin typeface="맑은 고딕"/>
              </a:rPr>
              <a:t>Chain</a:t>
            </a:r>
            <a:r>
              <a:rPr lang="ko-KR" dirty="0">
                <a:latin typeface="맑은 고딕"/>
              </a:rPr>
              <a:t> 자동 생성과 </a:t>
            </a:r>
            <a:r>
              <a:rPr lang="ko-KR" dirty="0" err="1">
                <a:latin typeface="맑은 고딕"/>
              </a:rPr>
              <a:t>Naming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Rule</a:t>
            </a:r>
            <a:r>
              <a:rPr lang="ko-KR" dirty="0">
                <a:latin typeface="맑은 고딕"/>
              </a:rPr>
              <a:t> 연결 방식이라 다른 </a:t>
            </a:r>
            <a:r>
              <a:rPr lang="ko-KR" dirty="0" err="1">
                <a:latin typeface="맑은 고딕"/>
              </a:rPr>
              <a:t>Device로도</a:t>
            </a:r>
            <a:r>
              <a:rPr lang="ko-KR" dirty="0">
                <a:latin typeface="맑은 고딕"/>
              </a:rPr>
              <a:t> 확장할 수 있습니다.</a:t>
            </a:r>
          </a:p>
          <a:p>
            <a:r>
              <a:rPr lang="ko-KR" dirty="0">
                <a:latin typeface="맑은 고딕"/>
              </a:rPr>
              <a:t>남은 과제는 두 가지입니다. </a:t>
            </a:r>
            <a:r>
              <a:rPr lang="ko-KR" dirty="0" err="1">
                <a:latin typeface="맑은 고딕"/>
              </a:rPr>
              <a:t>Wafer</a:t>
            </a:r>
            <a:r>
              <a:rPr lang="ko-KR" dirty="0">
                <a:latin typeface="맑은 고딕"/>
              </a:rPr>
              <a:t> 이름, 좌표 원점 같은 데이터 기준과 파일, </a:t>
            </a:r>
            <a:r>
              <a:rPr lang="ko-KR" dirty="0" err="1">
                <a:latin typeface="맑은 고딕"/>
              </a:rPr>
              <a:t>Chain의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Naming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Rule을</a:t>
            </a:r>
            <a:r>
              <a:rPr lang="ko-KR" dirty="0">
                <a:latin typeface="맑은 고딕"/>
              </a:rPr>
              <a:t> 연구소와 함께 확정해야 합니다.</a:t>
            </a:r>
          </a:p>
          <a:p>
            <a:r>
              <a:rPr lang="ko-KR" dirty="0">
                <a:latin typeface="맑은 고딕"/>
              </a:rPr>
              <a:t>아래는 </a:t>
            </a:r>
            <a:r>
              <a:rPr lang="ko-KR" dirty="0" err="1">
                <a:latin typeface="맑은 고딕"/>
              </a:rPr>
              <a:t>본사업에서</a:t>
            </a:r>
            <a:r>
              <a:rPr lang="ko-KR" dirty="0">
                <a:latin typeface="맑은 고딕"/>
              </a:rPr>
              <a:t> 추진할 기능입니다.</a:t>
            </a:r>
          </a:p>
          <a:p>
            <a:r>
              <a:rPr lang="ko-KR" dirty="0">
                <a:latin typeface="맑은 고딕"/>
              </a:rPr>
              <a:t>파일 자동 수집과 MES 연동으로 수동 업로드를 없애고, 불량 </a:t>
            </a:r>
            <a:r>
              <a:rPr lang="ko-KR" dirty="0" err="1">
                <a:latin typeface="맑은 고딕"/>
              </a:rPr>
              <a:t>Spec을</a:t>
            </a:r>
            <a:r>
              <a:rPr lang="ko-KR" dirty="0">
                <a:latin typeface="맑은 고딕"/>
              </a:rPr>
              <a:t> 관리해 기준을 넘으면 설비를 </a:t>
            </a:r>
            <a:r>
              <a:rPr lang="ko-KR" dirty="0" err="1">
                <a:latin typeface="맑은 고딕"/>
              </a:rPr>
              <a:t>Hold하거나</a:t>
            </a:r>
            <a:r>
              <a:rPr lang="ko-KR" dirty="0">
                <a:latin typeface="맑은 고딕"/>
              </a:rPr>
              <a:t> 메일로 알려 품질 사고를 미리 막습니다.</a:t>
            </a:r>
          </a:p>
          <a:p>
            <a:r>
              <a:rPr lang="ko-KR" dirty="0">
                <a:latin typeface="맑은 고딕"/>
              </a:rPr>
              <a:t>또 차수와 작업 방법에 따라 BS / FS 기준을 </a:t>
            </a:r>
            <a:r>
              <a:rPr lang="ko-KR" dirty="0" err="1">
                <a:latin typeface="맑은 고딕"/>
              </a:rPr>
              <a:t>정보화하고</a:t>
            </a:r>
            <a:r>
              <a:rPr lang="ko-KR" dirty="0">
                <a:latin typeface="맑은 고딕"/>
              </a:rPr>
              <a:t>, 새로운 GDS </a:t>
            </a:r>
            <a:r>
              <a:rPr lang="ko-KR" dirty="0" err="1">
                <a:latin typeface="맑은 고딕"/>
              </a:rPr>
              <a:t>Format에도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Chain</a:t>
            </a:r>
            <a:r>
              <a:rPr lang="ko-KR" dirty="0">
                <a:latin typeface="맑은 고딕"/>
              </a:rPr>
              <a:t> 자동 생성이 되도록 확장합니다.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 err="1">
                <a:latin typeface="맑은 고딕"/>
              </a:rPr>
              <a:t>미라콤이</a:t>
            </a:r>
            <a:r>
              <a:rPr lang="ko-KR" dirty="0">
                <a:latin typeface="맑은 고딕"/>
              </a:rPr>
              <a:t> 철수한 뒤에도 연구소에서 내년 1월 31일까지 POC 시스템을 직접 쓰실 수 있습니다.</a:t>
            </a:r>
          </a:p>
          <a:p>
            <a:r>
              <a:rPr lang="ko-KR" dirty="0">
                <a:latin typeface="맑은 고딕"/>
              </a:rPr>
              <a:t>그 이후에는 조회만 가능하고, 등록한 데이터는 그대로 남습니다.</a:t>
            </a:r>
          </a:p>
          <a:p>
            <a:r>
              <a:rPr lang="ko-KR" dirty="0">
                <a:latin typeface="맑은 고딕"/>
              </a:rPr>
              <a:t>운영은 연구소가 업로드와 분석을, </a:t>
            </a:r>
            <a:r>
              <a:rPr lang="ko-KR" dirty="0" err="1">
                <a:latin typeface="맑은 고딕"/>
              </a:rPr>
              <a:t>IT팀이</a:t>
            </a:r>
            <a:r>
              <a:rPr lang="ko-KR" dirty="0">
                <a:latin typeface="맑은 고딕"/>
              </a:rPr>
              <a:t> 서비스 관리와 업데이트를 맡습니다.</a:t>
            </a:r>
          </a:p>
          <a:p>
            <a:r>
              <a:rPr lang="ko-KR" dirty="0">
                <a:latin typeface="맑은 고딕"/>
              </a:rPr>
              <a:t>문제가 생기면 </a:t>
            </a:r>
            <a:r>
              <a:rPr lang="ko-KR" dirty="0" err="1">
                <a:latin typeface="맑은 고딕"/>
              </a:rPr>
              <a:t>미라콤이</a:t>
            </a:r>
            <a:r>
              <a:rPr lang="ko-KR" dirty="0">
                <a:latin typeface="맑은 고딕"/>
              </a:rPr>
              <a:t> 업데이트 파일을 제공하겠습니다.</a:t>
            </a:r>
          </a:p>
          <a:p>
            <a:r>
              <a:rPr lang="ko-KR" dirty="0">
                <a:latin typeface="맑은 고딕"/>
              </a:rPr>
              <a:t>인계 자료로 IT 유지보수 가이드와 사용자 매뉴얼을 드리고, 새 Device를 쓰실 때는 GDS Map, Wafer Map 설정을 먼저 해 주셔야 합니다.</a:t>
            </a:r>
          </a:p>
          <a:p>
            <a:r>
              <a:rPr lang="ko-KR" dirty="0">
                <a:latin typeface="맑은 고딕"/>
              </a:rPr>
              <a:t>사용 결과를 보시고 </a:t>
            </a:r>
            <a:r>
              <a:rPr lang="ko-KR" dirty="0" err="1">
                <a:latin typeface="맑은 고딕"/>
              </a:rPr>
              <a:t>본사업</a:t>
            </a:r>
            <a:r>
              <a:rPr lang="ko-KR" dirty="0">
                <a:latin typeface="맑은 고딕"/>
              </a:rPr>
              <a:t> 확장 여부를 판단해 주시면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>
                <a:latin typeface="맑은 고딕"/>
              </a:rPr>
              <a:t>이상으로 POC 완료 보고를 마치겠습니다. 감사합니다.</a:t>
            </a:r>
          </a:p>
          <a:p>
            <a:r>
              <a:rPr lang="ko-KR">
                <a:latin typeface="맑은 고딕"/>
              </a:rPr>
              <a:t>궁금하신 점 있으시면 말씀해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업_배경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24000" y="-1523998"/>
            <a:ext cx="6858000" cy="9906000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각 삼각형 3"/>
          <p:cNvSpPr/>
          <p:nvPr userDrawn="1"/>
        </p:nvSpPr>
        <p:spPr>
          <a:xfrm flipH="1">
            <a:off x="3833446" y="785449"/>
            <a:ext cx="6072552" cy="6072552"/>
          </a:xfrm>
          <a:prstGeom prst="rtTriangle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37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25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35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40" name="그룹 3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47" name="직사각형 4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42" name="직사각형 4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43" name="그룹 4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45" name="직사각형 4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6" name="직사각형 4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44" name="직사각형 4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9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44084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2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41683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>
          <p15:clr>
            <a:srgbClr val="FBAE40"/>
          </p15:clr>
        </p15:guide>
        <p15:guide id="2" pos="60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21813" y="1618816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2751826" y="908721"/>
            <a:ext cx="6487065" cy="546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115038" y="1124745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ko-KR" altLang="en-US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별첨자료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037" y="1019970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819509" y="1645444"/>
            <a:ext cx="1506972" cy="95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2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/9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오브젝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9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F97B612E-35DE-560C-37CA-503D4EBDF32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004078"/>
              </p:ext>
            </p:extLst>
          </p:nvPr>
        </p:nvGraphicFramePr>
        <p:xfrm>
          <a:off x="417515" y="1563113"/>
          <a:ext cx="9072880" cy="4884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644">
                  <a:extLst>
                    <a:ext uri="{9D8B030D-6E8A-4147-A177-3AD203B41FA5}">
                      <a16:colId xmlns:a16="http://schemas.microsoft.com/office/drawing/2014/main" val="397380730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20007287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40174775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9298287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48622524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032514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19069717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03039018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713891701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0596480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19888667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6690651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95831483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868525859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68234630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51942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78799090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26539898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022057505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398815053"/>
                    </a:ext>
                  </a:extLst>
                </a:gridCol>
              </a:tblGrid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33756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765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7125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7570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3577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80053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4917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11529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0874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0953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83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150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240">
          <p15:clr>
            <a:srgbClr val="FBAE40"/>
          </p15:clr>
        </p15:guide>
        <p15:guide id="4" pos="60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090907" y="3432561"/>
            <a:ext cx="1722138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</a:t>
            </a:r>
            <a:endParaRPr lang="ko-KR" altLang="en-US" sz="1600" b="1" dirty="0">
              <a:solidFill>
                <a:schemeClr val="tx2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4027" r:id="rId2"/>
    <p:sldLayoutId id="2147483958" r:id="rId3"/>
    <p:sldLayoutId id="2147484030" r:id="rId4"/>
    <p:sldLayoutId id="2147484095" r:id="rId5"/>
    <p:sldLayoutId id="2147484097" r:id="rId6"/>
    <p:sldLayoutId id="2147484096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'26.10</a:t>
            </a:r>
            <a:r>
              <a:rPr lang="en-US" altLang="ko-KR" smtClean="0"/>
              <a:t>.29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prstGeom prst="rect">
            <a:avLst/>
          </a:prstGeom>
        </p:spPr>
        <p:txBody>
          <a:bodyPr/>
          <a:lstStyle/>
          <a:p>
            <a:pPr latinLnBrk="0"/>
            <a:r>
              <a:rPr lang="ko-KR" altLang="en-US" dirty="0" smtClean="0"/>
              <a:t>Defect / </a:t>
            </a:r>
            <a:r>
              <a:rPr lang="ko-KR" altLang="en-US" dirty="0" err="1" smtClean="0"/>
              <a:t>E-Test</a:t>
            </a:r>
            <a:r>
              <a:rPr lang="ko-KR" altLang="en-US" dirty="0" smtClean="0"/>
              <a:t> 연관 분석</a:t>
            </a:r>
            <a:endParaRPr lang="ko-KR" altLang="en-US" dirty="0"/>
          </a:p>
          <a:p>
            <a:pPr latinLnBrk="0"/>
            <a:r>
              <a:rPr lang="ko-KR" altLang="en-US" dirty="0" smtClean="0"/>
              <a:t>시스템 구축 POC 완료보고</a:t>
            </a:r>
            <a:endParaRPr lang="ko-KR" altLang="en-US" dirty="0"/>
          </a:p>
        </p:txBody>
      </p:sp>
      <p:pic>
        <p:nvPicPr>
          <p:cNvPr id="4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00" y="6214202"/>
            <a:ext cx="1375200" cy="29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 latinLnBrk="0"/>
            <a:r>
              <a:rPr lang="ko-KR" altLang="en-US"/>
              <a:t>POC 개요</a:t>
            </a:r>
            <a:endParaRPr lang="ko-KR" altLang="en-US" dirty="0"/>
          </a:p>
          <a:p>
            <a:pPr lvl="0" latinLnBrk="0"/>
            <a:r>
              <a:rPr lang="ko-KR" altLang="en-US"/>
              <a:t>주요 POC 기능 및 결과</a:t>
            </a:r>
            <a:endParaRPr lang="ko-KR" altLang="en-US" dirty="0"/>
          </a:p>
          <a:p>
            <a:pPr lvl="0" latinLnBrk="0"/>
            <a:r>
              <a:rPr lang="ko-KR" altLang="en-US"/>
              <a:t>종료 후 운영 방안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배경 및 목표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959981"/>
            <a:ext cx="9144000" cy="246221"/>
          </a:xfrm>
        </p:spPr>
        <p:txBody>
          <a:bodyPr/>
          <a:lstStyle/>
          <a:p>
            <a:pPr latinLnBrk="0"/>
            <a:r>
              <a:rPr lang="ko-KR" altLang="en-US" dirty="0" smtClean="0"/>
              <a:t>도면 (GDS) &lt;-&gt; 외관 불량 (</a:t>
            </a:r>
            <a:r>
              <a:rPr lang="ko-KR" altLang="en-US" dirty="0" err="1" smtClean="0"/>
              <a:t>Klarf</a:t>
            </a:r>
            <a:r>
              <a:rPr lang="ko-KR" altLang="en-US" dirty="0" smtClean="0"/>
              <a:t>) &lt;-&gt; 전기적 특성 검사 (E-Test) 간의 관계 분석</a:t>
            </a:r>
            <a:endParaRPr lang="en-US" altLang="ko-KR" dirty="0" smtClean="0"/>
          </a:p>
        </p:txBody>
      </p:sp>
      <p:pic>
        <p:nvPicPr>
          <p:cNvPr id="12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 dirty="0" err="1"/>
              <a:t>I</a:t>
            </a:r>
            <a:r>
              <a:rPr lang="ko-KR" altLang="en-US" dirty="0"/>
              <a:t>. POC 개요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600" y="1582506"/>
            <a:ext cx="2664000" cy="28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 dirty="0" err="1">
                <a:solidFill>
                  <a:schemeClr val="bg1"/>
                </a:solidFill>
              </a:rPr>
              <a:t>Packaging</a:t>
            </a:r>
            <a:r>
              <a:rPr lang="ko-KR" altLang="en-US" sz="1300" b="1" dirty="0">
                <a:solidFill>
                  <a:schemeClr val="bg1"/>
                </a:solidFill>
              </a:rPr>
              <a:t> </a:t>
            </a:r>
            <a:r>
              <a:rPr lang="ko-KR" altLang="en-US" sz="1300" b="1" dirty="0" smtClean="0">
                <a:solidFill>
                  <a:schemeClr val="bg1"/>
                </a:solidFill>
              </a:rPr>
              <a:t>공정 </a:t>
            </a:r>
            <a:r>
              <a:rPr lang="en-US" altLang="ko-KR" sz="1300" b="1" dirty="0" smtClean="0">
                <a:solidFill>
                  <a:schemeClr val="bg1"/>
                </a:solidFill>
              </a:rPr>
              <a:t>Flow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1600" y="1870507"/>
            <a:ext cx="26640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5600" y="2050507"/>
            <a:ext cx="1152000" cy="503999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accent4"/>
                </a:solidFill>
              </a:rPr>
              <a:t>Package 공정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011600" y="2579707"/>
            <a:ext cx="180000" cy="251999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5600" y="2860507"/>
            <a:ext cx="1152000" cy="503999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accent4"/>
                </a:solidFill>
              </a:rPr>
              <a:t>AOI 검사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011600" y="3389707"/>
            <a:ext cx="180000" cy="251999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1713600" y="3040507"/>
            <a:ext cx="162000" cy="14400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93600" y="2896507"/>
            <a:ext cx="106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000" b="1">
                <a:solidFill>
                  <a:schemeClr val="accent1"/>
                </a:solidFill>
              </a:rPr>
              <a:t>KLARF 파일</a:t>
            </a:r>
          </a:p>
          <a:p>
            <a:pPr algn="ctr" latinLnBrk="0"/>
            <a:r>
              <a:rPr lang="ko-KR" altLang="en-US" sz="1000" b="0">
                <a:solidFill>
                  <a:schemeClr val="accent1"/>
                </a:solidFill>
              </a:rPr>
              <a:t>Defect 좌표, 이미지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600" y="3670507"/>
            <a:ext cx="1152000" cy="503999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accent4"/>
                </a:solidFill>
              </a:rPr>
              <a:t>전기 검사 (TEST)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713600" y="3850507"/>
            <a:ext cx="162000" cy="14400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93600" y="3706507"/>
            <a:ext cx="106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000" b="1">
                <a:solidFill>
                  <a:schemeClr val="accent1"/>
                </a:solidFill>
              </a:rPr>
              <a:t>E-Test 파일</a:t>
            </a:r>
          </a:p>
          <a:p>
            <a:pPr algn="ctr" latinLnBrk="0"/>
            <a:r>
              <a:rPr lang="ko-KR" altLang="en-US" sz="1000" b="0">
                <a:solidFill>
                  <a:schemeClr val="accent1"/>
                </a:solidFill>
              </a:rPr>
              <a:t>Chain별 측정값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096000" y="2806507"/>
            <a:ext cx="288000" cy="5760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38000" y="1582506"/>
            <a:ext cx="6087600" cy="28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데이터 간 연관관계 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38000" y="1870507"/>
            <a:ext cx="60876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82000" y="1942507"/>
            <a:ext cx="1332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100" b="1">
                <a:solidFill>
                  <a:schemeClr val="accent1"/>
                </a:solidFill>
              </a:rPr>
              <a:t>GDS 도면 (배선)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1200" y="1942507"/>
            <a:ext cx="28212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100" b="1">
                <a:solidFill>
                  <a:schemeClr val="accent1"/>
                </a:solidFill>
              </a:rPr>
              <a:t>AOI Defect (KLARF Map, 이미지)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9600" y="1942507"/>
            <a:ext cx="1332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100" b="1">
                <a:solidFill>
                  <a:schemeClr val="accent1"/>
                </a:solidFill>
              </a:rPr>
              <a:t>E-Test (측정값)</a:t>
            </a:r>
          </a:p>
        </p:txBody>
      </p:sp>
      <p:pic>
        <p:nvPicPr>
          <p:cNvPr id="31" name="Picture 30" descr="crop_g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000" y="2194507"/>
            <a:ext cx="1332000" cy="1332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582000" y="2194507"/>
            <a:ext cx="1332000" cy="133200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1200" y="2196591"/>
            <a:ext cx="1332000" cy="132783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071200" y="2196591"/>
            <a:ext cx="1332000" cy="132783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400" y="2282376"/>
            <a:ext cx="1332000" cy="1156261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6560400" y="2282376"/>
            <a:ext cx="1332000" cy="1156261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pic>
        <p:nvPicPr>
          <p:cNvPr id="35" name="Picture 34" descr="crop_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9600" y="2194507"/>
            <a:ext cx="1332000" cy="13320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049600" y="2194507"/>
            <a:ext cx="1332000" cy="133200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14000" y="2716507"/>
            <a:ext cx="1571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92400" y="2716507"/>
            <a:ext cx="1571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55800" y="3580507"/>
            <a:ext cx="251999" cy="18000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582000" y="3814507"/>
            <a:ext cx="5799600" cy="68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 dirty="0">
                <a:solidFill>
                  <a:schemeClr val="tx1"/>
                </a:solidFill>
              </a:rPr>
              <a:t>세 데이터를 </a:t>
            </a:r>
            <a:r>
              <a:rPr lang="ko-KR" altLang="en-US" sz="1200" b="1" dirty="0" err="1">
                <a:solidFill>
                  <a:schemeClr val="tx1"/>
                </a:solidFill>
              </a:rPr>
              <a:t>Die</a:t>
            </a:r>
            <a:r>
              <a:rPr lang="ko-KR" altLang="en-US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Chain</a:t>
            </a:r>
            <a:r>
              <a:rPr lang="ko-KR" altLang="en-US" sz="1200" b="1" dirty="0">
                <a:solidFill>
                  <a:schemeClr val="tx1"/>
                </a:solidFill>
              </a:rPr>
              <a:t> 단위로 겹쳐 비교</a:t>
            </a:r>
          </a:p>
          <a:p>
            <a:pPr algn="ctr" latinLnBrk="0"/>
            <a:r>
              <a:rPr lang="ko-KR" altLang="en-US" sz="1200" b="0" dirty="0" smtClean="0">
                <a:solidFill>
                  <a:schemeClr val="tx1"/>
                </a:solidFill>
              </a:rPr>
              <a:t>전기적 특성 </a:t>
            </a:r>
            <a:r>
              <a:rPr lang="en-US" altLang="ko-KR" sz="1200" b="0" dirty="0" smtClean="0">
                <a:solidFill>
                  <a:schemeClr val="tx1"/>
                </a:solidFill>
              </a:rPr>
              <a:t>Fail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발생이 외관 불량에 의한 불량인지 시스템이 제시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1600" y="5274000"/>
            <a:ext cx="1224000" cy="46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POC 목표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5600" y="5274000"/>
            <a:ext cx="7919400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200" b="0" dirty="0">
                <a:solidFill>
                  <a:schemeClr val="tx1"/>
                </a:solidFill>
              </a:rPr>
              <a:t>도면, 외관 불량, 전기 검사 데이터를 한 화면에서 연결해 </a:t>
            </a:r>
            <a:r>
              <a:rPr lang="ko-KR" altLang="en-US" sz="1200" b="1" dirty="0">
                <a:solidFill>
                  <a:schemeClr val="tx1"/>
                </a:solidFill>
              </a:rPr>
              <a:t>불량 원인 판단 근거 확보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1600" y="4752000"/>
            <a:ext cx="1224000" cy="46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현황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05600" y="4752000"/>
            <a:ext cx="7920000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200" b="0" dirty="0">
                <a:solidFill>
                  <a:schemeClr val="tx1"/>
                </a:solidFill>
              </a:rPr>
              <a:t>세 데이터가 따로 있어, </a:t>
            </a:r>
            <a:r>
              <a:rPr lang="ko-KR" altLang="en-US" sz="1200" b="0" dirty="0" err="1">
                <a:solidFill>
                  <a:schemeClr val="tx1"/>
                </a:solidFill>
              </a:rPr>
              <a:t>E-Test</a:t>
            </a:r>
            <a:r>
              <a:rPr lang="ko-KR" a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err="1">
                <a:solidFill>
                  <a:schemeClr val="tx1"/>
                </a:solidFill>
              </a:rPr>
              <a:t>Fail이</a:t>
            </a:r>
            <a:r>
              <a:rPr lang="ko-KR" altLang="en-US" sz="1200" b="0" dirty="0">
                <a:solidFill>
                  <a:schemeClr val="tx1"/>
                </a:solidFill>
              </a:rPr>
              <a:t> 외관 불량 때문인지 </a:t>
            </a:r>
            <a:r>
              <a:rPr lang="ko-KR" altLang="en-US" sz="1200" b="1" dirty="0">
                <a:solidFill>
                  <a:schemeClr val="tx1"/>
                </a:solidFill>
              </a:rPr>
              <a:t>근거를 바로 확인하기 어려움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600" y="5796000"/>
            <a:ext cx="1224000" cy="468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POC 범위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5600" y="5796000"/>
            <a:ext cx="7920000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200" b="0" dirty="0">
                <a:solidFill>
                  <a:schemeClr val="tx1"/>
                </a:solidFill>
              </a:rPr>
              <a:t>기간 '26.10.01 ~ 10.30   /  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대상 </a:t>
            </a:r>
            <a:r>
              <a:rPr lang="ko-KR" altLang="en-US" sz="1200" dirty="0" smtClean="0">
                <a:solidFill>
                  <a:schemeClr val="tx1"/>
                </a:solidFill>
              </a:rPr>
              <a:t>디바이스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 U9, </a:t>
            </a:r>
            <a:r>
              <a:rPr lang="ko-KR" altLang="en-US" sz="1200" b="0" dirty="0">
                <a:solidFill>
                  <a:schemeClr val="tx1"/>
                </a:solidFill>
              </a:rPr>
              <a:t>U8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 /   </a:t>
            </a:r>
            <a:r>
              <a:rPr lang="ko-KR" altLang="en-US" sz="1200" b="0" dirty="0">
                <a:solidFill>
                  <a:schemeClr val="tx1"/>
                </a:solidFill>
              </a:rPr>
              <a:t>파일 수동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업로드 </a:t>
            </a:r>
            <a:r>
              <a:rPr lang="en-US" altLang="ko-KR" sz="1200" b="0" dirty="0" smtClean="0">
                <a:solidFill>
                  <a:schemeClr val="tx1"/>
                </a:solidFill>
              </a:rPr>
              <a:t>/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세 데이터 기반 연관 분석 제공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시스템 구성 및 업무 영역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dirty="0" smtClean="0"/>
              <a:t>초기 제안한 POC 대상 화면들은 반영 완료</a:t>
            </a:r>
            <a:endParaRPr lang="en-US" altLang="ko-KR" dirty="0" smtClean="0"/>
          </a:p>
          <a:p>
            <a:pPr latinLnBrk="0"/>
            <a:r>
              <a:rPr lang="ko-KR" altLang="en-US" dirty="0" smtClean="0"/>
              <a:t>기존 </a:t>
            </a:r>
            <a:r>
              <a:rPr lang="en-US" altLang="ko-KR" dirty="0" smtClean="0"/>
              <a:t>YMS, DMS</a:t>
            </a:r>
            <a:r>
              <a:rPr lang="ko-KR" altLang="en-US" dirty="0" smtClean="0"/>
              <a:t>의 화면을 최대한 재활용하는 형태로 개발 진행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I. POC 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4782261"/>
            <a:ext cx="30024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미라콤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600" y="5312236"/>
            <a:ext cx="2808000" cy="776047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PM, 설계, 개발, 검증 </a:t>
            </a:r>
            <a:endParaRPr lang="en-US" altLang="ko-KR" sz="1300" dirty="0" smtClean="0"/>
          </a:p>
          <a:p>
            <a:pPr lvl="1" latinLnBrk="0"/>
            <a:r>
              <a:rPr lang="ko-KR" altLang="en-US" sz="1300" dirty="0" smtClean="0"/>
              <a:t>인계 자료, 절차</a:t>
            </a:r>
            <a:r>
              <a:rPr lang="ko-KR" altLang="en-US" sz="1300" dirty="0"/>
              <a:t>, 교육, 결과 보고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4782261"/>
            <a:ext cx="30024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SCK 연구소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2400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0400" y="5412937"/>
            <a:ext cx="2808000" cy="574646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요건, </a:t>
            </a:r>
            <a:r>
              <a:rPr lang="ko-KR" altLang="en-US" sz="1300" dirty="0"/>
              <a:t>샘플 데이터 제공</a:t>
            </a:r>
          </a:p>
          <a:p>
            <a:pPr lvl="1" latinLnBrk="0"/>
            <a:r>
              <a:rPr lang="ko-KR" altLang="en-US" sz="1300" dirty="0"/>
              <a:t>결과 </a:t>
            </a:r>
            <a:r>
              <a:rPr lang="ko-KR" altLang="en-US" sz="1300" dirty="0" smtClean="0"/>
              <a:t>검증</a:t>
            </a:r>
            <a:endParaRPr lang="ko-KR" altLang="en-US" sz="1300" dirty="0"/>
          </a:p>
        </p:txBody>
      </p:sp>
      <p:sp>
        <p:nvSpPr>
          <p:cNvPr id="14" name="Rectangle 13"/>
          <p:cNvSpPr/>
          <p:nvPr/>
        </p:nvSpPr>
        <p:spPr>
          <a:xfrm>
            <a:off x="6523199" y="4782261"/>
            <a:ext cx="30024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SCK IT팀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3199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31199" y="5412938"/>
            <a:ext cx="2808000" cy="574646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서버, </a:t>
            </a:r>
            <a:r>
              <a:rPr lang="ko-KR" altLang="en-US" sz="1300" dirty="0" smtClean="0"/>
              <a:t>DB 제공</a:t>
            </a:r>
            <a:endParaRPr lang="ko-KR" altLang="en-US" sz="1300" dirty="0"/>
          </a:p>
          <a:p>
            <a:pPr lvl="1" latinLnBrk="0"/>
            <a:r>
              <a:rPr lang="ko-KR" altLang="en-US" sz="1300" dirty="0" smtClean="0"/>
              <a:t>시스템에 대한 아키텍처 지원</a:t>
            </a:r>
            <a:endParaRPr lang="ko-KR" altLang="en-US" sz="1300" dirty="0"/>
          </a:p>
        </p:txBody>
      </p:sp>
      <p:pic>
        <p:nvPicPr>
          <p:cNvPr id="18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709889"/>
              </p:ext>
            </p:extLst>
          </p:nvPr>
        </p:nvGraphicFramePr>
        <p:xfrm>
          <a:off x="381600" y="1519200"/>
          <a:ext cx="9144000" cy="3147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영역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초기 제안 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완료 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화면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500">
                <a:tc rowSpan="3"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tx1"/>
                          </a:solidFill>
                        </a:rPr>
                        <a:t>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Map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Wafer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Setup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(KLARF 파일 기준)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 dirty="0" smtClean="0">
                          <a:solidFill>
                            <a:schemeClr val="accent3"/>
                          </a:solidFill>
                        </a:rPr>
                        <a:t>신규 + 기존</a:t>
                      </a:r>
                      <a:endParaRPr lang="ko-KR" altLang="en-US" sz="1050" b="1" dirty="0">
                        <a:solidFill>
                          <a:schemeClr val="accent3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500">
                <a:tc vMerge="1"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Bin Setup, Program Parameter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Bin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Define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E-Test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Para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Register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Para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 dirty="0">
                          <a:solidFill>
                            <a:schemeClr val="accent3"/>
                          </a:solidFill>
                        </a:rPr>
                        <a:t>신규 + 기존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500">
                <a:tc vMerge="1"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Defect Setup, Defect Type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Type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Define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기존 활용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500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tx1"/>
                          </a:solidFill>
                        </a:rPr>
                        <a:t>Correlation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GDS Data Registration, Chain Name / Data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GDS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Setup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/ GDS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View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GDS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View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U8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accent1"/>
                          </a:solidFill>
                        </a:rPr>
                        <a:t>신규 개발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500">
                <a:tc vMerge="1"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Defect / Test Correlation View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GDS-KLARF-ET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Correlation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Die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Detail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accent1"/>
                          </a:solidFill>
                        </a:rPr>
                        <a:t>신규 개발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5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tx1"/>
                          </a:solidFill>
                        </a:rPr>
                        <a:t>DMS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Defect Data Manual Input, Map / Image Gallery, Chart Analysis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KLARF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File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Upload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Image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Gallery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Chart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 dirty="0">
                          <a:solidFill>
                            <a:schemeClr val="accent3"/>
                          </a:solidFill>
                        </a:rPr>
                        <a:t>신규 + 기존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500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YMS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E-Test Data Manual Input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E-Test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Result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Upload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E-Test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Limit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 dirty="0">
                          <a:solidFill>
                            <a:schemeClr val="accent1"/>
                          </a:solidFill>
                        </a:rPr>
                        <a:t>신규 개발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500">
                <a:tc vMerge="1"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Bin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Wafer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Cumulative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Bin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Stack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Yield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Test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Parameter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Report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등 11종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TEST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View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Bin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Gallery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Wafer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Cum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Bin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Report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Yield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Report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Param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Analysis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기존 활용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주요 </a:t>
            </a:r>
            <a:r>
              <a:rPr lang="en-US" altLang="ko-KR" dirty="0" smtClean="0"/>
              <a:t>POC </a:t>
            </a:r>
            <a:r>
              <a:rPr lang="ko-KR" altLang="en-US" dirty="0" smtClean="0"/>
              <a:t>기능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미라콤</a:t>
            </a:r>
            <a:r>
              <a:rPr lang="ko-KR" altLang="en-US" dirty="0" smtClean="0"/>
              <a:t> </a:t>
            </a:r>
            <a:r>
              <a:rPr lang="ko-KR" altLang="en-US" dirty="0"/>
              <a:t>솔루션과 신규 개발 연동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주요 POC 기능 및 결과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dirty="0"/>
              <a:t>기존 DMS, YMS 기능은 그대로 쓰고 GDS, </a:t>
            </a:r>
            <a:r>
              <a:rPr lang="ko-KR" altLang="en-US" dirty="0" err="1"/>
              <a:t>Chain만</a:t>
            </a:r>
            <a:r>
              <a:rPr lang="ko-KR" altLang="en-US" dirty="0"/>
              <a:t> 신규 개발해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가지 </a:t>
            </a:r>
            <a:r>
              <a:rPr lang="ko-KR" altLang="en-US" dirty="0"/>
              <a:t>데이터를 </a:t>
            </a:r>
            <a:r>
              <a:rPr lang="ko-KR" altLang="en-US" dirty="0" smtClean="0"/>
              <a:t>연동하여 </a:t>
            </a:r>
            <a:endParaRPr lang="en-US" altLang="ko-KR" dirty="0" smtClean="0"/>
          </a:p>
          <a:p>
            <a:pPr latinLnBrk="0"/>
            <a:r>
              <a:rPr lang="ko-KR" altLang="en-US" dirty="0" smtClean="0"/>
              <a:t>POC 프로젝트 진행</a:t>
            </a:r>
            <a:endParaRPr lang="ko-KR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381600" y="1519200"/>
            <a:ext cx="3002400" cy="432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DMS</a:t>
            </a:r>
          </a:p>
          <a:p>
            <a:pPr algn="ctr" latinLnBrk="0"/>
            <a:r>
              <a:rPr lang="ko-KR" altLang="en-US" sz="1300" b="0">
                <a:solidFill>
                  <a:schemeClr val="bg1"/>
                </a:solidFill>
              </a:rPr>
              <a:t>KLARF Defect 분석</a:t>
            </a:r>
          </a:p>
        </p:txBody>
      </p:sp>
      <p:pic>
        <p:nvPicPr>
          <p:cNvPr id="6" name="Picture 5" descr="cap_d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76" y="2015999"/>
            <a:ext cx="2953846" cy="20159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5876" y="2015999"/>
            <a:ext cx="2953846" cy="2015999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4121999"/>
            <a:ext cx="3002400" cy="127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1600" y="4381111"/>
            <a:ext cx="2858400" cy="777778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200" dirty="0"/>
              <a:t>KLARF </a:t>
            </a:r>
            <a:r>
              <a:rPr lang="ko-KR" altLang="en-US" sz="1200" dirty="0" err="1"/>
              <a:t>Defect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Wafer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Map</a:t>
            </a:r>
            <a:r>
              <a:rPr lang="ko-KR" altLang="en-US" sz="1200" dirty="0"/>
              <a:t> 조회</a:t>
            </a:r>
          </a:p>
          <a:p>
            <a:pPr marL="125999" lvl="1" indent="-125999" latinLnBrk="0"/>
            <a:r>
              <a:rPr lang="ko-KR" altLang="en-US" sz="1200" dirty="0" err="1"/>
              <a:t>Die별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Defect</a:t>
            </a:r>
            <a:r>
              <a:rPr lang="ko-KR" altLang="en-US" sz="1200" dirty="0"/>
              <a:t> 분포, </a:t>
            </a:r>
            <a:r>
              <a:rPr lang="ko-KR" altLang="en-US" sz="1200" dirty="0" err="1"/>
              <a:t>Class별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Chart</a:t>
            </a:r>
            <a:endParaRPr lang="ko-KR" altLang="en-US" sz="1200" dirty="0"/>
          </a:p>
          <a:p>
            <a:pPr marL="125999" lvl="1" indent="-125999" latinLnBrk="0"/>
            <a:r>
              <a:rPr lang="ko-KR" altLang="en-US" sz="1200" dirty="0" err="1"/>
              <a:t>Defect</a:t>
            </a:r>
            <a:r>
              <a:rPr lang="ko-KR" altLang="en-US" sz="1200" dirty="0"/>
              <a:t> 이미지 조회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2400" y="1519200"/>
            <a:ext cx="3002400" cy="432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YMS</a:t>
            </a:r>
          </a:p>
          <a:p>
            <a:pPr algn="ctr" latinLnBrk="0"/>
            <a:r>
              <a:rPr lang="ko-KR" altLang="en-US" sz="1300" b="0">
                <a:solidFill>
                  <a:schemeClr val="bg1"/>
                </a:solidFill>
              </a:rPr>
              <a:t>E-Test 측정 데이터 분석</a:t>
            </a:r>
          </a:p>
        </p:txBody>
      </p:sp>
      <p:pic>
        <p:nvPicPr>
          <p:cNvPr id="11" name="Picture 10" descr="cap_y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899" y="2015999"/>
            <a:ext cx="2915401" cy="201599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495899" y="2015999"/>
            <a:ext cx="2915401" cy="2015999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52400" y="4121999"/>
            <a:ext cx="3002400" cy="127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2400" y="4176000"/>
            <a:ext cx="2858400" cy="1188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200"/>
              <a:t>E-Test 측정값 Wafer Map 표시</a:t>
            </a:r>
          </a:p>
          <a:p>
            <a:pPr marL="125999" lvl="1" indent="-125999" latinLnBrk="0"/>
            <a:r>
              <a:rPr lang="ko-KR" altLang="en-US" sz="1200"/>
              <a:t>Parameter별 Map, Bin 정보, 구간 필터</a:t>
            </a:r>
          </a:p>
          <a:p>
            <a:pPr marL="125999" lvl="1" indent="-125999" latinLnBrk="0"/>
            <a:r>
              <a:rPr lang="ko-KR" altLang="en-US" sz="1200"/>
              <a:t>Spec 판정, 수율 분석 화면 활용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3199" y="1519200"/>
            <a:ext cx="3002400" cy="43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POC 신규 개발</a:t>
            </a:r>
          </a:p>
          <a:p>
            <a:pPr algn="ctr" latinLnBrk="0"/>
            <a:r>
              <a:rPr lang="ko-KR" altLang="en-US" sz="1300" b="0">
                <a:solidFill>
                  <a:schemeClr val="bg1"/>
                </a:solidFill>
              </a:rPr>
              <a:t>GDS, Chain + 연관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68804" y="2015999"/>
            <a:ext cx="2911191" cy="2015999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23199" y="4121999"/>
            <a:ext cx="3002400" cy="127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3199" y="4176000"/>
            <a:ext cx="2858400" cy="1188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200"/>
              <a:t>GDS 도면 등록, Chain 영역 설정</a:t>
            </a:r>
          </a:p>
          <a:p>
            <a:pPr marL="125999" lvl="1" indent="-125999" latinLnBrk="0"/>
            <a:r>
              <a:rPr lang="ko-KR" altLang="en-US" sz="1200"/>
              <a:t>DMS, YMS 데이터를 Chain에 연동</a:t>
            </a:r>
          </a:p>
          <a:p>
            <a:pPr marL="125999" lvl="1" indent="-125999" latinLnBrk="0"/>
            <a:r>
              <a:rPr lang="ko-KR" altLang="en-US" sz="1200"/>
              <a:t>Die별 Chain 위 Defect 수, 이미지 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600" y="5454000"/>
            <a:ext cx="6073200" cy="19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100" b="1">
                <a:solidFill>
                  <a:schemeClr val="accent1"/>
                </a:solidFill>
              </a:rPr>
              <a:t>미라콤 솔루션 (기존 기능 활용)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23200" y="5454000"/>
            <a:ext cx="3002400" cy="19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100" b="1">
                <a:solidFill>
                  <a:schemeClr val="accent1"/>
                </a:solidFill>
              </a:rPr>
              <a:t>신규 개발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600" y="5742000"/>
            <a:ext cx="1512000" cy="72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 dirty="0" smtClean="0">
                <a:solidFill>
                  <a:schemeClr val="bg1"/>
                </a:solidFill>
              </a:rPr>
              <a:t>작업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 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내용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93600" y="5742000"/>
            <a:ext cx="7632000" cy="72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15999" y="5833144"/>
            <a:ext cx="7416000" cy="537712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200" dirty="0"/>
              <a:t>DMS(KLARF) + YMS(</a:t>
            </a:r>
            <a:r>
              <a:rPr lang="ko-KR" altLang="en-US" sz="1200" dirty="0" err="1"/>
              <a:t>E-Test</a:t>
            </a:r>
            <a:r>
              <a:rPr lang="ko-KR" altLang="en-US" sz="1200" dirty="0"/>
              <a:t>) 데이터를 신규 GDS, </a:t>
            </a:r>
            <a:r>
              <a:rPr lang="ko-KR" altLang="en-US" sz="1200" dirty="0" err="1"/>
              <a:t>Chain</a:t>
            </a:r>
            <a:r>
              <a:rPr lang="ko-KR" altLang="en-US" sz="1200" dirty="0"/>
              <a:t> 기준으로 묶어 </a:t>
            </a:r>
            <a:r>
              <a:rPr lang="ko-KR" altLang="en-US" sz="1200" b="1" dirty="0" err="1"/>
              <a:t>Defect</a:t>
            </a:r>
            <a:r>
              <a:rPr lang="ko-KR" altLang="en-US" sz="1200" b="1" dirty="0"/>
              <a:t> / </a:t>
            </a:r>
            <a:r>
              <a:rPr lang="ko-KR" altLang="en-US" sz="1200" b="1" dirty="0" err="1"/>
              <a:t>E-Test</a:t>
            </a:r>
            <a:r>
              <a:rPr lang="ko-KR" altLang="en-US" sz="1200" b="1" dirty="0"/>
              <a:t> 연관 분석</a:t>
            </a:r>
            <a:r>
              <a:rPr lang="ko-KR" altLang="en-US" sz="1200" dirty="0"/>
              <a:t> 구현</a:t>
            </a:r>
          </a:p>
          <a:p>
            <a:pPr lvl="1" latinLnBrk="0"/>
            <a:r>
              <a:rPr lang="ko-KR" altLang="en-US" sz="1200" dirty="0"/>
              <a:t>솔루션 기능 재사용으로 신규 개발을 GDS, </a:t>
            </a:r>
            <a:r>
              <a:rPr lang="ko-KR" altLang="en-US" sz="1200" dirty="0" err="1"/>
              <a:t>Chain</a:t>
            </a:r>
            <a:r>
              <a:rPr lang="ko-KR" altLang="en-US" sz="1200" dirty="0"/>
              <a:t>, 연관 분석 화면에 </a:t>
            </a:r>
            <a:r>
              <a:rPr lang="ko-KR" altLang="en-US" sz="1200" dirty="0" smtClean="0"/>
              <a:t>집중</a:t>
            </a:r>
            <a:endParaRPr lang="ko-KR" altLang="en-US" sz="1200" dirty="0"/>
          </a:p>
        </p:txBody>
      </p:sp>
      <p:pic>
        <p:nvPicPr>
          <p:cNvPr id="25" name="고객사 CI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975" y="2015468"/>
            <a:ext cx="2936031" cy="2016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주요 </a:t>
            </a:r>
            <a:r>
              <a:rPr lang="en-US" altLang="ko-KR" dirty="0"/>
              <a:t>POC </a:t>
            </a:r>
            <a:r>
              <a:rPr lang="ko-KR" altLang="en-US" dirty="0"/>
              <a:t>기능 </a:t>
            </a:r>
            <a:r>
              <a:rPr lang="en-US" altLang="ko-KR" dirty="0"/>
              <a:t>- </a:t>
            </a:r>
            <a:r>
              <a:rPr lang="ko-KR" altLang="en-US" dirty="0" err="1" smtClean="0"/>
              <a:t>Chain</a:t>
            </a:r>
            <a:r>
              <a:rPr lang="ko-KR" altLang="en-US" dirty="0" smtClean="0"/>
              <a:t> </a:t>
            </a:r>
            <a:r>
              <a:rPr lang="ko-KR" altLang="en-US" dirty="0"/>
              <a:t>자동 생성과 파일 기반 </a:t>
            </a:r>
            <a:r>
              <a:rPr lang="ko-KR" altLang="en-US" dirty="0" err="1"/>
              <a:t>Setup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주요 POC 기능 및 결과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atinLnBrk="0"/>
            <a:r>
              <a:rPr lang="ko-KR" altLang="en-US" dirty="0"/>
              <a:t>GDS </a:t>
            </a:r>
            <a:r>
              <a:rPr lang="ko-KR" altLang="en-US" dirty="0" err="1"/>
              <a:t>Chain은</a:t>
            </a:r>
            <a:r>
              <a:rPr lang="ko-KR" altLang="en-US" dirty="0"/>
              <a:t> </a:t>
            </a:r>
            <a:r>
              <a:rPr lang="ko-KR" altLang="en-US" b="1" dirty="0"/>
              <a:t>시작 도형 하나로 자동 생성</a:t>
            </a:r>
            <a:r>
              <a:rPr lang="ko-KR" altLang="en-US" dirty="0"/>
              <a:t>, </a:t>
            </a:r>
            <a:r>
              <a:rPr lang="ko-KR" altLang="en-US" dirty="0" err="1"/>
              <a:t>Wafer</a:t>
            </a:r>
            <a:r>
              <a:rPr lang="ko-KR" altLang="en-US" dirty="0"/>
              <a:t> </a:t>
            </a:r>
            <a:r>
              <a:rPr lang="ko-KR" altLang="en-US" dirty="0" err="1"/>
              <a:t>Map과</a:t>
            </a:r>
            <a:r>
              <a:rPr lang="ko-KR" altLang="en-US" dirty="0"/>
              <a:t> </a:t>
            </a:r>
            <a:r>
              <a:rPr lang="ko-KR" altLang="en-US" dirty="0" err="1"/>
              <a:t>Parameter는</a:t>
            </a:r>
            <a:r>
              <a:rPr lang="ko-KR" altLang="en-US" dirty="0"/>
              <a:t> </a:t>
            </a:r>
            <a:r>
              <a:rPr lang="ko-KR" altLang="en-US" b="1" dirty="0"/>
              <a:t>파일을 읽어 바로 등록</a:t>
            </a:r>
            <a:r>
              <a:rPr lang="ko-KR" altLang="en-US" dirty="0"/>
              <a:t>해 </a:t>
            </a:r>
            <a:r>
              <a:rPr lang="ko-KR" altLang="en-US" dirty="0" err="1"/>
              <a:t>기준정보</a:t>
            </a:r>
            <a:r>
              <a:rPr lang="ko-KR" altLang="en-US" dirty="0"/>
              <a:t> </a:t>
            </a:r>
            <a:r>
              <a:rPr lang="ko-KR" altLang="en-US" dirty="0" err="1"/>
              <a:t>Setup을</a:t>
            </a:r>
            <a:r>
              <a:rPr lang="ko-KR" altLang="en-US" dirty="0"/>
              <a:t> 간소화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600" y="1519200"/>
            <a:ext cx="4435200" cy="34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 dirty="0">
                <a:solidFill>
                  <a:schemeClr val="bg1"/>
                </a:solidFill>
              </a:rPr>
              <a:t>GDS </a:t>
            </a:r>
            <a:r>
              <a:rPr lang="ko-KR" altLang="en-US" sz="1400" b="1" dirty="0" err="1">
                <a:solidFill>
                  <a:schemeClr val="bg1"/>
                </a:solidFill>
              </a:rPr>
              <a:t>Chain</a:t>
            </a:r>
            <a:r>
              <a:rPr lang="ko-KR" altLang="en-US" sz="1400" b="1" dirty="0">
                <a:solidFill>
                  <a:schemeClr val="bg1"/>
                </a:solidFill>
              </a:rPr>
              <a:t> 자동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생성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600" y="1915200"/>
            <a:ext cx="4435200" cy="1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000" b="1">
                <a:solidFill>
                  <a:schemeClr val="accent4"/>
                </a:solidFill>
              </a:rPr>
              <a:t>GDS Map View: 자동 생성된 U9 Chain 목록, 색 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873" y="2095200"/>
            <a:ext cx="3558653" cy="187200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1600" y="4050000"/>
            <a:ext cx="4435200" cy="156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600" y="4240978"/>
            <a:ext cx="4255200" cy="1184043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200" b="1" dirty="0" err="1"/>
              <a:t>Input</a:t>
            </a:r>
            <a:r>
              <a:rPr lang="ko-KR" altLang="en-US" sz="1200" b="1" dirty="0"/>
              <a:t> 도형 1개 지정</a:t>
            </a:r>
            <a:r>
              <a:rPr lang="ko-KR" altLang="en-US" sz="1200" dirty="0"/>
              <a:t> </a:t>
            </a:r>
            <a:r>
              <a:rPr lang="en-US" altLang="ko-KR" sz="1200" dirty="0" smtClean="0"/>
              <a:t>: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이어진 배선 도형을 자동 탐색해 </a:t>
            </a:r>
            <a:r>
              <a:rPr lang="ko-KR" altLang="en-US" sz="1200" dirty="0" err="1"/>
              <a:t>Chain</a:t>
            </a:r>
            <a:r>
              <a:rPr lang="ko-KR" altLang="en-US" sz="1200" dirty="0"/>
              <a:t> 생성 (실제 도형 겹침 기준)</a:t>
            </a:r>
          </a:p>
          <a:p>
            <a:pPr marL="125999" lvl="1" indent="-125999" latinLnBrk="0"/>
            <a:r>
              <a:rPr lang="ko-KR" altLang="en-US" sz="1200" b="1" dirty="0" err="1"/>
              <a:t>Chain</a:t>
            </a:r>
            <a:r>
              <a:rPr lang="ko-KR" altLang="en-US" sz="1200" b="1" dirty="0"/>
              <a:t> 이름 자동 지정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Input</a:t>
            </a:r>
            <a:r>
              <a:rPr lang="ko-KR" altLang="en-US" sz="1200" dirty="0"/>
              <a:t> 근처 </a:t>
            </a:r>
            <a:r>
              <a:rPr lang="ko-KR" altLang="en-US" sz="1200" dirty="0" err="1"/>
              <a:t>Label을</a:t>
            </a:r>
            <a:r>
              <a:rPr lang="ko-KR" altLang="en-US" sz="1200" dirty="0"/>
              <a:t> 읽어 </a:t>
            </a:r>
            <a:r>
              <a:rPr lang="ko-KR" altLang="en-US" sz="1200" dirty="0" err="1"/>
              <a:t>E-Test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Chain</a:t>
            </a:r>
            <a:r>
              <a:rPr lang="ko-KR" altLang="en-US" sz="1200" dirty="0"/>
              <a:t> 이름과 맞춤</a:t>
            </a:r>
          </a:p>
          <a:p>
            <a:pPr marL="125999" lvl="1" indent="-125999" latinLnBrk="0"/>
            <a:r>
              <a:rPr lang="ko-KR" altLang="en-US" sz="1200" b="1" dirty="0"/>
              <a:t>색 자동 구분, 유사 묶음 일괄 제외</a:t>
            </a:r>
            <a:r>
              <a:rPr lang="ko-KR" altLang="en-US" sz="1200" dirty="0"/>
              <a:t>로 수작업 편집 </a:t>
            </a:r>
            <a:r>
              <a:rPr lang="ko-KR" altLang="en-US" sz="1200" dirty="0" smtClean="0"/>
              <a:t>최소화</a:t>
            </a:r>
            <a:endParaRPr lang="ko-KR" alt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5090400" y="1519200"/>
            <a:ext cx="4435200" cy="342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파일 기반 Wafer Map, Parameter Setup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90400" y="1915200"/>
            <a:ext cx="2163600" cy="1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000" b="1">
                <a:solidFill>
                  <a:schemeClr val="accent4"/>
                </a:solidFill>
              </a:rPr>
              <a:t>Wafer Map Setup (KLARF 파일)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2000" y="1915200"/>
            <a:ext cx="2163600" cy="1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000" b="1">
                <a:solidFill>
                  <a:schemeClr val="accent4"/>
                </a:solidFill>
              </a:rPr>
              <a:t>E-Test Para Register (결과 파일)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2095" y="2095200"/>
            <a:ext cx="1960209" cy="187200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63695" y="2095200"/>
            <a:ext cx="1960209" cy="187200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90400" y="4050000"/>
            <a:ext cx="4435200" cy="156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8400" y="4444111"/>
            <a:ext cx="4255200" cy="777778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200" b="1" dirty="0"/>
              <a:t>KLARF 파일 선택</a:t>
            </a:r>
            <a:r>
              <a:rPr lang="ko-KR" altLang="en-US" sz="1200" dirty="0"/>
              <a:t> </a:t>
            </a:r>
            <a:r>
              <a:rPr lang="en-US" altLang="ko-KR" sz="1200" dirty="0" smtClean="0"/>
              <a:t>:</a:t>
            </a:r>
            <a:r>
              <a:rPr lang="ko-KR" altLang="en-US" sz="1200" dirty="0" smtClean="0"/>
              <a:t> </a:t>
            </a:r>
            <a:r>
              <a:rPr lang="ko-KR" altLang="en-US" sz="1200" dirty="0" err="1"/>
              <a:t>Wafer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Map</a:t>
            </a:r>
            <a:r>
              <a:rPr lang="ko-KR" altLang="en-US" sz="1200" dirty="0"/>
              <a:t> 자동 생성 (원점만 확인)</a:t>
            </a:r>
          </a:p>
          <a:p>
            <a:pPr marL="125999" lvl="1" indent="-125999" latinLnBrk="0"/>
            <a:r>
              <a:rPr lang="ko-KR" altLang="en-US" sz="1200" b="1" dirty="0" err="1"/>
              <a:t>E-Test</a:t>
            </a:r>
            <a:r>
              <a:rPr lang="ko-KR" altLang="en-US" sz="1200" b="1" dirty="0"/>
              <a:t> 결과 파일 열기</a:t>
            </a:r>
            <a:r>
              <a:rPr lang="ko-KR" altLang="en-US" sz="1200" dirty="0"/>
              <a:t> </a:t>
            </a:r>
            <a:r>
              <a:rPr lang="en-US" altLang="ko-KR" sz="1200" dirty="0" smtClean="0"/>
              <a:t>: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헤더를 측정, 조건, </a:t>
            </a:r>
            <a:r>
              <a:rPr lang="ko-KR" altLang="en-US" sz="1200" dirty="0" err="1"/>
              <a:t>Chain으로</a:t>
            </a:r>
            <a:r>
              <a:rPr lang="ko-KR" altLang="en-US" sz="1200" dirty="0"/>
              <a:t> 분해</a:t>
            </a:r>
          </a:p>
          <a:p>
            <a:pPr marL="125999" lvl="1" indent="-125999" latinLnBrk="0"/>
            <a:r>
              <a:rPr lang="ko-KR" altLang="en-US" sz="1200" b="1" dirty="0"/>
              <a:t>신규 전체 선택, 저장</a:t>
            </a:r>
            <a:r>
              <a:rPr lang="ko-KR" altLang="en-US" sz="1200" dirty="0"/>
              <a:t>으로 </a:t>
            </a:r>
            <a:r>
              <a:rPr lang="ko-KR" altLang="en-US" sz="1200" dirty="0" err="1"/>
              <a:t>Parameter</a:t>
            </a:r>
            <a:r>
              <a:rPr lang="ko-KR" altLang="en-US" sz="1200" dirty="0"/>
              <a:t> 일괄 등록 </a:t>
            </a:r>
            <a:endParaRPr lang="en-US" altLang="ko-KR" sz="1200" dirty="0" smtClean="0"/>
          </a:p>
        </p:txBody>
      </p:sp>
      <p:sp>
        <p:nvSpPr>
          <p:cNvPr id="20" name="Rectangle 19"/>
          <p:cNvSpPr/>
          <p:nvPr/>
        </p:nvSpPr>
        <p:spPr>
          <a:xfrm>
            <a:off x="381600" y="5724000"/>
            <a:ext cx="1512000" cy="612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600" y="5724000"/>
            <a:ext cx="7632000" cy="61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37600" y="5742000"/>
            <a:ext cx="7343999" cy="576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200" dirty="0"/>
              <a:t>새 </a:t>
            </a:r>
            <a:r>
              <a:rPr lang="ko-KR" altLang="en-US" sz="1200" dirty="0" err="1"/>
              <a:t>Device도</a:t>
            </a:r>
            <a:r>
              <a:rPr lang="ko-KR" altLang="en-US" sz="1200" dirty="0"/>
              <a:t> </a:t>
            </a:r>
            <a:r>
              <a:rPr lang="ko-KR" altLang="en-US" sz="1200" b="1" dirty="0"/>
              <a:t>파일 선택과 클릭 몇 번으로 </a:t>
            </a:r>
            <a:r>
              <a:rPr lang="ko-KR" altLang="en-US" sz="1200" b="1" dirty="0" err="1"/>
              <a:t>기준정보</a:t>
            </a:r>
            <a:r>
              <a:rPr lang="ko-KR" altLang="en-US" sz="1200" b="1" dirty="0"/>
              <a:t> </a:t>
            </a:r>
            <a:r>
              <a:rPr lang="ko-KR" altLang="en-US" sz="1200" b="1" dirty="0" err="1"/>
              <a:t>Setup</a:t>
            </a:r>
            <a:r>
              <a:rPr lang="ko-KR" altLang="en-US" sz="1200" dirty="0"/>
              <a:t>, 연구소에서 직접 등록 가능</a:t>
            </a:r>
          </a:p>
          <a:p>
            <a:pPr lvl="1" latinLnBrk="0"/>
            <a:r>
              <a:rPr lang="ko-KR" altLang="en-US" sz="1200" dirty="0"/>
              <a:t>수천 개 </a:t>
            </a:r>
            <a:r>
              <a:rPr lang="ko-KR" altLang="en-US" sz="1200" dirty="0" err="1"/>
              <a:t>Parameter</a:t>
            </a:r>
            <a:r>
              <a:rPr lang="ko-KR" altLang="en-US" sz="1200" dirty="0"/>
              <a:t>, 수만 개 도형을 사람이 하나씩 입력하지 않아 </a:t>
            </a:r>
            <a:r>
              <a:rPr lang="ko-KR" altLang="en-US" sz="1200" b="1" dirty="0"/>
              <a:t>설정 오류와 시간 감소</a:t>
            </a:r>
          </a:p>
        </p:txBody>
      </p:sp>
      <p:pic>
        <p:nvPicPr>
          <p:cNvPr id="23" name="고객사 CI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095" y="2215652"/>
            <a:ext cx="1958413" cy="161834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95" y="2233664"/>
            <a:ext cx="1991701" cy="1600336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10" y="2099117"/>
            <a:ext cx="3406790" cy="1859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주요 </a:t>
            </a:r>
            <a:r>
              <a:rPr lang="en-US" altLang="ko-KR" dirty="0"/>
              <a:t>POC </a:t>
            </a:r>
            <a:r>
              <a:rPr lang="ko-KR" altLang="en-US" dirty="0"/>
              <a:t>기능 </a:t>
            </a:r>
            <a:r>
              <a:rPr lang="en-US" altLang="ko-KR" dirty="0"/>
              <a:t>- </a:t>
            </a:r>
            <a:r>
              <a:rPr lang="ko-KR" altLang="en-US" dirty="0" smtClean="0"/>
              <a:t>파일 </a:t>
            </a:r>
            <a:r>
              <a:rPr lang="ko-KR" altLang="en-US" dirty="0"/>
              <a:t>기반 </a:t>
            </a:r>
            <a:r>
              <a:rPr lang="ko-KR" altLang="en-US" dirty="0" smtClean="0"/>
              <a:t>수동 </a:t>
            </a:r>
            <a:r>
              <a:rPr lang="en-US" altLang="ko-KR" dirty="0" smtClean="0"/>
              <a:t>Upload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주요 POC 기능 및 결과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dirty="0"/>
              <a:t>MES, QMS 연동 없이 </a:t>
            </a:r>
            <a:r>
              <a:rPr lang="ko-KR" altLang="en-US" b="1" dirty="0"/>
              <a:t>KLARF, </a:t>
            </a:r>
            <a:r>
              <a:rPr lang="ko-KR" altLang="en-US" b="1" dirty="0" err="1"/>
              <a:t>E-Test</a:t>
            </a:r>
            <a:r>
              <a:rPr lang="ko-KR" altLang="en-US" b="1" dirty="0"/>
              <a:t> 파일을 수동 업로드</a:t>
            </a:r>
            <a:r>
              <a:rPr lang="ko-KR" altLang="en-US" dirty="0"/>
              <a:t>하고, 파일 </a:t>
            </a:r>
            <a:r>
              <a:rPr lang="ko-KR" altLang="en-US" dirty="0" smtClean="0"/>
              <a:t>내부 정보 기준으로 </a:t>
            </a:r>
            <a:r>
              <a:rPr lang="ko-KR" altLang="en-US" dirty="0" err="1"/>
              <a:t>기준정보</a:t>
            </a:r>
            <a:r>
              <a:rPr lang="ko-KR" altLang="en-US" dirty="0"/>
              <a:t> 생성과 연관 </a:t>
            </a:r>
            <a:r>
              <a:rPr lang="ko-KR" altLang="en-US" dirty="0" err="1"/>
              <a:t>Mapping</a:t>
            </a:r>
            <a:r>
              <a:rPr lang="ko-KR" altLang="en-US" dirty="0"/>
              <a:t> 수행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600" y="1519200"/>
            <a:ext cx="44352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KLARF File Upload (DMS)</a:t>
            </a:r>
          </a:p>
        </p:txBody>
      </p:sp>
      <p:pic>
        <p:nvPicPr>
          <p:cNvPr id="6" name="Picture 5" descr="cap_klarf_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1925999"/>
            <a:ext cx="4435200" cy="24282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1600" y="1925999"/>
            <a:ext cx="4435200" cy="2428272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4408272"/>
            <a:ext cx="4435200" cy="973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1600" y="4534716"/>
            <a:ext cx="4291200" cy="720839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 dirty="0"/>
              <a:t>KLARF 파일, </a:t>
            </a:r>
            <a:r>
              <a:rPr lang="ko-KR" altLang="en-US" sz="1100" dirty="0" err="1"/>
              <a:t>Defect</a:t>
            </a:r>
            <a:r>
              <a:rPr lang="ko-KR" altLang="en-US" sz="1100" dirty="0"/>
              <a:t> 이미지 폴더를 선택해 DB 저장</a:t>
            </a:r>
          </a:p>
          <a:p>
            <a:pPr marL="125999" lvl="1" indent="-125999" latinLnBrk="0"/>
            <a:r>
              <a:rPr lang="ko-KR" altLang="en-US" sz="1100" dirty="0" err="1"/>
              <a:t>Lot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Device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Step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Wafer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Defect</a:t>
            </a:r>
            <a:r>
              <a:rPr lang="ko-KR" altLang="en-US" sz="1100" dirty="0"/>
              <a:t> 정보 추출 </a:t>
            </a:r>
            <a:endParaRPr lang="en-US" altLang="ko-KR" sz="1100" dirty="0" smtClean="0"/>
          </a:p>
          <a:p>
            <a:pPr marL="125999" lvl="1" indent="-125999" latinLnBrk="0"/>
            <a:r>
              <a:rPr lang="ko-KR" altLang="en-US" sz="1100" dirty="0" err="1" smtClean="0"/>
              <a:t>Die</a:t>
            </a:r>
            <a:r>
              <a:rPr lang="ko-KR" altLang="en-US" sz="1100" dirty="0" smtClean="0"/>
              <a:t> </a:t>
            </a:r>
            <a:r>
              <a:rPr lang="ko-KR" altLang="en-US" sz="1100" dirty="0" err="1"/>
              <a:t>Index</a:t>
            </a:r>
            <a:r>
              <a:rPr lang="ko-KR" altLang="en-US" sz="1100" dirty="0"/>
              <a:t>, XREL / YREL 좌표로 </a:t>
            </a:r>
            <a:r>
              <a:rPr lang="ko-KR" altLang="en-US" sz="1100" dirty="0" err="1"/>
              <a:t>Wafer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Map</a:t>
            </a:r>
            <a:r>
              <a:rPr lang="ko-KR" altLang="en-US" sz="1100" dirty="0"/>
              <a:t>, GDS 위치 </a:t>
            </a:r>
            <a:r>
              <a:rPr lang="ko-KR" altLang="en-US" sz="1100" dirty="0" err="1"/>
              <a:t>Mapping</a:t>
            </a:r>
            <a:endParaRPr lang="ko-KR" altLang="en-US" sz="1100" dirty="0"/>
          </a:p>
        </p:txBody>
      </p:sp>
      <p:sp>
        <p:nvSpPr>
          <p:cNvPr id="10" name="Rectangle 9"/>
          <p:cNvSpPr/>
          <p:nvPr/>
        </p:nvSpPr>
        <p:spPr>
          <a:xfrm>
            <a:off x="5090400" y="1519200"/>
            <a:ext cx="4435200" cy="36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E-Test Result Upload (YMS)</a:t>
            </a:r>
          </a:p>
        </p:txBody>
      </p:sp>
      <p:pic>
        <p:nvPicPr>
          <p:cNvPr id="11" name="Picture 10" descr="cap_etest_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400" y="1925999"/>
            <a:ext cx="4435200" cy="24171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90400" y="1925999"/>
            <a:ext cx="4435200" cy="2417184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90400" y="4397184"/>
            <a:ext cx="4435200" cy="984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80400" y="4529172"/>
            <a:ext cx="4291200" cy="720839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 dirty="0" err="1"/>
              <a:t>E-Test</a:t>
            </a:r>
            <a:r>
              <a:rPr lang="ko-KR" altLang="en-US" sz="1100" dirty="0"/>
              <a:t> 결과 파일(</a:t>
            </a:r>
            <a:r>
              <a:rPr lang="ko-KR" altLang="en-US" sz="1100" dirty="0" err="1"/>
              <a:t>xlsx</a:t>
            </a:r>
            <a:r>
              <a:rPr lang="ko-KR" altLang="en-US" sz="1100" dirty="0"/>
              <a:t>) 업로드, 저장 전 </a:t>
            </a:r>
            <a:r>
              <a:rPr lang="ko-KR" altLang="en-US" sz="1100" dirty="0" err="1"/>
              <a:t>미리보기</a:t>
            </a:r>
            <a:endParaRPr lang="ko-KR" altLang="en-US" sz="1100" dirty="0"/>
          </a:p>
          <a:p>
            <a:pPr marL="125999" lvl="1" indent="-125999" latinLnBrk="0"/>
            <a:r>
              <a:rPr lang="ko-KR" altLang="en-US" sz="1100" dirty="0" err="1"/>
              <a:t>Device</a:t>
            </a:r>
            <a:r>
              <a:rPr lang="ko-KR" altLang="en-US" sz="1100" dirty="0"/>
              <a:t>, 공정, </a:t>
            </a:r>
            <a:r>
              <a:rPr lang="ko-KR" altLang="en-US" sz="1100" dirty="0" err="1"/>
              <a:t>Lot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Wafer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Parameter</a:t>
            </a:r>
            <a:r>
              <a:rPr lang="ko-KR" altLang="en-US" sz="1100" dirty="0"/>
              <a:t> 추출 </a:t>
            </a:r>
            <a:endParaRPr lang="en-US" altLang="ko-KR" sz="1100" dirty="0" smtClean="0"/>
          </a:p>
          <a:p>
            <a:pPr marL="125999" lvl="1" indent="-125999" latinLnBrk="0"/>
            <a:r>
              <a:rPr lang="ko-KR" altLang="en-US" sz="1100" dirty="0" err="1" smtClean="0"/>
              <a:t>Parameter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이름 </a:t>
            </a:r>
            <a:r>
              <a:rPr lang="en-US" altLang="ko-KR" sz="1100" dirty="0" smtClean="0"/>
              <a:t>-&gt;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GDS </a:t>
            </a:r>
            <a:r>
              <a:rPr lang="ko-KR" altLang="en-US" sz="1100" dirty="0" err="1"/>
              <a:t>Chain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Die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X</a:t>
            </a:r>
            <a:r>
              <a:rPr lang="ko-KR" altLang="en-US" sz="1100" dirty="0"/>
              <a:t> / </a:t>
            </a:r>
            <a:r>
              <a:rPr lang="ko-KR" altLang="en-US" sz="1100" dirty="0" err="1"/>
              <a:t>Y</a:t>
            </a:r>
            <a:r>
              <a:rPr lang="ko-KR" altLang="en-US" sz="1100" dirty="0"/>
              <a:t> </a:t>
            </a:r>
            <a:r>
              <a:rPr lang="en-US" altLang="ko-KR" sz="1100" dirty="0" smtClean="0"/>
              <a:t>-&gt;</a:t>
            </a:r>
            <a:r>
              <a:rPr lang="ko-KR" altLang="en-US" sz="1100" dirty="0" smtClean="0"/>
              <a:t> </a:t>
            </a:r>
            <a:r>
              <a:rPr lang="ko-KR" altLang="en-US" sz="1100" dirty="0" err="1"/>
              <a:t>Map</a:t>
            </a:r>
            <a:r>
              <a:rPr lang="ko-KR" altLang="en-US" sz="1100" dirty="0"/>
              <a:t> 위치 </a:t>
            </a:r>
            <a:r>
              <a:rPr lang="ko-KR" altLang="en-US" sz="1100" dirty="0" err="1"/>
              <a:t>Mapping</a:t>
            </a:r>
            <a:endParaRPr lang="ko-KR" altLang="en-US" sz="1100" dirty="0"/>
          </a:p>
        </p:txBody>
      </p:sp>
      <p:sp>
        <p:nvSpPr>
          <p:cNvPr id="15" name="Pentagon 14"/>
          <p:cNvSpPr/>
          <p:nvPr/>
        </p:nvSpPr>
        <p:spPr>
          <a:xfrm>
            <a:off x="381600" y="5472000"/>
            <a:ext cx="2340000" cy="4680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파일 수동 업로드</a:t>
            </a:r>
          </a:p>
        </p:txBody>
      </p:sp>
      <p:sp>
        <p:nvSpPr>
          <p:cNvPr id="16" name="Chevron 15"/>
          <p:cNvSpPr/>
          <p:nvPr/>
        </p:nvSpPr>
        <p:spPr>
          <a:xfrm>
            <a:off x="2667600" y="5472000"/>
            <a:ext cx="2340000" cy="468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파일 정보 추출</a:t>
            </a:r>
          </a:p>
        </p:txBody>
      </p:sp>
      <p:sp>
        <p:nvSpPr>
          <p:cNvPr id="17" name="Chevron 16"/>
          <p:cNvSpPr/>
          <p:nvPr/>
        </p:nvSpPr>
        <p:spPr>
          <a:xfrm>
            <a:off x="4953600" y="5472000"/>
            <a:ext cx="2340000" cy="468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기준정보 생성</a:t>
            </a:r>
          </a:p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(Device, Lot, Wafer)</a:t>
            </a:r>
          </a:p>
        </p:txBody>
      </p:sp>
      <p:sp>
        <p:nvSpPr>
          <p:cNvPr id="18" name="Chevron 17"/>
          <p:cNvSpPr/>
          <p:nvPr/>
        </p:nvSpPr>
        <p:spPr>
          <a:xfrm>
            <a:off x="7239599" y="5472000"/>
            <a:ext cx="2340000" cy="468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연관 Mapping</a:t>
            </a:r>
          </a:p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(Die 좌표, Chain)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600" y="6030000"/>
            <a:ext cx="9144000" cy="234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000" b="0" dirty="0">
                <a:solidFill>
                  <a:schemeClr val="tx1"/>
                </a:solidFill>
              </a:rPr>
              <a:t>※ MES </a:t>
            </a:r>
            <a:r>
              <a:rPr lang="ko-KR" altLang="en-US" sz="1000" b="0" dirty="0" err="1">
                <a:solidFill>
                  <a:schemeClr val="tx1"/>
                </a:solidFill>
              </a:rPr>
              <a:t>기준정보</a:t>
            </a:r>
            <a:r>
              <a:rPr lang="ko-KR" altLang="en-US" sz="1000" b="0" dirty="0">
                <a:solidFill>
                  <a:schemeClr val="tx1"/>
                </a:solidFill>
              </a:rPr>
              <a:t>, QMS 데이터 연동, 파일 자동 수집은 본사업 범위 (</a:t>
            </a:r>
            <a:r>
              <a:rPr lang="ko-KR" altLang="en-US" sz="1000" b="0" dirty="0" err="1">
                <a:solidFill>
                  <a:schemeClr val="tx1"/>
                </a:solidFill>
              </a:rPr>
              <a:t>POC는</a:t>
            </a:r>
            <a:r>
              <a:rPr lang="ko-KR" altLang="en-US" sz="1000" b="0" dirty="0">
                <a:solidFill>
                  <a:schemeClr val="tx1"/>
                </a:solidFill>
              </a:rPr>
              <a:t> 파일 안 정보만으로 검증)</a:t>
            </a:r>
          </a:p>
        </p:txBody>
      </p:sp>
      <p:pic>
        <p:nvPicPr>
          <p:cNvPr id="20" name="고객사 CI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380999" y="427042"/>
            <a:ext cx="9144001" cy="400110"/>
          </a:xfrm>
        </p:spPr>
        <p:txBody>
          <a:bodyPr/>
          <a:lstStyle/>
          <a:p>
            <a:pPr latinLnBrk="0"/>
            <a:r>
              <a:rPr lang="ko-KR" altLang="en-US" dirty="0"/>
              <a:t>주요 </a:t>
            </a:r>
            <a:r>
              <a:rPr lang="en-US" altLang="ko-KR" dirty="0"/>
              <a:t>POC </a:t>
            </a:r>
            <a:r>
              <a:rPr lang="ko-KR" altLang="en-US" dirty="0"/>
              <a:t>기능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Die</a:t>
            </a:r>
            <a:r>
              <a:rPr lang="ko-KR" altLang="en-US" dirty="0" smtClean="0"/>
              <a:t> </a:t>
            </a:r>
            <a:r>
              <a:rPr lang="ko-KR" altLang="en-US" dirty="0"/>
              <a:t>상세 연관 </a:t>
            </a:r>
            <a:r>
              <a:rPr lang="ko-KR" altLang="en-US" dirty="0" smtClean="0"/>
              <a:t>분석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b="1" dirty="0" smtClean="0"/>
              <a:t>GDS, KLARF, E-Test 데이터를 한 Map에 겹쳐</a:t>
            </a:r>
            <a:r>
              <a:rPr lang="ko-KR" altLang="en-US" dirty="0" smtClean="0"/>
              <a:t> 위치 분석과 E-Test 연관성을 한 화면에서 제공</a:t>
            </a:r>
            <a:endParaRPr lang="en-US" altLang="ko-KR" dirty="0" smtClean="0"/>
          </a:p>
          <a:p>
            <a:pPr latinLnBrk="0"/>
            <a:r>
              <a:rPr lang="ko-KR" altLang="ko-KR" b="1" dirty="0" smtClean="0"/>
              <a:t>POC </a:t>
            </a:r>
            <a:r>
              <a:rPr lang="ko-KR" altLang="ko-KR" b="1" dirty="0"/>
              <a:t>최종 </a:t>
            </a:r>
            <a:r>
              <a:rPr lang="ko-KR" altLang="en-US" b="1" dirty="0" smtClean="0"/>
              <a:t>분석</a:t>
            </a:r>
            <a:r>
              <a:rPr lang="en-US" altLang="ko-KR" b="1" dirty="0" smtClean="0"/>
              <a:t> </a:t>
            </a:r>
            <a:r>
              <a:rPr lang="ko-KR" altLang="ko-KR" b="1" dirty="0" smtClean="0"/>
              <a:t>결과 </a:t>
            </a:r>
            <a:r>
              <a:rPr lang="ko-KR" altLang="en-US" b="1" dirty="0" smtClean="0"/>
              <a:t>도출</a:t>
            </a:r>
            <a:r>
              <a:rPr lang="en-US" altLang="ko-KR" b="1" dirty="0" smtClean="0"/>
              <a:t> </a:t>
            </a:r>
            <a:r>
              <a:rPr lang="ko-KR" altLang="ko-KR" b="1" dirty="0" smtClean="0"/>
              <a:t>화면</a:t>
            </a:r>
            <a:endParaRPr lang="en-US" altLang="ko-KR" b="1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주요 POC 기능 및 결과</a:t>
            </a:r>
          </a:p>
        </p:txBody>
      </p:sp>
      <p:pic>
        <p:nvPicPr>
          <p:cNvPr id="10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00" y="1519200"/>
            <a:ext cx="5903554" cy="385199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1600" y="1519200"/>
            <a:ext cx="5903554" cy="3851999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5214" y="1642463"/>
            <a:ext cx="2703827" cy="154079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80305" y="1584504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9310" y="1858176"/>
            <a:ext cx="3199726" cy="3493764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2742" y="192348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22651" y="2154780"/>
            <a:ext cx="2632985" cy="2060819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14011" y="219312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22651" y="4273380"/>
            <a:ext cx="2632985" cy="539280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14011" y="431172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6447154" y="1537199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9154" y="1519200"/>
            <a:ext cx="2736445" cy="306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300" b="1"/>
              <a:t>Die 분석 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9154" y="1807199"/>
            <a:ext cx="2736445" cy="639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 dirty="0"/>
              <a:t>선택 </a:t>
            </a:r>
            <a:r>
              <a:rPr lang="ko-KR" altLang="en-US" sz="1100" dirty="0" err="1"/>
              <a:t>Die의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Defect</a:t>
            </a:r>
            <a:r>
              <a:rPr lang="ko-KR" altLang="en-US" sz="1100" dirty="0"/>
              <a:t> 수, </a:t>
            </a:r>
            <a:r>
              <a:rPr lang="ko-KR" altLang="en-US" sz="1100" dirty="0" err="1"/>
              <a:t>Chain</a:t>
            </a:r>
            <a:r>
              <a:rPr lang="ko-KR" altLang="en-US" sz="1100" dirty="0"/>
              <a:t> 안 / 밖</a:t>
            </a:r>
          </a:p>
          <a:p>
            <a:pPr marL="125999" lvl="1" indent="-125999" latinLnBrk="0"/>
            <a:r>
              <a:rPr lang="ko-KR" altLang="en-US" sz="1100" dirty="0" err="1"/>
              <a:t>Fail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Chain</a:t>
            </a:r>
            <a:r>
              <a:rPr lang="ko-KR" altLang="en-US" sz="1100" dirty="0"/>
              <a:t> 수, 연관 일치 수 요약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27824" y="2439000"/>
            <a:ext cx="307844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47154" y="250020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9154" y="2482200"/>
            <a:ext cx="2736445" cy="306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300" b="1"/>
              <a:t>GDS + KLARF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9154" y="2770200"/>
            <a:ext cx="2736445" cy="639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/>
              <a:t>GDS 도면 위에 KLARF Defect 좌표 표시</a:t>
            </a:r>
          </a:p>
          <a:p>
            <a:pPr marL="125999" lvl="1" indent="-125999" latinLnBrk="0"/>
            <a:r>
              <a:rPr lang="ko-KR" altLang="en-US" sz="1100"/>
              <a:t>Chain(Bump, RDL) 위 Defect 위치 확인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27824" y="3402000"/>
            <a:ext cx="307844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47154" y="346320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9154" y="3445200"/>
            <a:ext cx="2736445" cy="306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300" b="1"/>
              <a:t>Chain별 위치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9154" y="3733200"/>
            <a:ext cx="2736445" cy="639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 dirty="0" err="1"/>
              <a:t>Chain</a:t>
            </a:r>
            <a:r>
              <a:rPr lang="ko-KR" altLang="en-US" sz="1100" dirty="0"/>
              <a:t> 영역 안 / 밖 </a:t>
            </a:r>
            <a:r>
              <a:rPr lang="ko-KR" altLang="en-US" sz="1100" dirty="0" err="1"/>
              <a:t>Defect</a:t>
            </a:r>
            <a:r>
              <a:rPr lang="ko-KR" altLang="en-US" sz="1100" dirty="0"/>
              <a:t> 수, 목록</a:t>
            </a:r>
          </a:p>
          <a:p>
            <a:pPr marL="125999" lvl="1" indent="-125999" latinLnBrk="0"/>
            <a:r>
              <a:rPr lang="ko-KR" altLang="en-US" sz="1100" dirty="0" err="1"/>
              <a:t>E-Test</a:t>
            </a:r>
            <a:r>
              <a:rPr lang="ko-KR" altLang="en-US" sz="1100" dirty="0"/>
              <a:t> 판정, 연관 분류 함께 표시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27824" y="4365000"/>
            <a:ext cx="307844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447154" y="442620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9154" y="4408200"/>
            <a:ext cx="2736445" cy="306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300" b="1"/>
              <a:t>E-Test 연관성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9154" y="4696200"/>
            <a:ext cx="2736445" cy="639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/>
              <a:t>선택 Chain의 Parameter별 값, Spec</a:t>
            </a:r>
          </a:p>
          <a:p>
            <a:pPr marL="125999" lvl="1" indent="-125999" latinLnBrk="0"/>
            <a:r>
              <a:rPr lang="ko-KR" altLang="en-US" sz="1100"/>
              <a:t>Spec Out 항목 강조로 Fail 근거 제시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1600" y="5479200"/>
            <a:ext cx="1512000" cy="96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고객 요청 대응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93600" y="5479200"/>
            <a:ext cx="7632000" cy="96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15999" y="5572710"/>
            <a:ext cx="7416000" cy="777778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200" b="1" dirty="0"/>
              <a:t>위치 일치 확인</a:t>
            </a:r>
            <a:r>
              <a:rPr lang="ko-KR" altLang="en-US" sz="1200" dirty="0"/>
              <a:t>: KLARF </a:t>
            </a:r>
            <a:r>
              <a:rPr lang="ko-KR" altLang="en-US" sz="1200" dirty="0" err="1"/>
              <a:t>Defect가</a:t>
            </a:r>
            <a:r>
              <a:rPr lang="ko-KR" altLang="en-US" sz="1200" dirty="0"/>
              <a:t> GDS </a:t>
            </a:r>
            <a:r>
              <a:rPr lang="ko-KR" altLang="en-US" sz="1200" dirty="0" err="1" smtClean="0"/>
              <a:t>Chain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위에 </a:t>
            </a:r>
            <a:r>
              <a:rPr lang="ko-KR" altLang="en-US" sz="1200" dirty="0"/>
              <a:t>있는지 도면에서 확인</a:t>
            </a:r>
          </a:p>
          <a:p>
            <a:pPr lvl="1" latinLnBrk="0"/>
            <a:r>
              <a:rPr lang="ko-KR" altLang="en-US" sz="1200" b="1" dirty="0"/>
              <a:t>정확한 위치 제공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Chain별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Defect</a:t>
            </a:r>
            <a:r>
              <a:rPr lang="ko-KR" altLang="en-US" sz="1200" dirty="0"/>
              <a:t> ID, 좌표, 크기를 목록으로 제공</a:t>
            </a:r>
          </a:p>
          <a:p>
            <a:pPr lvl="1" latinLnBrk="0"/>
            <a:r>
              <a:rPr lang="ko-KR" altLang="en-US" sz="1200" b="1" dirty="0" err="1"/>
              <a:t>E-Test</a:t>
            </a:r>
            <a:r>
              <a:rPr lang="ko-KR" altLang="en-US" sz="1200" b="1" dirty="0"/>
              <a:t> 연관성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Fail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Chain과</a:t>
            </a:r>
            <a:r>
              <a:rPr lang="ko-KR" altLang="en-US" sz="1200" dirty="0"/>
              <a:t> </a:t>
            </a:r>
            <a:r>
              <a:rPr lang="ko-KR" altLang="en-US" sz="1200" dirty="0" err="1"/>
              <a:t>Defect</a:t>
            </a:r>
            <a:r>
              <a:rPr lang="ko-KR" altLang="en-US" sz="1200" dirty="0"/>
              <a:t> 겹침을 함께 보여 판단 근거 제공 (판정은 엔지니어)</a:t>
            </a:r>
          </a:p>
        </p:txBody>
      </p:sp>
      <p:cxnSp>
        <p:nvCxnSpPr>
          <p:cNvPr id="39" name="Connector 23"/>
          <p:cNvCxnSpPr/>
          <p:nvPr/>
        </p:nvCxnSpPr>
        <p:spPr>
          <a:xfrm>
            <a:off x="6427824" y="1520825"/>
            <a:ext cx="307844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1"/>
          <p:cNvCxnSpPr/>
          <p:nvPr/>
        </p:nvCxnSpPr>
        <p:spPr>
          <a:xfrm>
            <a:off x="6427824" y="5371199"/>
            <a:ext cx="307844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5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</a:t>
            </a:r>
            <a:r>
              <a:rPr lang="ko-KR" altLang="en-US" dirty="0" smtClean="0"/>
              <a:t>결과 </a:t>
            </a:r>
            <a:r>
              <a:rPr lang="ko-KR" altLang="en-US" dirty="0"/>
              <a:t>및 시사점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도면 기반 불량 연관 분석이 </a:t>
            </a:r>
            <a:r>
              <a:rPr lang="ko-KR" altLang="en-US" b="1" dirty="0"/>
              <a:t>가능함을 확인</a:t>
            </a:r>
            <a:r>
              <a:rPr lang="ko-KR" altLang="en-US" dirty="0"/>
              <a:t>, 실제 활용에는 Wafer 이름, 좌표 원점 등 데이터 기준 확정이 먼저 필요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주요 POC 기능 및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4334748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 dirty="0">
                <a:solidFill>
                  <a:schemeClr val="bg1"/>
                </a:solidFill>
              </a:rPr>
              <a:t>확인된 가능성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80000"/>
            <a:ext cx="4334748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530" y="2202545"/>
            <a:ext cx="4054081" cy="1534908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도면, Defect, 전기 검사 데이터를 한 화면에 연결하여 연관 </a:t>
            </a:r>
            <a:r>
              <a:rPr lang="ko-KR" altLang="en-US" sz="1300" dirty="0"/>
              <a:t>분석 가능</a:t>
            </a:r>
          </a:p>
          <a:p>
            <a:pPr lvl="1" latinLnBrk="0"/>
            <a:r>
              <a:rPr lang="ko-KR" altLang="en-US" sz="1300" dirty="0"/>
              <a:t>Chain 생성 Rule을 통해 사용 편의성 증가 </a:t>
            </a:r>
            <a:endParaRPr lang="en-US" altLang="ko-KR" sz="1300" dirty="0"/>
          </a:p>
          <a:p>
            <a:pPr lvl="1" latinLnBrk="0"/>
            <a:r>
              <a:rPr lang="ko-KR" altLang="en-US" sz="1300" dirty="0"/>
              <a:t>GDS Chain &lt;-&gt; E-Test Chain 간의 Naming Rule을 Mapping하여 연결</a:t>
            </a:r>
            <a:endParaRPr lang="en-US" altLang="ko-KR" sz="1300" dirty="0"/>
          </a:p>
          <a:p>
            <a:pPr lvl="1" latinLnBrk="0"/>
            <a:r>
              <a:rPr lang="ko-KR" altLang="en-US" sz="1300" dirty="0"/>
              <a:t>다른 제품(Device)에도 확장 </a:t>
            </a:r>
            <a:r>
              <a:rPr lang="ko-KR" altLang="en-US" sz="1300" dirty="0" smtClean="0"/>
              <a:t>가능</a:t>
            </a:r>
            <a:endParaRPr lang="en-US" altLang="ko-KR" sz="1300" dirty="0"/>
          </a:p>
        </p:txBody>
      </p:sp>
      <p:sp>
        <p:nvSpPr>
          <p:cNvPr id="10" name="Rectangle 9"/>
          <p:cNvSpPr/>
          <p:nvPr/>
        </p:nvSpPr>
        <p:spPr>
          <a:xfrm>
            <a:off x="5180911" y="1519200"/>
            <a:ext cx="4334748" cy="396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남은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0911" y="1980000"/>
            <a:ext cx="4334748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31255" y="2110845"/>
            <a:ext cx="2798027" cy="1674947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Wafer 이름, 좌표 원점 등 데이터 기준 확정 (U8, U9 원점 기준 다름)</a:t>
            </a:r>
          </a:p>
          <a:p>
            <a:pPr lvl="1" latinLnBrk="0"/>
            <a:r>
              <a:rPr lang="ko-KR" altLang="en-US" sz="1300" dirty="0" smtClean="0"/>
              <a:t>결과 Data의 기준 정보 Rule 정립 (E-Test File, Chain Naming Rule, KLARF File 내부 Wafer ID, Lot ID 등)</a:t>
            </a:r>
          </a:p>
        </p:txBody>
      </p:sp>
      <p:pic>
        <p:nvPicPr>
          <p:cNvPr id="18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81600" y="4140000"/>
            <a:ext cx="9144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본사업 추진 기능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600" y="4554000"/>
            <a:ext cx="2205000" cy="149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1600" y="4644000"/>
            <a:ext cx="270000" cy="27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600" y="4608000"/>
            <a:ext cx="1755000" cy="34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36000" rIns="18000" bIns="36000" rtlCol="0" anchor="ctr"/>
          <a:lstStyle/>
          <a:p>
            <a:pPr algn="l" latinLnBrk="0"/>
            <a:r>
              <a:rPr lang="ko-KR" altLang="en-US" sz="1200" b="1">
                <a:solidFill>
                  <a:schemeClr val="accent4"/>
                </a:solidFill>
              </a:rPr>
              <a:t>자동 수집, MES 연동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1600" y="5022000"/>
            <a:ext cx="2025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3600" y="5090478"/>
            <a:ext cx="2060999" cy="907044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200" b="0" dirty="0"/>
              <a:t>KLARF, </a:t>
            </a:r>
            <a:r>
              <a:rPr lang="ko-KR" altLang="en-US" sz="1200" b="0" dirty="0" err="1"/>
              <a:t>E-Test</a:t>
            </a:r>
            <a:r>
              <a:rPr lang="ko-KR" altLang="en-US" sz="1200" b="0" dirty="0"/>
              <a:t> 파일 자동 수집, MES </a:t>
            </a:r>
            <a:r>
              <a:rPr lang="ko-KR" altLang="en-US" sz="1200" b="0" dirty="0" err="1"/>
              <a:t>기준정보</a:t>
            </a:r>
            <a:r>
              <a:rPr lang="ko-KR" altLang="en-US" sz="1200" b="0" dirty="0"/>
              <a:t> 연동으로 수동 업로드 </a:t>
            </a:r>
            <a:r>
              <a:rPr lang="ko-KR" altLang="en-US" sz="1200" b="0" dirty="0" smtClean="0"/>
              <a:t>제거</a:t>
            </a:r>
            <a:r>
              <a:rPr lang="en-US" altLang="ko-KR" sz="1200" b="0" dirty="0"/>
              <a:t/>
            </a:r>
            <a:br>
              <a:rPr lang="en-US" altLang="ko-KR" sz="1200" b="0" dirty="0"/>
            </a:br>
            <a:r>
              <a:rPr lang="en-US" altLang="ko-KR" sz="1200" b="0" dirty="0" smtClean="0"/>
              <a:t>STDF Format </a:t>
            </a:r>
            <a:r>
              <a:rPr lang="ko-KR" altLang="en-US" sz="1200" b="0" dirty="0" smtClean="0"/>
              <a:t>추가</a:t>
            </a:r>
            <a:r>
              <a:rPr lang="en-US" altLang="ko-KR" sz="1200" b="0" dirty="0" smtClean="0"/>
              <a:t>(E-Test)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4600" y="4554000"/>
            <a:ext cx="2205000" cy="149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84600" y="4644000"/>
            <a:ext cx="270000" cy="27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90599" y="4608000"/>
            <a:ext cx="1755000" cy="34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36000" rIns="18000" bIns="36000" rtlCol="0" anchor="ctr"/>
          <a:lstStyle/>
          <a:p>
            <a:pPr algn="l" latinLnBrk="0"/>
            <a:r>
              <a:rPr lang="ko-KR" altLang="en-US" sz="1200" b="1">
                <a:solidFill>
                  <a:schemeClr val="accent4"/>
                </a:solidFill>
              </a:rPr>
              <a:t>불량 Spec 관리, 설비 Monitoring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84600" y="5022000"/>
            <a:ext cx="2025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66600" y="5192044"/>
            <a:ext cx="2060999" cy="703912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200" b="0" dirty="0"/>
              <a:t>AOI </a:t>
            </a:r>
            <a:r>
              <a:rPr lang="ko-KR" altLang="en-US" sz="1200" b="0" dirty="0" err="1"/>
              <a:t>Defect</a:t>
            </a:r>
            <a:r>
              <a:rPr lang="ko-KR" altLang="en-US" sz="1200" b="0" dirty="0"/>
              <a:t>, 전기 불량 </a:t>
            </a:r>
            <a:r>
              <a:rPr lang="ko-KR" altLang="en-US" sz="1200" b="0" dirty="0" err="1"/>
              <a:t>Spec</a:t>
            </a:r>
            <a:r>
              <a:rPr lang="ko-KR" altLang="en-US" sz="1200" b="0" dirty="0"/>
              <a:t> 관리, 기준 초과 시 </a:t>
            </a:r>
            <a:r>
              <a:rPr lang="en-US" altLang="ko-KR" sz="1200" b="0" dirty="0" smtClean="0"/>
              <a:t>Lot </a:t>
            </a:r>
            <a:r>
              <a:rPr lang="ko-KR" altLang="en-US" sz="1200" b="0" dirty="0" smtClean="0"/>
              <a:t>또는 설비 </a:t>
            </a:r>
            <a:r>
              <a:rPr lang="en-US" altLang="ko-KR" sz="1200" b="0" dirty="0" smtClean="0"/>
              <a:t>Hold, Auto Mail</a:t>
            </a:r>
            <a:endParaRPr lang="ko-KR" altLang="en-US" sz="1200" b="0" dirty="0"/>
          </a:p>
        </p:txBody>
      </p:sp>
      <p:sp>
        <p:nvSpPr>
          <p:cNvPr id="30" name="Rectangle 29"/>
          <p:cNvSpPr/>
          <p:nvPr/>
        </p:nvSpPr>
        <p:spPr>
          <a:xfrm>
            <a:off x="5007600" y="4554000"/>
            <a:ext cx="2205000" cy="149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97600" y="4644000"/>
            <a:ext cx="270000" cy="27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3600" y="4608000"/>
            <a:ext cx="1755000" cy="34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36000" rIns="18000" bIns="36000" rtlCol="0" anchor="ctr"/>
          <a:lstStyle/>
          <a:p>
            <a:pPr algn="l" latinLnBrk="0"/>
            <a:r>
              <a:rPr lang="ko-KR" altLang="en-US" sz="1200" b="1">
                <a:solidFill>
                  <a:schemeClr val="accent4"/>
                </a:solidFill>
              </a:rPr>
              <a:t>BS / FS 기준 정보화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97600" y="5022000"/>
            <a:ext cx="2025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79600" y="5094000"/>
            <a:ext cx="2060999" cy="900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200" b="0"/>
              <a:t>차수, 작업별 Back / Front Side 기준 정보 관리로 분석 기준 구분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20599" y="4554000"/>
            <a:ext cx="2205000" cy="149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410599" y="4644000"/>
            <a:ext cx="270000" cy="27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16600" y="4608000"/>
            <a:ext cx="1755000" cy="34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36000" rIns="18000" bIns="36000" rtlCol="0" anchor="ctr"/>
          <a:lstStyle/>
          <a:p>
            <a:pPr algn="l" latinLnBrk="0"/>
            <a:r>
              <a:rPr lang="ko-KR" altLang="en-US" sz="1200" b="1">
                <a:solidFill>
                  <a:schemeClr val="accent4"/>
                </a:solidFill>
              </a:rPr>
              <a:t>신규 GDS Format 대응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10599" y="5022000"/>
            <a:ext cx="2025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392599" y="5094000"/>
            <a:ext cx="2060999" cy="900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200" b="0" dirty="0"/>
              <a:t>새 GDS </a:t>
            </a:r>
            <a:r>
              <a:rPr lang="ko-KR" altLang="en-US" sz="1200" b="0" dirty="0" err="1"/>
              <a:t>Format의</a:t>
            </a:r>
            <a:r>
              <a:rPr lang="ko-KR" altLang="en-US" sz="1200" b="0" dirty="0"/>
              <a:t> </a:t>
            </a:r>
            <a:r>
              <a:rPr lang="ko-KR" altLang="en-US" sz="1200" b="0" dirty="0" err="1"/>
              <a:t>Chain</a:t>
            </a:r>
            <a:r>
              <a:rPr lang="ko-KR" altLang="en-US" sz="1200" b="0" dirty="0"/>
              <a:t> 자동 생성 </a:t>
            </a:r>
            <a:r>
              <a:rPr lang="ko-KR" altLang="en-US" sz="1200" b="0" dirty="0" err="1"/>
              <a:t>Rule</a:t>
            </a:r>
            <a:r>
              <a:rPr lang="ko-KR" altLang="en-US" sz="1200" b="0" dirty="0"/>
              <a:t> 확장 (현재 U8, U9 개발 완료)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451" y="1987199"/>
            <a:ext cx="1656038" cy="198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종료 후 운영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dirty="0"/>
              <a:t>미라콤 철수 후에도 연구소가 </a:t>
            </a:r>
            <a:r>
              <a:rPr lang="ko-KR" altLang="en-US" b="1" dirty="0"/>
              <a:t>'27.1.31까지 POC 시스템을 직접 </a:t>
            </a:r>
            <a:r>
              <a:rPr lang="ko-KR" altLang="en-US" b="1" dirty="0" smtClean="0"/>
              <a:t>사용 </a:t>
            </a:r>
          </a:p>
          <a:p>
            <a:pPr latinLnBrk="0"/>
            <a:r>
              <a:rPr lang="ko-KR" altLang="en-US" dirty="0" smtClean="0"/>
              <a:t>'27.1.31 이후는 조회만 가능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III. 종료 후 운영 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002400" cy="39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시스템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600" y="2070000"/>
            <a:ext cx="2808000" cy="2195089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POC </a:t>
            </a:r>
            <a:r>
              <a:rPr lang="ko-KR" altLang="en-US" sz="1300" dirty="0" err="1"/>
              <a:t>License</a:t>
            </a:r>
            <a:r>
              <a:rPr lang="ko-KR" altLang="en-US" sz="1300" dirty="0"/>
              <a:t>: '27.1.31까지 데이터 등록, 수정 가능</a:t>
            </a:r>
          </a:p>
          <a:p>
            <a:pPr lvl="1" latinLnBrk="0"/>
            <a:r>
              <a:rPr lang="ko-KR" altLang="en-US" sz="1300" dirty="0"/>
              <a:t>기한 후 조회 전용 전환 (등록 데이터 유지)</a:t>
            </a:r>
          </a:p>
          <a:p>
            <a:pPr lvl="1" latinLnBrk="0"/>
            <a:r>
              <a:rPr lang="ko-KR" altLang="en-US" sz="1300" dirty="0"/>
              <a:t>사용 결과로 </a:t>
            </a:r>
            <a:r>
              <a:rPr lang="ko-KR" altLang="en-US" sz="1300" dirty="0" smtClean="0"/>
              <a:t>본사업 확장 판단</a:t>
            </a:r>
            <a:r>
              <a:rPr lang="ko-KR" altLang="en-US" sz="1300" dirty="0"/>
              <a:t> (착수 시 약 3개월 사용 안내)</a:t>
            </a:r>
          </a:p>
          <a:p>
            <a:pPr lvl="1" latinLnBrk="0"/>
            <a:r>
              <a:rPr lang="ko-KR" altLang="en-US" sz="1300" dirty="0" err="1" smtClean="0"/>
              <a:t>Device 개수 제한 없음 (착수 시 5개로 정했으나 불필요하다고 판단)</a:t>
            </a:r>
            <a:r>
              <a:rPr lang="en-US" altLang="ko-KR" sz="1300" dirty="0"/>
              <a:t/>
            </a:r>
            <a:br>
              <a:rPr lang="en-US" altLang="ko-KR" sz="1300" dirty="0"/>
            </a:br>
            <a:endParaRPr lang="en-US" altLang="ko-KR" sz="1300" dirty="0"/>
          </a:p>
        </p:txBody>
      </p:sp>
      <p:sp>
        <p:nvSpPr>
          <p:cNvPr id="10" name="Rectangle 9"/>
          <p:cNvSpPr/>
          <p:nvPr/>
        </p:nvSpPr>
        <p:spPr>
          <a:xfrm>
            <a:off x="3452400" y="1519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운영 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0400" y="2070000"/>
            <a:ext cx="2808000" cy="1975029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연구소: 파일 업로드, 셋업, 분석 (Key User)</a:t>
            </a:r>
            <a:endParaRPr lang="ko-KR" altLang="en-US" sz="1300" dirty="0">
              <a:solidFill>
                <a:schemeClr val="accent6"/>
              </a:solidFill>
            </a:endParaRPr>
          </a:p>
          <a:p>
            <a:pPr lvl="1" latinLnBrk="0"/>
            <a:r>
              <a:rPr lang="ko-KR" altLang="en-US" sz="1300" dirty="0" smtClean="0"/>
              <a:t>IT팀: 서비스 3종 상태 확인, 재시작 (자동 시작 설정)</a:t>
            </a:r>
            <a:endParaRPr lang="ko-KR" altLang="en-US" sz="1300" dirty="0">
              <a:solidFill>
                <a:schemeClr val="accent6"/>
              </a:solidFill>
            </a:endParaRPr>
          </a:p>
          <a:p>
            <a:pPr lvl="1" latinLnBrk="0"/>
            <a:r>
              <a:rPr lang="ko-KR" altLang="en-US" sz="1300" dirty="0" smtClean="0"/>
              <a:t>IT팀: 새 버전 설치 파일 배포, 서비스 업데이트 (백업 후 진행)</a:t>
            </a:r>
            <a:endParaRPr lang="ko-KR" altLang="en-US" sz="1300" dirty="0">
              <a:solidFill>
                <a:schemeClr val="accent6"/>
              </a:solidFill>
            </a:endParaRPr>
          </a:p>
          <a:p>
            <a:pPr lvl="1" latinLnBrk="0"/>
            <a:r>
              <a:rPr lang="ko-KR" altLang="en-US" sz="1300" dirty="0" smtClean="0"/>
              <a:t>미라콤: </a:t>
            </a:r>
            <a:r>
              <a:rPr lang="ko-KR" altLang="en-US" sz="1300" dirty="0"/>
              <a:t>Bug성 문제 발생 </a:t>
            </a:r>
            <a:r>
              <a:rPr lang="ko-KR" altLang="en-US" sz="1300" dirty="0" smtClean="0"/>
              <a:t>시 업데이트 파일 제공, 문의 대응</a:t>
            </a:r>
            <a:endParaRPr lang="ko-KR" altLang="en-US" sz="1300" dirty="0">
              <a:solidFill>
                <a:schemeClr val="accent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23199" y="1519200"/>
            <a:ext cx="3002400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인계 자료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99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1199" y="2070000"/>
            <a:ext cx="2808000" cy="794706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IT 유지보수 가이드: 서버 구성, 서비스 관리, 업데이트 배치</a:t>
            </a:r>
            <a:endParaRPr lang="ko-KR" altLang="en-US" sz="1300" dirty="0"/>
          </a:p>
          <a:p>
            <a:pPr lvl="1" latinLnBrk="0"/>
            <a:r>
              <a:rPr lang="ko-KR" altLang="en-US" sz="1300" dirty="0" smtClean="0"/>
              <a:t>사용자 매뉴얼 v1.0: 화면별 사용법, 트러블 슈팅</a:t>
            </a:r>
            <a:endParaRPr lang="ko-KR" altLang="en-US" sz="1300" dirty="0"/>
          </a:p>
        </p:txBody>
      </p:sp>
      <p:sp>
        <p:nvSpPr>
          <p:cNvPr id="16" name="Rectangle 15"/>
          <p:cNvSpPr/>
          <p:nvPr/>
        </p:nvSpPr>
        <p:spPr>
          <a:xfrm>
            <a:off x="381600" y="4788000"/>
            <a:ext cx="91440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400" b="1" dirty="0" smtClean="0">
                <a:solidFill>
                  <a:schemeClr val="accent1"/>
                </a:solidFill>
              </a:rPr>
              <a:t>추후 일정</a:t>
            </a:r>
            <a:endParaRPr lang="ko-KR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17" name="Pentagon 16"/>
          <p:cNvSpPr/>
          <p:nvPr/>
        </p:nvSpPr>
        <p:spPr>
          <a:xfrm>
            <a:off x="381600" y="5243293"/>
            <a:ext cx="1908000" cy="7920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10.26~10.28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고객 검증</a:t>
            </a:r>
          </a:p>
        </p:txBody>
      </p:sp>
      <p:sp>
        <p:nvSpPr>
          <p:cNvPr id="18" name="Chevron 17"/>
          <p:cNvSpPr/>
          <p:nvPr/>
        </p:nvSpPr>
        <p:spPr>
          <a:xfrm>
            <a:off x="2190600" y="5243293"/>
            <a:ext cx="1908000" cy="792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10.29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종료 보고</a:t>
            </a:r>
          </a:p>
        </p:txBody>
      </p:sp>
      <p:sp>
        <p:nvSpPr>
          <p:cNvPr id="19" name="Chevron 18"/>
          <p:cNvSpPr/>
          <p:nvPr/>
        </p:nvSpPr>
        <p:spPr>
          <a:xfrm>
            <a:off x="3999600" y="5243293"/>
            <a:ext cx="1908000" cy="792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10월 말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현장 철수</a:t>
            </a:r>
          </a:p>
        </p:txBody>
      </p:sp>
      <p:sp>
        <p:nvSpPr>
          <p:cNvPr id="20" name="Chevron 19"/>
          <p:cNvSpPr/>
          <p:nvPr/>
        </p:nvSpPr>
        <p:spPr>
          <a:xfrm>
            <a:off x="5808600" y="5243293"/>
            <a:ext cx="1908000" cy="792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~'27.1.31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POC 사용</a:t>
            </a:r>
          </a:p>
        </p:txBody>
      </p:sp>
      <p:sp>
        <p:nvSpPr>
          <p:cNvPr id="21" name="Chevron 20"/>
          <p:cNvSpPr/>
          <p:nvPr/>
        </p:nvSpPr>
        <p:spPr>
          <a:xfrm>
            <a:off x="7617600" y="5243293"/>
            <a:ext cx="1908000" cy="792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 dirty="0" smtClean="0">
                <a:solidFill>
                  <a:schemeClr val="bg1"/>
                </a:solidFill>
              </a:rPr>
              <a:t>'27.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2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~</a:t>
            </a:r>
            <a:endParaRPr lang="ko-KR" altLang="en-US" sz="1200" b="1" dirty="0">
              <a:solidFill>
                <a:schemeClr val="bg1"/>
              </a:solidFill>
            </a:endParaRPr>
          </a:p>
          <a:p>
            <a:pPr algn="ctr" latinLnBrk="0"/>
            <a:r>
              <a:rPr lang="ko-KR" altLang="en-US" sz="1200" b="0" dirty="0" err="1">
                <a:solidFill>
                  <a:schemeClr val="bg1"/>
                </a:solidFill>
              </a:rPr>
              <a:t>본사업</a:t>
            </a:r>
            <a:r>
              <a:rPr lang="ko-KR" altLang="en-US" sz="1200" b="0" dirty="0">
                <a:solidFill>
                  <a:schemeClr val="bg1"/>
                </a:solidFill>
              </a:rPr>
              <a:t> 판단</a:t>
            </a:r>
          </a:p>
        </p:txBody>
      </p:sp>
      <p:pic>
        <p:nvPicPr>
          <p:cNvPr id="23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631200" y="3091659"/>
            <a:ext cx="2786400" cy="27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 dirty="0">
                <a:solidFill>
                  <a:schemeClr val="accent1"/>
                </a:solidFill>
              </a:rPr>
              <a:t>사용 시 유의 사항</a:t>
            </a:r>
          </a:p>
        </p:txBody>
      </p:sp>
      <p:sp>
        <p:nvSpPr>
          <p:cNvPr id="25" name="TextBox 유의"/>
          <p:cNvSpPr txBox="1"/>
          <p:nvPr/>
        </p:nvSpPr>
        <p:spPr>
          <a:xfrm>
            <a:off x="6631199" y="3415659"/>
            <a:ext cx="2808000" cy="1274837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새 Device는 GDS Map, Wafer Map 설정 후 파일 업로드</a:t>
            </a:r>
            <a:endParaRPr lang="ko-KR" altLang="en-US" sz="1300" dirty="0"/>
          </a:p>
          <a:p>
            <a:pPr lvl="1" latinLnBrk="0"/>
            <a:r>
              <a:rPr lang="ko-KR" altLang="en-US" sz="1300" dirty="0" smtClean="0"/>
              <a:t>U8, U9는 좌표 원점이 달라 제품별 설정 확인</a:t>
            </a:r>
            <a:endParaRPr lang="en-US" altLang="ko-KR" sz="1300" dirty="0" smtClean="0"/>
          </a:p>
          <a:p>
            <a:pPr lvl="1" latinLnBrk="0"/>
            <a:r>
              <a:rPr lang="en-US" altLang="ko-KR" sz="1300" dirty="0" smtClean="0"/>
              <a:t>Oracle </a:t>
            </a:r>
            <a:r>
              <a:rPr lang="ko-KR" altLang="en-US" sz="1300" dirty="0" smtClean="0"/>
              <a:t>시간 초과 </a:t>
            </a:r>
            <a:r>
              <a:rPr lang="en-US" altLang="ko-KR" sz="1300" dirty="0" smtClean="0"/>
              <a:t>Error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92C52DB-E9E3-46CD-811C-803D077AD9CA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29031</TotalTime>
  <Words>2109</Words>
  <Application>Microsoft Office PowerPoint</Application>
  <PresentationFormat>A4 용지(210x297mm)</PresentationFormat>
  <Paragraphs>266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POC 배경 및 목표</vt:lpstr>
      <vt:lpstr>시스템 구성 및 업무 영역</vt:lpstr>
      <vt:lpstr>주요 POC 기능 - 미라콤 솔루션과 신규 개발 연동</vt:lpstr>
      <vt:lpstr>주요 POC 기능 - Chain 자동 생성과 파일 기반 Setup</vt:lpstr>
      <vt:lpstr>주요 POC 기능 - 파일 기반 수동 Upload</vt:lpstr>
      <vt:lpstr>주요 POC 기능 - Die 상세 연관 분석</vt:lpstr>
      <vt:lpstr>POC 결과 및 시사점</vt:lpstr>
      <vt:lpstr>종료 후 운영 방안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Defect / E-Test 자동 분석 시스템 구축 POC 완료보고</dc:title>
  <dc:creator>정병주</dc:creator>
  <cp:lastModifiedBy>BJ</cp:lastModifiedBy>
  <cp:revision>145</cp:revision>
  <cp:lastPrinted>2026-10-28T23:37:46Z</cp:lastPrinted>
  <dcterms:created xsi:type="dcterms:W3CDTF">2013-11-13T01:08:07Z</dcterms:created>
  <dcterms:modified xsi:type="dcterms:W3CDTF">2026-10-30T00:39:13Z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