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7"/>
  </p:notesMasterIdLst>
  <p:sldIdLst>
    <p:sldId id="257" r:id="rIdS1"/>
    <p:sldId id="258" r:id="rIdS2"/>
    <p:sldId id="259" r:id="rIdS3"/>
    <p:sldId id="260" r:id="rIdS4"/>
    <p:sldId id="261" r:id="rIdS5"/>
    <p:sldId id="262" r:id="rIdS6"/>
    <p:sldId id="263" r:id="rIdS7"/>
    <p:sldId id="264" r:id="rIdS8"/>
    <p:sldId id="265" r:id="rIdS9"/>
    <p:sldId id="266" r:id="rIdS10"/>
    <p:sldId id="267" r:id="rIdS11"/>
    <p:sldId id="268" r:id="rIdS12"/>
    <p:sldId id="269" r:id="rIdS13"/>
    <p:sldId id="270" r:id="rIdS14"/>
    <p:sldId id="271" r:id="rIdS15"/>
    <p:sldId id="272" r:id="rIdS16"/>
    <p:sldId id="273" r:id="rIdS17"/>
    <p:sldId id="274" r:id="rIdS18"/>
    <p:sldId id="275" r:id="rIdS19"/>
    <p:sldId id="276" r:id="rIdS20"/>
    <p:sldId id="277" r:id="rIdS21"/>
    <p:sldId id="278" r:id="rIdS22"/>
    <p:sldId id="279" r:id="rIdS23"/>
    <p:sldId id="280" r:id="rIdS24"/>
    <p:sldId id="281" r:id="rIdS25"/>
    <p:sldId id="282" r:id="rIdS26"/>
    <p:sldId id="283" r:id="rIdS27"/>
    <p:sldId id="284" r:id="rIdS28"/>
    <p:sldId id="285" r:id="rIdS29"/>
  </p:sldIdLst>
  <p:sldSz cx="9906000" cy="6858000" type="A4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DEA"/>
    <a:srgbClr val="F74E19"/>
    <a:srgbClr val="3A98E6"/>
    <a:srgbClr val="009CE1"/>
    <a:srgbClr val="F2F2F2"/>
    <a:srgbClr val="1283B6"/>
    <a:srgbClr val="4AABC6"/>
    <a:srgbClr val="4BDAE1"/>
    <a:srgbClr val="376889"/>
    <a:srgbClr val="0D9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3" autoAdjust="0"/>
    <p:restoredTop sz="91841" autoAdjust="0"/>
  </p:normalViewPr>
  <p:slideViewPr>
    <p:cSldViewPr snapToGrid="0">
      <p:cViewPr varScale="1">
        <p:scale>
          <a:sx n="123" d="100"/>
          <a:sy n="123" d="100"/>
        </p:scale>
        <p:origin x="342" y="90"/>
      </p:cViewPr>
      <p:guideLst/>
    </p:cSldViewPr>
  </p:slideViewPr>
  <p:outlineViewPr>
    <p:cViewPr>
      <p:scale>
        <a:sx n="33" d="100"/>
        <a:sy n="33" d="100"/>
      </p:scale>
      <p:origin x="0" y="-2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0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S1" Type="http://schemas.openxmlformats.org/officeDocument/2006/relationships/slide" Target="slides/slide1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" Type="http://schemas.openxmlformats.org/officeDocument/2006/relationships/slide" Target="slides/slide2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Relationship Id="rIdS24" Type="http://schemas.openxmlformats.org/officeDocument/2006/relationships/slide" Target="slides/slide24.xml"/><Relationship Id="rIdS25" Type="http://schemas.openxmlformats.org/officeDocument/2006/relationships/slide" Target="slides/slide25.xml"/><Relationship Id="rIdS26" Type="http://schemas.openxmlformats.org/officeDocument/2006/relationships/slide" Target="slides/slide26.xml"/><Relationship Id="rIdS27" Type="http://schemas.openxmlformats.org/officeDocument/2006/relationships/slide" Target="slides/slide27.xml"/><Relationship Id="rIdS28" Type="http://schemas.openxmlformats.org/officeDocument/2006/relationships/slide" Target="slides/slide28.xml"/><Relationship Id="rIdS29" Type="http://schemas.openxmlformats.org/officeDocument/2006/relationships/slide" Target="slides/slide29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E5B6F-C10B-4B3A-83EF-10CE51EA9189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34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1613-9850-4640-BEA1-E291504B1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02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6.png"/><Relationship Id="rId4" Type="http://schemas.openxmlformats.org/officeDocument/2006/relationships/image" Target="../media/image9.emf"/><Relationship Id="rId5" Type="http://schemas.openxmlformats.org/officeDocument/2006/relationships/image" Target="../media/image3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5" name="모서리가 둥근 직사각형 14"/>
          <p:cNvSpPr/>
          <p:nvPr userDrawn="1"/>
        </p:nvSpPr>
        <p:spPr>
          <a:xfrm flipH="1">
            <a:off x="1044250" y="951722"/>
            <a:ext cx="6428792" cy="4712335"/>
          </a:xfrm>
          <a:prstGeom prst="roundRect">
            <a:avLst>
              <a:gd name="adj" fmla="val 3485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 userDrawn="1"/>
        </p:nvSpPr>
        <p:spPr>
          <a:xfrm>
            <a:off x="4617875" y="951722"/>
            <a:ext cx="2855167" cy="1951214"/>
          </a:xfrm>
          <a:prstGeom prst="roundRect">
            <a:avLst>
              <a:gd name="adj" fmla="val 0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이등변 삼각형 4"/>
          <p:cNvSpPr/>
          <p:nvPr userDrawn="1"/>
        </p:nvSpPr>
        <p:spPr>
          <a:xfrm flipH="1">
            <a:off x="4798025" y="2024331"/>
            <a:ext cx="4982547" cy="3905832"/>
          </a:xfrm>
          <a:custGeom>
            <a:avLst/>
            <a:gdLst>
              <a:gd name="connsiteX0" fmla="*/ 0 w 4982547"/>
              <a:gd name="connsiteY0" fmla="*/ 4086807 h 4086807"/>
              <a:gd name="connsiteX1" fmla="*/ 1721271 w 4982547"/>
              <a:gd name="connsiteY1" fmla="*/ 0 h 4086807"/>
              <a:gd name="connsiteX2" fmla="*/ 4982547 w 4982547"/>
              <a:gd name="connsiteY2" fmla="*/ 4086807 h 4086807"/>
              <a:gd name="connsiteX3" fmla="*/ 0 w 4982547"/>
              <a:gd name="connsiteY3" fmla="*/ 4086807 h 4086807"/>
              <a:gd name="connsiteX0" fmla="*/ 0 w 4982547"/>
              <a:gd name="connsiteY0" fmla="*/ 3905832 h 3905832"/>
              <a:gd name="connsiteX1" fmla="*/ 1616496 w 4982547"/>
              <a:gd name="connsiteY1" fmla="*/ 0 h 3905832"/>
              <a:gd name="connsiteX2" fmla="*/ 4982547 w 4982547"/>
              <a:gd name="connsiteY2" fmla="*/ 3905832 h 3905832"/>
              <a:gd name="connsiteX3" fmla="*/ 0 w 4982547"/>
              <a:gd name="connsiteY3" fmla="*/ 3905832 h 390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2547" h="3905832">
                <a:moveTo>
                  <a:pt x="0" y="3905832"/>
                </a:moveTo>
                <a:lnTo>
                  <a:pt x="1616496" y="0"/>
                </a:lnTo>
                <a:lnTo>
                  <a:pt x="4982547" y="3905832"/>
                </a:lnTo>
                <a:lnTo>
                  <a:pt x="0" y="39058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1311569" y="2830036"/>
            <a:ext cx="5826349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975437" y="5951663"/>
            <a:ext cx="1398939" cy="50409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45033" y="3843453"/>
            <a:ext cx="1980000" cy="1631250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2374376" y="6188025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28821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77078" y="98416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 userDrawn="1"/>
        </p:nvSpPr>
        <p:spPr>
          <a:xfrm>
            <a:off x="877078" y="433385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6064898"/>
            <a:ext cx="9906000" cy="793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508768" y="6206474"/>
            <a:ext cx="1268152" cy="456962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37119" y="635372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98495" y="1946644"/>
            <a:ext cx="1980000" cy="1631250"/>
          </a:xfrm>
          <a:prstGeom prst="rect">
            <a:avLst/>
          </a:prstGeom>
        </p:spPr>
      </p:pic>
      <p:sp>
        <p:nvSpPr>
          <p:cNvPr id="25" name="Title 1"/>
          <p:cNvSpPr>
            <a:spLocks noGrp="1"/>
          </p:cNvSpPr>
          <p:nvPr>
            <p:ph type="ctrTitle"/>
          </p:nvPr>
        </p:nvSpPr>
        <p:spPr>
          <a:xfrm>
            <a:off x="877079" y="1366962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>
          <a:xfrm>
            <a:off x="877078" y="272742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451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 userDrawn="1"/>
        </p:nvSpPr>
        <p:spPr bwMode="auto">
          <a:xfrm>
            <a:off x="452500" y="6424420"/>
            <a:ext cx="370198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marL="0" marR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240824" y="6141523"/>
            <a:ext cx="1425691" cy="51372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758458" y="2594219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pic>
        <p:nvPicPr>
          <p:cNvPr id="7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6851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75" y="1380566"/>
            <a:ext cx="8693649" cy="4096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9087" y="2128657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9086" y="348912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240028" y="6068987"/>
            <a:ext cx="1145555" cy="458923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977596" y="624834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8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1394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541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7363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7715" y="1355782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0870" y="379609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714068" y="6069419"/>
            <a:ext cx="992149" cy="397467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31931" y="6236054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9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877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57388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87898" y="6207359"/>
            <a:ext cx="1028748" cy="412129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05596" y="632865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609892" y="712109"/>
            <a:ext cx="4599992" cy="527179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575" y="1358676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575" y="334800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483929" y="583121"/>
            <a:ext cx="4851919" cy="5529773"/>
          </a:xfrm>
          <a:prstGeom prst="rect">
            <a:avLst/>
          </a:prstGeom>
          <a:noFill/>
          <a:ln>
            <a:solidFill>
              <a:srgbClr val="028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69017" y="5212996"/>
            <a:ext cx="4290803" cy="250830"/>
          </a:xfrm>
          <a:prstGeom prst="rect">
            <a:avLst/>
          </a:prstGeom>
        </p:spPr>
      </p:pic>
      <p:pic>
        <p:nvPicPr>
          <p:cNvPr id="11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0" y="-17909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333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6184232"/>
            <a:ext cx="9906000" cy="689548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4124330" y="1397711"/>
            <a:ext cx="4868156" cy="2551112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001676" y="1394537"/>
            <a:ext cx="1908212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4000" b="1" kern="1200" dirty="0" smtClean="0">
                <a:solidFill>
                  <a:srgbClr val="028D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4000" b="1" kern="1200" dirty="0" err="1" smtClean="0">
              <a:solidFill>
                <a:srgbClr val="028D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89557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013791"/>
            <a:ext cx="5933661" cy="69680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 userDrawn="1"/>
        </p:nvSpPr>
        <p:spPr>
          <a:xfrm>
            <a:off x="1302026" y="875383"/>
            <a:ext cx="7729329" cy="2680869"/>
          </a:xfrm>
          <a:custGeom>
            <a:avLst/>
            <a:gdLst>
              <a:gd name="connsiteX0" fmla="*/ 2768600 w 5723467"/>
              <a:gd name="connsiteY0" fmla="*/ 25400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2768600 w 5723467"/>
              <a:gd name="connsiteY4" fmla="*/ 25400 h 4114800"/>
              <a:gd name="connsiteX0" fmla="*/ 1074882 w 5723467"/>
              <a:gd name="connsiteY0" fmla="*/ 77354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1074882 w 5723467"/>
              <a:gd name="connsiteY4" fmla="*/ 77354 h 4114800"/>
              <a:gd name="connsiteX0" fmla="*/ 2010064 w 6658649"/>
              <a:gd name="connsiteY0" fmla="*/ 77354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77354 h 4116724"/>
              <a:gd name="connsiteX0" fmla="*/ 2010064 w 6658649"/>
              <a:gd name="connsiteY0" fmla="*/ 28118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28118 h 4116724"/>
              <a:gd name="connsiteX0" fmla="*/ 2010064 w 6658649"/>
              <a:gd name="connsiteY0" fmla="*/ 0 h 4088606"/>
              <a:gd name="connsiteX1" fmla="*/ 0 w 6658649"/>
              <a:gd name="connsiteY1" fmla="*/ 4088606 h 4088606"/>
              <a:gd name="connsiteX2" fmla="*/ 6650182 w 6658649"/>
              <a:gd name="connsiteY2" fmla="*/ 4086682 h 4088606"/>
              <a:gd name="connsiteX3" fmla="*/ 6658649 w 6658649"/>
              <a:gd name="connsiteY3" fmla="*/ 77390 h 4088606"/>
              <a:gd name="connsiteX4" fmla="*/ 2010064 w 6658649"/>
              <a:gd name="connsiteY4" fmla="*/ 0 h 4088606"/>
              <a:gd name="connsiteX0" fmla="*/ 2010064 w 6650479"/>
              <a:gd name="connsiteY0" fmla="*/ 7016 h 4095622"/>
              <a:gd name="connsiteX1" fmla="*/ 0 w 6650479"/>
              <a:gd name="connsiteY1" fmla="*/ 4095622 h 4095622"/>
              <a:gd name="connsiteX2" fmla="*/ 6650182 w 6650479"/>
              <a:gd name="connsiteY2" fmla="*/ 4093698 h 4095622"/>
              <a:gd name="connsiteX3" fmla="*/ 6637548 w 6650479"/>
              <a:gd name="connsiteY3" fmla="*/ 0 h 4095622"/>
              <a:gd name="connsiteX4" fmla="*/ 2010064 w 6650479"/>
              <a:gd name="connsiteY4" fmla="*/ 7016 h 4095622"/>
              <a:gd name="connsiteX0" fmla="*/ 2010064 w 6650640"/>
              <a:gd name="connsiteY0" fmla="*/ 7016 h 4095622"/>
              <a:gd name="connsiteX1" fmla="*/ 0 w 6650640"/>
              <a:gd name="connsiteY1" fmla="*/ 4095622 h 4095622"/>
              <a:gd name="connsiteX2" fmla="*/ 6650182 w 6650640"/>
              <a:gd name="connsiteY2" fmla="*/ 4093698 h 4095622"/>
              <a:gd name="connsiteX3" fmla="*/ 6644581 w 6650640"/>
              <a:gd name="connsiteY3" fmla="*/ 0 h 4095622"/>
              <a:gd name="connsiteX4" fmla="*/ 2010064 w 6650640"/>
              <a:gd name="connsiteY4" fmla="*/ 7016 h 4095622"/>
              <a:gd name="connsiteX0" fmla="*/ 2018531 w 6650640"/>
              <a:gd name="connsiteY0" fmla="*/ 0 h 4101306"/>
              <a:gd name="connsiteX1" fmla="*/ 0 w 6650640"/>
              <a:gd name="connsiteY1" fmla="*/ 4101306 h 4101306"/>
              <a:gd name="connsiteX2" fmla="*/ 6650182 w 6650640"/>
              <a:gd name="connsiteY2" fmla="*/ 4099382 h 4101306"/>
              <a:gd name="connsiteX3" fmla="*/ 6644581 w 6650640"/>
              <a:gd name="connsiteY3" fmla="*/ 5684 h 4101306"/>
              <a:gd name="connsiteX4" fmla="*/ 2018531 w 6650640"/>
              <a:gd name="connsiteY4" fmla="*/ 0 h 4101306"/>
              <a:gd name="connsiteX0" fmla="*/ 2018531 w 6650527"/>
              <a:gd name="connsiteY0" fmla="*/ 2782 h 4104088"/>
              <a:gd name="connsiteX1" fmla="*/ 0 w 6650527"/>
              <a:gd name="connsiteY1" fmla="*/ 4104088 h 4104088"/>
              <a:gd name="connsiteX2" fmla="*/ 6650182 w 6650527"/>
              <a:gd name="connsiteY2" fmla="*/ 4102164 h 4104088"/>
              <a:gd name="connsiteX3" fmla="*/ 6640348 w 6650527"/>
              <a:gd name="connsiteY3" fmla="*/ 0 h 4104088"/>
              <a:gd name="connsiteX4" fmla="*/ 2018531 w 6650527"/>
              <a:gd name="connsiteY4" fmla="*/ 2782 h 4104088"/>
              <a:gd name="connsiteX0" fmla="*/ 2018531 w 6650865"/>
              <a:gd name="connsiteY0" fmla="*/ 2782 h 4104088"/>
              <a:gd name="connsiteX1" fmla="*/ 0 w 6650865"/>
              <a:gd name="connsiteY1" fmla="*/ 4104088 h 4104088"/>
              <a:gd name="connsiteX2" fmla="*/ 6650182 w 6650865"/>
              <a:gd name="connsiteY2" fmla="*/ 4102164 h 4104088"/>
              <a:gd name="connsiteX3" fmla="*/ 6648815 w 6650865"/>
              <a:gd name="connsiteY3" fmla="*/ 0 h 4104088"/>
              <a:gd name="connsiteX4" fmla="*/ 2018531 w 6650865"/>
              <a:gd name="connsiteY4" fmla="*/ 2782 h 4104088"/>
              <a:gd name="connsiteX0" fmla="*/ 2018531 w 6650865"/>
              <a:gd name="connsiteY0" fmla="*/ 2782 h 4106397"/>
              <a:gd name="connsiteX1" fmla="*/ 0 w 6650865"/>
              <a:gd name="connsiteY1" fmla="*/ 4104088 h 4106397"/>
              <a:gd name="connsiteX2" fmla="*/ 6650182 w 6650865"/>
              <a:gd name="connsiteY2" fmla="*/ 4106397 h 4106397"/>
              <a:gd name="connsiteX3" fmla="*/ 6648815 w 6650865"/>
              <a:gd name="connsiteY3" fmla="*/ 0 h 4106397"/>
              <a:gd name="connsiteX4" fmla="*/ 2018531 w 6650865"/>
              <a:gd name="connsiteY4" fmla="*/ 2782 h 410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0865" h="4106397">
                <a:moveTo>
                  <a:pt x="2018531" y="2782"/>
                </a:moveTo>
                <a:lnTo>
                  <a:pt x="0" y="4104088"/>
                </a:lnTo>
                <a:lnTo>
                  <a:pt x="6650182" y="4106397"/>
                </a:lnTo>
                <a:cubicBezTo>
                  <a:pt x="6653004" y="2734797"/>
                  <a:pt x="6645993" y="1371600"/>
                  <a:pt x="6648815" y="0"/>
                </a:cubicBezTo>
                <a:lnTo>
                  <a:pt x="2018531" y="27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3267601" y="2007160"/>
            <a:ext cx="5246462" cy="2934407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794652" y="1183007"/>
            <a:ext cx="2056502" cy="3186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3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3200" b="1" kern="1200" dirty="0" err="1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33380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326571"/>
            <a:ext cx="9906000" cy="776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974" y="443062"/>
            <a:ext cx="9241467" cy="597399"/>
          </a:xfrm>
        </p:spPr>
        <p:txBody>
          <a:bodyPr>
            <a:normAutofit/>
          </a:bodyPr>
          <a:lstStyle>
            <a:lvl1pPr>
              <a:defRPr sz="2000" b="1">
                <a:solidFill>
                  <a:srgbClr val="028DEA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" y="1237492"/>
            <a:ext cx="9182554" cy="84961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7153947" y="76376"/>
            <a:ext cx="2646530" cy="268872"/>
          </a:xfrm>
        </p:spPr>
        <p:txBody>
          <a:bodyPr>
            <a:noAutofit/>
          </a:bodyPr>
          <a:lstStyle>
            <a:lvl1pPr marL="0" indent="0"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4"/>
          </p:nvPr>
        </p:nvSpPr>
        <p:spPr>
          <a:xfrm>
            <a:off x="205740" y="1988449"/>
            <a:ext cx="5087413" cy="1804988"/>
          </a:xfrm>
        </p:spPr>
        <p:txBody>
          <a:bodyPr/>
          <a:lstStyle>
            <a:lvl1pPr marL="185738" indent="-185738">
              <a:buFont typeface="Arial" panose="020B0604020202020204" pitchFamily="34" charset="0"/>
              <a:buChar char="•"/>
              <a:defRPr sz="1400"/>
            </a:lvl1pPr>
            <a:lvl2pPr marL="358775" indent="-173038">
              <a:buFont typeface="Calibri" panose="020F0502020204030204" pitchFamily="34" charset="0"/>
              <a:buChar char="–"/>
              <a:defRPr sz="1200"/>
            </a:lvl2pPr>
            <a:lvl3pPr marL="542925" indent="-184150">
              <a:buFont typeface="Wingdings" panose="05000000000000000000" pitchFamily="2" charset="2"/>
              <a:buChar char="§"/>
              <a:defRPr sz="12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5" name="평행 사변형 4"/>
          <p:cNvSpPr/>
          <p:nvPr userDrawn="1"/>
        </p:nvSpPr>
        <p:spPr>
          <a:xfrm rot="283436">
            <a:off x="1026" y="156930"/>
            <a:ext cx="787112" cy="1013791"/>
          </a:xfrm>
          <a:prstGeom prst="parallelogram">
            <a:avLst>
              <a:gd name="adj" fmla="val 7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 userDrawn="1"/>
        </p:nvSpPr>
        <p:spPr>
          <a:xfrm>
            <a:off x="-19878" y="308113"/>
            <a:ext cx="576469" cy="785191"/>
          </a:xfrm>
          <a:custGeom>
            <a:avLst/>
            <a:gdLst>
              <a:gd name="connsiteX0" fmla="*/ 0 w 576469"/>
              <a:gd name="connsiteY0" fmla="*/ 0 h 785191"/>
              <a:gd name="connsiteX1" fmla="*/ 576469 w 576469"/>
              <a:gd name="connsiteY1" fmla="*/ 0 h 785191"/>
              <a:gd name="connsiteX2" fmla="*/ 19878 w 576469"/>
              <a:gd name="connsiteY2" fmla="*/ 785191 h 785191"/>
              <a:gd name="connsiteX3" fmla="*/ 0 w 576469"/>
              <a:gd name="connsiteY3" fmla="*/ 0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69" h="785191">
                <a:moveTo>
                  <a:pt x="0" y="0"/>
                </a:moveTo>
                <a:lnTo>
                  <a:pt x="576469" y="0"/>
                </a:lnTo>
                <a:lnTo>
                  <a:pt x="19878" y="785191"/>
                </a:lnTo>
                <a:lnTo>
                  <a:pt x="0" y="0"/>
                </a:lnTo>
                <a:close/>
              </a:path>
            </a:pathLst>
          </a:cu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25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1" y="132054"/>
            <a:ext cx="9241467" cy="316414"/>
          </a:xfrm>
        </p:spPr>
        <p:txBody>
          <a:bodyPr>
            <a:normAutofit/>
          </a:bodyPr>
          <a:lstStyle>
            <a:lvl1pPr>
              <a:defRPr sz="1600" b="1">
                <a:solidFill>
                  <a:srgbClr val="009CE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326571" y="76479"/>
            <a:ext cx="9302621" cy="0"/>
          </a:xfrm>
          <a:prstGeom prst="line">
            <a:avLst/>
          </a:prstGeom>
          <a:ln w="3810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334261" y="504042"/>
            <a:ext cx="9302621" cy="0"/>
          </a:xfrm>
          <a:prstGeom prst="line">
            <a:avLst/>
          </a:prstGeom>
          <a:ln w="635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6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idx="1"/>
          </p:nvPr>
        </p:nvSpPr>
        <p:spPr bwMode="auto">
          <a:xfrm>
            <a:off x="272587" y="2057403"/>
            <a:ext cx="9360827" cy="13382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dirty="0" smtClean="0"/>
              <a:t>Text on first level here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840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CB39C-1549-4F20-960B-CD7D0719942E}" type="datetime1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5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6" r:id="rId4"/>
    <p:sldLayoutId id="2147483672" r:id="rId5"/>
    <p:sldLayoutId id="2147483685" r:id="rId6"/>
    <p:sldLayoutId id="2147483677" r:id="rId7"/>
    <p:sldLayoutId id="2147483689" r:id="rId8"/>
    <p:sldLayoutId id="2147483662" r:id="rId9"/>
    <p:sldLayoutId id="2147483691" r:id="rId10"/>
    <p:sldLayoutId id="2147483690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3.png"/><Relationship Id="rId3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3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1044226" y="1455453"/>
            <a:ext cx="5106568" cy="1300342"/>
          </a:xfrm>
        </p:spPr>
        <p:txBody>
          <a:bodyPr/>
          <a:lstStyle/>
          <a:p>
            <a:r>
              <a:rPr lang="en-US" altLang="ko-KR" sz="3600" dirty="0" smtClean="0"/>
              <a:t>SCK E-Test POC</a:t>
            </a:r>
            <a:endParaRPr lang="ko-KR" altLang="en-US" sz="3600" dirty="0"/>
          </a:p>
          <a:p>
            <a:r>
              <a:rPr lang="en-US" altLang="ko-KR" sz="3600" dirty="0" smtClean="0"/>
              <a:t>사용자 메뉴얼 (1차 시안)</a:t>
            </a:r>
            <a:endParaRPr lang="ko-KR" altLang="en-US" sz="3600" dirty="0"/>
          </a:p>
        </p:txBody>
      </p:sp>
      <p:sp>
        <p:nvSpPr>
          <p:cNvPr id="6" name="부제목 1"/>
          <p:cNvSpPr txBox="1">
            <a:spLocks/>
          </p:cNvSpPr>
          <p:nvPr/>
        </p:nvSpPr>
        <p:spPr>
          <a:xfrm>
            <a:off x="1044226" y="4569843"/>
            <a:ext cx="3723902" cy="3469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dirty="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2026.10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27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화면 구성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 smtClean="0">
                <a:latin typeface="+mn-ea"/>
              </a:rPr>
              <a:t>- 현재 메뉴에 보이는 화면 21개 (POC 10, DMS Analysis 4, TEST Analysis 7)</a:t>
            </a:r>
            <a:endParaRPr kumimoji="1" lang="ko-KR" altLang="ko-KR" sz="1400" dirty="0">
              <a:latin typeface="+mn-ea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000" y="831600"/>
          <a:ext cx="9226800" cy="56483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000"/>
                <a:gridCol w="2736000"/>
                <a:gridCol w="4150800"/>
                <a:gridCol w="1152000"/>
              </a:tblGrid>
              <a:tr h="25674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메뉴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화면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</a:tr>
              <a:tr h="256745">
                <a:tc rowSpan="10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POC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GDS Map Setup (GDS Map 설정)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GDS 파일에서 고른 Layer 를 Device 별 Map 으로 DB 에 등록함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등록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GDS Map View (GDS Map 조회)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DB 에 저장된 GDS Map 을 조회하고 Chain 을 설정, 저장함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설정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File Map Setup (파일 Map Setup)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KLARF 파일을 기준으로 원형 Wafer Map 을 만들어 저장함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등록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Wafer Map View (Wafer Map 조회)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저장된 Wafer Map 의 형상과 저장값을 확인함(조회 전용)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E-Test Para Register (E-Test Para 등록)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E-Test 결과 파일 헤더를 Parameter 로 등록함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등록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E-Test Para Setup (E-Test Para 설정)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등록된 Parameter 의 GDS Chain, Spec, 사용 여부를 설정함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설정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KLARF File Upload (KLARF File 업로드)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KLARF 파일과 Defect 이미지를 DMS DB 에 저장함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등록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E-Test Result Upload (E-Test 결과 업로드)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E-Test 결과 파일(xlsx) 1개를 분석해 DB 에 저장함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등록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E-Test Result View (E-Test 결과 조회)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저장된 E-Test 결과 파일을 조회하고 삭제함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삭제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GDS-KLARF Analysis (GDS-KLARF 연관 분석)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KLARF Defect 와 GDS Chain 영역의 연관을 Die 별로 분석함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rowSpan="4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DMS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Defect Map Viewer (Defect 맵 조회)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선택 Wafer 의 Defect 위치를 Wafer Map 에 표시함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Chart Analysis (Chart 분석)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선택 Wafer 의 Defect 를 기준 항목별 차트로 집계함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Defect Map Gallery (Defect 맵 갤러리)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여러 Wafer 의 Defect Map 을 한 화면에 나열해 비교함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Defect Image Gallery (Defect 이미지 갤러리)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선택 Wafer 의 Defect 이미지를 Class 별로 모아 보여 줌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rowSpan="7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</a:rPr>
                        <a:t>TEST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TEST Map View (TEST 맵 분석)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Wafer 1장의 Bin 맵과 측정값 맵을 분석함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Bin Map Gallery (Probe 맵 갤러리)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여러 Wafer 의 Bin 맵을 바둑판으로 놓고 비교함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Test Map Gallery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여러 Wafer 의 측정 항목 값 맵을 나란히 비교함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Wafer Cum Report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여러 Wafer 의 Bin 발생 위치를 누적 맵으로 표시함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Wafer Bin Report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Wafer / Lot 별 Bin 구성과 수율을 차트로 비교함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Yield Report (수율 리포트)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Wafer / Lot / 일자별 수율 추이를 차트로 봄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6745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</a:rPr>
                        <a:t>Param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Wafer 1장의 측정 항목 통계와 Die 순 추이를 봄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</a:rPr>
                        <a:t>조회 / 분석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5400" dirty="0" smtClean="0">
                <a:solidFill>
                  <a:schemeClr val="tx1"/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bg2">
                    <a:lumMod val="90000"/>
                  </a:schemeClr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GDS Map Setup (GDS Map 설정)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GDS Map 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등록할 GDS(.gds) 파일 준비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GDS 도면을 Layer 색으로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휠 확대 / 축소, 드래그 이동, 좌표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Layer 별 도형 수, 선택 합계 확인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[Grid] 탭에서 원본 도형 상세 확인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Layer 만 Device Map 으로 DB 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Device 재등록 시 기존 Map, Chain 삭제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[저장 중지]로 진행 중 저장 멈춤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Load from File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GDS 파일 선택 후 도면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을 저장할 Device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Layer 도형만 DB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 중지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진행 중 저장 멈춤(다시 등록 필요)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Layer (도형 수)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Layer 별 도형 수, 더블클릭으로 체크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 체크 / 전체 미체크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모든 Layer 체크 켜기 / 끄기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원점 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도면 원점(0, 0) 십자선 켜고 끔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GDS 파일에서 고른 Layer 를 Device 별 Map 으로 DB 에 등록함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1_gds_map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48236" y="1408012"/>
            <a:ext cx="407737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4636" y="13144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49749" y="1423575"/>
            <a:ext cx="638062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6149" y="13299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1049" y="1408012"/>
            <a:ext cx="473100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7449" y="13144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1036" y="1408012"/>
            <a:ext cx="473100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47436" y="13144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1886" y="1874887"/>
            <a:ext cx="1248112" cy="2819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48286" y="17812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51224" y="1520062"/>
            <a:ext cx="463762" cy="1898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57624" y="14264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0261" y="1423575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06661" y="13299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[Load from File]로 GDS 파일 열기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저장할 Layer 더블클릭해 체크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Device 칸에 이름 입력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[DB 저장] 후 확인 창 [예]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완료 창에서 도형 건수 확인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GDS Map View (GDS Map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GDS Map 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GDS Map Setup 에서 [DB 저장] 완료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Layer 만 DB 에서 받아 도면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Front / Back side 보기 전환(좌우 반전)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저장된 Chain 을 색 외곽선으로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 툴팁으로 Map 정보 확인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새 Chain 에 Input 지정 후 경로 찾기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 추가 / 제외, 유사 묶음 일괄 제외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DB 저장, Map 복사 / 삭제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조회할 Device, 툴팁에 Map 정보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원본 / 좌우 반전 전환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Input 지정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시작 도형을 지도에서 지정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후보 경로 찾기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 Layer 에서 연결 도형 탐색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경로 추가 / 경로 제외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지도 클릭으로 도형 더하기 / 빼기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Chain 저장(DB)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바뀐 Chain 만 DB 반영(삭제 포함)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복사 / Map ▾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Device 로 복사, 원점 표시,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DB 에 저장된 GDS Map 을 조회하고 Chain 을 설정,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2_gds_map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29561" y="1401787"/>
            <a:ext cx="5820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5961" y="13081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674" y="1401787"/>
            <a:ext cx="560250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74" y="13081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3261" y="1495162"/>
            <a:ext cx="2365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661" y="14015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53574" y="1495162"/>
            <a:ext cx="320587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9974" y="14015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39974" y="1495162"/>
            <a:ext cx="44820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46374" y="14015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7236" y="1650787"/>
            <a:ext cx="357937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83636" y="15571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2699" y="1392450"/>
            <a:ext cx="5602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9099" y="12988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Device 선택 후 [조회]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[새 Chain] 후 [Input 지정]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도형 클릭 후 [선택 적용]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[후보 경로 찾기] 후 결과 보정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[Chain 저장(DB)]로 반영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File Map Setup (파일 Map Setup)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File Map 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기준이 될 KLARF 파일 준비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KLARF 기준 원형 Wafer Map 미리보기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Net Die, 생성 Die, 검사 Die 개수 확인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마우스 위치 Die 번호, 좌표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[Die 번호] 체크로 Map 위 번호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크기, Edge, XY 방향 설정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원점, Die Pitch, Flat Zone 설정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새 Map ID 로 저장(같은 ID 덮어쓰기)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새 Map ID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저장할 ID, 초기값은 KLARF Device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 크기 / Edge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지름(mm), 가장자리 제외 폭(µm)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XY 방향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번호 시작 모서리(기본 LeftTop)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Flat Zone 위치 / 형태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Notch, Flat 위치와 종류(파일값)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원점 / Die Pitch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중심, Die 간격(µm, 파일값)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그리기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바꾼 설정으로 원형 Map 다시 만듦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Map ID 로 저장(같은 ID 덮어쓰기)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파일을 기준으로 원형 Wafer Map 을 만들어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3_file_map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45124" y="1572975"/>
            <a:ext cx="89017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1524" y="14793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124" y="1946475"/>
            <a:ext cx="890175" cy="2801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1524" y="18528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436" y="2139450"/>
            <a:ext cx="4388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2836" y="20458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124" y="2338650"/>
            <a:ext cx="89017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1524" y="22450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124" y="2749500"/>
            <a:ext cx="9213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1524" y="26559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124" y="3085650"/>
            <a:ext cx="547800" cy="1307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1524" y="29920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124" y="4262175"/>
            <a:ext cx="890175" cy="1307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1524" y="41685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[파일 선택]으로 KLARF 열기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왼쪽 설정값 확인 / 수정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값 변경 시 [다시 그리기]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새 Map ID 확인 후 [Map 저장]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확인 창 요약 보고 [예]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Wafer Map View (Wafer Map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Wafer Map 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File Map Setup 에서 [Map 저장] 완료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 Map 목록과 Net Die, XY 방향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Map 형상, 사용 / 제거 Die 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[Map 정보] 탭의 크기, Edge, 원점 값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마우스 위치 Die 번호, USECODE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없음 (조회 전용)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목록 다시 읽기, 보던 Map 다시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번호 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XY 방향 기준 Die 번호 켜고 끔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 (Map ID)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행 클릭 시 그 Map 을 읽어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 / Net Die / XY 방향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크기, 사용 Die 수, 번호 방향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정보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크기, Edge, 원점 등 저장값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사용(1) / 제거(-1) / 기타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상태별 Die 개수(Map 위 줄)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X/Y / USECODE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마우스 위치 Die 번호, 상태, 좌표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저장된 Wafer Map 의 형상과 저장값을 확인함(조회 전용)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4_wafer_map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45124" y="1411125"/>
            <a:ext cx="36105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1524" y="13175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2124" y="1417350"/>
            <a:ext cx="48555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8524" y="13237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899" y="1541850"/>
            <a:ext cx="594487" cy="1369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299" y="14482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711" y="1541850"/>
            <a:ext cx="765675" cy="1369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1111" y="14482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89774" y="1548075"/>
            <a:ext cx="2178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96174" y="14544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77274" y="1541850"/>
            <a:ext cx="3124950" cy="1307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83674" y="14482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999" y="4501837"/>
            <a:ext cx="1291687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0399" y="44082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화면을 열면 Map 목록 표시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2240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26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왼쪽 목록에서 Map 행 클릭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6306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7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Map 과 [Map 정보] 탭 확인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021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07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새로 저장한 Map 은 [조회]로 갱신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E-Test Para Register (E-Test Para 등록)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E-Test Para Register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E-Test 결과 파일(xlsx) 준비, Device / 공정은 파일명에서 읽음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헤더별 등록 상태(신규 / 등록됨 / 오류)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헤더에서 나눈 측정, 조건, Chain, Leg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등록된 헤더의 GDS Chain, Spec 참고값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표시 행 수, 체크 수(상태 줄)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신규 헤더를 Parameter 로 등록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신규 행만 체크해 등록 가능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Parameter (헤더 원문)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결과 파일 헤더 글자 그대로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 이름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규칙대로 바꿔 저장하는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Chain 1 / Chain 2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헤더에서 읽은 Chain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Chain / Spec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등록됨 행의 현재 설정값(참고)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오류, 이름 충돌, 단위 다름 사유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선택 행 목록에서 삭제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우클릭, 화면 목록에서만 뺌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E-Test 결과 파일 헤더를 Parameter 로 등록함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5_et_para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09686" y="1619662"/>
            <a:ext cx="23655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6086" y="15260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27561" y="1619662"/>
            <a:ext cx="9524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3961" y="15260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61311" y="1619662"/>
            <a:ext cx="8279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7711" y="15260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7561" y="1619662"/>
            <a:ext cx="10022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23961" y="15260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5536" y="1619662"/>
            <a:ext cx="79680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61936" y="15260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3661" y="1619662"/>
            <a:ext cx="706537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40061" y="15260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6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[결과 파일 열기...]로 xlsx 선택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2240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26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측정, Chain 종류 콤보로 거르기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36306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17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[신규 전체 선택] 또는 체크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5021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07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[저장] 후 확인 창에서 확인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E-Test Para Setup (E-Test Para 설정)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E-Test Para 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E-Test Para Register 에서 Parameter 등록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Device, 공정별 등록 Parameter 목록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열 값별 필터(값 옆 건수 표시)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이름 GDS Device 의 Setup Chain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별 사용 수(쓰는 Parameter 수)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Parameter 별 GDS Chain 이름 입력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Lower / Upper / Enable Spec 입력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여부, 비고 수정 후 [저장]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Chain (Chain 1)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1 에 맞는 GDS Chain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Lower / Upper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판정 Spec 하한 / 상한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Enable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켜면 Spec 판정에 사용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끄면 결과 업로드 때 값 저장 안 함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메모 입력(200자 이내)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Setup Chain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더블클릭 또는 Ctrl+C 로 이름 복사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해제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필터 콤보를 모두 (전체)로 되돌림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등록된 Parameter 의 GDS Chain, Spec, 사용 여부를 설정함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6_et_para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3965361" y="1613437"/>
            <a:ext cx="51667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871761" y="15198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3361" y="1613437"/>
            <a:ext cx="4544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69761" y="15198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3461" y="1526287"/>
            <a:ext cx="4419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99861" y="14326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5724" y="1526287"/>
            <a:ext cx="398400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92124" y="14326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4736" y="1613437"/>
            <a:ext cx="121387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61136" y="15198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2149" y="1787737"/>
            <a:ext cx="8279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38549" y="16941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44774" y="1516950"/>
            <a:ext cx="2676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51174" y="14233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Device, 공정 콤보 선택(바로 조회)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필터 콤보로 대상 행 거르기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오른쪽 Chain 더블클릭(이름 복사)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GDS Chain 붙여넣기, Spec 입력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[저장] 후 다시 판정 여부 선택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KLARF File Upload (KLARF File 업로드)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KLARF File Upload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File Map Setup 에 Product 와 같은 Map ID 등록, 이미지 폴더 준비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Device, Step, Defect 수 요약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별 Defect, 검사 Die, 이미지 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Wafer 의 Map, Defect 목록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별 저장 결과(상태, 메시지)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KLARF Defect, 이미지를 DB 에 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 / Step ID / 설비 값 수정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등록된 Wafer 덮어쓰기 또는 건너뛰기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KLARF 파일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고르면 바로 읽어 미리보기(저장 안 함)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이미지 폴더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KLARF 가 참조하는 이미지 폴더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Product / Step ID / 설비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저장할 값(기본은 파일 값)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이미지(찾음/참조)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폴더에서 찾은 수 / 참조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 전 읽음(미저장), 저장 뒤 결과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분류명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번호의 KLARF 분류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서버 확인, 이미지 전송, DB 저장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파일과 Defect 이미지를 DMS DB 에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7_klarf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70024" y="1460925"/>
            <a:ext cx="280125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6424" y="13673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024" y="1560525"/>
            <a:ext cx="280125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6424" y="14669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024" y="1734825"/>
            <a:ext cx="2651850" cy="10271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6424" y="16412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386" y="2005612"/>
            <a:ext cx="4201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76786" y="19120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71899" y="2005612"/>
            <a:ext cx="2676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8299" y="19120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19474" y="2681025"/>
            <a:ext cx="2396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5874" y="25874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16899" y="1411125"/>
            <a:ext cx="454425" cy="4482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23299" y="13175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[파일 선택]으로 KLARF 선택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[폴더 선택]으로 이미지 폴더 지정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요약, Wafer 목록, Map 확인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저장 값 확인 후 [DB 저장]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Defect 조회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E-Test Result Upload (E-Test 결과 업로드)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55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E-Test Result Upload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Para 등록(사용 Y), Spec 입력, 파일명 Device 의 Map 생성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분석 상태와 사유(누락, 단위 다름 등)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별 판정, Fail 수, Map 좌표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고른 Die 의 Parameter 값, Spec, 판정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 Parameter(사용 Y) 값만 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정보 표의 Device, 공정, Lot 값 수정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Wafer, 공정 파일 덮어쓰기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준비, 경고, 중복일 때만 저장 가능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누락, 단위 다름, Map 밖 Die 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읽기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Para, Spec, Map 수정 뒤 재분석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결과 정보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옅은 파란 칸 더블클릭으로 수정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1단계: Die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별 판정, Fail 수, '-'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2단계: 정의 Para 값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고른 Die 의 값, Spec, 판정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(X,Y)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기준 좌표, '밖' = Map 밖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E-Test 결과 파일(xlsx) 1개를 분석해 DB 에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8_et_result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38899" y="1498275"/>
            <a:ext cx="2178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299" y="14046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0549" y="1498275"/>
            <a:ext cx="5714550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6949" y="14046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5699" y="1404900"/>
            <a:ext cx="2676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2099" y="13113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999" y="1579200"/>
            <a:ext cx="1525125" cy="304091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399" y="14856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2899" y="1579200"/>
            <a:ext cx="44571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39299" y="14856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45349" y="3446700"/>
            <a:ext cx="557137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51749" y="33531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311" y="1647675"/>
            <a:ext cx="252112" cy="1245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65711" y="15540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[파일 열기...]로 xlsx 선택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상태, 메시지 확인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틀린 정보 값은 더블클릭 수정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[저장] 후 저장 수 확인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E-Test Result View 에서 확인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E-Test Result View (E-Test 결과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E-Test Result 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E-Test Result Upload 에서 파일 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Device, 공정, Lot 별 저장 파일 목록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파일별 Spec Pass / Fail Die 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추가 Para, Spec 바뀜, Map, YMS 상태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고른 파일의 Die 판정, Para 값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고른 파일 삭제(Die, 값, YMS 반영 포함)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Fail Die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Fail Die 수, 있으면 빨간 글자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 뒤 등록된 Para 수(노란 칸)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바뀜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판정 뒤 Spec 이 바뀌면 Y(주황)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좌표 계산에 쓴 Map, 없으면 '없음'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YMS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YMS 반영 상태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Lower / Upper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현재 Spec(판정은 저장 당시 기준)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선택 파일 삭제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파일, Die, 값, YMS 데이터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저장된 E-Test 결과 파일을 조회하고 삭제함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9_et_result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2181899" y="1498275"/>
            <a:ext cx="3454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88299" y="14046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0886" y="1498275"/>
            <a:ext cx="28012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07286" y="14046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2336" y="1498275"/>
            <a:ext cx="2894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68736" y="14046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3124" y="1498275"/>
            <a:ext cx="1898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39524" y="14046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6349" y="1498275"/>
            <a:ext cx="1960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92749" y="14046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5999" y="3857550"/>
            <a:ext cx="423300" cy="1245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2399" y="37639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2149" y="1404900"/>
            <a:ext cx="36105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48549" y="13113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Device 선택(바로 조회)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공정, Lot 입력 후 [조회]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파일 목록에서 파일 1개 선택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아래 Die, Para 값 확인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필요하면 [선택 파일 삭제]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GDS-KLARF Analysis (GDS-KLARF 연관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GDS-KLARF Analysis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KLARF 업로드, 같은 이름 GDS Map(Chain 저장), 왼쪽 DMSearch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별 Chain 영역 Defect 수(Map 색)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별 Defect 수, Fail 률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허용오차 단계별 Chain 영역 Defect 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E-Test Fail Chain 과 가까운 Defect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없음 (조회 전용)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Chain 면 / 검사 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GDS Chain 면, Step 별 검사 면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영역 선택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크기 + 허용오차 또는 중심 사각형(µm)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좌표 보정 X / 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좌표 이동 보정값(µm)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조건으로 연관 분석 실행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 기준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이 값 미만 Die 는 연회색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 찾기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자동으로 못 찾은 Step, E-Test 추가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더블클릭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Detail Analysis(상세 화면) 열기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Defect 와 GDS Chain 영역의 연관을 Die 별로 분석함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0_gds_klarf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233036" y="2765062"/>
            <a:ext cx="1680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39436" y="26714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0786" y="1526287"/>
            <a:ext cx="16465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87186" y="14326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761" y="1520062"/>
            <a:ext cx="61627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161" y="14264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5374" y="1404900"/>
            <a:ext cx="379725" cy="2116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91774" y="13113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5061" y="1638337"/>
            <a:ext cx="373500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91461" y="15447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52774" y="1625887"/>
            <a:ext cx="2583375" cy="29350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59174" y="15322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DMSearch 에서 Wafer 1장 [Search]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[준비] 탭 Step, 면, E-Test 선택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Defect 영역, 좌표 보정 입력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[분석] 후 Map 색, 결과 탭 확인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Die 더블클릭으로 상세 보기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tx1"/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DMSearch (왼쪽 Wafer 조회 창)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화면을 열면 왼쪽에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화면을 열면 왼쪽에 자동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기간, 조건에 맞는 Wafer 검사 목록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x Step 별 Defect 수 표(StepSummary)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조건 항목별 묶음 트리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조건 줄 항목 구성(Search Config)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 형태(StepSummary / WaferList)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 칸 값 종류(Value Type)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 / To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검사 기간(기본 최근 7일)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Use Date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기간 무시, Lot / Wafer 조건 필수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Dynamic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항목별 조건 표(여러 값은 쉼표, * ?)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 아이콘(표 모양)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조건으로 Wafer 검사 목록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StepSummary / WaferList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결과 표 형태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Value Type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칸 값(Defect 수 / 불량 Die 수)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고른 Wafer 를 앞 화면에 그림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조건으로 Wafer 검사를 찾아 열린 DMS 화면에 보냄(4개 화면 공통)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p_dm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1198800"/>
            <a:ext cx="1881630" cy="51912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59551" y="1327744"/>
            <a:ext cx="778440" cy="27221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951" y="123414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7992" y="1494894"/>
            <a:ext cx="49667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4392" y="140129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8654" y="1719352"/>
            <a:ext cx="1690601" cy="8405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5054" y="162575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1050" y="2034549"/>
            <a:ext cx="181477" cy="51577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37450" y="19409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09627" y="3290562"/>
            <a:ext cx="940815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16027" y="31969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2450" y="6218074"/>
            <a:ext cx="859627" cy="16237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68850" y="6124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19630" y="1198800"/>
            <a:ext cx="3698369" cy="270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 eaLnBrk="0" latinLnBrk="0"/>
            <a:r>
              <a:rPr sz="1100" b="1">
                <a:solidFill>
                  <a:srgbClr val="FFFFFF"/>
                </a:solidFill>
              </a:rPr>
              <a:t>사용 순서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19630" y="1576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01   </a:t>
            </a:r>
            <a:r>
              <a:rPr sz="1100" b="0">
                <a:solidFill>
                  <a:srgbClr val="000000"/>
                </a:solidFill>
              </a:rPr>
              <a:t>From / To 기간 지정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9630" y="2152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02   </a:t>
            </a:r>
            <a:r>
              <a:rPr sz="1100" b="0">
                <a:solidFill>
                  <a:srgbClr val="000000"/>
                </a:solidFill>
              </a:rPr>
              <a:t>조건 값 입력 후 조회 아이콘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19630" y="2728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03   </a:t>
            </a:r>
            <a:r>
              <a:rPr sz="1100" b="0">
                <a:solidFill>
                  <a:srgbClr val="000000"/>
                </a:solidFill>
              </a:rPr>
              <a:t>결과 표에서 Wafer 칸 선택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19630" y="3304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04   </a:t>
            </a:r>
            <a:r>
              <a:rPr sz="1100" b="0">
                <a:solidFill>
                  <a:srgbClr val="000000"/>
                </a:solidFill>
              </a:rPr>
              <a:t>[Search]로 앞 화면에 그림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Defect Map Viewer (Defect 맵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Map Viewer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DMSearch 에서 Wafer 선택 후 [Search]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위 Defect 위치, Class 별 색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분포 차트(Class, Size 등)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Defect 이미지, 좌표, 크기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정보, 선택 Defect 상세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Count Color 구간, 색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 별 표시 색(Defect Color 탭)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차트 기준(X-Axis), 모양(Chart Type)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Select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드래그로 Defect 선택(우클릭, 기본)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 기준, 바꾸면 바로 다시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막대 클릭으로 Map Defect 걸러 보기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Count Color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 후 [Redraw], Die 별 수 구간 색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ImageList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Defect 이미지와 좌표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Raw Data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Defect ID, 좌표, 크기 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Information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정보, 선택 Defect 상세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 의 Defect 위치를 Wafer Map 에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1_defect_map_vie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15786" y="2235937"/>
            <a:ext cx="155625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22186" y="21423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5986" y="2142562"/>
            <a:ext cx="1680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72386" y="20489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1549" y="1470262"/>
            <a:ext cx="4793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87949" y="13766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20811" y="4613887"/>
            <a:ext cx="2178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27211" y="45202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9349" y="4613887"/>
            <a:ext cx="21165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35749" y="45202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4774" y="4613887"/>
            <a:ext cx="2334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41174" y="45202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DMSearch 에서 Wafer 조회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결과 표 칸 선택 후 [Search]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오른쪽 ImageList 탭을 먼저 엶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Map 을 드래그해 Defect 선택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이미지, Raw Data 로 상세 확인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Chart Analysis (Chart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Chart Analysis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DMSearch 에서 Wafer 선택 후 [Search]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Step, Wafer, Class 등 기준별 차트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수, 밀도, 불량 Die 수와 비율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검사 요약(Lot, Wafer, 검사 수 등)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X-Axis, Y-Axis 항목과 Chart Type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Size 구간 범위, 구간 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Type 필터(New, Random 등)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 Type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Bar / Line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묶음 기준(기본 Defect Class)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집계 값(Defect Count 등)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아이콘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Size 구간, Defect Type 고르기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Normalize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비율로 보기(X-Axis 가 Class 일 때)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Label / X Insp. Time / X Value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X축 정렬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바꾼 옵션으로 차트 다시 그림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 의 Defect 를 기준 항목별 차트로 집계함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2_chart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65224" y="1445362"/>
            <a:ext cx="3641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1624" y="13517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5224" y="1529400"/>
            <a:ext cx="27701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1624" y="14358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5224" y="1616550"/>
            <a:ext cx="27701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71624" y="15229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2236" y="1529400"/>
            <a:ext cx="87150" cy="1680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48636" y="14358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886" y="1616550"/>
            <a:ext cx="277012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58286" y="15229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7574" y="1457812"/>
            <a:ext cx="317475" cy="2147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53974" y="13642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1399" y="1445362"/>
            <a:ext cx="342375" cy="1711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7799" y="13517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DMSearch 에서 Wafer 조회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결과 표 칸 선택 후 [Search]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X-Axis, Y-Axis 항목 선택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정렬, 소수 자리 바꾼 뒤 [Redraw]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Information 탭에서 요약 확인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Defect Map Gallery (Defect 맵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Map Gallery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DMSearch 에서 Wafer 선택 후 [Search]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검사별 Defect Map 나란히 비교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Step, Class 기준 행렬 배치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별 Lot, Wafer 등 정보 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화면 Map 가로 / 세로 개수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격자, 이미지 표시 켜고 끄기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묶음 기준(Column / Row)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가로 묶음 기준(Lot ID 등)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세로 묶음 기준(Defect Class 포함)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/ 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화면 Map 가로 / 세로 개수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개수 적용, 다시 배치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Show dies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격자 보이기 / 숨기기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New defects only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새로 생긴 Defect 만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 Mark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이미지 있는 Defect 표시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 의 Defect Map 을 한 화면에 나열해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3_defect_map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49661" y="1398675"/>
            <a:ext cx="6380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6061" y="13050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7724" y="1398675"/>
            <a:ext cx="61005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4124" y="13050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7724" y="1398675"/>
            <a:ext cx="893287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94124" y="13050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0011" y="1395562"/>
            <a:ext cx="1836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36411" y="13019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2324" y="1404900"/>
            <a:ext cx="2801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8724" y="13113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2449" y="1404900"/>
            <a:ext cx="4015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18849" y="13113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961" y="1404900"/>
            <a:ext cx="3019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20361" y="13113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DMSearch 에서 Wafer 조회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결과 표 칸 선택 후 [Search]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Column / Row 묶음 기준 선택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Col / Row 개수 입력 후 [Apply]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Show dies, Image Mark 선택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Defect Image Gallery (Defect 이미지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Image Gallery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DMSearch 에서 Wafer 선택 후 [Search](Include Image 권장)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Class 별 이미지 썸네일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Wafer(Lot:Slot) 별 이미지 비교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큰 이미지 창(더블클릭)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Defect 정보(Information)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화면 이미지 가로 / 세로 개수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 구분 없이 나열(NONE)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썸네일 아래 글 숨김(No Display)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/ 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화면 이미지 가로 / 세로 개수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개수 적용, 다시 배치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열 없이 차례로 나열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 Display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썸네일 아래 글 숨김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Zoom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칸 이동 때 큰 이미지 창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Information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이미지의 Defect 정보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Remove Image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고른 이미지 목록, [Delete]로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 의 Defect 이미지를 Class 별로 모아 보여 줌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4_defect_image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0786" y="1395562"/>
            <a:ext cx="5042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7186" y="13019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1899" y="1392450"/>
            <a:ext cx="1836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88299" y="12988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5536" y="1380000"/>
            <a:ext cx="202312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71936" y="12864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9174" y="1380000"/>
            <a:ext cx="286350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55574" y="12864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6849" y="1380000"/>
            <a:ext cx="196087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23249" y="12864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8036" y="1386225"/>
            <a:ext cx="249000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84436" y="12926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9349" y="1386225"/>
            <a:ext cx="320587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35749" y="12926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DMSearch 에서 Wafer 조회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결과 표 칸 선택 후 [Search]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Col / Row 입력 후 [Apply]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이미지 칸 클릭, Information 확인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더블클릭으로 큰 이미지 보기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bg2">
                    <a:lumMod val="90000"/>
                  </a:schemeClr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tx1"/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TESTSearch (왼쪽 TEST 조회 창)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화면을 열면 왼쪽에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화면을 열면 왼쪽에 자동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기간, 조건에 맞는 Wafer 목록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별 수율, 검사 Die 수, 테스트 시간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 항목 기준 Lot / 제품별 묶음 트리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조건 항목 추가, 삭제, 순서 변경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마지막 조건, 기간 저장 후 다음에 복원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 / To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테스트 종료 시간 기준 기간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Last Test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재측정 Wafer 는 최신 결과만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Use Date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기간 무시, LOT / WAFER ID 필수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 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여러 값은 쉼표, * 와일드카드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 아이콘(공구 모양)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Search Config 창에서 항목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 아이콘(표 모양)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조건에 맞는 Wafer 목록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행(없으면 전체)을 화면에 전달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TEST Wafer 를 조회해 열린 TEST 화면에 보냄(7개 화면 공통)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p_test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1198800"/>
            <a:ext cx="1881630" cy="51912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07308" y="1332519"/>
            <a:ext cx="778440" cy="267439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3708" y="123891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5749" y="1375501"/>
            <a:ext cx="39638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2149" y="128190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749" y="1475791"/>
            <a:ext cx="49667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2149" y="138219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102" y="1590408"/>
            <a:ext cx="1719255" cy="916936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5502" y="1496808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0152" y="1580857"/>
            <a:ext cx="171925" cy="38205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56552" y="148725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0152" y="1934259"/>
            <a:ext cx="171925" cy="56353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56552" y="184065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76777" y="6203747"/>
            <a:ext cx="845300" cy="17670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83177" y="611014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9630" y="1198800"/>
            <a:ext cx="3698369" cy="270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 eaLnBrk="0" latinLnBrk="0"/>
            <a:r>
              <a:rPr sz="1100" b="1">
                <a:solidFill>
                  <a:srgbClr val="FFFFFF"/>
                </a:solidFill>
              </a:rPr>
              <a:t>사용 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19630" y="1576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01   </a:t>
            </a:r>
            <a:r>
              <a:rPr sz="1100" b="0">
                <a:solidFill>
                  <a:srgbClr val="000000"/>
                </a:solidFill>
              </a:rPr>
              <a:t>From / To 기간 입력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19630" y="2152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02   </a:t>
            </a:r>
            <a:r>
              <a:rPr sz="1100" b="0">
                <a:solidFill>
                  <a:srgbClr val="000000"/>
                </a:solidFill>
              </a:rPr>
              <a:t>조건 값 칸에 Lot ID 등 입력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19630" y="2728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03   </a:t>
            </a:r>
            <a:r>
              <a:rPr sz="1100" b="0">
                <a:solidFill>
                  <a:srgbClr val="000000"/>
                </a:solidFill>
              </a:rPr>
              <a:t>조회 아이콘(표 모양)으로 조회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19630" y="3304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04   </a:t>
            </a:r>
            <a:r>
              <a:rPr sz="1100" b="0">
                <a:solidFill>
                  <a:srgbClr val="000000"/>
                </a:solidFill>
              </a:rPr>
              <a:t>목록에서 Wafer 행 선택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19630" y="3880800"/>
            <a:ext cx="3698369" cy="450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 eaLnBrk="0" latinLnBrk="0"/>
            <a:r>
              <a:rPr sz="1200" b="1">
                <a:solidFill>
                  <a:srgbClr val="0070C0"/>
                </a:solidFill>
              </a:rPr>
              <a:t>05   </a:t>
            </a:r>
            <a:r>
              <a:rPr sz="1100" b="0">
                <a:solidFill>
                  <a:srgbClr val="000000"/>
                </a:solidFill>
              </a:rPr>
              <a:t>[Search]로 열린 화면에 전달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TEST Map View (TEST 맵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TEST Map View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TESTSearch 에서 Wafer 1장만 선택 후 [Search]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색 Wafer 맵, Bin 별 수량 / 비율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별 수량 차트(Bin Chart)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 항목 값 구간별 색 맵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별 원시 값(Raw Data)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맵 위 Bin 번호 / Wafer 정보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색 구간 수(Cut Cnt), 볼 구간 선택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규격 판정 기준 선택(Para Limit)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Select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ALL 또는 볼 Bin 체크(수량, %)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Draw (Option)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Bin 만 맵에 다시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/ Wafer Info / Zone Map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번호, 맵 정보, Zone Chart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Test Item 목록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클릭한 항목 값으로 색 구간 맵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Section Filter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Cut Cnt 로 구간 수, 볼 구간 체크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 Limit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규격선으로 판정 색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 Analysis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분포 창(히스토그램 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 1장의 Bin 맵과 측정값 맵을 분석함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5_test_map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15786" y="1448475"/>
            <a:ext cx="974212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22186" y="13548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8286" y="4408462"/>
            <a:ext cx="273900" cy="1431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4686" y="43148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5124" y="4408462"/>
            <a:ext cx="292575" cy="2054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31524" y="43148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8099" y="4613887"/>
            <a:ext cx="19920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4499" y="45202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TESTSearch 에서 Wafer 1장 [Search]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240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6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Bin Select 체크, [Map Draw]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36306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7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Para Item 에서 측정 항목 클릭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5021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07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[Para Analysis]로 분포 확인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Bin Map Gallery (Probe 맵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Bin Map Gallery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TESTSearch 에서 Wafer 여러 장 선택 후 [Search]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별 Bin 색 맵 한 화면 비교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맵별 제품, Program, 수율, Tester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맵 1장 확대 보기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줄 맵 수(Col Cnt 1~9)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더블클릭 동작 선택(Map View Mode)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Cnt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줄에 놓을 맵 수(1~9, 기본 5)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Col Cnt 기준으로 맵 다시 배치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View Mode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 시 더블클릭하면 맵 분석 새 창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&lt;&lt; &lt; &gt; &gt;&gt;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확대 보기 처음 / 이전 / 다음 / 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맵 만들기, 그리기 중단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맵 클릭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표시, Ctrl / Shift 로 여러 장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 의 Bin 맵을 바둑판으로 놓고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6_bin_map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49661" y="1380000"/>
            <a:ext cx="3174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6061" y="12864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8461" y="1380000"/>
            <a:ext cx="1929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54861" y="12864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8686" y="1386225"/>
            <a:ext cx="382837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45086" y="12926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7661" y="1380000"/>
            <a:ext cx="4170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54061" y="12864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149" y="4607662"/>
            <a:ext cx="1618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34549" y="45140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6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TESTSearch 에서 Wafer 선택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2240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26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[Search]로 맵 바둑판 표시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36306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17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Col Cnt 바꾼 뒤 [Redraw]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5021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07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맵 더블클릭해 상세 보기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Test Map Gallery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Test Map Gallery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TESTSearch 에서 측정 데이터가 있는 Wafer 선택 후 [Search]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측정 항목 값 맵 여러 장 비교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규격선 기준 판정 맵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항목 Die 별 값 표(Raw Data)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줄 맵 수(Column Count 1~10)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색 구간 수(Cut Cnt), 값 소수 자리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줄 맵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입력 즉시 항목 거름(*, 쉼표)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 시 전체 항목 목록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Decimal Length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값 소수 자리 수(기본 3)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값으로 맵 다시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Section Filter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Cut Cnt 구간 수, 볼 구간 체크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Limit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규격선 1개로 판정 색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 의 측정 항목 값 맵을 나란히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7_test_map_gall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58999" y="1408012"/>
            <a:ext cx="6785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5399" y="13144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7374" y="1510725"/>
            <a:ext cx="9026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93774" y="14171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99824" y="3692587"/>
            <a:ext cx="2739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06224" y="35989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5574" y="3683250"/>
            <a:ext cx="44197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41974" y="35896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6636" y="3782850"/>
            <a:ext cx="345487" cy="1960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33036" y="36892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93599" y="3972712"/>
            <a:ext cx="283237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99999" y="38791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58161" y="3972712"/>
            <a:ext cx="2427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4561" y="38791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TESTSearch 에서 Wafer 선택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19620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484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[Search]로 맵 표시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744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608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Test Item 목록에서 항목 클릭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41868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32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Spec Limit 탭에서 규격 체크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2992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5600" y="4928400"/>
            <a:ext cx="10044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05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[Para Analysis]로 분포 확인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Wafer Cum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Wafer Cum Report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TESTSearch 에서 Wafer 선택 후 [Search](TSVET 등 지정 TEST AREA 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별 Bin 수량 / 비율 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Bin 위치 누적 맵(Die 별 횟수)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Bin 별 Die 수 막대 차트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누적 횟수 구간별 색(FROM / TO)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 값 비율 / 수량 전환(Rate / Count)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Rate /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칸을 비율(%) / 수량으로 전환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열(노란 칸)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머리글 Bin 이름, 누적 대상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Wafer, Bin 으로 누적 맵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/ Y /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가리킨 Die 좌표, 누적 횟수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Cum Chart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Bin 별 Die 수 막대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Cum Count Color Setup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COLOR 더블클릭 색 변경, 우클릭 초기화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 의 Bin 발생 위치를 누적 맵으로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8_wafer_cum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546511" y="1417350"/>
            <a:ext cx="3735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52911" y="13237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99" y="1504500"/>
            <a:ext cx="5976000" cy="3078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399" y="141090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0474" y="1398675"/>
            <a:ext cx="41085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66874" y="13050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5024" y="2030512"/>
            <a:ext cx="236550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21424" y="193691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6936" y="2033625"/>
            <a:ext cx="18830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13336" y="194002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6936" y="3365775"/>
            <a:ext cx="18830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3336" y="32721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6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TESTSearch 에서 Wafer 선택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2240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26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[Search]로 Bin 표 표시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36306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17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표에서 Wafer 행, Bin 열 선택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5021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07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[Apply]로 누적 맵 그리기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Wafer Bin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Wafer Bin Report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TESTSearch 에서 Wafer 선택 후 [Search](TSVET 등 지정 TEST AREA 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별 Bin 누적 막대, 수율 선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 단위 합산 비교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별 수량 / 비율, 불량 수 / 불량률 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차트 Y축 최대 / 최소 / 간격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별 차트 표시, 값 라벨 켜고 끄기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 Base / Lot Base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가로축 Wafer 단위 / Lot 단위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Rate Mode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값을 비율(%)로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Item Visible (범례)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Bin, YIELD 만 차트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Label Visible (범례)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막대 위 값 글자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Size Reset (우클릭)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확대한 차트 원래 크기로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 Config (우클릭)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Y1 / Y2 축 범위, 간격 설정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 / Lot 별 Bin 구성과 수율을 차트로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9_wafer_bin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74561" y="1401787"/>
            <a:ext cx="53535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0961" y="13081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8086" y="1401787"/>
            <a:ext cx="283237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94486" y="13081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599" y="1498275"/>
            <a:ext cx="239662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48999" y="14046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2599" y="1551187"/>
            <a:ext cx="261450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48999" y="145758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TESTSearch 에서 Wafer 선택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240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6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[Search]로 차트, 표 표시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36306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7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Wafer Base / Lot Base 선택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5021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07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범례에서 볼 Bin 체크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Yield Report (수율 리포트)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931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Yield Report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TESTSearch 에서 Wafer 선택 후 [Search]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별 수율 선 차트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 평균 / 일자 평균 수율 추이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 별 Wafer 수율 분포(점, 상자 그림)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가로축 글자, 점 값 표시 켜고 끄기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50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별 수율(X축 Lot-Wafer)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 별 평균 수율 선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테스트 종료일별 평균 수율 선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Scatter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 별 Wafer 수율 점 분포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Box Plot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 별 수율 상자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Label / Y Label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가로축 글자 / 점 값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ToExcel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표, 차트를 Excel 로 내보냄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 / Lot / 일자별 수율 추이를 차트로 봄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0_yield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3899" y="1597875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90299" y="15042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6674" y="1597875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33074" y="15042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9449" y="1597875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75849" y="15042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3549" y="1597875"/>
            <a:ext cx="233437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99949" y="15042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6986" y="1597875"/>
            <a:ext cx="2365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33386" y="15042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4124" y="1613437"/>
            <a:ext cx="4544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80524" y="15198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8549" y="1591650"/>
            <a:ext cx="261450" cy="1089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4949" y="14980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6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TESTSearch 에서 Wafer 선택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2240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26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[Search]로 차트, 표 표시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6306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7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Wafer / Lot / Day 등 보기 선택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021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07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[ToExcel]로 표, 차트 저장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 b="0">
                <a:latin typeface="맑은 고딕"/>
                <a:ea typeface="맑은 고딕"/>
              </a:rPr>
              <a:t>Param Analysis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/>
          </p:nvPr>
        </p:nvGraphicFramePr>
        <p:xfrm>
          <a:off x="341719" y="830005"/>
          <a:ext cx="9226800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Param Analysis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선행 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왼쪽 TESTSearch 에서 Wafer 1장만 선택 후 [Search]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볼 수 있는 것 (조회)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별 측정 원시 값(Raw)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항목별 최소, 최대, 평균, 표준편차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순서 값 추이, ±3 Sigma, 규격선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 하는 것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차트별 추이선 / Sigma 선 / 규격선 표시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차트 Y축 최대 / 최소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Item 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항목명 거름(*, 쉼표), Enter 적용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 시 전체 항목 목록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Analysis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표, 차트 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Raw / 통계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별 값 / 항목별 통계 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Trend / Sigma / Spec Limit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 보조선 켜고 끄기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COUNT ~ LSL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 옆 개수, 사분위, 합계 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차트 우클릭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이미지 복사, 원복, Y축 범위 설정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dirty="0" smtClean="0" b="1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 1장의 측정 항목 통계와 Die 순 추이를 봄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1_param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9" y="1180800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0786" y="1467150"/>
            <a:ext cx="1123612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7186" y="1373550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4561" y="3337762"/>
            <a:ext cx="2739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80961" y="324416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2886" y="3315975"/>
            <a:ext cx="498000" cy="1089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09286" y="322237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1349" y="1389337"/>
            <a:ext cx="3174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47749" y="129573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999" y="4928400"/>
            <a:ext cx="468000" cy="75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사용</a:t>
            </a:r>
          </a:p>
          <a:p>
            <a:pPr algn="ctr" eaLnBrk="0" latinLnBrk="0"/>
            <a:r>
              <a:rPr sz="1050" b="1">
                <a:solidFill>
                  <a:srgbClr val="FFFFFF"/>
                </a:solidFill>
              </a:rPr>
              <a:t>순서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01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TESTSearch 에서 Wafer 1장 [Search]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240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26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02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Item Search 입력 후 Enter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36306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70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03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항목 여러 개 선택(Ctrl / Shift)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5021100" y="5256000"/>
            <a:ext cx="64800" cy="100800"/>
          </a:xfrm>
          <a:prstGeom prst="triangl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07500" y="4928400"/>
            <a:ext cx="1282500" cy="756000"/>
          </a:xfrm>
          <a:prstGeom prst="rect">
            <a:avLst/>
          </a:prstGeom>
          <a:solidFill>
            <a:srgbClr val="E5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3200" rIns="43200" tIns="18000" bIns="18000"/>
          <a:lstStyle/>
          <a:p>
            <a:pPr algn="l" eaLnBrk="0" latinLnBrk="0"/>
            <a:r>
              <a:rPr sz="1100" b="1">
                <a:solidFill>
                  <a:srgbClr val="0070C0"/>
                </a:solidFill>
              </a:rPr>
              <a:t>04</a:t>
            </a:r>
          </a:p>
          <a:p>
            <a:pPr algn="l" eaLnBrk="0" latinLnBrk="0"/>
            <a:r>
              <a:rPr sz="1000" b="0">
                <a:solidFill>
                  <a:srgbClr val="000000"/>
                </a:solidFill>
              </a:rPr>
              <a:t>[Analysis]로 표, 차트 표시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1460612" y="2852936"/>
            <a:ext cx="1610306" cy="580254"/>
          </a:xfrm>
          <a:prstGeom prst="rect">
            <a:avLst/>
          </a:prstGeom>
        </p:spPr>
      </p:pic>
      <p:sp>
        <p:nvSpPr>
          <p:cNvPr id="8" name="텍스트 개체 틀 22"/>
          <p:cNvSpPr txBox="1">
            <a:spLocks/>
          </p:cNvSpPr>
          <p:nvPr/>
        </p:nvSpPr>
        <p:spPr>
          <a:xfrm>
            <a:off x="6126443" y="3423915"/>
            <a:ext cx="2350003" cy="96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138113" indent="-138113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§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1pPr>
            <a:lvl2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685800" indent="-161925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9366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02060"/>
              </a:buClr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lang="en-US" altLang="ko-KR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sz="7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Copyright ⓒ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2026 </a:t>
            </a:r>
            <a:r>
              <a:rPr sz="700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Miracom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Inc. Co., Ltd. All rights reserved</a:t>
            </a:r>
            <a:endParaRPr sz="7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3154865" y="2955863"/>
            <a:ext cx="0" cy="468052"/>
          </a:xfrm>
          <a:prstGeom prst="line">
            <a:avLst/>
          </a:prstGeom>
          <a:ln w="3175" cap="flat">
            <a:solidFill>
              <a:schemeClr val="tx1">
                <a:lumMod val="40000"/>
                <a:lumOff val="6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09" y="3009387"/>
            <a:ext cx="5291328" cy="4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6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8673</TotalTime>
  <Words>8489</Words>
  <Application>Microsoft Office PowerPoint</Application>
  <PresentationFormat>A4 용지(210x297mm)</PresentationFormat>
  <Paragraphs>1703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85</vt:i4>
      </vt:variant>
    </vt:vector>
  </HeadingPairs>
  <TitlesOfParts>
    <vt:vector size="93" baseType="lpstr">
      <vt:lpstr>굴림</vt:lpstr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DACrux DMS 및 TEST 사용자 메뉴얼</vt:lpstr>
      <vt:lpstr> DACrux Client Install</vt:lpstr>
      <vt:lpstr>PowerPoint 프레젠테이션</vt:lpstr>
      <vt:lpstr>ADMIN</vt:lpstr>
      <vt:lpstr>ADMIN</vt:lpstr>
      <vt:lpstr>ADMIN</vt:lpstr>
      <vt:lpstr>ADMIN</vt:lpstr>
      <vt:lpstr>ADMIN</vt:lpstr>
      <vt:lpstr>ADMIN</vt:lpstr>
      <vt:lpstr>SETUP</vt:lpstr>
      <vt:lpstr>SETUP</vt:lpstr>
      <vt:lpstr>SETUP</vt:lpstr>
      <vt:lpstr>SETUP</vt:lpstr>
      <vt:lpstr>PowerPoint 프레젠테이션</vt:lpstr>
      <vt:lpstr>Main Form</vt:lpstr>
      <vt:lpstr>DM Search (1)</vt:lpstr>
      <vt:lpstr>DM Search (2)</vt:lpstr>
      <vt:lpstr>DM Map Control (1)</vt:lpstr>
      <vt:lpstr>DM Map Control (2)</vt:lpstr>
      <vt:lpstr>Defect Map Viewer (1)</vt:lpstr>
      <vt:lpstr>Defect Map Viewer (2)</vt:lpstr>
      <vt:lpstr>Defect Map Viewer (3)</vt:lpstr>
      <vt:lpstr>Defect Map Viewer (4)</vt:lpstr>
      <vt:lpstr>Defect Map Viewer (5)</vt:lpstr>
      <vt:lpstr>Defect Map Viewer (6)</vt:lpstr>
      <vt:lpstr>Defect Data Link (1)</vt:lpstr>
      <vt:lpstr>Defect Data Link (2)</vt:lpstr>
      <vt:lpstr>Defect Data Link (3)</vt:lpstr>
      <vt:lpstr>Defect Data Link (4)</vt:lpstr>
      <vt:lpstr>Defect Data Link (5)</vt:lpstr>
      <vt:lpstr>Defect Data Link (5)</vt:lpstr>
      <vt:lpstr>Defect Data Link (5)</vt:lpstr>
      <vt:lpstr>Defect Data Link (5)</vt:lpstr>
      <vt:lpstr>Defect Data Link (6)</vt:lpstr>
      <vt:lpstr>Defect Data Link (7)</vt:lpstr>
      <vt:lpstr>Defect Data Link (8)</vt:lpstr>
      <vt:lpstr>Defect Data Link (9)</vt:lpstr>
      <vt:lpstr>Defect Bare Map View</vt:lpstr>
      <vt:lpstr>Defect Source Analysis</vt:lpstr>
      <vt:lpstr>DM Data Maint</vt:lpstr>
      <vt:lpstr>DM Data Maint</vt:lpstr>
      <vt:lpstr>DM Data Maint</vt:lpstr>
      <vt:lpstr>Wafer Matching Analysis</vt:lpstr>
      <vt:lpstr>Wafer Matching Analysis</vt:lpstr>
      <vt:lpstr>Test Map Control</vt:lpstr>
      <vt:lpstr>PowerPoint 프레젠테이션</vt:lpstr>
      <vt:lpstr>TEST Map Viewer</vt:lpstr>
      <vt:lpstr>TEST Map Viewer</vt:lpstr>
      <vt:lpstr>TEST Map Viewer</vt:lpstr>
      <vt:lpstr>TEST Map Viewer</vt:lpstr>
      <vt:lpstr>TEST Map Viewer</vt:lpstr>
      <vt:lpstr>TEST Map Viewer</vt:lpstr>
      <vt:lpstr>Bin Map Gallery</vt:lpstr>
      <vt:lpstr>TEST Map Gallery</vt:lpstr>
      <vt:lpstr>TEST Map Gallery</vt:lpstr>
      <vt:lpstr>Measure Para Data Analysis</vt:lpstr>
      <vt:lpstr>Param Analysis</vt:lpstr>
      <vt:lpstr>Standard Report</vt:lpstr>
      <vt:lpstr>Measure Data Report</vt:lpstr>
      <vt:lpstr>Test Data Maint</vt:lpstr>
      <vt:lpstr>Test Data Maint</vt:lpstr>
      <vt:lpstr>Test Data Maint</vt:lpstr>
      <vt:lpstr>Test Data Maint</vt:lpstr>
      <vt:lpstr>PCM Report</vt:lpstr>
      <vt:lpstr>PCM Equip Status</vt:lpstr>
      <vt:lpstr>Wafer Cum Report</vt:lpstr>
      <vt:lpstr>Wafer Bin Report</vt:lpstr>
      <vt:lpstr>TEST Report</vt:lpstr>
      <vt:lpstr>AVI File Upload</vt:lpstr>
      <vt:lpstr>AVI File Upload</vt:lpstr>
      <vt:lpstr>Map Subtraction</vt:lpstr>
      <vt:lpstr>Map Subtraction</vt:lpstr>
      <vt:lpstr>Map Subtraction</vt:lpstr>
      <vt:lpstr>Map Subtraction</vt:lpstr>
      <vt:lpstr>Map Subtraction</vt:lpstr>
      <vt:lpstr>AVI Cum Map Image</vt:lpstr>
      <vt:lpstr>Map Control</vt:lpstr>
      <vt:lpstr>Map Control</vt:lpstr>
      <vt:lpstr>Map Control Update</vt:lpstr>
      <vt:lpstr>PowerPoint 프레젠테이션</vt:lpstr>
      <vt:lpstr>Commonality Study</vt:lpstr>
      <vt:lpstr>Commonality Study</vt:lpstr>
      <vt:lpstr>Equip Defect Trend</vt:lpstr>
      <vt:lpstr>Prediction Yield Report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SCK E-Test POC 사용자 메뉴얼 (1차 시안)</dc:title>
  <dc:creator/>
  <cp:lastModifiedBy/>
  <cp:revision>1</cp:revision>
  <dcterms:created xsi:type="dcterms:W3CDTF">2014-01-27T23:50:26Z</dcterms:created>
  <dcterms:modified xsi:type="dcterms:W3CDTF">2024-10-17T08:51:44Z</dcterms:modified>
  <dc:subject/>
  <cp:keywords/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