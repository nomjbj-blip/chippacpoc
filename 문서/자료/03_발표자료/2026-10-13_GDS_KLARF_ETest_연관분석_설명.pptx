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27"/>
  </p:notesMasterIdLst>
  <p:handoutMasterIdLst>
    <p:handoutMasterId r:id="rId28"/>
  </p:handoutMasterIdLst>
  <p:sldIdLst>
    <p:sldId id="257" r:id="rIdS1"/>
    <p:sldId id="258" r:id="rIdS2"/>
    <p:sldId id="259" r:id="rIdS3"/>
    <p:sldId id="260" r:id="rIdS4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124" d="100"/>
          <a:sy n="124" d="100"/>
        </p:scale>
        <p:origin x="876" y="76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73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3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3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'26.10.13</a:t>
            </a:r>
            <a:endParaRPr lang="ko-KR" altLang="en-US"/>
          </a:p>
        </p:txBody>
      </p:sp>
      <p:sp>
        <p:nvSpPr>
          <p:cNvPr id="9" name="내용 개체 틀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미라콤 정병주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GDS, KLARF, E-Test 연관 분석 방법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Defect E-Test 분석 시스템 POC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 데이터는 Wafer, Die, Chain 기준으로 연결됨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GDS는 </a:t>
            </a:r>
            <a:r>
              <a:rPr lang="ko-KR" altLang="en-US" dirty="0" b="1"/>
              <a:t>Chain이 지나가는 위치</a:t>
            </a:r>
            <a:r>
              <a:rPr lang="ko-KR" altLang="en-US" dirty="0"/>
              <a:t>, KLARF는 </a:t>
            </a:r>
            <a:r>
              <a:rPr lang="ko-KR" altLang="en-US" dirty="0" b="1"/>
              <a:t>Defect 위치</a:t>
            </a:r>
            <a:r>
              <a:rPr lang="ko-KR" altLang="en-US" dirty="0"/>
              <a:t>, E-Test는 </a:t>
            </a:r>
            <a:r>
              <a:rPr lang="ko-KR" altLang="en-US" dirty="0" b="1"/>
              <a:t>끊긴 Chain</a:t>
            </a:r>
            <a:r>
              <a:rPr lang="ko-KR" altLang="en-US" dirty="0"/>
              <a:t>을 알려줌</a:t>
            </a:r>
            <a:endParaRPr lang="en-US" altLang="ko-KR" dirty="0" smtClean="0"/>
          </a:p>
          <a:p>
            <a:r>
              <a:rPr lang="en-US" altLang="ko-KR" dirty="0" smtClean="0"/>
              <a:t>세 가지를 같은 Wafer, 같은 Die, 같은 Chain으로 맞춰 겹쳐 봄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I. 데이터 연결 구조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bg1"/>
                </a:solidFill>
              </a:rPr>
              <a:t>GDS (칩 도면)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69200"/>
            <a:ext cx="3002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600" y="2041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2"/>
                </a:solidFill>
              </a:rPr>
              <a:t>알려주는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00" y="2257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칩 안에서 Chain(데이지 체인 배선)이</a:t>
            </a:r>
            <a:br/>
            <a:r>
              <a:rPr sz="1200" b="0">
                <a:solidFill>
                  <a:schemeClr val="tx1"/>
                </a:solidFill>
              </a:rPr>
              <a:t>지나가는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" y="2743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2"/>
                </a:solidFill>
              </a:rPr>
              <a:t>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00" y="2959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Input, Output 단자를 지정해</a:t>
            </a:r>
            <a:br/>
            <a:r>
              <a:rPr sz="1200" b="0">
                <a:solidFill>
                  <a:schemeClr val="tx1"/>
                </a:solidFill>
              </a:rPr>
              <a:t>Chain 영역 등록 (디바이스별 1회)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00" y="3445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2"/>
                </a:solidFill>
              </a:rPr>
              <a:t>기준면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" y="3661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원본은 FS, 분석에서는 </a:t>
            </a:r>
            <a:r>
              <a:rPr sz="1200" b="1">
                <a:solidFill>
                  <a:schemeClr val="tx1"/>
                </a:solidFill>
              </a:rPr>
              <a:t>BS로 뒤집어</a:t>
            </a:r>
            <a:r>
              <a:rPr sz="1200" b="0">
                <a:solidFill>
                  <a:schemeClr val="tx1"/>
                </a:solidFill>
              </a:rPr>
              <a:t>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bg1"/>
                </a:solidFill>
              </a:rPr>
              <a:t>KLARF (AOI 결과)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2400" y="1969200"/>
            <a:ext cx="3002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4399" y="2041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알려주는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4399" y="2257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Defect가 있는 Die, Die 안 위치,</a:t>
            </a:r>
            <a:br/>
            <a:r>
              <a:rPr sz="1200" b="0">
                <a:solidFill>
                  <a:schemeClr val="tx1"/>
                </a:solidFill>
              </a:rPr>
              <a:t>분류, 이미지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4399" y="2743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4399" y="2959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AOI Step별 파일을 엔지니어가 업로드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399" y="3445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기준면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4399" y="3661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SiN, RDL, C4 Bump, G2DB는 BS</a:t>
            </a:r>
            <a:br/>
            <a:r>
              <a:rPr sz="1200" b="0">
                <a:solidFill>
                  <a:schemeClr val="tx1"/>
                </a:solidFill>
              </a:rPr>
              <a:t>TBDB, uPAD는 FS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bg1"/>
                </a:solidFill>
              </a:rPr>
              <a:t>E-Test (전기 측정)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3199" y="1969200"/>
            <a:ext cx="30024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5199" y="2041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4"/>
                </a:solidFill>
              </a:rPr>
              <a:t>알려주는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5199" y="2257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Die별, Chain별 저항(RES)과 누설(LKG) 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5199" y="2743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4"/>
                </a:solidFill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5199" y="2959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RES 715 Ω 초과, LKG 절대값 50 uA 초과</a:t>
            </a:r>
            <a:br/>
            <a:r>
              <a:rPr sz="1200" b="0">
                <a:solidFill>
                  <a:schemeClr val="tx1"/>
                </a:solidFill>
              </a:rPr>
              <a:t>또는 '-'이면 Fail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5199" y="3445200"/>
            <a:ext cx="28584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accent4"/>
                </a:solidFill>
              </a:rPr>
              <a:t>측정 단계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5199" y="3661200"/>
            <a:ext cx="28584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TSVET → COWET → FT, BS 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600" y="4237200"/>
            <a:ext cx="914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400" b="1">
                <a:solidFill>
                  <a:schemeClr val="tx1"/>
                </a:solidFill>
              </a:rPr>
              <a:t>연결 기준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1600" y="45072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Wafer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3600" y="4507200"/>
            <a:ext cx="1512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KLARF ↔ E-Test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45600" y="4507200"/>
            <a:ext cx="6480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KLARF Wafer ID와 E-Test 파일명의 Lot-Wafer 번호 (예: U9-HS2633-01)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81600" y="48780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81600" y="49104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Die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3600" y="4910400"/>
            <a:ext cx="1512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KLARF ↔ E-Test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5600" y="4910400"/>
            <a:ext cx="6480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두 파일의 Die 좌표 체계가 다름 → 연구소 Die 대응표(76 Die)로 같은 Die를 찾음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1600" y="52812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81600" y="53136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3600" y="5313600"/>
            <a:ext cx="1512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E-Test ↔ GDS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5600" y="5313600"/>
            <a:ext cx="6480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E-Test Parameter 안의 Chain 이름과 GDS 라벨로 등록한 Chain을 1:1로 연결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1600" y="56844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1600" y="5716800"/>
            <a:ext cx="1080000" cy="34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위치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3600" y="5716800"/>
            <a:ext cx="1512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1">
                <a:solidFill>
                  <a:schemeClr val="tx1"/>
                </a:solidFill>
              </a:rPr>
              <a:t>KLARF ↔ GDS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5600" y="5716800"/>
            <a:ext cx="6480000" cy="342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Defect의 Die 안 좌표를 칩 도면 좌표로 옮겨 Chain 영역과 겹침 확인 (허용오차 적용)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81600" y="60876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Fail Chain에서 시작해 Defect 후보까지 좁혀 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E-Test로 끊긴 Chain을 찾고, 같은 Die의 Defect가 그 Chain 위에 있는지 도면에 겹쳐 확인</a:t>
            </a:r>
            <a:endParaRPr lang="en-US" altLang="ko-KR" dirty="0" smtClean="0"/>
          </a:p>
          <a:p>
            <a:r>
              <a:rPr lang="en-US" altLang="ko-KR" dirty="0" smtClean="0" b="1"/>
              <a:t>연관 여부 판단은 엔지니어</a:t>
            </a:r>
            <a:r>
              <a:rPr lang="en-US" altLang="ko-KR" dirty="0" smtClean="0"/>
              <a:t>가 하고, 시스템은 위치와 개수를 보여줌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분석 흐름</a:t>
            </a:r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1191599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2113199"/>
            <a:ext cx="21240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Fail Chain 찾기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72000" bIns="72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E-Test 파일 업로드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Spec으로 Fail Die,</a:t>
            </a:r>
            <a:br/>
            <a:r>
              <a:rPr sz="1200" b="0">
                <a:solidFill>
                  <a:schemeClr val="tx1"/>
                </a:solidFill>
              </a:rPr>
              <a:t>Fail Chain 표시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예: 27번 Die Fail</a:t>
            </a:r>
            <a:br/>
            <a:r>
              <a:rPr sz="1200" b="0">
                <a:solidFill>
                  <a:schemeClr val="tx1"/>
                </a:solidFill>
              </a:rPr>
              <a:t>(10/6 회의 사례)</a:t>
            </a:r>
          </a:p>
        </p:txBody>
      </p:sp>
      <p:sp>
        <p:nvSpPr>
          <p:cNvPr id="10" name="Chevron 9"/>
          <p:cNvSpPr/>
          <p:nvPr/>
        </p:nvSpPr>
        <p:spPr>
          <a:xfrm>
            <a:off x="2541600" y="2185200"/>
            <a:ext cx="144000" cy="216000"/>
          </a:xfrm>
          <a:prstGeom prst="chevron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31600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3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21600" y="2113199"/>
            <a:ext cx="21240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같은 Die의 Defect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72000" bIns="72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같은 Wafer, 같은 Die의</a:t>
            </a:r>
            <a:br/>
            <a:r>
              <a:rPr sz="1200" b="0">
                <a:solidFill>
                  <a:schemeClr val="tx1"/>
                </a:solidFill>
              </a:rPr>
              <a:t>KLARF Defect 조회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Wafer Map에서</a:t>
            </a:r>
            <a:br/>
            <a:r>
              <a:rPr sz="1200" b="0">
                <a:solidFill>
                  <a:schemeClr val="tx1"/>
                </a:solidFill>
              </a:rPr>
              <a:t>Chain 영역 Defect가 많은</a:t>
            </a:r>
            <a:br/>
            <a:r>
              <a:rPr sz="1200" b="0">
                <a:solidFill>
                  <a:schemeClr val="tx1"/>
                </a:solidFill>
              </a:rPr>
              <a:t>Die는 색으로 구분</a:t>
            </a:r>
          </a:p>
        </p:txBody>
      </p:sp>
      <p:sp>
        <p:nvSpPr>
          <p:cNvPr id="14" name="Chevron 13"/>
          <p:cNvSpPr/>
          <p:nvPr/>
        </p:nvSpPr>
        <p:spPr>
          <a:xfrm>
            <a:off x="4881600" y="2185200"/>
            <a:ext cx="144000" cy="216000"/>
          </a:xfrm>
          <a:prstGeom prst="chevron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71600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1600" y="2113199"/>
            <a:ext cx="2124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도면에 겹쳐 보기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72000" bIns="72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Defect 위치를</a:t>
            </a:r>
            <a:br/>
            <a:r>
              <a:rPr sz="1200" b="0">
                <a:solidFill>
                  <a:schemeClr val="tx1"/>
                </a:solidFill>
              </a:rPr>
              <a:t>칩 도면(BS)에 올림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Fail Chain 영역 안에</a:t>
            </a:r>
            <a:br/>
            <a:r>
              <a:rPr sz="1200" b="0">
                <a:solidFill>
                  <a:schemeClr val="tx1"/>
                </a:solidFill>
              </a:rPr>
              <a:t>있는지 허용오차를</a:t>
            </a:r>
            <a:br/>
            <a:r>
              <a:rPr sz="1200" b="0">
                <a:solidFill>
                  <a:schemeClr val="tx1"/>
                </a:solidFill>
              </a:rPr>
              <a:t>두고 확인</a:t>
            </a:r>
          </a:p>
        </p:txBody>
      </p:sp>
      <p:sp>
        <p:nvSpPr>
          <p:cNvPr id="18" name="Chevron 17"/>
          <p:cNvSpPr/>
          <p:nvPr/>
        </p:nvSpPr>
        <p:spPr>
          <a:xfrm>
            <a:off x="7221600" y="2185200"/>
            <a:ext cx="144000" cy="216000"/>
          </a:xfrm>
          <a:prstGeom prst="chevron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11600" y="1519200"/>
            <a:ext cx="503999" cy="50399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latinLnBrk="0">
              <a:spcAft>
                <a:spcPts val="200"/>
              </a:spcAft>
            </a:pPr>
            <a:r>
              <a:rPr sz="1600" b="1">
                <a:solidFill>
                  <a:schemeClr val="accent4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1600" y="2113199"/>
            <a:ext cx="2124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엔지니어 판단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1600" y="2527200"/>
            <a:ext cx="2124000" cy="14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72000" bIns="72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Defect 이미지와 분류</a:t>
            </a:r>
            <a:br/>
            <a:r>
              <a:rPr sz="1200" b="0">
                <a:solidFill>
                  <a:schemeClr val="tx1"/>
                </a:solidFill>
              </a:rPr>
              <a:t>(Short, Open 등) 확인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연관 있음, 없음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600" y="4093200"/>
            <a:ext cx="9144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400" b="1">
                <a:solidFill>
                  <a:schemeClr val="tx1"/>
                </a:solidFill>
              </a:rPr>
              <a:t>04 판단 결과에 따른 후속 조치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600" y="4381200"/>
            <a:ext cx="44352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Chain 영역 안에 Defect 있음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600" y="4777200"/>
            <a:ext cx="4435200" cy="99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72000" bIns="72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해당 Defect를 Fail 원인 후보로 봄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이미지 리뷰로 Short, Open 여부 확인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같은 위치에 반복되는 Defect는 Wafer 합산 보기로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90400" y="4381200"/>
            <a:ext cx="4435200" cy="36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Chain 영역 안에 Defect 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90400" y="4777200"/>
            <a:ext cx="4435200" cy="99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8000" rIns="108000" tIns="72000" bIns="72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AOI 미검출 또는 다른 원인 가능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파괴 분석 대상 목록으로 분리</a:t>
            </a:r>
          </a:p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• Chain 영역 밖 Defect는 별도 목록으로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600" y="5803200"/>
            <a:ext cx="914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spcAft>
                <a:spcPts val="200"/>
              </a:spcAft>
            </a:pPr>
            <a:r>
              <a:rPr sz="1100" b="0">
                <a:solidFill>
                  <a:schemeClr val="tx1">
                    <a:lumMod val="50000"/>
                    <a:lumOff val="50000"/>
                  </a:schemeClr>
                </a:solidFill>
              </a:rPr>
              <a:t>※ LKG는 두 Chain 사이 누설 측정값이라 Fail이면 두 Chain 영역을 모두 확인함</a:t>
            </a: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신뢰도는 좌표와 이름 기준을 맞추는 데 달림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/>
              <a:t>아래 4가지가 맞아야 엉뚱한 Die, Chain으로 연결되지 않음</a:t>
            </a:r>
            <a:endParaRPr lang="en-US" altLang="ko-KR" dirty="0" smtClean="0"/>
          </a:p>
          <a:p>
            <a:r>
              <a:rPr lang="en-US" altLang="ko-KR" dirty="0" smtClean="0"/>
              <a:t>기준면은 확정, 나머지는 </a:t>
            </a:r>
            <a:r>
              <a:rPr lang="en-US" altLang="ko-KR" dirty="0" smtClean="0" b="1"/>
              <a:t>연구소 자료 확인 후 반영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III. 확인 기준</a:t>
            </a: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1584000" cy="43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600" y="1519200"/>
            <a:ext cx="4896000" cy="43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맞추는 방법</a:t>
            </a:r>
          </a:p>
        </p:txBody>
      </p:sp>
      <p:sp>
        <p:nvSpPr>
          <p:cNvPr id="9" name="Rectangle 8"/>
          <p:cNvSpPr/>
          <p:nvPr/>
        </p:nvSpPr>
        <p:spPr>
          <a:xfrm>
            <a:off x="6861600" y="1519200"/>
            <a:ext cx="2664000" cy="43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400" b="1">
                <a:solidFill>
                  <a:schemeClr val="bg1"/>
                </a:solidFill>
              </a:rPr>
              <a:t>현재 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1600" y="1951200"/>
            <a:ext cx="1584000" cy="73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300" b="1">
                <a:solidFill>
                  <a:schemeClr val="tx1"/>
                </a:solidFill>
              </a:rPr>
              <a:t>기준면 (BS/FS)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600" y="1951200"/>
            <a:ext cx="4896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POC는 BS 기준</a:t>
            </a:r>
            <a:br/>
            <a:r>
              <a:rPr sz="1200" b="0">
                <a:solidFill>
                  <a:schemeClr val="tx1"/>
                </a:solidFill>
              </a:rPr>
              <a:t>분석할 때 Step별로 엔지니어가 BS, FS를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61600" y="1951200"/>
            <a:ext cx="2664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accent1"/>
                </a:solidFill>
              </a:rPr>
              <a:t>확정 ('26.10.13)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1600" y="26892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1600" y="2689200"/>
            <a:ext cx="1584000" cy="73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300" b="1">
                <a:solidFill>
                  <a:schemeClr val="tx1"/>
                </a:solidFill>
              </a:rPr>
              <a:t>Die 위치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600" y="2689200"/>
            <a:ext cx="4896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E-Test, KLARF, Wafer Map 좌표가 서로 다름</a:t>
            </a:r>
            <a:br/>
            <a:r>
              <a:rPr sz="1200" b="0">
                <a:solidFill>
                  <a:schemeClr val="tx1"/>
                </a:solidFill>
              </a:rPr>
              <a:t>→ 연구소 Die 대응표(76 Die)로 같은 Die를 찾음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61600" y="2689200"/>
            <a:ext cx="2664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대응표 수령, 반영 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1600" y="34272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81600" y="3427200"/>
            <a:ext cx="1584000" cy="73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300" b="1">
                <a:solidFill>
                  <a:schemeClr val="tx1"/>
                </a:solidFill>
              </a:rPr>
              <a:t>Die 안 좌표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600" y="3427200"/>
            <a:ext cx="4896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KLARF Pitch(23,832 x 30,060 µm) 기준</a:t>
            </a:r>
            <a:br/>
            <a:r>
              <a:rPr sz="1200" b="0">
                <a:solidFill>
                  <a:schemeClr val="tx1"/>
                </a:solidFill>
              </a:rPr>
              <a:t>도면과 100% 일치하지 않아 허용오차로 보정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61600" y="3427200"/>
            <a:ext cx="2664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허용오차 기본값 협의 필요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600" y="41652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81600" y="4165200"/>
            <a:ext cx="1584000" cy="73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300" b="1">
                <a:solidFill>
                  <a:schemeClr val="tx1"/>
                </a:solidFill>
              </a:rPr>
              <a:t>Chain 이름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600" y="4165200"/>
            <a:ext cx="4896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E-Test Chain 이름(예: TSVDC_TR_FH)과</a:t>
            </a:r>
            <a:br/>
            <a:r>
              <a:rPr sz="1200" b="0">
                <a:solidFill>
                  <a:schemeClr val="tx1"/>
                </a:solidFill>
              </a:rPr>
              <a:t>GDS 라벨(예: TSVDC_TOP1_P_FH)을 1:1 대응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61600" y="4165200"/>
            <a:ext cx="2664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연구소 대응 기준 확인 대기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1600" y="4903200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1600" y="4903200"/>
            <a:ext cx="1584000" cy="73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300" b="1">
                <a:solidFill>
                  <a:schemeClr val="tx1"/>
                </a:solidFill>
              </a:rPr>
              <a:t>Wafer 매칭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600" y="4903200"/>
            <a:ext cx="4896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36000" bIns="36000"/>
          <a:lstStyle/>
          <a:p>
            <a:pPr algn="l" latinLnBrk="0">
              <a:spcAft>
                <a:spcPts val="200"/>
              </a:spcAft>
            </a:pPr>
            <a:r>
              <a:rPr sz="1200" b="0">
                <a:solidFill>
                  <a:schemeClr val="tx1"/>
                </a:solidFill>
              </a:rPr>
              <a:t>KLARF Wafer ID와 E-Test 파일명 Lot-Wafer 번호를</a:t>
            </a:r>
            <a:br/>
            <a:r>
              <a:rPr sz="1200" b="0">
                <a:solidFill>
                  <a:schemeClr val="tx1"/>
                </a:solidFill>
              </a:rPr>
              <a:t>같은 Wafer로 연결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61600" y="4903200"/>
            <a:ext cx="2664000" cy="737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36000" bIns="36000"/>
          <a:lstStyle/>
          <a:p>
            <a:pPr algn="ctr" latinLnBrk="0">
              <a:spcAft>
                <a:spcPts val="200"/>
              </a:spcAft>
            </a:pPr>
            <a:r>
              <a:rPr sz="1200" b="1">
                <a:solidFill>
                  <a:schemeClr val="tx1">
                    <a:lumMod val="65000"/>
                    <a:lumOff val="35000"/>
                  </a:schemeClr>
                </a:solidFill>
              </a:rPr>
              <a:t>매칭 규칙 확인 대기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1600" y="5641199"/>
            <a:ext cx="9143999" cy="0"/>
          </a:xfrm>
          <a:prstGeom prst="line">
            <a:avLst/>
          </a:prstGeom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27955</TotalTime>
  <Words>952</Words>
  <Application>Microsoft Office PowerPoint</Application>
  <PresentationFormat>A4 용지(210x297mm)</PresentationFormat>
  <Paragraphs>274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PowerPoint 프레젠테이션</vt:lpstr>
      <vt:lpstr>페이지 제목 (맑은 고딕Bold 26pt)</vt:lpstr>
      <vt:lpstr>테마색 사용 가이드</vt:lpstr>
      <vt:lpstr>페이지 제목 (맑은 고딕Bold 26pt)</vt:lpstr>
      <vt:lpstr>페이지 제목 (맑은 고딕Bold 26pt)</vt:lpstr>
      <vt:lpstr>페이지 제목 (맑은 고딕Bold 26pt)</vt:lpstr>
      <vt:lpstr>페이지 제목 (맑은 고딕Bold 26pt)</vt:lpstr>
      <vt:lpstr>페이지 제목 (맑은 고딕Bold 26pt)</vt:lpstr>
      <vt:lpstr>페이지 제목 (맑은 고딕Bold 26pt)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오브젝트 모음</vt:lpstr>
      <vt:lpstr>오브젝트 모음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GDS, KLARF, E-Test 연관 분석 방법</dc:title>
  <dc:creator/>
  <cp:lastModifiedBy/>
  <cp:revision>1</cp:revision>
  <dcterms:created xsi:type="dcterms:W3CDTF">2013-11-13T01:08:07Z</dcterms:created>
  <dcterms:modified xsi:type="dcterms:W3CDTF">2026-05-03T23:15:57Z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