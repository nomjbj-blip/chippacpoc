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9"/>
  </p:notesMasterIdLst>
  <p:handoutMasterIdLst>
    <p:handoutMasterId r:id="rId20"/>
  </p:handoutMasterIdLst>
  <p:sldIdLst>
    <p:sldId id="257" r:id="rId5"/>
    <p:sldId id="259" r:id="rId6"/>
    <p:sldId id="261" r:id="rId7"/>
    <p:sldId id="262" r:id="rId8"/>
    <p:sldId id="263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0" r:id="rId17"/>
    <p:sldId id="276" r:id="rId18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9" autoAdjust="0"/>
    <p:restoredTop sz="96339" autoAdjust="0"/>
  </p:normalViewPr>
  <p:slideViewPr>
    <p:cSldViewPr snapToGrid="0">
      <p:cViewPr varScale="1">
        <p:scale>
          <a:sx n="108" d="100"/>
          <a:sy n="108" d="100"/>
        </p:scale>
        <p:origin x="780" y="6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18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18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'26.10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pPr latinLnBrk="0"/>
            <a:r>
              <a:rPr lang="ko-KR" altLang="en-US" dirty="0" smtClean="0"/>
              <a:t>Defect / E-Test 자동 분석</a:t>
            </a:r>
            <a:endParaRPr lang="ko-KR" altLang="en-US" dirty="0"/>
          </a:p>
          <a:p>
            <a:pPr latinLnBrk="0"/>
            <a:r>
              <a:rPr lang="ko-KR" altLang="en-US" dirty="0" smtClean="0"/>
              <a:t>시스템 구축 POC 완료보고</a:t>
            </a:r>
            <a:endParaRPr lang="ko-KR" altLang="en-US" dirty="0"/>
          </a:p>
        </p:txBody>
      </p:sp>
      <p:pic>
        <p:nvPicPr>
          <p:cNvPr id="4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0" y="6214202"/>
            <a:ext cx="1375200" cy="2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 latinLnBrk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배경 및 목표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pPr latinLnBrk="0"/>
            <a:r>
              <a:rPr lang="ko-KR" altLang="en-US" dirty="0" smtClean="0"/>
              <a:t>AOI </a:t>
            </a:r>
            <a:r>
              <a:rPr lang="ko-KR" altLang="en-US" dirty="0"/>
              <a:t>Defect 좌표가 GDS Daisy Chain의 Bump, RDL 위치와 겹치는지 </a:t>
            </a:r>
            <a:r>
              <a:rPr lang="ko-KR" altLang="en-US" dirty="0" smtClean="0"/>
              <a:t>확인 및 </a:t>
            </a:r>
            <a:r>
              <a:rPr lang="ko-KR" altLang="en-US" dirty="0" err="1" smtClean="0"/>
              <a:t>E-Test</a:t>
            </a:r>
            <a:r>
              <a:rPr lang="ko-KR" altLang="en-US" dirty="0" smtClean="0"/>
              <a:t> </a:t>
            </a:r>
            <a:r>
              <a:rPr lang="ko-KR" altLang="en-US" dirty="0" err="1"/>
              <a:t>Fail과</a:t>
            </a:r>
            <a:r>
              <a:rPr lang="ko-KR" altLang="en-US" dirty="0"/>
              <a:t> </a:t>
            </a:r>
            <a:r>
              <a:rPr lang="ko-KR" altLang="en-US" dirty="0" smtClean="0"/>
              <a:t>연관 분석</a:t>
            </a:r>
            <a:endParaRPr lang="en-US" altLang="ko-KR" dirty="0" smtClean="0"/>
          </a:p>
        </p:txBody>
      </p:sp>
      <p:pic>
        <p:nvPicPr>
          <p:cNvPr id="12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1600" y="1519200"/>
            <a:ext cx="44352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 dirty="0">
                <a:solidFill>
                  <a:schemeClr val="bg1"/>
                </a:solidFill>
              </a:rPr>
              <a:t>고객 요청 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사항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000" y="1944000"/>
            <a:ext cx="4284000" cy="1274837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sz="1300" dirty="0"/>
              <a:t>AOI KLARF </a:t>
            </a:r>
            <a:r>
              <a:rPr lang="ko-KR" altLang="en-US" sz="1300" dirty="0"/>
              <a:t>파일의 좌표를 포함한 결함 정보가 있는지 </a:t>
            </a:r>
            <a:r>
              <a:rPr lang="ko-KR" altLang="en-US" sz="1300" dirty="0" smtClean="0"/>
              <a:t>확인</a:t>
            </a:r>
            <a:endParaRPr lang="en-US" altLang="ko-KR" sz="1300" dirty="0" smtClean="0"/>
          </a:p>
          <a:p>
            <a:pPr lvl="1"/>
            <a:r>
              <a:rPr lang="en-US" altLang="ko-KR" sz="1300" dirty="0"/>
              <a:t>GDS CAD </a:t>
            </a:r>
            <a:r>
              <a:rPr lang="ko-KR" altLang="en-US" sz="1300" dirty="0"/>
              <a:t>파일의 데이지 체인 내 </a:t>
            </a:r>
            <a:r>
              <a:rPr lang="ko-KR" altLang="en-US" sz="1300" dirty="0" err="1"/>
              <a:t>범프</a:t>
            </a:r>
            <a:r>
              <a:rPr lang="ko-KR" altLang="en-US" sz="1300" dirty="0"/>
              <a:t> 및</a:t>
            </a:r>
            <a:r>
              <a:rPr lang="en-US" altLang="ko-KR" sz="1300" dirty="0"/>
              <a:t>/</a:t>
            </a:r>
            <a:r>
              <a:rPr lang="ko-KR" altLang="en-US" sz="1300" dirty="0"/>
              <a:t>또는 </a:t>
            </a:r>
            <a:r>
              <a:rPr lang="en-US" altLang="ko-KR" sz="1300" dirty="0"/>
              <a:t>RDL </a:t>
            </a:r>
            <a:r>
              <a:rPr lang="ko-KR" altLang="en-US" sz="1300" dirty="0"/>
              <a:t>라우팅 위치와 </a:t>
            </a:r>
            <a:r>
              <a:rPr lang="ko-KR" altLang="en-US" sz="1300" dirty="0" smtClean="0"/>
              <a:t>일치 확인 </a:t>
            </a:r>
            <a:endParaRPr lang="en-US" altLang="ko-KR" sz="1300" dirty="0" smtClean="0"/>
          </a:p>
          <a:p>
            <a:pPr lvl="1"/>
            <a:r>
              <a:rPr lang="ko-KR" altLang="en-US" sz="1300" dirty="0" err="1" smtClean="0"/>
              <a:t>E-Test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Fail</a:t>
            </a:r>
            <a:r>
              <a:rPr lang="ko-KR" altLang="en-US" sz="1300" dirty="0" smtClean="0"/>
              <a:t> </a:t>
            </a:r>
            <a:r>
              <a:rPr lang="ko-KR" altLang="en-US" sz="1300" dirty="0" err="1"/>
              <a:t>Chain과</a:t>
            </a:r>
            <a:r>
              <a:rPr lang="ko-KR" altLang="en-US" sz="1300" dirty="0"/>
              <a:t> AOI </a:t>
            </a:r>
            <a:r>
              <a:rPr lang="ko-KR" altLang="en-US" sz="1300" dirty="0" err="1"/>
              <a:t>Defect의</a:t>
            </a:r>
            <a:r>
              <a:rPr lang="ko-KR" altLang="en-US" sz="1300" dirty="0"/>
              <a:t> 연관 </a:t>
            </a:r>
            <a:r>
              <a:rPr lang="ko-KR" altLang="en-US" sz="1300" dirty="0" smtClean="0"/>
              <a:t>분석 제공</a:t>
            </a:r>
            <a:endParaRPr lang="ko-KR" altLang="en-US" sz="13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76680"/>
              </p:ext>
            </p:extLst>
          </p:nvPr>
        </p:nvGraphicFramePr>
        <p:xfrm>
          <a:off x="381600" y="3671999"/>
          <a:ext cx="9143999" cy="241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5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고객 요청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POC 구현 목표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좌표 ↔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위치 확인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KLARF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GDS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영역(크기 + 허용오차)과 겹쳐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Die별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수 계산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GDS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1" baseline="0" dirty="0" smtClean="0">
                          <a:solidFill>
                            <a:schemeClr val="tx1"/>
                          </a:solidFill>
                        </a:rPr>
                        <a:t>기준 도면 조회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Die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상세 화면에서 도면 위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위치,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이미지를 함께 표시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Fail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↔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연관 판단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Spec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Out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사용자가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Limit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설정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판단 주체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판정은 엔지니어, 시스템은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Map, Defect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위치,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이미지등을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제공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945" y="1519200"/>
            <a:ext cx="3706091" cy="1998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시스템 구성 및 업무 영역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/>
              <a:t>기존 DMS/</a:t>
            </a:r>
            <a:r>
              <a:rPr lang="ko-KR" altLang="en-US" dirty="0" err="1"/>
              <a:t>YMS에</a:t>
            </a:r>
            <a:r>
              <a:rPr lang="ko-KR" altLang="en-US" dirty="0"/>
              <a:t> 도면(GDS) 화면과 연관 분석 화면을 추가</a:t>
            </a:r>
            <a:endParaRPr lang="en-US" altLang="ko-KR" dirty="0"/>
          </a:p>
          <a:p>
            <a:pPr latinLnBrk="0"/>
            <a:r>
              <a:rPr lang="ko-KR" altLang="en-US" b="1" dirty="0" err="1"/>
              <a:t>셋업</a:t>
            </a:r>
            <a:r>
              <a:rPr lang="ko-KR" altLang="en-US" b="1" dirty="0"/>
              <a:t> → 업로드 → 분석이 한 클라이언트에서 이어지도록</a:t>
            </a:r>
            <a:r>
              <a:rPr lang="ko-KR" altLang="en-US" dirty="0"/>
              <a:t> 구성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I. POC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4782261"/>
            <a:ext cx="30024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미라콤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600" y="5312236"/>
            <a:ext cx="2808000" cy="776047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PM, 설계, 개발, 검증 </a:t>
            </a:r>
            <a:endParaRPr lang="en-US" altLang="ko-KR" sz="1300" dirty="0" smtClean="0"/>
          </a:p>
          <a:p>
            <a:pPr lvl="1" latinLnBrk="0"/>
            <a:r>
              <a:rPr lang="ko-KR" altLang="en-US" sz="1300" dirty="0" smtClean="0"/>
              <a:t>반영 </a:t>
            </a:r>
            <a:r>
              <a:rPr lang="ko-KR" altLang="en-US" sz="1300" dirty="0"/>
              <a:t>자료, 절차, 교육, 결과 보고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4782261"/>
            <a:ext cx="30024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연구소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24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0400" y="5412937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요건, </a:t>
            </a:r>
            <a:r>
              <a:rPr lang="ko-KR" altLang="en-US" sz="1300" dirty="0"/>
              <a:t>샘플 데이터 제공</a:t>
            </a:r>
          </a:p>
          <a:p>
            <a:pPr lvl="1" latinLnBrk="0"/>
            <a:r>
              <a:rPr lang="ko-KR" altLang="en-US" sz="1300" dirty="0"/>
              <a:t>결과 </a:t>
            </a:r>
            <a:r>
              <a:rPr lang="ko-KR" altLang="en-US" sz="1300" dirty="0" smtClean="0"/>
              <a:t>검증</a:t>
            </a:r>
            <a:endParaRPr lang="ko-KR" altLang="en-US" sz="1300" dirty="0"/>
          </a:p>
        </p:txBody>
      </p:sp>
      <p:sp>
        <p:nvSpPr>
          <p:cNvPr id="14" name="Rectangle 13"/>
          <p:cNvSpPr/>
          <p:nvPr/>
        </p:nvSpPr>
        <p:spPr>
          <a:xfrm>
            <a:off x="6523199" y="4782261"/>
            <a:ext cx="30024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IT팀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199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1199" y="5412938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서버, </a:t>
            </a:r>
            <a:r>
              <a:rPr lang="ko-KR" altLang="en-US" sz="1300" dirty="0" smtClean="0"/>
              <a:t>DB 제공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시스템에 대한 아키텍처 지원</a:t>
            </a:r>
            <a:endParaRPr lang="ko-KR" altLang="en-US" sz="1300" dirty="0"/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19" name="Rectangle 6"/>
          <p:cNvSpPr/>
          <p:nvPr/>
        </p:nvSpPr>
        <p:spPr>
          <a:xfrm>
            <a:off x="381600" y="1519200"/>
            <a:ext cx="1872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입력 파일 (엔지니어)</a:t>
            </a:r>
          </a:p>
        </p:txBody>
      </p:sp>
      <p:sp>
        <p:nvSpPr>
          <p:cNvPr id="20" name="Rectangle 7"/>
          <p:cNvSpPr/>
          <p:nvPr/>
        </p:nvSpPr>
        <p:spPr>
          <a:xfrm>
            <a:off x="381600" y="1998000"/>
            <a:ext cx="1872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tx1"/>
                </a:solidFill>
              </a:rPr>
              <a:t>GDS 도면</a:t>
            </a:r>
          </a:p>
          <a:p>
            <a:pPr algn="ctr" latinLnBrk="0"/>
            <a:r>
              <a:rPr lang="ko-KR" altLang="en-US" sz="1300" b="0">
                <a:solidFill>
                  <a:schemeClr val="tx1"/>
                </a:solidFill>
              </a:rPr>
              <a:t>Chain 배선 위치</a:t>
            </a:r>
          </a:p>
        </p:txBody>
      </p:sp>
      <p:sp>
        <p:nvSpPr>
          <p:cNvPr id="21" name="Rectangle 8"/>
          <p:cNvSpPr/>
          <p:nvPr/>
        </p:nvSpPr>
        <p:spPr>
          <a:xfrm>
            <a:off x="381600" y="2934000"/>
            <a:ext cx="1872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tx1"/>
                </a:solidFill>
              </a:rPr>
              <a:t>KLARF + 이미지</a:t>
            </a:r>
          </a:p>
          <a:p>
            <a:pPr algn="ctr" latinLnBrk="0"/>
            <a:r>
              <a:rPr lang="ko-KR" altLang="en-US" sz="1300" b="0">
                <a:solidFill>
                  <a:schemeClr val="tx1"/>
                </a:solidFill>
              </a:rPr>
              <a:t>AOI Defect 좌표</a:t>
            </a:r>
          </a:p>
        </p:txBody>
      </p:sp>
      <p:sp>
        <p:nvSpPr>
          <p:cNvPr id="22" name="Rectangle 9"/>
          <p:cNvSpPr/>
          <p:nvPr/>
        </p:nvSpPr>
        <p:spPr>
          <a:xfrm>
            <a:off x="381600" y="3870000"/>
            <a:ext cx="1872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tx1"/>
                </a:solidFill>
              </a:rPr>
              <a:t>E-Test 결과</a:t>
            </a:r>
          </a:p>
          <a:p>
            <a:pPr algn="ctr" latinLnBrk="0"/>
            <a:r>
              <a:rPr lang="ko-KR" altLang="en-US" sz="1300" b="0">
                <a:solidFill>
                  <a:schemeClr val="tx1"/>
                </a:solidFill>
              </a:rPr>
              <a:t>Chain별 측정값</a:t>
            </a:r>
          </a:p>
        </p:txBody>
      </p:sp>
      <p:sp>
        <p:nvSpPr>
          <p:cNvPr id="23" name="Right Arrow 10"/>
          <p:cNvSpPr/>
          <p:nvPr/>
        </p:nvSpPr>
        <p:spPr>
          <a:xfrm>
            <a:off x="2322000" y="2286000"/>
            <a:ext cx="270000" cy="25199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24" name="Right Arrow 11"/>
          <p:cNvSpPr/>
          <p:nvPr/>
        </p:nvSpPr>
        <p:spPr>
          <a:xfrm>
            <a:off x="2322000" y="3221999"/>
            <a:ext cx="270000" cy="25199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25" name="Right Arrow 12"/>
          <p:cNvSpPr/>
          <p:nvPr/>
        </p:nvSpPr>
        <p:spPr>
          <a:xfrm>
            <a:off x="2322000" y="4158000"/>
            <a:ext cx="270000" cy="25199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26" name="Rectangle 13"/>
          <p:cNvSpPr/>
          <p:nvPr/>
        </p:nvSpPr>
        <p:spPr>
          <a:xfrm>
            <a:off x="2664000" y="1519200"/>
            <a:ext cx="432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400" b="1" dirty="0" err="1" smtClean="0">
                <a:solidFill>
                  <a:schemeClr val="bg1"/>
                </a:solidFill>
              </a:rPr>
              <a:t>DACrux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 POC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Rectangle 14"/>
          <p:cNvSpPr/>
          <p:nvPr/>
        </p:nvSpPr>
        <p:spPr>
          <a:xfrm>
            <a:off x="2664000" y="1998000"/>
            <a:ext cx="1296000" cy="82799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Setup</a:t>
            </a:r>
          </a:p>
        </p:txBody>
      </p:sp>
      <p:sp>
        <p:nvSpPr>
          <p:cNvPr id="28" name="Rectangle 15"/>
          <p:cNvSpPr/>
          <p:nvPr/>
        </p:nvSpPr>
        <p:spPr>
          <a:xfrm>
            <a:off x="3960000" y="1998000"/>
            <a:ext cx="3024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ctr"/>
          <a:lstStyle/>
          <a:p>
            <a:pPr algn="l" latinLnBrk="0"/>
            <a:r>
              <a:rPr lang="ko-KR" altLang="en-US" sz="1200" b="0">
                <a:solidFill>
                  <a:schemeClr val="tx1"/>
                </a:solidFill>
              </a:rPr>
              <a:t>GDS Map Setup / Wafer Map Setup</a:t>
            </a:r>
          </a:p>
          <a:p>
            <a:pPr algn="l" latinLnBrk="0"/>
            <a:r>
              <a:rPr lang="ko-KR" altLang="en-US" sz="1200" b="0">
                <a:solidFill>
                  <a:schemeClr val="tx1"/>
                </a:solidFill>
              </a:rPr>
              <a:t>E-Test Para Register, Setup / E-Test Bin Setup</a:t>
            </a:r>
          </a:p>
        </p:txBody>
      </p:sp>
      <p:sp>
        <p:nvSpPr>
          <p:cNvPr id="29" name="Rectangle 16"/>
          <p:cNvSpPr/>
          <p:nvPr/>
        </p:nvSpPr>
        <p:spPr>
          <a:xfrm>
            <a:off x="2664000" y="2934000"/>
            <a:ext cx="1296000" cy="82799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Data Upload</a:t>
            </a:r>
          </a:p>
        </p:txBody>
      </p:sp>
      <p:sp>
        <p:nvSpPr>
          <p:cNvPr id="30" name="Rectangle 17"/>
          <p:cNvSpPr/>
          <p:nvPr/>
        </p:nvSpPr>
        <p:spPr>
          <a:xfrm>
            <a:off x="3960000" y="2934000"/>
            <a:ext cx="3024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KLARF </a:t>
            </a:r>
            <a:r>
              <a:rPr lang="ko-KR" altLang="en-US" sz="1200" b="0" dirty="0" err="1">
                <a:solidFill>
                  <a:schemeClr val="tx1"/>
                </a:solidFill>
              </a:rPr>
              <a:t>File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Upload</a:t>
            </a:r>
            <a:endParaRPr lang="ko-KR" altLang="en-US" sz="1200" b="0" dirty="0">
              <a:solidFill>
                <a:schemeClr val="tx1"/>
              </a:solidFill>
            </a:endParaRPr>
          </a:p>
          <a:p>
            <a:pPr algn="l" latinLnBrk="0"/>
            <a:r>
              <a:rPr lang="ko-KR" altLang="en-US" sz="1200" b="0" dirty="0" err="1">
                <a:solidFill>
                  <a:schemeClr val="tx1"/>
                </a:solidFill>
              </a:rPr>
              <a:t>E-Test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Result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 smtClean="0">
                <a:solidFill>
                  <a:schemeClr val="tx1"/>
                </a:solidFill>
              </a:rPr>
              <a:t>Upload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31" name="Rectangle 18"/>
          <p:cNvSpPr/>
          <p:nvPr/>
        </p:nvSpPr>
        <p:spPr>
          <a:xfrm>
            <a:off x="2664000" y="3870000"/>
            <a:ext cx="1296000" cy="827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View</a:t>
            </a:r>
          </a:p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32" name="Rectangle 19"/>
          <p:cNvSpPr/>
          <p:nvPr/>
        </p:nvSpPr>
        <p:spPr>
          <a:xfrm>
            <a:off x="3960000" y="3870000"/>
            <a:ext cx="3024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GDS </a:t>
            </a:r>
            <a:r>
              <a:rPr lang="ko-KR" altLang="en-US" sz="1200" b="0" dirty="0" err="1">
                <a:solidFill>
                  <a:schemeClr val="tx1"/>
                </a:solidFill>
              </a:rPr>
              <a:t>Map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 smtClean="0">
                <a:solidFill>
                  <a:schemeClr val="tx1"/>
                </a:solidFill>
              </a:rPr>
              <a:t>View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/ </a:t>
            </a:r>
            <a:r>
              <a:rPr lang="ko-KR" altLang="en-US" sz="1200" b="0" dirty="0" err="1">
                <a:solidFill>
                  <a:schemeClr val="tx1"/>
                </a:solidFill>
              </a:rPr>
              <a:t>Wafer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Map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View</a:t>
            </a:r>
            <a:endParaRPr lang="ko-KR" altLang="en-US" sz="1200" b="0" dirty="0">
              <a:solidFill>
                <a:schemeClr val="tx1"/>
              </a:solidFill>
            </a:endParaRPr>
          </a:p>
          <a:p>
            <a:pPr algn="l" latinLnBrk="0"/>
            <a:r>
              <a:rPr lang="ko-KR" altLang="en-US" sz="1200" b="0" dirty="0" err="1">
                <a:solidFill>
                  <a:schemeClr val="tx1"/>
                </a:solidFill>
              </a:rPr>
              <a:t>E-Test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Result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View</a:t>
            </a:r>
            <a:r>
              <a:rPr lang="ko-KR" altLang="en-US" sz="1200" b="0" dirty="0">
                <a:solidFill>
                  <a:schemeClr val="tx1"/>
                </a:solidFill>
              </a:rPr>
              <a:t> / GDS-KLARF-ET </a:t>
            </a:r>
            <a:r>
              <a:rPr lang="ko-KR" altLang="en-US" sz="1200" b="0" dirty="0" err="1">
                <a:solidFill>
                  <a:schemeClr val="tx1"/>
                </a:solidFill>
              </a:rPr>
              <a:t>Correlation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33" name="Rectangle 23"/>
          <p:cNvSpPr/>
          <p:nvPr/>
        </p:nvSpPr>
        <p:spPr>
          <a:xfrm>
            <a:off x="7437600" y="1519200"/>
            <a:ext cx="2088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400" b="1" dirty="0" smtClean="0">
                <a:solidFill>
                  <a:schemeClr val="bg1"/>
                </a:solidFill>
              </a:rPr>
              <a:t>Service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34" name="Rectangle 24"/>
          <p:cNvSpPr/>
          <p:nvPr/>
        </p:nvSpPr>
        <p:spPr>
          <a:xfrm>
            <a:off x="7437600" y="1998000"/>
            <a:ext cx="2088000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 err="1">
                <a:solidFill>
                  <a:schemeClr val="tx1"/>
                </a:solidFill>
              </a:rPr>
              <a:t>App</a:t>
            </a:r>
            <a:r>
              <a:rPr lang="ko-KR" altLang="en-US" sz="1200" b="1" dirty="0">
                <a:solidFill>
                  <a:schemeClr val="tx1"/>
                </a:solidFill>
              </a:rPr>
              <a:t> 서버</a:t>
            </a:r>
          </a:p>
          <a:p>
            <a:pPr algn="ctr" latinLnBrk="0"/>
            <a:r>
              <a:rPr lang="ko-KR" altLang="en-US" sz="1200" b="0" dirty="0">
                <a:solidFill>
                  <a:schemeClr val="tx1"/>
                </a:solidFill>
              </a:rPr>
              <a:t>업무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서비스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35" name="Rectangle 25"/>
          <p:cNvSpPr/>
          <p:nvPr/>
        </p:nvSpPr>
        <p:spPr>
          <a:xfrm>
            <a:off x="7437600" y="2934000"/>
            <a:ext cx="2088000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>
                <a:solidFill>
                  <a:schemeClr val="tx1"/>
                </a:solidFill>
              </a:rPr>
              <a:t>Oracle DB</a:t>
            </a:r>
          </a:p>
          <a:p>
            <a:pPr algn="ctr" latinLnBrk="0"/>
            <a:r>
              <a:rPr lang="ko-KR" altLang="en-US" sz="1200" b="0" dirty="0" smtClean="0">
                <a:solidFill>
                  <a:schemeClr val="tx1"/>
                </a:solidFill>
              </a:rPr>
              <a:t>DMS/YMS</a:t>
            </a:r>
            <a:r>
              <a:rPr lang="en-US" altLang="ko-KR" sz="1200" dirty="0" smtClean="0">
                <a:solidFill>
                  <a:schemeClr val="tx1"/>
                </a:solidFill>
              </a:rPr>
              <a:t>/POC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36" name="Rectangle 26"/>
          <p:cNvSpPr/>
          <p:nvPr/>
        </p:nvSpPr>
        <p:spPr>
          <a:xfrm>
            <a:off x="7437600" y="3870000"/>
            <a:ext cx="2088000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>
                <a:solidFill>
                  <a:schemeClr val="tx1"/>
                </a:solidFill>
              </a:rPr>
              <a:t>FTP</a:t>
            </a:r>
          </a:p>
          <a:p>
            <a:pPr algn="ctr" latinLnBrk="0"/>
            <a:r>
              <a:rPr lang="ko-KR" altLang="en-US" sz="1200" b="0" dirty="0" err="1">
                <a:solidFill>
                  <a:schemeClr val="tx1"/>
                </a:solidFill>
              </a:rPr>
              <a:t>Defect</a:t>
            </a:r>
            <a:r>
              <a:rPr lang="ko-KR" altLang="en-US" sz="1200" b="0" dirty="0">
                <a:solidFill>
                  <a:schemeClr val="tx1"/>
                </a:solidFill>
              </a:rPr>
              <a:t> 이미지 저장</a:t>
            </a:r>
          </a:p>
        </p:txBody>
      </p:sp>
      <p:sp>
        <p:nvSpPr>
          <p:cNvPr id="37" name="Right Arrow 11"/>
          <p:cNvSpPr/>
          <p:nvPr/>
        </p:nvSpPr>
        <p:spPr>
          <a:xfrm>
            <a:off x="7075800" y="2036376"/>
            <a:ext cx="270000" cy="258441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추진 </a:t>
            </a:r>
            <a:r>
              <a:rPr lang="ko-KR" altLang="en-US" dirty="0" smtClean="0"/>
              <a:t>일정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추진 경과</a:t>
            </a:r>
          </a:p>
        </p:txBody>
      </p:sp>
      <p:pic>
        <p:nvPicPr>
          <p:cNvPr id="9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en-US" altLang="ko-KR" dirty="0"/>
              <a:t>Defect/E-Test </a:t>
            </a:r>
            <a:r>
              <a:rPr lang="ko-KR" altLang="en-US" dirty="0"/>
              <a:t>분석 시스템 구축 </a:t>
            </a:r>
            <a:r>
              <a:rPr lang="en-US" altLang="ko-KR" dirty="0"/>
              <a:t>POC </a:t>
            </a:r>
            <a:r>
              <a:rPr lang="ko-KR" altLang="en-US" dirty="0"/>
              <a:t>개발 </a:t>
            </a:r>
            <a:r>
              <a:rPr lang="ko-KR" altLang="en-US" dirty="0" smtClean="0"/>
              <a:t>일정</a:t>
            </a:r>
            <a:endParaRPr lang="en-US" altLang="ko-KR" dirty="0" smtClean="0"/>
          </a:p>
          <a:p>
            <a:r>
              <a:rPr lang="en-US" altLang="ko-KR" dirty="0" smtClean="0"/>
              <a:t>10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01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~ 10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30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1M/M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44127"/>
              </p:ext>
            </p:extLst>
          </p:nvPr>
        </p:nvGraphicFramePr>
        <p:xfrm>
          <a:off x="380999" y="1520825"/>
          <a:ext cx="9144005" cy="4968876"/>
        </p:xfrm>
        <a:graphic>
          <a:graphicData uri="http://schemas.openxmlformats.org/drawingml/2006/table">
            <a:tbl>
              <a:tblPr/>
              <a:tblGrid>
                <a:gridCol w="1174457">
                  <a:extLst>
                    <a:ext uri="{9D8B030D-6E8A-4147-A177-3AD203B41FA5}">
                      <a16:colId xmlns:a16="http://schemas.microsoft.com/office/drawing/2014/main" val="1089198094"/>
                    </a:ext>
                  </a:extLst>
                </a:gridCol>
                <a:gridCol w="3093434">
                  <a:extLst>
                    <a:ext uri="{9D8B030D-6E8A-4147-A177-3AD203B41FA5}">
                      <a16:colId xmlns:a16="http://schemas.microsoft.com/office/drawing/2014/main" val="255845010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628097885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17628194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565344335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706812883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975998697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66149183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81217275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929032589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78274203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825445197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023160632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40897936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67311356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421470157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683771251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91368914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65130283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562489949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46914277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87798102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14654974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97276922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70367873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42766355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54346553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681753601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328664885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4088257632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029885692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178644591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667597785"/>
                    </a:ext>
                  </a:extLst>
                </a:gridCol>
              </a:tblGrid>
              <a:tr h="1458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수행내용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334260"/>
                  </a:ext>
                </a:extLst>
              </a:tr>
              <a:tr h="150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10/06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10/07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10/08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10/09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10/10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10/16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10/17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10/18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10/19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10/20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10/26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10/27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10/28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10/29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10/30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10/31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49626"/>
                  </a:ext>
                </a:extLst>
              </a:tr>
              <a:tr h="72945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착수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범위확정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프로젝트룸 및 수행환경 준비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WBS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세부 일정 수립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업무범위 정의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제공자료 및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Data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PoC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범위 및 검증기준 확인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225427"/>
                  </a:ext>
                </a:extLst>
              </a:tr>
              <a:tr h="58356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및 테스트 환경 확인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Process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분석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Scenario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GDS, KLARF, CSV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구조 분석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좌표 및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Mapping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정의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618297"/>
                  </a:ext>
                </a:extLst>
              </a:tr>
              <a:tr h="102123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기능 개발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공정 별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 Parsing 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Map Drawing Control 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기준정보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분석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좌표 변환 및 위치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Mapping 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Chain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 설정 및 분석 기능 개발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Defect Offset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Tolerance Logic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Correlation Logic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322535"/>
                  </a:ext>
                </a:extLst>
              </a:tr>
              <a:tr h="58356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운영환경 구성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 Setup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YMS, DMS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Setup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기준정보 및 대상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 Setup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Service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Client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구성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667960"/>
                  </a:ext>
                </a:extLst>
              </a:tr>
              <a:tr h="4376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좌표 및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Mapping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검증 및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Correlation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검증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수정 및 기능 보완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Devecie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검증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045580"/>
                  </a:ext>
                </a:extLst>
              </a:tr>
              <a:tr h="4376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교육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Go-Live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Key User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주요 기능 사용법 교육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유의사항 및 운영방법 전달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Go-Live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064881"/>
                  </a:ext>
                </a:extLst>
              </a:tr>
              <a:tr h="4376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운영지원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안정화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중 발생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Issue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및 조치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기능 보완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816390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종료보고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종료계획 및 결과 정리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종료보고서 작성 및 보완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결과 보고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126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검증 결과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[고객 검증 후 작성] 사전 검증에서 U9 Wafer 1장 기준 47개 항목 중 44개 PASS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IV. POC 결과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002233"/>
              </p:ext>
            </p:extLst>
          </p:nvPr>
        </p:nvGraphicFramePr>
        <p:xfrm>
          <a:off x="381600" y="1519200"/>
          <a:ext cx="9144000" cy="30959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검증 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검증 기준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판정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좌표 대응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KLARF, GDS, E-Test의 Die 위치가 고객 히트맵과 일치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Chain 영역 Defect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판정 영역(크기 + 허용오차) 안 Defect 수, 위치 정확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E-Test Fail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Spec Out Chain이 도면 Chain에 정확히 표시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연관 분류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일치 / Fail만 / Defect만 목록이 엔지니어 판단과 일치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dirty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사용성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Key User가 매뉴얼만으로 셋업부터 분석까지 수행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dirty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600" y="4752000"/>
            <a:ext cx="9144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400" b="1">
                <a:solidFill>
                  <a:schemeClr val="accent1"/>
                </a:solidFill>
              </a:rPr>
              <a:t>사전 검증 결과</a:t>
            </a:r>
            <a:r>
              <a:rPr lang="ko-KR" altLang="en-US" sz="1400" b="0">
                <a:solidFill>
                  <a:schemeClr val="accent1"/>
                </a:solidFill>
              </a:rPr>
              <a:t> ('26.10.19, U9 OMM_TCB Wafer 1장)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5148000"/>
            <a:ext cx="8928000" cy="1080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점검 47개 항목 중 44개 PASS, FAIL 3건은 원본 데이터 문제로 확인</a:t>
            </a:r>
          </a:p>
          <a:p>
            <a:pPr lvl="1" latinLnBrk="0"/>
            <a:r>
              <a:rPr lang="ko-KR" altLang="en-US" sz="1300" dirty="0" err="1"/>
              <a:t>Chain에</a:t>
            </a:r>
            <a:r>
              <a:rPr lang="ko-KR" altLang="en-US" sz="1300" dirty="0"/>
              <a:t> 걸린 </a:t>
            </a:r>
            <a:r>
              <a:rPr lang="ko-KR" altLang="en-US" sz="1300" dirty="0" err="1"/>
              <a:t>Defect</a:t>
            </a:r>
            <a:r>
              <a:rPr lang="ko-KR" altLang="en-US" sz="1300" dirty="0"/>
              <a:t> 472건 / (</a:t>
            </a:r>
            <a:r>
              <a:rPr lang="ko-KR" altLang="en-US" sz="1300" dirty="0" err="1"/>
              <a:t>Die</a:t>
            </a:r>
            <a:r>
              <a:rPr lang="ko-KR" altLang="en-US" sz="1300" dirty="0"/>
              <a:t>, </a:t>
            </a:r>
            <a:r>
              <a:rPr lang="ko-KR" altLang="en-US" sz="1300" dirty="0" err="1"/>
              <a:t>Chain</a:t>
            </a:r>
            <a:r>
              <a:rPr lang="ko-KR" altLang="en-US" sz="1300" dirty="0"/>
              <a:t>) 298칸 분류: 일치 26, </a:t>
            </a:r>
            <a:r>
              <a:rPr lang="ko-KR" altLang="en-US" sz="1300" dirty="0" err="1"/>
              <a:t>Fail만</a:t>
            </a:r>
            <a:r>
              <a:rPr lang="ko-KR" altLang="en-US" sz="1300" dirty="0"/>
              <a:t> 123, </a:t>
            </a:r>
            <a:r>
              <a:rPr lang="ko-KR" altLang="en-US" sz="1300" dirty="0" err="1"/>
              <a:t>Defect만</a:t>
            </a:r>
            <a:r>
              <a:rPr lang="ko-KR" altLang="en-US" sz="1300" dirty="0"/>
              <a:t> 106, 비교 불가 43</a:t>
            </a:r>
          </a:p>
          <a:p>
            <a:pPr lvl="1" latinLnBrk="0"/>
            <a:r>
              <a:rPr lang="ko-KR" altLang="en-US" sz="1300" dirty="0" err="1"/>
              <a:t>Fail만</a:t>
            </a:r>
            <a:r>
              <a:rPr lang="ko-KR" altLang="en-US" sz="1300" dirty="0"/>
              <a:t>, </a:t>
            </a:r>
            <a:r>
              <a:rPr lang="ko-KR" altLang="en-US" sz="1300" dirty="0" err="1"/>
              <a:t>Defect만</a:t>
            </a:r>
            <a:r>
              <a:rPr lang="ko-KR" altLang="en-US" sz="1300" dirty="0"/>
              <a:t> 칸이 많아 허용오차, </a:t>
            </a:r>
            <a:r>
              <a:rPr lang="ko-KR" altLang="en-US" sz="1300" dirty="0" err="1"/>
              <a:t>Wafer</a:t>
            </a:r>
            <a:r>
              <a:rPr lang="ko-KR" altLang="en-US" sz="1300" dirty="0"/>
              <a:t> 매칭 기준 확정 후 </a:t>
            </a:r>
            <a:r>
              <a:rPr lang="ko-KR" altLang="en-US" sz="1300" dirty="0" err="1"/>
              <a:t>재검증</a:t>
            </a:r>
            <a:r>
              <a:rPr lang="ko-KR" altLang="en-US" sz="1300" dirty="0"/>
              <a:t> 필요</a:t>
            </a:r>
          </a:p>
        </p:txBody>
      </p:sp>
      <p:pic>
        <p:nvPicPr>
          <p:cNvPr id="10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평가 및 시사점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도면 기반 Defect, Fail 연관 분석의 </a:t>
            </a:r>
            <a:r>
              <a:rPr lang="ko-KR" altLang="en-US" b="1" dirty="0"/>
              <a:t>구현 가능성 확인</a:t>
            </a:r>
            <a:r>
              <a:rPr lang="ko-KR" altLang="en-US" dirty="0"/>
              <a:t>, 실사용에는 데이터 기준 표준화가 선결 과제 [고객 평가 반영 예정]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IV. POC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확인된 가능성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600" y="2052000"/>
            <a:ext cx="2808000" cy="2592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/>
              <a:t>GDS, KLARF, E-Test 3종 데이터를 Die, Chain 단위로 연결</a:t>
            </a:r>
          </a:p>
          <a:p>
            <a:pPr lvl="1" latinLnBrk="0"/>
            <a:r>
              <a:rPr lang="ko-KR" altLang="en-US" sz="1300"/>
              <a:t>대용량 도면(U8)도 기존 DMS 클라이언트 안에서 처리</a:t>
            </a:r>
          </a:p>
          <a:p>
            <a:pPr lvl="1" latinLnBrk="0"/>
            <a:r>
              <a:rPr lang="ko-KR" altLang="en-US" sz="1300"/>
              <a:t>기존 DMS/YMS 화면, 테이블 재사용으로 1개월 안에 구현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남은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0400" y="2052000"/>
            <a:ext cx="2808000" cy="2592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/>
              <a:t>좌표 100% 일치 어려움 → 허용오차 기준 확정 필요</a:t>
            </a:r>
          </a:p>
          <a:p>
            <a:pPr lvl="1" latinLnBrk="0"/>
            <a:r>
              <a:rPr lang="ko-KR" altLang="en-US" sz="1300"/>
              <a:t>Wafer ID 표기 차이(KLARF FS, E-Test HS) 매칭 규칙 미확정</a:t>
            </a:r>
          </a:p>
          <a:p>
            <a:pPr lvl="1" latinLnBrk="0"/>
            <a:r>
              <a:rPr lang="ko-KR" altLang="en-US" sz="1300"/>
              <a:t>파일 수동 업로드, Chain 이름 수작업 연결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Lesson Learned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1199" y="2052000"/>
            <a:ext cx="2808000" cy="2592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/>
              <a:t>판정은 엔지니어, 시스템은 시각화로 범위를 좁혀 일정 리스크 감소</a:t>
            </a:r>
          </a:p>
          <a:p>
            <a:pPr lvl="1" latinLnBrk="0"/>
            <a:r>
              <a:rPr lang="ko-KR" altLang="en-US" sz="1300"/>
              <a:t>파일명, Parameter 이름, Die 대응표 등 데이터 기준은 착수 시 확정 필요</a:t>
            </a:r>
          </a:p>
          <a:p>
            <a:pPr lvl="1" latinLnBrk="0"/>
            <a:r>
              <a:rPr lang="ko-KR" altLang="en-US" sz="1300"/>
              <a:t>고객 서버, 망 준비는 개발 기간 중 선행 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600" y="4860000"/>
            <a:ext cx="1800000" cy="1296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고객 평가 의견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1600" y="4860000"/>
            <a:ext cx="7343999" cy="129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36000" rIns="180000" bIns="36000" rtlCol="0" anchor="ctr"/>
          <a:lstStyle/>
          <a:p>
            <a:pPr algn="l" latinLnBrk="0"/>
            <a:r>
              <a:rPr lang="ko-KR" altLang="en-US" sz="1400" b="0">
                <a:solidFill>
                  <a:schemeClr val="accent6"/>
                </a:solidFill>
              </a:rPr>
              <a:t>[고객 검증 후 작성]</a:t>
            </a:r>
            <a:r>
              <a:rPr lang="ko-KR" altLang="en-US" sz="1400" b="0">
                <a:solidFill>
                  <a:schemeClr val="tx1"/>
                </a:solidFill>
              </a:rPr>
              <a:t> 연구소 Key User 평가, 본사업 확장 의견</a:t>
            </a:r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철수 후 운영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미라콤 철수 후에도 연구소가 </a:t>
            </a:r>
            <a:r>
              <a:rPr lang="ko-KR" altLang="en-US" b="1" dirty="0"/>
              <a:t>'27.1.31까지 POC 시스템을 직접 사용</a:t>
            </a:r>
            <a:r>
              <a:rPr lang="ko-KR" altLang="en-US" dirty="0"/>
              <a:t>하도록 사용 조건, 운영 역할, 인계 자료를 정함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V. 종료 후 운영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시스템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600" y="2070000"/>
            <a:ext cx="2808000" cy="2520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/>
              <a:t>POC License: '27.1.31까지 데이터 등록, 수정 가능</a:t>
            </a:r>
          </a:p>
          <a:p>
            <a:pPr lvl="1" latinLnBrk="0"/>
            <a:r>
              <a:rPr lang="ko-KR" altLang="en-US" sz="1300"/>
              <a:t>기한 후 조회 전용 전환 (등록 데이터 유지)</a:t>
            </a:r>
          </a:p>
          <a:p>
            <a:pPr lvl="1" latinLnBrk="0"/>
            <a:r>
              <a:rPr lang="ko-KR" altLang="en-US" sz="1300"/>
              <a:t>사용 결과로 본사업 확장 판단 (착수 시 약 3개월 사용 안내)</a:t>
            </a:r>
          </a:p>
          <a:p>
            <a:pPr lvl="1" latinLnBrk="0"/>
            <a:r>
              <a:rPr lang="ko-KR" altLang="en-US" sz="1300"/>
              <a:t>Device 수 제한 여부 </a:t>
            </a:r>
            <a:r>
              <a:rPr lang="ko-KR" altLang="en-US" sz="1300">
                <a:solidFill>
                  <a:schemeClr val="accent6"/>
                </a:solidFill>
              </a:rPr>
              <a:t>[확인 필요]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운영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0400" y="2070000"/>
            <a:ext cx="2808000" cy="2520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/>
              <a:t>연구소: 파일 업로드, 셋업, 분석 (Key User)</a:t>
            </a:r>
          </a:p>
          <a:p>
            <a:pPr lvl="1" latinLnBrk="0"/>
            <a:r>
              <a:rPr lang="ko-KR" altLang="en-US" sz="1300"/>
              <a:t>IT팀: 서버, DB, 방화벽 관리, 장애 1차 확인</a:t>
            </a:r>
          </a:p>
          <a:p>
            <a:pPr lvl="1" latinLnBrk="0"/>
            <a:r>
              <a:rPr lang="ko-KR" altLang="en-US" sz="1300"/>
              <a:t>미라콤: 문의 대응, 결함 조치 </a:t>
            </a:r>
            <a:r>
              <a:rPr lang="ko-KR" altLang="en-US" sz="1300">
                <a:solidFill>
                  <a:schemeClr val="accent6"/>
                </a:solidFill>
              </a:rPr>
              <a:t>[지원 방식, 기간 확인 필요]</a:t>
            </a:r>
          </a:p>
          <a:p>
            <a:pPr lvl="1" latinLnBrk="0"/>
            <a:r>
              <a:rPr lang="ko-KR" altLang="en-US" sz="1300"/>
              <a:t>상시 운영, 백업, 모니터링은 별도 협의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인계 자료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1199" y="2070000"/>
            <a:ext cx="2808000" cy="2520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/>
              <a:t>사용자 매뉴얼 (2차 시안 </a:t>
            </a:r>
            <a:r>
              <a:rPr lang="ko-KR" altLang="en-US" sz="1300">
                <a:solidFill>
                  <a:schemeClr val="accent6"/>
                </a:solidFill>
              </a:rPr>
              <a:t>[작성 예정]</a:t>
            </a:r>
            <a:r>
              <a:rPr lang="ko-KR" altLang="en-US" sz="1300"/>
              <a:t>)</a:t>
            </a:r>
          </a:p>
          <a:p>
            <a:pPr lvl="1" latinLnBrk="0"/>
            <a:r>
              <a:rPr lang="ko-KR" altLang="en-US" sz="1300"/>
              <a:t>설치 절차서, 되돌리기 방법</a:t>
            </a:r>
          </a:p>
          <a:p>
            <a:pPr lvl="1" latinLnBrk="0"/>
            <a:r>
              <a:rPr lang="ko-KR" altLang="en-US" sz="1300"/>
              <a:t>서버, 클라이언트 설치 파일과 버전 정보</a:t>
            </a:r>
          </a:p>
          <a:p>
            <a:pPr lvl="1" latinLnBrk="0"/>
            <a:r>
              <a:rPr lang="ko-KR" altLang="en-US" sz="1300"/>
              <a:t>운영 유의사항, Key User 교육 자료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600" y="4788000"/>
            <a:ext cx="91440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400" b="1">
                <a:solidFill>
                  <a:schemeClr val="accent1"/>
                </a:solidFill>
              </a:rPr>
              <a:t>철수 전후 일정</a:t>
            </a:r>
          </a:p>
        </p:txBody>
      </p:sp>
      <p:sp>
        <p:nvSpPr>
          <p:cNvPr id="17" name="Pentagon 16"/>
          <p:cNvSpPr/>
          <p:nvPr/>
        </p:nvSpPr>
        <p:spPr>
          <a:xfrm>
            <a:off x="381600" y="5202000"/>
            <a:ext cx="1908000" cy="7920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10.26~10.28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고객 검증</a:t>
            </a:r>
          </a:p>
        </p:txBody>
      </p:sp>
      <p:sp>
        <p:nvSpPr>
          <p:cNvPr id="18" name="Chevron 17"/>
          <p:cNvSpPr/>
          <p:nvPr/>
        </p:nvSpPr>
        <p:spPr>
          <a:xfrm>
            <a:off x="2190600" y="5202000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10.29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종료 보고</a:t>
            </a:r>
          </a:p>
        </p:txBody>
      </p:sp>
      <p:sp>
        <p:nvSpPr>
          <p:cNvPr id="19" name="Chevron 18"/>
          <p:cNvSpPr/>
          <p:nvPr/>
        </p:nvSpPr>
        <p:spPr>
          <a:xfrm>
            <a:off x="3999600" y="5202000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10월 말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현장 철수</a:t>
            </a:r>
          </a:p>
        </p:txBody>
      </p:sp>
      <p:sp>
        <p:nvSpPr>
          <p:cNvPr id="20" name="Chevron 19"/>
          <p:cNvSpPr/>
          <p:nvPr/>
        </p:nvSpPr>
        <p:spPr>
          <a:xfrm>
            <a:off x="5808600" y="5202000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~'27.1.31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POC 사용</a:t>
            </a:r>
          </a:p>
        </p:txBody>
      </p:sp>
      <p:sp>
        <p:nvSpPr>
          <p:cNvPr id="21" name="Chevron 20"/>
          <p:cNvSpPr/>
          <p:nvPr/>
        </p:nvSpPr>
        <p:spPr>
          <a:xfrm>
            <a:off x="7617600" y="5202000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'27.1~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본사업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600" y="6083999"/>
            <a:ext cx="9144000" cy="234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000" b="0">
                <a:solidFill>
                  <a:schemeClr val="tx1"/>
                </a:solidFill>
              </a:rPr>
              <a:t>※ 종료 보고일, 현장 철수일, 본사업 판단 시점 </a:t>
            </a:r>
            <a:r>
              <a:rPr lang="ko-KR" altLang="en-US" sz="1000" b="0">
                <a:solidFill>
                  <a:schemeClr val="accent6"/>
                </a:solidFill>
              </a:rPr>
              <a:t>[확인 필요]</a:t>
            </a:r>
          </a:p>
        </p:txBody>
      </p:sp>
      <p:pic>
        <p:nvPicPr>
          <p:cNvPr id="23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철수 전 인계 점검 및 잔여 이슈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철수 전 미라콤 조치 6건을 마무리하고, 고객 회신이 필요한 6건은 담당을 정해 이관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V. 종료 후 운영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536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철수 전 미라콤 조치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1600" y="1925999"/>
          <a:ext cx="4536000" cy="417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목표일(안)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최신 빌드 서버, 클라이언트 반영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10.26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Defect 이미지 FTP 적용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10.26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IT팀 대기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POC License 서버 배포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10.26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대기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사용자 매뉴얼 2차, Key User 교육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10.27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설치 절차서, 인계 자료 작성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10.28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미착수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납품 소스 정리, 형상 확정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10.29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89600" y="1519200"/>
            <a:ext cx="4536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고객 확인 필요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89600" y="1925999"/>
          <a:ext cx="4536000" cy="417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담당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Wafer 매칭 규칙 (KLARF FS ↔ E-Test HS 표기)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U8 판정 기준 (Connectivity, PowerShort 등), 수정 E-Test 파일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U9 나머지 Chain(C4DC, ASICDC, HBMDC, PIC) 이름, Spec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연구소 망 정보 전달 → 방화벽 개방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연구소, IT팀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YMS 화면 POC 노출 범위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POC 완료 판정 기준, 판정 일자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1600" y="6192000"/>
            <a:ext cx="9144000" cy="234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000" b="0">
                <a:solidFill>
                  <a:schemeClr val="tx1"/>
                </a:solidFill>
              </a:rPr>
              <a:t>※ 목표일은 미라콤 제안 일정 </a:t>
            </a:r>
            <a:r>
              <a:rPr lang="ko-KR" altLang="en-US" sz="1000" b="0">
                <a:solidFill>
                  <a:schemeClr val="accent6"/>
                </a:solidFill>
              </a:rPr>
              <a:t>[확인 필요]</a:t>
            </a:r>
          </a:p>
        </p:txBody>
      </p:sp>
      <p:pic>
        <p:nvPicPr>
          <p:cNvPr id="12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본 프로젝트 이관 항목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POC에서 수동으로 처리한 연동, 수집, 규칙 확장 7건을 </a:t>
            </a:r>
            <a:r>
              <a:rPr lang="ko-KR" altLang="en-US" b="1" dirty="0"/>
              <a:t>본 프로젝트(Phase 1) 범위로 제안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VI. 향후 추진 방향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42479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POC 처리 방식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본 프로젝트 방향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근거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연동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MES 기준정보 연동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BS/FS, Step을 엔지니어가 선택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MES 정보로 자동 설정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10.13 회의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수집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파일 자동 수집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KLARF, E-Test 수동 업로드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FTP 배치 자동 수집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10.02 회의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71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규칙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새 Chain Rule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단자 기준 탐색 + U8 같은 형태 일괄 생성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배열, Functional Net 자동 추출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10.19 리뷰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571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E-Test 단자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E-Test 이름을 Chain 이름에 수작업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단자 자동 묶기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개발 검토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Spec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Spec 관리 단위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Parameter 이름 단위 (약 120개)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카테고리 단위 관리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10.13 회의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화면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영문화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한글 화면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영문 화면 지원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10.21 요청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License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정식 License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POC License ('27.1.31)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정식 License 체계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600" y="5903999"/>
            <a:ext cx="9144000" cy="234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000" b="0">
                <a:solidFill>
                  <a:schemeClr val="tx1"/>
                </a:solidFill>
              </a:rPr>
              <a:t>※ 영문화의 본 프로젝트 포함 여부 </a:t>
            </a:r>
            <a:r>
              <a:rPr lang="ko-KR" altLang="en-US" sz="1000" b="0">
                <a:solidFill>
                  <a:schemeClr val="accent6"/>
                </a:solidFill>
              </a:rPr>
              <a:t>[확인 필요]</a:t>
            </a:r>
          </a:p>
        </p:txBody>
      </p:sp>
      <p:pic>
        <p:nvPicPr>
          <p:cNvPr id="9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향후 추진 로드맵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POC 사용 평가('~27.1) 후 Phase 1 본사업으로 전환, 자동 처리와 모니터링까지 단계적 확장 제안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VI. 향후 추진 방향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3510000"/>
            <a:ext cx="2196000" cy="54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POC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'26.10 (1개월)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4050000"/>
            <a:ext cx="2196000" cy="142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600" y="4121999"/>
            <a:ext cx="2015999" cy="1152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/>
              <a:t>도면 기반 연관 분석</a:t>
            </a:r>
          </a:p>
          <a:p>
            <a:pPr lvl="1" latinLnBrk="0"/>
            <a:r>
              <a:rPr lang="ko-KR" altLang="en-US" sz="1200"/>
              <a:t>구현 가능성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6400" y="2880000"/>
            <a:ext cx="2196000" cy="54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POC 사용 평가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'26.11~'27.1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6400" y="3420000"/>
            <a:ext cx="2196000" cy="205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4400" y="3491999"/>
            <a:ext cx="2015999" cy="1152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/>
              <a:t>연구소 실사용</a:t>
            </a:r>
          </a:p>
          <a:p>
            <a:pPr lvl="1" latinLnBrk="0"/>
            <a:r>
              <a:rPr lang="ko-KR" altLang="en-US" sz="1200"/>
              <a:t>개선 요구 수집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1200" y="2250000"/>
            <a:ext cx="2196000" cy="5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Phase 1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6개월, 8 M/M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1200" y="2790000"/>
            <a:ext cx="2196000" cy="268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19200" y="2862000"/>
            <a:ext cx="2015999" cy="1152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/>
              <a:t>기준정보, CAD 데이터 관리</a:t>
            </a:r>
          </a:p>
          <a:p>
            <a:pPr lvl="1" latinLnBrk="0"/>
            <a:r>
              <a:rPr lang="ko-KR" altLang="en-US" sz="1200"/>
              <a:t>Parser, 자동 처리</a:t>
            </a:r>
          </a:p>
          <a:p>
            <a:pPr lvl="1" latinLnBrk="0"/>
            <a:r>
              <a:rPr lang="ko-KR" altLang="en-US" sz="1200"/>
              <a:t>분석, 모니터링 기능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5999" y="1620000"/>
            <a:ext cx="2196000" cy="54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Phase 2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3개월, 3 M/M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5999" y="2160000"/>
            <a:ext cx="2196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33999" y="2232000"/>
            <a:ext cx="2015999" cy="1152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/>
              <a:t>기준정보 추가 등록</a:t>
            </a:r>
          </a:p>
          <a:p>
            <a:pPr lvl="1" latinLnBrk="0"/>
            <a:r>
              <a:rPr lang="ko-KR" altLang="en-US" sz="1200"/>
              <a:t>Report, 기능 보완</a:t>
            </a:r>
          </a:p>
          <a:p>
            <a:pPr lvl="1" latinLnBrk="0"/>
            <a:r>
              <a:rPr lang="ko-KR" altLang="en-US" sz="1200"/>
              <a:t>안정화, 인수인계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600" y="5598000"/>
            <a:ext cx="1800000" cy="63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결정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81600" y="5598000"/>
            <a:ext cx="7343999" cy="63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36000" rIns="180000" bIns="36000" rtlCol="0" anchor="ctr"/>
          <a:lstStyle/>
          <a:p>
            <a:pPr algn="l" latinLnBrk="0"/>
            <a:r>
              <a:rPr lang="ko-KR" altLang="en-US" sz="1200" b="0">
                <a:solidFill>
                  <a:schemeClr val="tx1"/>
                </a:solidFill>
              </a:rPr>
              <a:t>POC 완료 판정('26.10.29) / 사용 기간 중 개선 요구 수집 창구 지정</a:t>
            </a:r>
          </a:p>
          <a:p>
            <a:pPr algn="l" latinLnBrk="0"/>
            <a:r>
              <a:rPr lang="ko-KR" altLang="en-US" sz="1200" b="0">
                <a:solidFill>
                  <a:schemeClr val="tx1"/>
                </a:solidFill>
              </a:rPr>
              <a:t>본사업 추진 여부 결정 시점 </a:t>
            </a:r>
            <a:r>
              <a:rPr lang="ko-KR" altLang="en-US" sz="1200" b="0">
                <a:solidFill>
                  <a:schemeClr val="accent6"/>
                </a:solidFill>
              </a:rPr>
              <a:t>['27.1 확인 필요]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00" y="6263999"/>
            <a:ext cx="9144000" cy="234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000" b="0">
                <a:solidFill>
                  <a:schemeClr val="tx1"/>
                </a:solidFill>
              </a:rPr>
              <a:t>※ Phase 1, 2 기간과 인력은 제안서 v1.1('26.7.29) 기준, 범위와 일정은 사용 평가 후 재협의</a:t>
            </a:r>
          </a:p>
        </p:txBody>
      </p:sp>
      <p:pic>
        <p:nvPicPr>
          <p:cNvPr id="22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별첨. 주요 산출물 목록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계획, 설계, 개발, 검증 단계 산출물을 프로젝트 문서 폴더에 정리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별첨자료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446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단계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산출물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수량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착수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계약서, 견적서, Function List v2, 손익 시뮬레이션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1000.착수단계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계획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WBS, 개발 일정, 역할 범위(R&amp;R)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협의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회의록 (10.02, 10.06, 10.13), 회의 결정 이력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10.19, 10.21 회의록 </a:t>
                      </a:r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[작성 예정]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설계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설계 문서 (계획 10, GDS 18, KLARF 7, E-Test 13, 연관 분석 12, 환경 운영 11)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소스 (DMS, YMS, GDS 도면 컨트롤), DB 스크립트 (POC 신규 테이블 16)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납품 형상 </a:t>
                      </a:r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[확인 필요]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검증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자동 점검 스크립트 (서버 약 62, 화면 약 31), 검증 리포트 9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100+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이행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사용자 매뉴얼 1차 시안 (29장), 클라이언트 설치 파일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매뉴얼 2차 </a:t>
                      </a:r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[작성 예정]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7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종료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완료보고서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본 문서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결과 요약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AOI Defect와 E-Test Fail을 GDS Chain 위에서 겹쳐 보는 분석 흐름을 1개월 안에 구현, 고객 검증 후 결과 확정 예정</a:t>
            </a:r>
            <a:endParaRPr lang="en-US" altLang="ko-KR" dirty="0" smtClean="0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800000" cy="111599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800" b="1">
                <a:solidFill>
                  <a:schemeClr val="bg1"/>
                </a:solidFill>
              </a:rPr>
              <a:t>수행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1600" y="1519200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6000" y="1573200"/>
            <a:ext cx="7020000" cy="100799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400"/>
              <a:t>POC 화면 12종 개발, 고객 TRAINING 환경에 DB, 서버 반영</a:t>
            </a:r>
          </a:p>
          <a:p>
            <a:pPr lvl="1" latinLnBrk="0"/>
            <a:r>
              <a:rPr lang="ko-KR" altLang="en-US" sz="1400"/>
              <a:t>GDS 등록 → Chain 설정 → KLARF, E-Test 업로드 → 연관 분석을 한 흐름으로 연결</a:t>
            </a:r>
          </a:p>
          <a:p>
            <a:pPr lvl="1" latinLnBrk="0"/>
            <a:r>
              <a:rPr lang="ko-KR" altLang="en-US" sz="1400"/>
              <a:t>U9(Chain 15~19개)에 더해 대용량 U8(도형 181만, Chain 2.7만)까지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600" y="2761200"/>
            <a:ext cx="1800000" cy="111599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800" b="1">
                <a:solidFill>
                  <a:schemeClr val="bg1"/>
                </a:solidFill>
              </a:rPr>
              <a:t>POC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1600" y="2761200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6000" y="2815200"/>
            <a:ext cx="7020000" cy="100799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400">
                <a:solidFill>
                  <a:schemeClr val="accent6"/>
                </a:solidFill>
              </a:rPr>
              <a:t>[고객 검증 후 작성]</a:t>
            </a:r>
            <a:r>
              <a:rPr lang="ko-KR" altLang="en-US" sz="1400"/>
              <a:t> 검증 기간 '26.10.26~10.28</a:t>
            </a:r>
          </a:p>
          <a:p>
            <a:pPr lvl="1" latinLnBrk="0"/>
            <a:r>
              <a:rPr lang="ko-KR" altLang="en-US" sz="1400"/>
              <a:t>사전 검증('26.10.19, U9 Wafer 1장): 47개 항목 중 44개 PASS (FAIL 3건은 원본 데이터 문제)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600" y="4003199"/>
            <a:ext cx="1800000" cy="1115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800" b="1">
                <a:solidFill>
                  <a:schemeClr val="bg1"/>
                </a:solidFill>
              </a:rPr>
              <a:t>종료 후 운영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1600" y="4003199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6000" y="4057200"/>
            <a:ext cx="7020000" cy="100799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400"/>
              <a:t>POC License로 '27.1.31까지 데이터 등록 가능, 이후 조회 전용</a:t>
            </a:r>
          </a:p>
          <a:p>
            <a:pPr lvl="1" latinLnBrk="0"/>
            <a:r>
              <a:rPr lang="ko-KR" altLang="en-US" sz="1400"/>
              <a:t>연구소 Key User 직접 운영, IT팀 서버 관리, 미라콤 원격 문의 대응 </a:t>
            </a:r>
            <a:r>
              <a:rPr lang="ko-KR" altLang="en-US" sz="1400">
                <a:solidFill>
                  <a:schemeClr val="accent6"/>
                </a:solidFill>
              </a:rPr>
              <a:t>[지원 방식 확인 필요]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600" y="5245199"/>
            <a:ext cx="1800000" cy="1115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800" b="1">
                <a:solidFill>
                  <a:schemeClr val="bg1"/>
                </a:solidFill>
              </a:rPr>
              <a:t>향후 추진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1600" y="5245199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6000" y="5299200"/>
            <a:ext cx="7020000" cy="100799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400"/>
              <a:t>MES 연동, 파일 자동 수집, 새 Chain Rule 등 7건을 본 프로젝트(Phase 1) 범위로 제안</a:t>
            </a:r>
          </a:p>
          <a:p>
            <a:pPr lvl="1" latinLnBrk="0"/>
            <a:r>
              <a:rPr lang="ko-KR" altLang="en-US" sz="1400"/>
              <a:t>POC 사용 평가('~27.1) 결과로 본사업 추진 여부 결정 요청</a:t>
            </a:r>
          </a:p>
        </p:txBody>
      </p:sp>
      <p:pic>
        <p:nvPicPr>
          <p:cNvPr id="19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28001</TotalTime>
  <Words>2168</Words>
  <Application>Microsoft Office PowerPoint</Application>
  <PresentationFormat>A4 용지(210x297mm)</PresentationFormat>
  <Paragraphs>597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POC 배경 및 목표</vt:lpstr>
      <vt:lpstr>시스템 구성 및 업무 영역</vt:lpstr>
      <vt:lpstr>추진 일정</vt:lpstr>
      <vt:lpstr>POC 검증 결과</vt:lpstr>
      <vt:lpstr>POC 평가 및 시사점</vt:lpstr>
      <vt:lpstr>철수 후 운영 방안</vt:lpstr>
      <vt:lpstr>철수 전 인계 점검 및 잔여 이슈</vt:lpstr>
      <vt:lpstr>본 프로젝트 이관 항목</vt:lpstr>
      <vt:lpstr>향후 추진 로드맵</vt:lpstr>
      <vt:lpstr>별첨. 주요 산출물 목록</vt:lpstr>
      <vt:lpstr>POC 결과 요약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 / E-Test 자동 분석 시스템 구축 POC 완료보고</dc:title>
  <dc:creator>정병주</dc:creator>
  <cp:lastModifiedBy>BJ</cp:lastModifiedBy>
  <cp:revision>28</cp:revision>
  <dcterms:created xsi:type="dcterms:W3CDTF">2013-11-13T01:08:07Z</dcterms:created>
  <dcterms:modified xsi:type="dcterms:W3CDTF">2026-10-26T04:30:58Z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