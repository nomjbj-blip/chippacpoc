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12" r:id="rId4"/>
  </p:sldMasterIdLst>
  <p:notesMasterIdLst>
    <p:notesMasterId r:id="rId40"/>
  </p:notesMasterIdLst>
  <p:handoutMasterIdLst>
    <p:handoutMasterId r:id="rId41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906000" cy="6858000" type="A4"/>
  <p:notesSz cx="6807200" cy="9939338"/>
  <p:embeddedFontLst>
    <p:embeddedFont>
      <p:font typeface="SDS 산스  Regular" panose="020B0600000101010101" pitchFamily="50" charset="-127"/>
      <p:regular r:id="rId42"/>
    </p:embeddedFont>
    <p:embeddedFont>
      <p:font typeface="Segoe UI" panose="020B0502040204020203" pitchFamily="34" charset="0"/>
      <p:regular r:id="rId43"/>
      <p:bold r:id="rId44"/>
      <p:italic r:id="rId45"/>
      <p:boldItalic r:id="rId46"/>
    </p:embeddedFont>
    <p:embeddedFont>
      <p:font typeface="맑은 고딕" panose="020B0503020000020004" pitchFamily="50" charset="-127"/>
      <p:regular r:id="rId47"/>
      <p:bold r:id="rId48"/>
    </p:embeddedFont>
  </p:embeddedFontLst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9" autoAdjust="0"/>
    <p:restoredTop sz="96339" autoAdjust="0"/>
  </p:normalViewPr>
  <p:slideViewPr>
    <p:cSldViewPr snapToGrid="0">
      <p:cViewPr varScale="1">
        <p:scale>
          <a:sx n="92" d="100"/>
          <a:sy n="92" d="100"/>
        </p:scale>
        <p:origin x="1292" y="68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5.fntdata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2026-10-08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4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SDS 산스  Regular"/>
                <a:ea typeface="SDS 산스  Regular"/>
              </a:rPr>
              <a:t>Create your value </a:t>
            </a:r>
            <a:endParaRPr lang="ko-KR" altLang="en-US" sz="1600" b="1" dirty="0">
              <a:latin typeface="SDS 산스  Regular"/>
              <a:ea typeface="SDS 산스  Regular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SDS 산스  Regular"/>
                <a:ea typeface="SDS 산스  Regular"/>
              </a:rPr>
              <a:t>Create your value </a:t>
            </a:r>
            <a:endParaRPr lang="ko-KR" altLang="en-US" sz="1600" b="1" dirty="0">
              <a:latin typeface="SDS 산스  Regular"/>
              <a:ea typeface="SDS 산스  Regular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DS 산스  Regular"/>
                <a:ea typeface="SDS 산스  Regular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SDS 산스  Regular"/>
                <a:ea typeface="SDS 산스  Regular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DS 산스  Regular"/>
                <a:ea typeface="SDS 산스  Regular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DS 산스  Regular"/>
                <a:ea typeface="SDS 산스  Regular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SDS 산스  Regular"/>
                <a:ea typeface="SDS 산스  Regular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SDS 산스  Regular"/>
                <a:ea typeface="SDS 산스  Regular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SDS 산스  Regular"/>
                <a:ea typeface="SDS 산스  Regular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33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SDS 산스  Regular"/>
                <a:ea typeface="SDS 산스  Regular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33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SDS 산스  Regular"/>
                <a:ea typeface="SDS 산스  Regular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SDS 산스  Regular"/>
              <a:ea typeface="SDS 산스  Regular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'26.10</a:t>
            </a:r>
            <a:endParaRPr lang="ko-KR" altLang="en-US" dirty="0"/>
          </a:p>
        </p:txBody>
      </p:sp>
      <p:sp>
        <p:nvSpPr>
          <p:cNvPr id="9" name="내용 개체 틀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STATS ChipPAC AOI-ET Correlation POC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GDS 파일 Parsing 구조와 화면 표시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GdsMapControl 파서 / Element / 렌더링 설명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GDS 파일 개념</a:t>
            </a:r>
            <a:endParaRPr lang="en-US" altLang="ko-KR" dirty="0" smtClean="0"/>
          </a:p>
          <a:p>
            <a:pPr lvl="0"/>
            <a:r>
              <a:rPr lang="ko-KR" altLang="en-US" dirty="0"/>
              <a:t>Parsing 구조</a:t>
            </a:r>
            <a:endParaRPr lang="en-US" altLang="ko-KR" dirty="0" smtClean="0"/>
          </a:p>
          <a:p>
            <a:pPr lvl="0"/>
            <a:r>
              <a:rPr lang="ko-KR" altLang="en-US" dirty="0"/>
              <a:t>Element 상세</a:t>
            </a:r>
            <a:endParaRPr lang="en-US" altLang="ko-KR" dirty="0" smtClean="0"/>
          </a:p>
          <a:p>
            <a:pPr lvl="0"/>
            <a:r>
              <a:rPr lang="ko-KR" altLang="en-US" dirty="0"/>
              <a:t>화면 표시</a:t>
            </a:r>
            <a:endParaRPr lang="en-US" altLang="ko-KR" dirty="0" smtClean="0"/>
          </a:p>
          <a:p>
            <a:pPr lvl="0"/>
            <a:r>
              <a:rPr lang="ko-KR" altLang="en-US" dirty="0"/>
              <a:t>한계와 확인 사항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GDS 파서 핵심 요약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GDS는 </a:t>
            </a:r>
            <a:r>
              <a:rPr lang="ko-KR" altLang="en-US" b="1" dirty="0"/>
              <a:t>[길이][종류][자료형][값] 레코드의 나열</a:t>
            </a:r>
            <a:r>
              <a:rPr lang="ko-KR" altLang="en-US" dirty="0"/>
              <a:t>이며, 파서는 레코드 종류로 분기해 객체를 만들고</a:t>
            </a:r>
            <a:endParaRPr lang="en-US" altLang="ko-KR" dirty="0" smtClean="0"/>
          </a:p>
          <a:p>
            <a:r>
              <a:rPr lang="en-US" altLang="ko-KR" dirty="0" smtClean="0"/>
              <a:t>참조를 펼친(Flatten) 뒤 </a:t>
            </a:r>
            <a:r>
              <a:rPr lang="en-US" altLang="ko-KR" b="1" dirty="0" smtClean="0"/>
              <a:t>GPU 버퍼(도형) + GDI(Label)</a:t>
            </a:r>
            <a:r>
              <a:rPr lang="en-US" altLang="ko-KR" dirty="0" smtClean="0"/>
              <a:t> 2단으로 화면에 표시함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655999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① .gds 파일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69200"/>
            <a:ext cx="1655999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바이너리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레코드 나열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66400" y="1717199"/>
            <a:ext cx="158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53600" y="1519200"/>
            <a:ext cx="1655999" cy="39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② GdsReader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3600" y="1969200"/>
            <a:ext cx="1655999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레코드 →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객체 변환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8400" y="1717199"/>
            <a:ext cx="1583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25599" y="1519200"/>
            <a:ext cx="1655999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③ GdsLibrary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25599" y="1969200"/>
            <a:ext cx="1655999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Structure / Layer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/ Element 보관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10399" y="1717199"/>
            <a:ext cx="158401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97599" y="1519200"/>
            <a:ext cx="1655999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④ Flatten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7599" y="1969200"/>
            <a:ext cx="1655999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SREF 펼쳐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실제 좌표 계산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2399" y="1717199"/>
            <a:ext cx="158401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869599" y="1519200"/>
            <a:ext cx="1655999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⑤ 화면 /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9599" y="1969200"/>
            <a:ext cx="1655999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표시, Chain 탐색,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DB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00" y="2743199"/>
            <a:ext cx="9144000" cy="1518108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dirty="0" err="1"/>
              <a:t>파싱</a:t>
            </a:r>
            <a:r>
              <a:rPr lang="ko-KR" dirty="0"/>
              <a:t>: 레코드 종류(</a:t>
            </a:r>
            <a:r>
              <a:rPr lang="ko-KR" dirty="0" err="1"/>
              <a:t>RecordType</a:t>
            </a:r>
            <a:r>
              <a:rPr lang="ko-KR" dirty="0"/>
              <a:t>)만 보고 </a:t>
            </a:r>
            <a:r>
              <a:rPr lang="ko-KR" dirty="0" err="1"/>
              <a:t>switch로</a:t>
            </a:r>
            <a:r>
              <a:rPr lang="ko-KR" dirty="0"/>
              <a:t> 분기, 상태는 2개만 유지</a:t>
            </a:r>
          </a:p>
          <a:p>
            <a:pPr lvl="1"/>
            <a:r>
              <a:rPr lang="ko-KR" dirty="0" err="1"/>
              <a:t>str</a:t>
            </a:r>
            <a:r>
              <a:rPr lang="ko-KR" dirty="0"/>
              <a:t>(현재 </a:t>
            </a:r>
            <a:r>
              <a:rPr lang="ko-KR" dirty="0" err="1"/>
              <a:t>Structure</a:t>
            </a:r>
            <a:r>
              <a:rPr lang="ko-KR" dirty="0"/>
              <a:t>), </a:t>
            </a:r>
            <a:r>
              <a:rPr lang="ko-KR" dirty="0" err="1"/>
              <a:t>el</a:t>
            </a:r>
            <a:r>
              <a:rPr lang="ko-KR" dirty="0"/>
              <a:t>(현재 </a:t>
            </a:r>
            <a:r>
              <a:rPr lang="ko-KR" dirty="0" err="1"/>
              <a:t>Element</a:t>
            </a:r>
            <a:r>
              <a:rPr lang="ko-KR" dirty="0"/>
              <a:t>)에 값을 채우는 단순 구조임</a:t>
            </a:r>
          </a:p>
          <a:p>
            <a:pPr lvl="1"/>
            <a:r>
              <a:rPr lang="ko-KR" dirty="0"/>
              <a:t>좌표는 정수 × </a:t>
            </a:r>
            <a:r>
              <a:rPr lang="ko-KR" dirty="0" err="1"/>
              <a:t>DatabaseUnit으로</a:t>
            </a:r>
            <a:r>
              <a:rPr lang="ko-KR" dirty="0"/>
              <a:t> µ</a:t>
            </a:r>
            <a:r>
              <a:rPr lang="ko-KR" dirty="0" err="1"/>
              <a:t>m</a:t>
            </a:r>
            <a:r>
              <a:rPr lang="ko-KR" dirty="0"/>
              <a:t> </a:t>
            </a:r>
            <a:r>
              <a:rPr lang="ko-KR" dirty="0" err="1"/>
              <a:t>double</a:t>
            </a:r>
            <a:r>
              <a:rPr lang="ko-KR" dirty="0"/>
              <a:t> 변환함</a:t>
            </a:r>
          </a:p>
          <a:p>
            <a:pPr lvl="0"/>
            <a:r>
              <a:rPr lang="ko-KR" dirty="0"/>
              <a:t>표시: 도면을 열 때 GPU 버퍼를 1회 생성하고, </a:t>
            </a:r>
            <a:r>
              <a:rPr lang="ko-KR" dirty="0" err="1"/>
              <a:t>Label은</a:t>
            </a:r>
            <a:r>
              <a:rPr lang="ko-KR" dirty="0"/>
              <a:t> 매 프레임 </a:t>
            </a:r>
            <a:r>
              <a:rPr lang="ko-KR" dirty="0" err="1"/>
              <a:t>GDI로</a:t>
            </a:r>
            <a:r>
              <a:rPr lang="ko-KR" dirty="0"/>
              <a:t> 덧그림</a:t>
            </a:r>
          </a:p>
          <a:p>
            <a:pPr lvl="1"/>
            <a:r>
              <a:rPr lang="ko-KR" dirty="0" err="1"/>
              <a:t>Layer별</a:t>
            </a:r>
            <a:r>
              <a:rPr lang="ko-KR" dirty="0"/>
              <a:t> 연속 버퍼 구간으로 색 / 선택 변경 시 바뀐 구간만 다시 </a:t>
            </a:r>
            <a:r>
              <a:rPr lang="ko-KR" dirty="0" smtClean="0"/>
              <a:t>전송함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z="2600" b="1" dirty="0">
                <a:solidFill>
                  <a:schemeClr val="accent1"/>
                </a:solidFill>
              </a:rPr>
              <a:t>GDS 파일 개념</a:t>
            </a:r>
            <a:endParaRPr lang="en-US" altLang="ko-KR" sz="2600" b="1" dirty="0">
              <a:solidFill>
                <a:schemeClr val="accent1"/>
              </a:solidFill>
            </a:endParaRPr>
          </a:p>
          <a:p>
            <a:pPr lvl="0"/>
            <a:r>
              <a:rPr lang="ko-KR" altLang="en-US" dirty="0"/>
              <a:t>Parsing 구조</a:t>
            </a:r>
            <a:endParaRPr lang="en-US" altLang="ko-KR" dirty="0" smtClean="0"/>
          </a:p>
          <a:p>
            <a:pPr lvl="0"/>
            <a:r>
              <a:rPr lang="ko-KR" altLang="en-US" dirty="0"/>
              <a:t>Element 상세</a:t>
            </a:r>
            <a:endParaRPr lang="en-US" altLang="ko-KR" dirty="0" smtClean="0"/>
          </a:p>
          <a:p>
            <a:pPr lvl="0"/>
            <a:r>
              <a:rPr lang="ko-KR" altLang="en-US" dirty="0"/>
              <a:t>화면 표시</a:t>
            </a:r>
            <a:endParaRPr lang="en-US" altLang="ko-KR" dirty="0" smtClean="0"/>
          </a:p>
          <a:p>
            <a:pPr lvl="0"/>
            <a:r>
              <a:rPr lang="ko-KR" altLang="en-US" dirty="0"/>
              <a:t>한계와 확인 사항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GDS는 Library &gt; Structure &gt; Element 3단계 계층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같은 Structure를 </a:t>
            </a:r>
            <a:r>
              <a:rPr lang="ko-KR" altLang="en-US" b="1" dirty="0"/>
              <a:t>SREF로 재사용</a:t>
            </a:r>
            <a:r>
              <a:rPr lang="ko-KR" altLang="en-US" dirty="0"/>
              <a:t>해 파일은 작고, 화면에는 참조를 펼쳐(Flatten) 표시함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I. GDS 파일 개념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5999" y="1519200"/>
            <a:ext cx="1584000" cy="324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Library (파일 1개)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993599" y="1843200"/>
            <a:ext cx="1814401" cy="252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81600" y="2095200"/>
            <a:ext cx="1224000" cy="34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Structure</a:t>
            </a:r>
          </a:p>
          <a:p>
            <a:pPr algn="ctr"/>
            <a:r>
              <a:rPr sz="1100" b="1">
                <a:solidFill>
                  <a:schemeClr val="bg1"/>
                </a:solidFill>
              </a:rPr>
              <a:t>TOP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08000" y="1843200"/>
            <a:ext cx="288000" cy="252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84000" y="2095200"/>
            <a:ext cx="1224000" cy="34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Structure</a:t>
            </a:r>
          </a:p>
          <a:p>
            <a:pPr algn="ctr"/>
            <a:r>
              <a:rPr sz="1100" b="1">
                <a:solidFill>
                  <a:schemeClr val="bg1"/>
                </a:solidFill>
              </a:rPr>
              <a:t>BUMP_CELL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08000" y="1843200"/>
            <a:ext cx="1835999" cy="252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31999" y="2095200"/>
            <a:ext cx="1224000" cy="34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Structure</a:t>
            </a:r>
          </a:p>
          <a:p>
            <a:pPr algn="ctr"/>
            <a:r>
              <a:rPr sz="1100" b="1">
                <a:solidFill>
                  <a:schemeClr val="bg1"/>
                </a:solidFill>
              </a:rPr>
              <a:t>RDL_CELL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1600" y="2437200"/>
            <a:ext cx="0" cy="219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1600" y="2656800"/>
            <a:ext cx="9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1600" y="2545200"/>
            <a:ext cx="900000" cy="223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000" b="1">
                <a:solidFill>
                  <a:schemeClr val="bg1"/>
                </a:solidFill>
              </a:rPr>
              <a:t>SREF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7600" y="2581200"/>
            <a:ext cx="97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</a:rPr>
              <a:t>→ BUMP_CELL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1600" y="2437200"/>
            <a:ext cx="0" cy="525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1600" y="2962800"/>
            <a:ext cx="9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1600" y="2851200"/>
            <a:ext cx="900000" cy="223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000" b="1">
                <a:solidFill>
                  <a:schemeClr val="bg1"/>
                </a:solidFill>
              </a:rPr>
              <a:t>SREF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7600" y="2887200"/>
            <a:ext cx="97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</a:rPr>
              <a:t>→ BUMP_CELL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1600" y="2437200"/>
            <a:ext cx="0" cy="831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1600" y="3268800"/>
            <a:ext cx="9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1600" y="3157200"/>
            <a:ext cx="900000" cy="223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000" b="1">
                <a:solidFill>
                  <a:schemeClr val="bg1"/>
                </a:solidFill>
              </a:rPr>
              <a:t>SREF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7600" y="3193199"/>
            <a:ext cx="97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</a:rPr>
              <a:t>→ RDL_CELL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1600" y="2437200"/>
            <a:ext cx="0" cy="113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1600" y="3574800"/>
            <a:ext cx="9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1600" y="3463200"/>
            <a:ext cx="900000" cy="223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000" b="1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7600" y="3499200"/>
            <a:ext cx="97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chemeClr val="tx1"/>
                </a:solidFill>
              </a:rPr>
              <a:t>"VDD"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74000" y="2437200"/>
            <a:ext cx="0" cy="219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574000" y="2656800"/>
            <a:ext cx="9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664000" y="2545200"/>
            <a:ext cx="900000" cy="223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000" b="1">
                <a:solidFill>
                  <a:schemeClr val="bg1"/>
                </a:solidFill>
              </a:rPr>
              <a:t>BOUNDARY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74000" y="2437200"/>
            <a:ext cx="0" cy="525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74000" y="2962800"/>
            <a:ext cx="9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664000" y="2851200"/>
            <a:ext cx="900000" cy="223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000" b="1">
                <a:solidFill>
                  <a:schemeClr val="bg1"/>
                </a:solidFill>
              </a:rPr>
              <a:t>BOUNDARY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21999" y="2437200"/>
            <a:ext cx="0" cy="219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21999" y="2656800"/>
            <a:ext cx="90001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212000" y="2545200"/>
            <a:ext cx="900000" cy="223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000" b="1">
                <a:solidFill>
                  <a:schemeClr val="bg1"/>
                </a:solidFill>
              </a:rPr>
              <a:t>PATH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21999" y="2437200"/>
            <a:ext cx="0" cy="525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121999" y="2962800"/>
            <a:ext cx="90001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212000" y="2851200"/>
            <a:ext cx="900000" cy="223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000" b="1">
                <a:solidFill>
                  <a:schemeClr val="bg1"/>
                </a:solidFill>
              </a:rPr>
              <a:t>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600" y="4464000"/>
            <a:ext cx="5256000" cy="1872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sz="1400"/>
              <a:t>Library: 파일 전체, 이름과 좌표 단위(UNITS) 보유</a:t>
            </a:r>
          </a:p>
          <a:p>
            <a:pPr lvl="0"/>
            <a:r>
              <a:rPr lang="ko-KR" sz="1400"/>
              <a:t>Structure(Cell): 도형 묶음, 이름으로 구분</a:t>
            </a:r>
          </a:p>
          <a:p>
            <a:pPr lvl="0"/>
            <a:r>
              <a:rPr lang="ko-KR" sz="1400"/>
              <a:t>Element: 실제 도형 또는 다른 Structure 참조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32000" y="1519200"/>
            <a:ext cx="3693600" cy="38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0000" y="1609200"/>
            <a:ext cx="288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>
                    <a:lumMod val="65000"/>
                    <a:lumOff val="35000"/>
                  </a:schemeClr>
                </a:solidFill>
              </a:rPr>
              <a:t>TOP을 화면에 그리면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3999" y="1987199"/>
            <a:ext cx="900000" cy="900000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63999" y="2167200"/>
            <a:ext cx="540000" cy="5400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390000" y="2293199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235999" y="1987199"/>
            <a:ext cx="900000" cy="900000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415999" y="2167200"/>
            <a:ext cx="540000" cy="5400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542000" y="2293199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387999" y="1987199"/>
            <a:ext cx="900000" cy="900000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567999" y="2167200"/>
            <a:ext cx="540000" cy="5400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694000" y="2293199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083999" y="3571200"/>
            <a:ext cx="900000" cy="900000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63999" y="3751200"/>
            <a:ext cx="540000" cy="5400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390000" y="38772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235999" y="3571200"/>
            <a:ext cx="900000" cy="900000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415999" y="3751200"/>
            <a:ext cx="540000" cy="5400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542000" y="38772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87999" y="3571200"/>
            <a:ext cx="900000" cy="900000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567999" y="3751200"/>
            <a:ext cx="540000" cy="5400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694000" y="38772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63" name="Connector 62"/>
          <p:cNvCxnSpPr/>
          <p:nvPr/>
        </p:nvCxnSpPr>
        <p:spPr>
          <a:xfrm>
            <a:off x="6533999" y="2887200"/>
            <a:ext cx="0" cy="68400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686000" y="2887200"/>
            <a:ext cx="1151999" cy="68400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940000" y="5065200"/>
            <a:ext cx="3477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accent4"/>
                </a:solidFill>
              </a:rPr>
              <a:t>점선 = SREF로 놓은 BUMP_CELL (정의 1개를 6번 재사용)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32000" y="5461200"/>
            <a:ext cx="36936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Cell 재사용 → 파일 축소 / 표시 때 Flatten 필요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Layer는 도형마다 붙은 공정층 번호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모든 도형은 LayerID 하나에 속하며, Layer는 표시 / 색상 / Chain 탐색 대상을 고르는 단위임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I. GDS 파일 개념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525600" y="1627199"/>
            <a:ext cx="3456000" cy="1188000"/>
          </a:xfrm>
          <a:prstGeom prst="parallelogram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89600" y="2113199"/>
            <a:ext cx="15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accent2"/>
                </a:solidFill>
              </a:rPr>
              <a:t>Layer 3 (Bump)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525600" y="3139199"/>
            <a:ext cx="3456000" cy="1188000"/>
          </a:xfrm>
          <a:prstGeom prst="parallelogram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89600" y="3625199"/>
            <a:ext cx="15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accent3"/>
                </a:solidFill>
              </a:rPr>
              <a:t>Layer 2 (RDL)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525600" y="4651199"/>
            <a:ext cx="3456000" cy="1188000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9600" y="5137199"/>
            <a:ext cx="151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accent1"/>
                </a:solidFill>
              </a:rPr>
              <a:t>Layer 1 (Pad)</a:t>
            </a:r>
          </a:p>
        </p:txBody>
      </p:sp>
      <p:sp>
        <p:nvSpPr>
          <p:cNvPr id="13" name="Oval 12"/>
          <p:cNvSpPr/>
          <p:nvPr/>
        </p:nvSpPr>
        <p:spPr>
          <a:xfrm>
            <a:off x="1263600" y="2023200"/>
            <a:ext cx="396000" cy="396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55600" y="2023200"/>
            <a:ext cx="396000" cy="396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847600" y="2023200"/>
            <a:ext cx="396000" cy="396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281600" y="3787200"/>
            <a:ext cx="1620000" cy="0"/>
          </a:xfrm>
          <a:prstGeom prst="line">
            <a:avLst/>
          </a:prstGeom>
          <a:ln w="1016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901600" y="3571200"/>
            <a:ext cx="324000" cy="216000"/>
          </a:xfrm>
          <a:prstGeom prst="line">
            <a:avLst/>
          </a:prstGeom>
          <a:ln w="1016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53600" y="5083200"/>
            <a:ext cx="396000" cy="32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45600" y="5083200"/>
            <a:ext cx="396000" cy="32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37600" y="5083200"/>
            <a:ext cx="396000" cy="32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000" y="1591200"/>
            <a:ext cx="3765600" cy="4752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LAYER 레코드(0x0D) 정수 값 = LayerID</a:t>
            </a:r>
          </a:p>
          <a:p>
            <a:pPr lvl="1"/>
            <a:r>
              <a:rPr lang="ko-KR"/>
              <a:t>모든 도형은 Layer 1개에 반드시 소속</a:t>
            </a:r>
          </a:p>
          <a:p>
            <a:pPr lvl="0"/>
            <a:r>
              <a:rPr lang="ko-KR"/>
              <a:t>DATATYPE(0x0E) = 같은 Layer 안 세부 구분</a:t>
            </a:r>
          </a:p>
          <a:p>
            <a:pPr lvl="0"/>
            <a:r>
              <a:rPr lang="ko-KR"/>
              <a:t>파서가 Structure 안에서 Layer별로 정렬 보관</a:t>
            </a:r>
          </a:p>
          <a:p>
            <a:pPr lvl="1"/>
            <a:r>
              <a:rPr lang="ko-KR"/>
              <a:t>Layer 체크 / 색상 / Chain 탐색 대상 선택 단위임</a:t>
            </a:r>
          </a:p>
          <a:p>
            <a:pPr lvl="0"/>
            <a:r>
              <a:rPr lang="ko-KR"/>
              <a:t>Layer ≠ Chain</a:t>
            </a:r>
          </a:p>
          <a:p>
            <a:pPr lvl="1"/>
            <a:r>
              <a:rPr lang="ko-KR"/>
              <a:t>Chain은 여러 Layer 도형이 연결된 묶음임</a:t>
            </a:r>
          </a:p>
          <a:p>
            <a:pPr lvl="1"/>
            <a:r>
              <a:rPr lang="ko-KR"/>
              <a:t>Layer 1개를 Chain 1개로 보지 않음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Element 5종 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도형 2종(BOUNDARY / PATH), 참조 2종(SREF / AREF), 문자 1종(TEXT)으로 구성됨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I. GDS 파일 개념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592800" cy="30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도형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15200"/>
            <a:ext cx="1742400" cy="37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" name="Freeform 1"/>
          <p:cNvSpPr/>
          <p:nvPr/>
        </p:nvSpPr>
        <p:spPr>
          <a:xfrm>
            <a:off x="784799" y="2563200"/>
            <a:ext cx="936000" cy="936000"/>
          </a:xfrm>
          <a:custGeom>
            <a:avLst/>
            <a:gdLst/>
            <a:ahLst/>
            <a:cxnLst/>
            <a:rect l="l" t="t" r="r" b="b"/>
            <a:pathLst>
              <a:path w="936000" h="936000">
                <a:moveTo>
                  <a:pt x="0" y="936000"/>
                </a:moveTo>
                <a:lnTo>
                  <a:pt x="936000" y="936000"/>
                </a:lnTo>
                <a:lnTo>
                  <a:pt x="936000" y="540000"/>
                </a:lnTo>
                <a:lnTo>
                  <a:pt x="396001" y="540000"/>
                </a:lnTo>
                <a:lnTo>
                  <a:pt x="3960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5600" y="4075200"/>
            <a:ext cx="1454400" cy="223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BOUNDARY  0x08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600" y="4435200"/>
            <a:ext cx="14544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닫힌 다각형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(Pad / Bump / Via)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1999" y="1915200"/>
            <a:ext cx="1742400" cy="37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2527200" y="3391200"/>
            <a:ext cx="504000" cy="0"/>
          </a:xfrm>
          <a:prstGeom prst="line">
            <a:avLst/>
          </a:prstGeom>
          <a:ln w="1778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031200" y="2707200"/>
            <a:ext cx="0" cy="684000"/>
          </a:xfrm>
          <a:prstGeom prst="line">
            <a:avLst/>
          </a:prstGeom>
          <a:ln w="1778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31200" y="2707200"/>
            <a:ext cx="647999" cy="0"/>
          </a:xfrm>
          <a:prstGeom prst="line">
            <a:avLst/>
          </a:prstGeom>
          <a:ln w="1778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76000" y="4075200"/>
            <a:ext cx="1454400" cy="223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PATH  0x09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6000" y="4435200"/>
            <a:ext cx="14544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중심선 + 폭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(RDL 배선)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2400" y="1519200"/>
            <a:ext cx="3592800" cy="30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참조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82400" y="1915200"/>
            <a:ext cx="1742400" cy="37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13600" y="2563200"/>
            <a:ext cx="1080000" cy="936000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5600" y="2815200"/>
            <a:ext cx="576000" cy="432000"/>
          </a:xfrm>
          <a:prstGeom prst="rect">
            <a:avLst/>
          </a:prstGeom>
          <a:solidFill>
            <a:schemeClr val="accent4">
              <a:alpha val="50000"/>
            </a:schemeClr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70400" y="3456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26400" y="4075200"/>
            <a:ext cx="1454400" cy="223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SREF  0x0A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6400" y="4435200"/>
            <a:ext cx="14544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Structure 1개를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변환해 배치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32800" y="1915200"/>
            <a:ext cx="1742400" cy="37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3999" y="25632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05200" y="25632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36399" y="25632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67600" y="25632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3999" y="28944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05200" y="28944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36399" y="28944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67600" y="28944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3999" y="32256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05200" y="32256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36399" y="32256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67600" y="3225600"/>
            <a:ext cx="234000" cy="2340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76800" y="4075200"/>
            <a:ext cx="1454400" cy="223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AREF  0x0B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76800" y="4435200"/>
            <a:ext cx="14544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Structure를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열 × 행 반복 배치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83200" y="1519200"/>
            <a:ext cx="1742400" cy="30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문자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83200" y="1915200"/>
            <a:ext cx="1742400" cy="37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50400" y="2815200"/>
            <a:ext cx="1080000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42" name="Oval 41"/>
          <p:cNvSpPr/>
          <p:nvPr/>
        </p:nvSpPr>
        <p:spPr>
          <a:xfrm>
            <a:off x="8215199" y="2826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927200" y="4075200"/>
            <a:ext cx="1454400" cy="223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TEXT  0x0C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7200" y="4435200"/>
            <a:ext cx="14544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문자열 + 위치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(신호 이름)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600" y="5803200"/>
            <a:ext cx="91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태그 옆 값은 레코드 종류 코드 (II장 대응표 참고) / 빨간 점은 SREF 원점, TEXT 기준 좌표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GDS 파일 개념</a:t>
            </a:r>
            <a:endParaRPr lang="en-US" altLang="ko-KR" dirty="0" smtClean="0"/>
          </a:p>
          <a:p>
            <a:pPr lvl="0"/>
            <a:r>
              <a:rPr lang="ko-KR" altLang="en-US" sz="2600" b="1" dirty="0">
                <a:solidFill>
                  <a:schemeClr val="accent1"/>
                </a:solidFill>
              </a:rPr>
              <a:t>Parsing 구조</a:t>
            </a:r>
            <a:endParaRPr lang="en-US" altLang="ko-KR" sz="2600" b="1" dirty="0">
              <a:solidFill>
                <a:schemeClr val="accent1"/>
              </a:solidFill>
            </a:endParaRPr>
          </a:p>
          <a:p>
            <a:pPr lvl="0"/>
            <a:r>
              <a:rPr lang="ko-KR" altLang="en-US" dirty="0"/>
              <a:t>Element 상세</a:t>
            </a:r>
            <a:endParaRPr lang="en-US" altLang="ko-KR" dirty="0" smtClean="0"/>
          </a:p>
          <a:p>
            <a:pPr lvl="0"/>
            <a:r>
              <a:rPr lang="ko-KR" altLang="en-US" dirty="0"/>
              <a:t>화면 표시</a:t>
            </a:r>
            <a:endParaRPr lang="en-US" altLang="ko-KR" dirty="0" smtClean="0"/>
          </a:p>
          <a:p>
            <a:pPr lvl="0"/>
            <a:r>
              <a:rPr lang="ko-KR" altLang="en-US" dirty="0"/>
              <a:t>한계와 확인 사항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레코드 1개 = 길이 + 종류 + 자료형 + 값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모든 정보가 같은 4바이트 헤더 레코드로 저장되며, 숫자는 Big-Endian이라 바이트 순서를 뒤집어 읽음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Parsing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519200"/>
            <a:ext cx="5760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예 1) LAYER 레코드: 이 도형은 Layer 31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771200"/>
            <a:ext cx="936000" cy="36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00 06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600" y="2167200"/>
            <a:ext cx="936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길이 = 6</a:t>
            </a:r>
          </a:p>
          <a:p>
            <a:pPr algn="ctr"/>
            <a:r>
              <a:rPr sz="1100" b="0">
                <a:solidFill>
                  <a:schemeClr val="tx1"/>
                </a:solidFill>
              </a:rPr>
              <a:t>(헤더 4B 포함)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3600" y="1771200"/>
            <a:ext cx="612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0D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600" y="2167200"/>
            <a:ext cx="61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종류</a:t>
            </a:r>
          </a:p>
          <a:p>
            <a:pPr algn="ctr"/>
            <a:r>
              <a:rPr sz="1100" b="0">
                <a:solidFill>
                  <a:schemeClr val="tx1"/>
                </a:solidFill>
              </a:rPr>
              <a:t>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1600" y="1771200"/>
            <a:ext cx="6120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1600" y="2167200"/>
            <a:ext cx="61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자료형</a:t>
            </a:r>
          </a:p>
          <a:p>
            <a:pPr algn="ctr"/>
            <a:r>
              <a:rPr sz="1100" b="0">
                <a:solidFill>
                  <a:schemeClr val="tx1"/>
                </a:solidFill>
              </a:rPr>
              <a:t>INT2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9600" y="1771200"/>
            <a:ext cx="936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00 1F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9600" y="2167200"/>
            <a:ext cx="936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값 = 31</a:t>
            </a:r>
          </a:p>
          <a:p>
            <a:pPr algn="ctr"/>
            <a:r>
              <a:rPr sz="1100" b="0">
                <a:solidFill>
                  <a:schemeClr val="tx1"/>
                </a:solidFill>
              </a:rPr>
              <a:t>(LayerID)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2887200"/>
            <a:ext cx="5760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예 2) XY 레코드: BOUNDARY 꼭짓점 5개 (첫 점 = 마지막 점)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600" y="3139199"/>
            <a:ext cx="936000" cy="36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00 2C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600" y="3535199"/>
            <a:ext cx="936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길이 = 44</a:t>
            </a:r>
          </a:p>
          <a:p>
            <a:pPr algn="ctr"/>
            <a:r>
              <a:rPr sz="1100" b="0">
                <a:solidFill>
                  <a:schemeClr val="tx1"/>
                </a:solidFill>
              </a:rPr>
              <a:t>= 4 + 8 × 5점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53600" y="3139199"/>
            <a:ext cx="612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600" y="3535199"/>
            <a:ext cx="61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종류</a:t>
            </a:r>
          </a:p>
          <a:p>
            <a:pPr algn="ctr"/>
            <a:r>
              <a:rPr sz="1100" b="0">
                <a:solidFill>
                  <a:schemeClr val="tx1"/>
                </a:solidFill>
              </a:rPr>
              <a:t>XY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01600" y="3139199"/>
            <a:ext cx="6120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1600" y="3535199"/>
            <a:ext cx="61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자료형</a:t>
            </a:r>
          </a:p>
          <a:p>
            <a:pPr algn="ctr"/>
            <a:r>
              <a:rPr sz="1100" b="0">
                <a:solidFill>
                  <a:schemeClr val="tx1"/>
                </a:solidFill>
              </a:rPr>
              <a:t>INT4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49600" y="3139199"/>
            <a:ext cx="1332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00 00 03 E8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9600" y="3535199"/>
            <a:ext cx="133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X0 = 1000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17600" y="3139199"/>
            <a:ext cx="1332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00 00 07 D0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7600" y="3535199"/>
            <a:ext cx="133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Y0 = 2000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85600" y="3139199"/>
            <a:ext cx="576000" cy="36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600" y="3535199"/>
            <a:ext cx="576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X1,Y1 … X4,Y4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803999" y="1519200"/>
          <a:ext cx="2721600" cy="214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자료형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의미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값 없음 (ENDEL 등)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비트 배열 2B (STRANS)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INT2 정수 2B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INT4 정수 4B (좌표)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REAL8 실수 8B (단위 / 각도)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ASCII 문자열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81600" y="4543200"/>
            <a:ext cx="9144000" cy="1800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모든 숫자는 Big-Endian (앞 바이트가 큰 자리)</a:t>
            </a:r>
          </a:p>
          <a:p>
            <a:pPr lvl="1"/>
            <a:r>
              <a:rPr lang="ko-KR"/>
              <a:t>x86은 반대 순서라 BE16 / I16 / I32에서 바이트를 뒤집어 읽음</a:t>
            </a:r>
          </a:p>
          <a:p>
            <a:pPr lvl="0"/>
            <a:r>
              <a:rPr lang="ko-KR"/>
              <a:t>데이터 길이 = 길이 − 4 (헤더 4바이트 제외)</a:t>
            </a:r>
          </a:p>
          <a:p>
            <a:pPr lvl="1"/>
            <a:r>
              <a:rPr lang="ko-KR"/>
              <a:t>64KB 재사용 버퍼에 읽어 레코드마다 메모리 할당을 줄임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안 레코드는 중첩 반복 구조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Library &gt; Structure &gt; Element 순 중첩 반복 구조이며, HEADER / BGNLIB / ENDLIB는 건너뜀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Parsing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600" y="3189600"/>
            <a:ext cx="5256000" cy="260640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600" y="4053600"/>
            <a:ext cx="5004000" cy="1303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600" y="1569599"/>
            <a:ext cx="684000" cy="3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600" y="1627199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1999" y="1627199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</a:rPr>
              <a:t>버전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00" y="1994399"/>
            <a:ext cx="684000" cy="3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1600" y="2051999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BGNLIB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1999" y="2051999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</a:rPr>
              <a:t>라이브러리 시작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600" y="2419200"/>
            <a:ext cx="684000" cy="30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1600" y="24768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LIBNAME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1999" y="24768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lib.Name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600" y="2844000"/>
            <a:ext cx="684000" cy="30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1600" y="29016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1999" y="29016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좌표 단위 2개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00" y="3268800"/>
            <a:ext cx="684000" cy="30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600" y="33264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BGNSTR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31999" y="33264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Structure 시작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600" y="3693600"/>
            <a:ext cx="684000" cy="30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600" y="37512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STRNAME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1999" y="37512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Structure 이름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600" y="4118400"/>
            <a:ext cx="684000" cy="30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08~0C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7600" y="41760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BOUNDARY … TEXT (5종)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31999" y="41760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Element 시작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1600" y="4543200"/>
            <a:ext cx="684000" cy="30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0D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7600" y="46008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LAYER, DATATYPE, XY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1999" y="46008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속성 레코드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1600" y="4968000"/>
            <a:ext cx="684000" cy="30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7600" y="50256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ENDEL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31999" y="50256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Element 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600" y="5392800"/>
            <a:ext cx="684000" cy="30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600" y="54504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ENDSTR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31999" y="54504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Structure 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5600" y="5817600"/>
            <a:ext cx="684000" cy="3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1600" y="5875200"/>
            <a:ext cx="280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ENDLIB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31999" y="5875200"/>
            <a:ext cx="1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</a:rPr>
              <a:t>파일 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3999" y="3254399"/>
            <a:ext cx="936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1"/>
                </a:solidFill>
              </a:rPr>
              <a:t>Structure 반복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3999" y="4140000"/>
            <a:ext cx="936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2"/>
                </a:solidFill>
              </a:rPr>
              <a:t>Element 반복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12000" y="1555199"/>
            <a:ext cx="2613600" cy="4680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파서 상태는 2개뿐</a:t>
            </a:r>
          </a:p>
          <a:p>
            <a:pPr lvl="1"/>
            <a:r>
              <a:rPr lang="ko-KR"/>
              <a:t>str: 현재 채우는 Structure</a:t>
            </a:r>
          </a:p>
          <a:p>
            <a:pPr lvl="1"/>
            <a:r>
              <a:rPr lang="ko-KR"/>
              <a:t>el: 현재 채우는 Element</a:t>
            </a:r>
          </a:p>
          <a:p>
            <a:pPr lvl="0"/>
            <a:r>
              <a:rPr lang="ko-KR"/>
              <a:t>속성 레코드는 현재 el에 저장</a:t>
            </a:r>
          </a:p>
          <a:p>
            <a:pPr lvl="1"/>
            <a:r>
              <a:rPr lang="ko-KR"/>
              <a:t>순서만 맞으면 레코드별 처리는 짧음</a:t>
            </a:r>
          </a:p>
          <a:p>
            <a:pPr lvl="0"/>
            <a:r>
              <a:rPr lang="ko-KR"/>
              <a:t>회색 레코드는 switch에 없어 건너뜀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GdsReader.Read()는 읽기 루프 + 상태 2개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레코드를 순서대로 읽어 switch로 분기하고, 현재 Structure(str)와 Element(el)에 값을 채움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Parsing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2736000" cy="52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bg1"/>
                </a:solidFill>
              </a:rPr>
              <a:t>파일 열기: 1MB 버퍼, 순차 읽기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49599" y="2041200"/>
            <a:ext cx="0" cy="22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81600" y="2264399"/>
            <a:ext cx="2736000" cy="52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bg1"/>
                </a:solidFill>
              </a:rPr>
              <a:t>BE16: 길이 2B 읽기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49599" y="2786399"/>
            <a:ext cx="0" cy="2232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1600" y="3009600"/>
            <a:ext cx="2736000" cy="52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bg1"/>
                </a:solidFill>
              </a:rPr>
              <a:t>RecordType 1B / DataType 1B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9599" y="3531599"/>
            <a:ext cx="0" cy="22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1600" y="3754800"/>
            <a:ext cx="2736000" cy="52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bg1"/>
                </a:solidFill>
              </a:rPr>
              <a:t>데이터 (길이 − 4)B 읽기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49599" y="4276800"/>
            <a:ext cx="0" cy="22319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1600" y="4500000"/>
            <a:ext cx="2736000" cy="522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switch (recordType)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49599" y="5022000"/>
            <a:ext cx="0" cy="22319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1600" y="5245200"/>
            <a:ext cx="2736000" cy="52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bg1"/>
                </a:solidFill>
              </a:rPr>
              <a:t>진행률 보고 (100ms 간격)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17600" y="5506200"/>
            <a:ext cx="25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369600" y="2525399"/>
            <a:ext cx="0" cy="29808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135600" y="2525399"/>
            <a:ext cx="23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41600" y="3835800"/>
            <a:ext cx="79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파일 끝까지</a:t>
            </a:r>
          </a:p>
          <a:p>
            <a:pPr algn="l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반복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1519200"/>
            <a:ext cx="50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switch가 상태(str / el)를 바꾸는 방식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28000" y="1843200"/>
            <a:ext cx="1512000" cy="57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BGNSTR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76000" y="2131200"/>
            <a:ext cx="25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263999" y="1843200"/>
            <a:ext cx="32616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str = new GdsStructure()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28000" y="2599200"/>
            <a:ext cx="1512000" cy="57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STRNAME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76000" y="2887200"/>
            <a:ext cx="25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263999" y="2599200"/>
            <a:ext cx="32616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str.Name = 문자열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28000" y="3355200"/>
            <a:ext cx="1512000" cy="57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BOUNDARY … TEXT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76000" y="3643200"/>
            <a:ext cx="25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263999" y="3355200"/>
            <a:ext cx="32616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el = new GdsBoundary() 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28000" y="4111200"/>
            <a:ext cx="1512000" cy="57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LAYER / XY 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76000" y="4399200"/>
            <a:ext cx="25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263999" y="4111200"/>
            <a:ext cx="32616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el 필드에 값 저장 (Set* 함수)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28000" y="4867200"/>
            <a:ext cx="1512000" cy="57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ENDEL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76000" y="5155200"/>
            <a:ext cx="25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263999" y="4867200"/>
            <a:ext cx="32616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el.SetBounds() → str.Layers.AddElement(el) → el = 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28000" y="5623200"/>
            <a:ext cx="1512000" cy="57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ENDSTR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76000" y="5911200"/>
            <a:ext cx="25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263999" y="5623200"/>
            <a:ext cx="32616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str.Bounds 계산 → lib.Structures.Add(str) → str = null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레코드 종류별 처리 대응표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24종 레코드를 처리하며, 그 밖의 레코드(BOX, NODE, PROPATTR 등)는 switch에 없어 무시함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Parsing 구조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4500000" cy="46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코드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레코드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처리 / 저장 위치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0x02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LIBNAME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lib.Name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0x03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UNITS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ReadUnits → UserUnit / DatabaseUnit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0x05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BGNSTR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str = new GdsStructure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0x06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STRNAME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str.Name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0x07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ENDSTR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str.Bounds 계산, Structures에 추가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0x08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BOUNDARY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el = new GdsBoundary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0x09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PATH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el = new GdsPath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0x0A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SREF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el = new GdsSRef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0x0B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AREF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el = new GdsARef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0x0C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el = new GdsText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0x11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ENDEL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SetBounds, Layer에 추가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0x0D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LAYER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el.LayerID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5600" y="1519200"/>
          <a:ext cx="4500000" cy="46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코드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레코드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처리 / 저장 위치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DATATYPE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el.DataType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0x0F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WIDTH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Path.Width (× DB 단위)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XY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SetXY: 좌표 배열 (종류별 의미 다름)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0x12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SNAME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SRef / ARef.StructureName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0x13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COLROW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ARef.Columns / Rows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0x16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TEXTTYPE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Text.TextType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0x17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PRESENTATION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Text 기준점 / 글꼴 번호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0x19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STRING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Text.Text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0x1A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STRANS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Transform.MirrorX (0x8000 비트)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0x1B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MAG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Transform.Magnification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0x1C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ANGLE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Transform.Rotation (도)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0x21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PATHTYPE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Path.PathType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좌표 = 정수 × DatabaseUnit (µm)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UNITS 레코드의 REAL8 값 2개로 단위를 정하고, 모든 좌표와 폭을 µm double로 변환함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Parsing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5192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UNITS 레코드(0x03)의 값 16바이트 = REAL8 2개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807199"/>
            <a:ext cx="450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600" b="1">
                <a:solidFill>
                  <a:schemeClr val="bg1"/>
                </a:solidFill>
              </a:rPr>
              <a:t>3E 41 89 37 4B C6 A7 F0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5600" y="1807199"/>
            <a:ext cx="4500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600" b="1">
                <a:solidFill>
                  <a:schemeClr val="bg1"/>
                </a:solidFill>
              </a:rPr>
              <a:t>39 44 B8 2F A0 9B 5A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221200"/>
            <a:ext cx="45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</a:rPr>
              <a:t>UserUnit = 0.001 (예시)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5600" y="2221200"/>
            <a:ext cx="45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tx1"/>
                </a:solidFill>
              </a:rPr>
              <a:t>DatabaseUnit = 1e-9 m, 정수 1 = 1nm (예시)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00" y="25992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REAL8 (IBM 부동소수) 해석: Real8()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600" y="2887200"/>
            <a:ext cx="864000" cy="360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부호 1bit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1600" y="2887200"/>
            <a:ext cx="15840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지수 7bit (−64)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1600" y="2887200"/>
            <a:ext cx="216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가수 56bit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7600" y="2869200"/>
            <a:ext cx="42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chemeClr val="tx1"/>
                </a:solidFill>
              </a:rPr>
              <a:t>값 = ± (가수 ÷ 2^56) × 16^(지수 − 64)</a:t>
            </a:r>
          </a:p>
          <a:p>
            <a:pPr algn="l"/>
            <a:r>
              <a:rPr sz="1300" b="0">
                <a:solidFill>
                  <a:schemeClr val="tx1"/>
                </a:solidFill>
              </a:rPr>
              <a:t>16^n은 미리 계산한 표(Pow16Table)로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" y="3643200"/>
            <a:ext cx="86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좌표 계산 예 (GdsMapForm은 LengthUnit = Micrometer로 읽음)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600" y="3967200"/>
            <a:ext cx="2736000" cy="792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XY 정수</a:t>
            </a:r>
          </a:p>
          <a:p>
            <a:pPr algn="ctr"/>
            <a:r>
              <a:rPr sz="1400" b="1">
                <a:solidFill>
                  <a:schemeClr val="bg1"/>
                </a:solidFill>
              </a:rPr>
              <a:t>1000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53600" y="4363200"/>
            <a:ext cx="324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13600" y="3967200"/>
            <a:ext cx="2736000" cy="79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× DatabaseUnit</a:t>
            </a:r>
          </a:p>
          <a:p>
            <a:pPr algn="ctr"/>
            <a:r>
              <a:rPr sz="1400" b="1">
                <a:solidFill>
                  <a:schemeClr val="bg1"/>
                </a:solidFill>
              </a:rPr>
              <a:t>1e-9 m × 1,000,000 = 0.001 µm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85600" y="4363200"/>
            <a:ext cx="324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645599" y="3967200"/>
            <a:ext cx="2736000" cy="79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400" b="1">
                <a:solidFill>
                  <a:schemeClr val="bg1"/>
                </a:solidFill>
              </a:rPr>
              <a:t>= 1.0 µm</a:t>
            </a:r>
          </a:p>
          <a:p>
            <a:pPr algn="ctr"/>
            <a:r>
              <a:rPr sz="1400" b="1">
                <a:solidFill>
                  <a:schemeClr val="bg1"/>
                </a:solidFill>
              </a:rPr>
              <a:t>화면 / DB 좌표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600" y="4975200"/>
            <a:ext cx="9144000" cy="1296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ReadUnits에서 두 단위에 LengthUnit 배수(µm = 1,000,000)를 곱해 둠</a:t>
            </a:r>
          </a:p>
          <a:p>
            <a:pPr lvl="1"/>
            <a:r>
              <a:rPr lang="ko-KR"/>
              <a:t>이후 모든 좌표 / PATH 폭은 µm 기준 double 값임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파싱 결과 메모리 모델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Library &gt; Structure &gt; Layer &gt; Element 객체로 보관하며, Element는 종류별 5개 클래스로 나뉨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Parsing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512000" cy="684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893600" y="1519200"/>
            <a:ext cx="2664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Name / UserUnit / DatabaseUnit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Structures : GdsStructureList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37600" y="2203199"/>
            <a:ext cx="0" cy="306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1600" y="2509200"/>
            <a:ext cx="1512000" cy="684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3600" y="2509200"/>
            <a:ext cx="2664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Name / Bounds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Layers : GdsLayerList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37600" y="3193199"/>
            <a:ext cx="0" cy="306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1600" y="3499199"/>
            <a:ext cx="1512000" cy="684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GdsLayerList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3600" y="3499199"/>
            <a:ext cx="2664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LayerID 순 정렬 List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DuplicatedItems (중복 제외분)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37600" y="4183199"/>
            <a:ext cx="0" cy="306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1600" y="4489200"/>
            <a:ext cx="1512000" cy="684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93600" y="4489200"/>
            <a:ext cx="2664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LayerID / Visible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Elements : GdsElementList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37600" y="5173200"/>
            <a:ext cx="0" cy="306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81600" y="5443200"/>
            <a:ext cx="4176000" cy="75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GdsElement (추상 클래스)</a:t>
            </a:r>
          </a:p>
          <a:p>
            <a:pPr algn="ctr"/>
            <a:r>
              <a:rPr sz="1200" b="1">
                <a:solidFill>
                  <a:schemeClr val="bg1"/>
                </a:solidFill>
              </a:rPr>
              <a:t>LayerID / DataType / ElementName</a:t>
            </a:r>
          </a:p>
          <a:p>
            <a:pPr algn="ctr"/>
            <a:r>
              <a:rPr sz="1200" b="1">
                <a:solidFill>
                  <a:schemeClr val="bg1"/>
                </a:solidFill>
              </a:rPr>
              <a:t>Transform / Bounds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57600" y="5821199"/>
            <a:ext cx="338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896000" y="1879200"/>
            <a:ext cx="0" cy="394199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96000" y="1879200"/>
            <a:ext cx="216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48000" y="1519200"/>
            <a:ext cx="1512000" cy="72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GdsBoundary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0000" y="1519200"/>
            <a:ext cx="28656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Points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96000" y="2822400"/>
            <a:ext cx="216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148000" y="2462400"/>
            <a:ext cx="151200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0000" y="2462400"/>
            <a:ext cx="28656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Points / Width / PathType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96000" y="3765600"/>
            <a:ext cx="216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148000" y="3405600"/>
            <a:ext cx="1512000" cy="7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GdsSRef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0000" y="3405600"/>
            <a:ext cx="28656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StructureName / Origin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96000" y="4708800"/>
            <a:ext cx="216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48000" y="4348800"/>
            <a:ext cx="1512000" cy="72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GdsARef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0000" y="4348800"/>
            <a:ext cx="28656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StructureName / Columns / Rows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Origin / ColVector / RowVector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96000" y="5652000"/>
            <a:ext cx="216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148000" y="5292000"/>
            <a:ext cx="1512000" cy="720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GdsText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60000" y="5292000"/>
            <a:ext cx="28656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Text / Position / TextType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FontNumber / 가로, 세로 기준점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AddElement: Layer별 정렬 삽입과 중복 제외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Layer 순으로 정렬해 Layer 단위 처리가 빠르나,</a:t>
            </a:r>
            <a:endParaRPr lang="en-US" altLang="ko-KR" dirty="0" smtClean="0"/>
          </a:p>
          <a:p>
            <a:r>
              <a:rPr lang="en-US" altLang="ko-KR" b="1" dirty="0" smtClean="0"/>
              <a:t>외곽 사각형(Bounds)이 같으면 모양이 달라도 중복으로 제외</a:t>
            </a:r>
            <a:r>
              <a:rPr lang="en-US" altLang="ko-KR" dirty="0" smtClean="0"/>
              <a:t>됨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Parsing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2736000" cy="612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ENDEL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3600" y="1825199"/>
            <a:ext cx="288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477600" y="1519200"/>
            <a:ext cx="2736000" cy="61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LayerID로 BinarySearch</a:t>
            </a:r>
          </a:p>
          <a:p>
            <a:pPr algn="ctr"/>
            <a:r>
              <a:rPr sz="1300" b="1">
                <a:solidFill>
                  <a:schemeClr val="bg1"/>
                </a:solidFill>
              </a:rPr>
              <a:t>없으면 새 GdsLayer 삽입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49600" y="1825199"/>
            <a:ext cx="288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73599" y="1519200"/>
            <a:ext cx="2736000" cy="61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Layer.Elements에서</a:t>
            </a:r>
          </a:p>
          <a:p>
            <a:pPr algn="ctr"/>
            <a:r>
              <a:rPr sz="1300" b="1">
                <a:solidFill>
                  <a:schemeClr val="bg1"/>
                </a:solidFill>
              </a:rPr>
              <a:t>BinarySearch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41600" y="2131200"/>
            <a:ext cx="0" cy="288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81600" y="2419200"/>
            <a:ext cx="2663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81600" y="2419200"/>
            <a:ext cx="0" cy="216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45599" y="2419200"/>
            <a:ext cx="0" cy="216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629600" y="2653199"/>
            <a:ext cx="2304000" cy="57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같은 키 없음</a:t>
            </a:r>
          </a:p>
          <a:p>
            <a:pPr algn="ctr"/>
            <a:r>
              <a:rPr sz="1300" b="1">
                <a:solidFill>
                  <a:schemeClr val="bg1"/>
                </a:solidFill>
              </a:rPr>
              <a:t>→ 정렬 위치에 삽입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7600" y="2653199"/>
            <a:ext cx="2376000" cy="576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같은 키 있음</a:t>
            </a:r>
          </a:p>
          <a:p>
            <a:pPr algn="ctr"/>
            <a:r>
              <a:rPr sz="1300" b="1">
                <a:solidFill>
                  <a:schemeClr val="bg1"/>
                </a:solidFill>
              </a:rPr>
              <a:t>→ DuplicatedItems로 이동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600" y="3499199"/>
            <a:ext cx="9144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500" b="1">
                <a:solidFill>
                  <a:schemeClr val="tx1"/>
                </a:solidFill>
              </a:rPr>
              <a:t>비교 키 (GdsElement.CompareTo) :  LayerID  →  ElementName  →  Bounds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4147200"/>
            <a:ext cx="9144000" cy="2160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장점: Layer별 정렬 상태라 Layer 체크 / 색상 / 검색 처리가 빠름</a:t>
            </a:r>
          </a:p>
          <a:p>
            <a:pPr lvl="0"/>
            <a:r>
              <a:rPr lang="ko-KR"/>
              <a:t>주의: 모양이 달라도 외곽 사각형이 같으면 1개만 남음 </a:t>
            </a:r>
            <a:r>
              <a:rPr lang="ko-KR">
                <a:solidFill>
                  <a:schemeClr val="accent6"/>
                </a:solidFill>
              </a:rPr>
              <a:t>[확인 필요]</a:t>
            </a:r>
          </a:p>
          <a:p>
            <a:pPr lvl="1"/>
            <a:r>
              <a:rPr lang="ko-KR"/>
              <a:t>제외된 도형은 화면 / Chain / DB 저장에 나오지 않음</a:t>
            </a:r>
          </a:p>
          <a:p>
            <a:pPr lvl="1"/>
            <a:r>
              <a:rPr lang="ko-KR"/>
              <a:t>DuplicatedItems는 Grid / CSV 확인용으로만 남음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GDS 파일 개념</a:t>
            </a:r>
            <a:endParaRPr lang="en-US" altLang="ko-KR" dirty="0" smtClean="0"/>
          </a:p>
          <a:p>
            <a:pPr lvl="0"/>
            <a:r>
              <a:rPr lang="ko-KR" altLang="en-US" dirty="0"/>
              <a:t>Parsing 구조</a:t>
            </a:r>
            <a:endParaRPr lang="en-US" altLang="ko-KR" dirty="0" smtClean="0"/>
          </a:p>
          <a:p>
            <a:pPr lvl="0"/>
            <a:r>
              <a:rPr lang="ko-KR" altLang="en-US" sz="2600" b="1" dirty="0">
                <a:solidFill>
                  <a:schemeClr val="accent1"/>
                </a:solidFill>
              </a:rPr>
              <a:t>Element 상세</a:t>
            </a:r>
            <a:endParaRPr lang="en-US" altLang="ko-KR" sz="2600" b="1" dirty="0">
              <a:solidFill>
                <a:schemeClr val="accent1"/>
              </a:solidFill>
            </a:endParaRPr>
          </a:p>
          <a:p>
            <a:pPr lvl="0"/>
            <a:r>
              <a:rPr lang="ko-KR" altLang="en-US" dirty="0"/>
              <a:t>화면 표시</a:t>
            </a:r>
            <a:endParaRPr lang="en-US" altLang="ko-KR" dirty="0" smtClean="0"/>
          </a:p>
          <a:p>
            <a:pPr lvl="0"/>
            <a:r>
              <a:rPr lang="ko-KR" altLang="en-US" dirty="0"/>
              <a:t>한계와 확인 사항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BOUNDARY: 닫힌 다각형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꼭짓점 배열(XY)로 면 도형을 표현하며, 첫 점과 마지막 점이 같아 다각형이 닫힘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III. Element 상세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744000" cy="43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005600" y="1519200"/>
            <a:ext cx="0" cy="432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29600" y="1519200"/>
            <a:ext cx="0" cy="432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53600" y="1519200"/>
            <a:ext cx="0" cy="432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77600" y="1519200"/>
            <a:ext cx="0" cy="432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01600" y="1519200"/>
            <a:ext cx="0" cy="432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1600" y="2383199"/>
            <a:ext cx="374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1600" y="3247200"/>
            <a:ext cx="374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1600" y="4111200"/>
            <a:ext cx="374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1600" y="4975200"/>
            <a:ext cx="374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1005600" y="2383199"/>
            <a:ext cx="2496000" cy="2592000"/>
          </a:xfrm>
          <a:custGeom>
            <a:avLst/>
            <a:gdLst/>
            <a:ahLst/>
            <a:cxnLst/>
            <a:rect l="l" t="t" r="r" b="b"/>
            <a:pathLst>
              <a:path w="2496000" h="2592000">
                <a:moveTo>
                  <a:pt x="0" y="2592000"/>
                </a:moveTo>
                <a:lnTo>
                  <a:pt x="2496000" y="2592000"/>
                </a:lnTo>
                <a:lnTo>
                  <a:pt x="2496000" y="1296000"/>
                </a:lnTo>
                <a:lnTo>
                  <a:pt x="935999" y="1296000"/>
                </a:lnTo>
                <a:lnTo>
                  <a:pt x="9359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8800" y="4928399"/>
            <a:ext cx="93600" cy="936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9600" y="4741199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P0 = P6</a:t>
            </a:r>
          </a:p>
        </p:txBody>
      </p:sp>
      <p:sp>
        <p:nvSpPr>
          <p:cNvPr id="19" name="Oval 18"/>
          <p:cNvSpPr/>
          <p:nvPr/>
        </p:nvSpPr>
        <p:spPr>
          <a:xfrm>
            <a:off x="3454799" y="4928399"/>
            <a:ext cx="93600" cy="936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55600" y="4741199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P1</a:t>
            </a:r>
          </a:p>
        </p:txBody>
      </p:sp>
      <p:sp>
        <p:nvSpPr>
          <p:cNvPr id="21" name="Oval 20"/>
          <p:cNvSpPr/>
          <p:nvPr/>
        </p:nvSpPr>
        <p:spPr>
          <a:xfrm>
            <a:off x="3454799" y="3632399"/>
            <a:ext cx="93600" cy="936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55600" y="3445199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P2</a:t>
            </a:r>
          </a:p>
        </p:txBody>
      </p:sp>
      <p:sp>
        <p:nvSpPr>
          <p:cNvPr id="23" name="Oval 22"/>
          <p:cNvSpPr/>
          <p:nvPr/>
        </p:nvSpPr>
        <p:spPr>
          <a:xfrm>
            <a:off x="1894799" y="3632399"/>
            <a:ext cx="93600" cy="936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95599" y="3445199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P3</a:t>
            </a:r>
          </a:p>
        </p:txBody>
      </p:sp>
      <p:sp>
        <p:nvSpPr>
          <p:cNvPr id="25" name="Oval 24"/>
          <p:cNvSpPr/>
          <p:nvPr/>
        </p:nvSpPr>
        <p:spPr>
          <a:xfrm>
            <a:off x="1894799" y="2336399"/>
            <a:ext cx="93600" cy="936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95599" y="2149199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P4</a:t>
            </a:r>
          </a:p>
        </p:txBody>
      </p:sp>
      <p:sp>
        <p:nvSpPr>
          <p:cNvPr id="27" name="Oval 26"/>
          <p:cNvSpPr/>
          <p:nvPr/>
        </p:nvSpPr>
        <p:spPr>
          <a:xfrm>
            <a:off x="958800" y="2336399"/>
            <a:ext cx="93600" cy="936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9600" y="2149199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600" y="5911199"/>
            <a:ext cx="37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XY에 꼭짓점을 순서대로 저장, 마지막 점 = 첫 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0" y="1519200"/>
            <a:ext cx="1296000" cy="223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BOUNDARY  0x08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0" y="18612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tx1"/>
                </a:solidFill>
              </a:rPr>
              <a:t>레코드 순서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0" y="2095200"/>
            <a:ext cx="1728000" cy="280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bg1"/>
                </a:solidFill>
              </a:rPr>
              <a:t>BOUNDARY   0x08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0" y="2437200"/>
            <a:ext cx="17280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LAYER   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0" y="2779200"/>
            <a:ext cx="17280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DATATYPE  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0" y="3121200"/>
            <a:ext cx="17280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XY   P0 … P6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0" y="3463200"/>
            <a:ext cx="1728000" cy="280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bg1"/>
                </a:solidFill>
              </a:rPr>
              <a:t>ENDEL   0x11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8000" y="1519200"/>
            <a:ext cx="3297600" cy="4680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GdsBoundary.Points</a:t>
            </a:r>
          </a:p>
          <a:p>
            <a:pPr lvl="1"/>
            <a:r>
              <a:rPr lang="ko-KR"/>
              <a:t>좌표 = INT4 × DatabaseUnit (µm)</a:t>
            </a:r>
          </a:p>
          <a:p>
            <a:pPr lvl="0"/>
            <a:r>
              <a:rPr lang="ko-KR"/>
              <a:t>Bounds = 꼭짓점 최소 / 최대 X, Y</a:t>
            </a:r>
          </a:p>
          <a:p>
            <a:pPr lvl="1"/>
            <a:r>
              <a:rPr lang="ko-KR"/>
              <a:t>ENDEL 시 SetBounds 후 Layer에 정렬 삽입</a:t>
            </a:r>
          </a:p>
          <a:p>
            <a:pPr lvl="0"/>
            <a:r>
              <a:rPr lang="ko-KR"/>
              <a:t>화면: 채운 다각형 + 외곽선</a:t>
            </a:r>
          </a:p>
          <a:p>
            <a:pPr lvl="1"/>
            <a:r>
              <a:rPr lang="ko-KR"/>
              <a:t>Flatten에서 closed = true로 생성</a:t>
            </a:r>
          </a:p>
          <a:p>
            <a:pPr lvl="0"/>
            <a:r>
              <a:rPr lang="ko-KR"/>
              <a:t>Pad / Bump / Via 등 면 도형 대부분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PATH: 중심선 + 폭 + 끝 모양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중심선 점과 폭(WIDTH)으로 배선을 표현하며, PathType 0 / 1 / 2로 끝 모양을 정함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III. Element 상세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547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49600" y="2923199"/>
            <a:ext cx="1872000" cy="0"/>
          </a:xfrm>
          <a:prstGeom prst="line">
            <a:avLst/>
          </a:prstGeom>
          <a:ln w="330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721600" y="2059200"/>
            <a:ext cx="0" cy="863999"/>
          </a:xfrm>
          <a:prstGeom prst="line">
            <a:avLst/>
          </a:prstGeom>
          <a:ln w="330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21600" y="2059200"/>
            <a:ext cx="2556000" cy="0"/>
          </a:xfrm>
          <a:prstGeom prst="line">
            <a:avLst/>
          </a:prstGeom>
          <a:ln w="330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9600" y="2923199"/>
            <a:ext cx="1872000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21600" y="2059200"/>
            <a:ext cx="0" cy="863999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21600" y="2059200"/>
            <a:ext cx="2556000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06400" y="2879999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3600" y="3031200"/>
            <a:ext cx="360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P0</a:t>
            </a:r>
          </a:p>
        </p:txBody>
      </p:sp>
      <p:sp>
        <p:nvSpPr>
          <p:cNvPr id="16" name="Oval 15"/>
          <p:cNvSpPr/>
          <p:nvPr/>
        </p:nvSpPr>
        <p:spPr>
          <a:xfrm>
            <a:off x="2678400" y="2879999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75600" y="3031200"/>
            <a:ext cx="360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P1</a:t>
            </a:r>
          </a:p>
        </p:txBody>
      </p:sp>
      <p:sp>
        <p:nvSpPr>
          <p:cNvPr id="18" name="Oval 17"/>
          <p:cNvSpPr/>
          <p:nvPr/>
        </p:nvSpPr>
        <p:spPr>
          <a:xfrm>
            <a:off x="2678400" y="2015999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75600" y="2167200"/>
            <a:ext cx="360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P2</a:t>
            </a:r>
          </a:p>
        </p:txBody>
      </p:sp>
      <p:sp>
        <p:nvSpPr>
          <p:cNvPr id="20" name="Oval 19"/>
          <p:cNvSpPr/>
          <p:nvPr/>
        </p:nvSpPr>
        <p:spPr>
          <a:xfrm>
            <a:off x="5234400" y="2015999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31600" y="2167200"/>
            <a:ext cx="360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P3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1600" y="1861200"/>
            <a:ext cx="0" cy="39600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33600" y="1699200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Width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600" y="1609200"/>
            <a:ext cx="25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XY = 중심선 점 (흰 점선)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600" y="3535200"/>
            <a:ext cx="17748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600" y="3643200"/>
            <a:ext cx="1548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accent2"/>
                </a:solidFill>
              </a:rPr>
              <a:t>0  Flush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600" y="4435200"/>
            <a:ext cx="971999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777600" y="4615200"/>
            <a:ext cx="971999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41600" y="4579200"/>
            <a:ext cx="72000" cy="7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713600" y="4579200"/>
            <a:ext cx="72000" cy="7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600" y="5191200"/>
            <a:ext cx="15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끝점에서 바로 자름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28400" y="3535200"/>
            <a:ext cx="17748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36399" y="3643200"/>
            <a:ext cx="1548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accent2"/>
                </a:solidFill>
              </a:rPr>
              <a:t>1  Round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24399" y="4435200"/>
            <a:ext cx="971999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444399" y="4435200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416399" y="4435200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2624399" y="4615200"/>
            <a:ext cx="972000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588400" y="4579200"/>
            <a:ext cx="72000" cy="7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560399" y="4579200"/>
            <a:ext cx="72000" cy="7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36399" y="5191200"/>
            <a:ext cx="15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끝에 반원 (지름 = 폭)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75200" y="3535200"/>
            <a:ext cx="17748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83200" y="3643200"/>
            <a:ext cx="1548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accent2"/>
                </a:solidFill>
              </a:rPr>
              <a:t>2  Extended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1200" y="4435200"/>
            <a:ext cx="13320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4471200" y="4615200"/>
            <a:ext cx="972000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435200" y="4579200"/>
            <a:ext cx="72000" cy="7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407200" y="4579200"/>
            <a:ext cx="72000" cy="7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83200" y="5191200"/>
            <a:ext cx="15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끝을 폭 ÷ 2만큼 연장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48000" y="1519200"/>
            <a:ext cx="1152000" cy="223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PATH  0x09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48000" y="1861200"/>
            <a:ext cx="3477600" cy="280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bg1"/>
                </a:solidFill>
              </a:rPr>
              <a:t>PATH   0x09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48000" y="2203200"/>
            <a:ext cx="34776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LAYER / DATATYPE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48000" y="2545200"/>
            <a:ext cx="34776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PATHTYPE   0x21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48000" y="2887200"/>
            <a:ext cx="34776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WIDTH   0x0F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48000" y="3229199"/>
            <a:ext cx="34776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XY   P0 … Pn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48000" y="3571200"/>
            <a:ext cx="3477600" cy="280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bg1"/>
                </a:solidFill>
              </a:rPr>
              <a:t>ENDEL   0x11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48000" y="4003200"/>
            <a:ext cx="3477600" cy="2268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Points / Width / PathType 저장</a:t>
            </a:r>
          </a:p>
          <a:p>
            <a:pPr lvl="1"/>
            <a:r>
              <a:rPr lang="ko-KR"/>
              <a:t>Width = INT4 × DB 단위, 음수(절대 폭)도 절대값 사용</a:t>
            </a:r>
          </a:p>
          <a:p>
            <a:pPr lvl="0"/>
            <a:r>
              <a:rPr lang="ko-KR"/>
              <a:t>Bounds = 점 범위 + Width ÷ 2 사방 확장</a:t>
            </a:r>
          </a:p>
          <a:p>
            <a:pPr lvl="0"/>
            <a:r>
              <a:rPr lang="ko-KR"/>
              <a:t>PathType 4(사용자 지정 연장) 미지원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SREF: 다른 Structure를 변환해 1회 배치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미러 → 배율 → 회전 → 원점 이동 순서로 변환해 자식 Structure를 배치함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III. Element 상세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692000" cy="20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53600" y="2527200"/>
            <a:ext cx="1547999" cy="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27600" y="1591200"/>
            <a:ext cx="0" cy="187200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1227600" y="2080799"/>
            <a:ext cx="312480" cy="446401"/>
          </a:xfrm>
          <a:custGeom>
            <a:avLst/>
            <a:gdLst/>
            <a:ahLst/>
            <a:cxnLst/>
            <a:rect l="l" t="t" r="r" b="b"/>
            <a:pathLst>
              <a:path w="312480" h="446401">
                <a:moveTo>
                  <a:pt x="0" y="446401"/>
                </a:moveTo>
                <a:lnTo>
                  <a:pt x="0" y="0"/>
                </a:lnTo>
                <a:lnTo>
                  <a:pt x="312480" y="0"/>
                </a:lnTo>
                <a:lnTo>
                  <a:pt x="312480" y="111601"/>
                </a:lnTo>
                <a:lnTo>
                  <a:pt x="111600" y="111601"/>
                </a:lnTo>
                <a:lnTo>
                  <a:pt x="111600" y="446401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000" y="2487599"/>
            <a:ext cx="79200" cy="792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600" y="35892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t>원래 Cell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4400" y="2527200"/>
            <a:ext cx="151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244600" y="1519200"/>
            <a:ext cx="1692000" cy="20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2316600" y="2527200"/>
            <a:ext cx="1548000" cy="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90599" y="1591200"/>
            <a:ext cx="0" cy="187200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3090599" y="2527200"/>
            <a:ext cx="312481" cy="446400"/>
          </a:xfrm>
          <a:custGeom>
            <a:avLst/>
            <a:gdLst/>
            <a:ahLst/>
            <a:cxnLst/>
            <a:rect l="l" t="t" r="r" b="b"/>
            <a:pathLst>
              <a:path w="312481" h="446400">
                <a:moveTo>
                  <a:pt x="0" y="0"/>
                </a:moveTo>
                <a:lnTo>
                  <a:pt x="0" y="446400"/>
                </a:lnTo>
                <a:lnTo>
                  <a:pt x="312481" y="446400"/>
                </a:lnTo>
                <a:lnTo>
                  <a:pt x="312481" y="334799"/>
                </a:lnTo>
                <a:lnTo>
                  <a:pt x="111601" y="334799"/>
                </a:lnTo>
                <a:lnTo>
                  <a:pt x="111601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51000" y="2487599"/>
            <a:ext cx="79200" cy="792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4600" y="35892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accent4"/>
                </a:solidFill>
              </a:rPr>
              <a:t>① STRANS 미러</a:t>
            </a:r>
          </a:p>
          <a:p>
            <a:pPr algn="ctr"/>
            <a:r>
              <a:rPr sz="1200" b="1">
                <a:solidFill>
                  <a:schemeClr val="accent4"/>
                </a:solidFill>
              </a:rPr>
              <a:t>Y → −Y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47399" y="2527200"/>
            <a:ext cx="151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07600" y="1519200"/>
            <a:ext cx="1692000" cy="20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4179600" y="2527200"/>
            <a:ext cx="1548000" cy="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53600" y="1591200"/>
            <a:ext cx="0" cy="187200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4953600" y="2527200"/>
            <a:ext cx="406224" cy="580320"/>
          </a:xfrm>
          <a:custGeom>
            <a:avLst/>
            <a:gdLst/>
            <a:ahLst/>
            <a:cxnLst/>
            <a:rect l="l" t="t" r="r" b="b"/>
            <a:pathLst>
              <a:path w="406224" h="580320">
                <a:moveTo>
                  <a:pt x="0" y="0"/>
                </a:moveTo>
                <a:lnTo>
                  <a:pt x="0" y="580320"/>
                </a:lnTo>
                <a:lnTo>
                  <a:pt x="406224" y="580320"/>
                </a:lnTo>
                <a:lnTo>
                  <a:pt x="406224" y="435239"/>
                </a:lnTo>
                <a:lnTo>
                  <a:pt x="145080" y="435239"/>
                </a:lnTo>
                <a:lnTo>
                  <a:pt x="14508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4000" y="2487599"/>
            <a:ext cx="79200" cy="792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07600" y="35892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accent4"/>
                </a:solidFill>
              </a:rPr>
              <a:t>② MAG 배율 × 1.3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10400" y="2527200"/>
            <a:ext cx="151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70599" y="1519200"/>
            <a:ext cx="1692000" cy="20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6042599" y="2527200"/>
            <a:ext cx="1548000" cy="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16600" y="1591200"/>
            <a:ext cx="0" cy="187200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816600" y="2120976"/>
            <a:ext cx="580319" cy="406224"/>
          </a:xfrm>
          <a:custGeom>
            <a:avLst/>
            <a:gdLst/>
            <a:ahLst/>
            <a:cxnLst/>
            <a:rect l="l" t="t" r="r" b="b"/>
            <a:pathLst>
              <a:path w="580319" h="406224">
                <a:moveTo>
                  <a:pt x="0" y="406224"/>
                </a:moveTo>
                <a:lnTo>
                  <a:pt x="580319" y="406224"/>
                </a:lnTo>
                <a:lnTo>
                  <a:pt x="580319" y="0"/>
                </a:lnTo>
                <a:lnTo>
                  <a:pt x="435239" y="0"/>
                </a:lnTo>
                <a:lnTo>
                  <a:pt x="435239" y="261143"/>
                </a:lnTo>
                <a:lnTo>
                  <a:pt x="0" y="261143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77000" y="2487599"/>
            <a:ext cx="79200" cy="792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0599" y="35892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accent4"/>
                </a:solidFill>
              </a:rPr>
              <a:t>③ ANGLE 회전 90°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73399" y="2527200"/>
            <a:ext cx="151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833599" y="1519200"/>
            <a:ext cx="1692000" cy="20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7905599" y="2635200"/>
            <a:ext cx="1548001" cy="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139600" y="1591200"/>
            <a:ext cx="0" cy="1872000"/>
          </a:xfrm>
          <a:prstGeom prst="line">
            <a:avLst/>
          </a:prstGeom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8586000" y="2117376"/>
            <a:ext cx="580320" cy="406224"/>
          </a:xfrm>
          <a:custGeom>
            <a:avLst/>
            <a:gdLst/>
            <a:ahLst/>
            <a:cxnLst/>
            <a:rect l="l" t="t" r="r" b="b"/>
            <a:pathLst>
              <a:path w="580320" h="406224">
                <a:moveTo>
                  <a:pt x="0" y="406224"/>
                </a:moveTo>
                <a:lnTo>
                  <a:pt x="580320" y="406224"/>
                </a:lnTo>
                <a:lnTo>
                  <a:pt x="580320" y="0"/>
                </a:lnTo>
                <a:lnTo>
                  <a:pt x="435240" y="0"/>
                </a:lnTo>
                <a:lnTo>
                  <a:pt x="435240" y="261143"/>
                </a:lnTo>
                <a:lnTo>
                  <a:pt x="0" y="261143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100000" y="2595599"/>
            <a:ext cx="79200" cy="792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33599" y="3589200"/>
            <a:ext cx="169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accent4"/>
                </a:solidFill>
              </a:rPr>
              <a:t>④ 원점 이동 (+2, +0.5)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600" y="4147200"/>
            <a:ext cx="2520000" cy="2808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bg1"/>
                </a:solidFill>
              </a:rPr>
              <a:t>SREF   0x0A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1600" y="4489200"/>
            <a:ext cx="25200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SNAME   "BUMP_CELL"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600" y="4831200"/>
            <a:ext cx="25200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STRANS / MAG / ANGLE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1600" y="5173200"/>
            <a:ext cx="2520000" cy="2808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bg1"/>
                </a:solidFill>
              </a:rPr>
              <a:t>XY   원점 1점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31999" y="4111200"/>
            <a:ext cx="6393600" cy="2160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GdsSRef: StructureName / Origin + 공통 Transform</a:t>
            </a:r>
          </a:p>
          <a:p>
            <a:pPr lvl="1"/>
            <a:r>
              <a:rPr lang="ko-KR"/>
              <a:t>Transform = MirrorX / Magnification / Rotation</a:t>
            </a:r>
          </a:p>
          <a:p>
            <a:pPr lvl="0"/>
            <a:r>
              <a:rPr lang="ko-KR"/>
              <a:t>Flatten에서 행렬 생성 후 원점 이동, 부모 행렬과 곱해 재귀 전개</a:t>
            </a:r>
          </a:p>
          <a:p>
            <a:pPr lvl="1"/>
            <a:r>
              <a:rPr lang="ko-KR"/>
              <a:t>재귀 깊이 64 제한, 자기 자신 재참조(순환)는 건너뜀</a:t>
            </a:r>
          </a:p>
          <a:p>
            <a:pPr lvl="1"/>
            <a:r>
              <a:rPr lang="ko-KR"/>
              <a:t>참조한 Structure 이름이 없으면 그 SREF는 표시하지 않음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AREF: 다른 Structure를 행렬로 배치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열 × 행 반복 배치 정보를 읽지만,</a:t>
            </a:r>
            <a:endParaRPr lang="en-US" altLang="ko-KR" dirty="0" smtClean="0"/>
          </a:p>
          <a:p>
            <a:r>
              <a:rPr lang="en-US" altLang="ko-KR" b="1" dirty="0" smtClean="0"/>
              <a:t>현재 Flatten에서 펼치지 않아 화면 / Chain / DB에 나오지 않음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III. Element 상세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4896000" cy="46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93599" y="4759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29600" y="4759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65600" y="4759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01600" y="4759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93599" y="3571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29600" y="3571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65600" y="3571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01600" y="3571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3599" y="2383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9600" y="2383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65600" y="2383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01600" y="2383200"/>
            <a:ext cx="684000" cy="82799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885600" y="5767200"/>
            <a:ext cx="3708000" cy="0"/>
          </a:xfrm>
          <a:prstGeom prst="line">
            <a:avLst/>
          </a:prstGeom>
          <a:ln w="19050">
            <a:solidFill>
              <a:schemeClr val="accent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5600" y="2239200"/>
            <a:ext cx="0" cy="3528000"/>
          </a:xfrm>
          <a:prstGeom prst="line">
            <a:avLst/>
          </a:prstGeom>
          <a:ln w="19050">
            <a:solidFill>
              <a:schemeClr val="accent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31600" y="5713200"/>
            <a:ext cx="108000" cy="108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5600" y="5713200"/>
            <a:ext cx="108000" cy="108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1600" y="2149200"/>
            <a:ext cx="108000" cy="108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599" y="5857200"/>
            <a:ext cx="144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XY[0] Origin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9600" y="5857200"/>
            <a:ext cx="223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chemeClr val="accent6"/>
                </a:solidFill>
              </a:rPr>
              <a:t>XY[1] = Origin + 열 피치 ×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599" y="1987200"/>
            <a:ext cx="25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XY[2] = Origin + 행 피치 ×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72000" y="1519200"/>
            <a:ext cx="1152000" cy="223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AREF  0x0B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2000" y="1861200"/>
            <a:ext cx="4053600" cy="2808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bg1"/>
                </a:solidFill>
              </a:rPr>
              <a:t>AREF   0x0B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72000" y="2203200"/>
            <a:ext cx="40536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SNAME   Cell 이름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72000" y="2545200"/>
            <a:ext cx="40536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STRANS / MAG / ANGLE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72000" y="2887200"/>
            <a:ext cx="40536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COLROW   4,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72000" y="3229199"/>
            <a:ext cx="4053600" cy="2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tx1"/>
                </a:solidFill>
              </a:rPr>
              <a:t>XY   3점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72000" y="3571200"/>
            <a:ext cx="4053600" cy="2808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1">
                <a:solidFill>
                  <a:schemeClr val="bg1"/>
                </a:solidFill>
              </a:rPr>
              <a:t>ENDEL   0x11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2000" y="4003200"/>
            <a:ext cx="4053600" cy="1152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GdsARef: Columns / Rows / Origin / ColVector / RowVector</a:t>
            </a:r>
          </a:p>
          <a:p>
            <a:pPr lvl="1"/>
            <a:r>
              <a:rPr lang="ko-KR"/>
              <a:t>한 칸 피치 = (ColVector − Origin) ÷ Columns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72000" y="5227200"/>
            <a:ext cx="4053600" cy="972000"/>
          </a:xfrm>
          <a:prstGeom prst="rect">
            <a:avLst/>
          </a:prstGeom>
          <a:solidFill>
            <a:schemeClr val="accent6">
              <a:lumMod val="15000"/>
              <a:lumOff val="85000"/>
            </a:schemeClr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80000" y="5281199"/>
            <a:ext cx="3851999" cy="900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sz="1400"/>
              <a:t>FlattenStructure에 AREF 분기 없음 </a:t>
            </a:r>
            <a:r>
              <a:rPr lang="ko-KR" sz="1400">
                <a:solidFill>
                  <a:schemeClr val="accent6"/>
                </a:solidFill>
              </a:rPr>
              <a:t>[확인 필요]</a:t>
            </a:r>
          </a:p>
          <a:p>
            <a:pPr lvl="1"/>
            <a:r>
              <a:rPr lang="ko-KR"/>
              <a:t>고객 GDS에 AREF가 있으면 배열 도형 전체 누락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TEXT: 문자열 + 기준 좌표 + 기준점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PRESENTATION 비트로 문자열의 어느 지점을 좌표에 맞출지 9가지 중 하나로 정함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III. Element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9600" y="1519200"/>
            <a:ext cx="388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가로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600" y="2311200"/>
            <a:ext cx="61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8400" y="1800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45600" y="2239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11" name="Oval 10"/>
          <p:cNvSpPr/>
          <p:nvPr/>
        </p:nvSpPr>
        <p:spPr>
          <a:xfrm>
            <a:off x="1202400" y="2196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54400" y="1800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41600" y="2239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14" name="Oval 13"/>
          <p:cNvSpPr/>
          <p:nvPr/>
        </p:nvSpPr>
        <p:spPr>
          <a:xfrm>
            <a:off x="2930400" y="2196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0400" y="1800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37600" y="2239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17" name="Oval 16"/>
          <p:cNvSpPr/>
          <p:nvPr/>
        </p:nvSpPr>
        <p:spPr>
          <a:xfrm>
            <a:off x="4658400" y="2196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1600" y="3607200"/>
            <a:ext cx="61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Middle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8400" y="3096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45600" y="3535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21" name="Oval 20"/>
          <p:cNvSpPr/>
          <p:nvPr/>
        </p:nvSpPr>
        <p:spPr>
          <a:xfrm>
            <a:off x="1202400" y="3672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54400" y="3096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41600" y="3535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24" name="Oval 23"/>
          <p:cNvSpPr/>
          <p:nvPr/>
        </p:nvSpPr>
        <p:spPr>
          <a:xfrm>
            <a:off x="2930400" y="3672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0400" y="3096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37600" y="3535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27" name="Oval 26"/>
          <p:cNvSpPr/>
          <p:nvPr/>
        </p:nvSpPr>
        <p:spPr>
          <a:xfrm>
            <a:off x="4658400" y="3672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1600" y="4903200"/>
            <a:ext cx="61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Bottom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8400" y="4392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45600" y="4831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31" name="Oval 30"/>
          <p:cNvSpPr/>
          <p:nvPr/>
        </p:nvSpPr>
        <p:spPr>
          <a:xfrm>
            <a:off x="1202400" y="5148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354400" y="4392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41600" y="4831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34" name="Oval 33"/>
          <p:cNvSpPr/>
          <p:nvPr/>
        </p:nvSpPr>
        <p:spPr>
          <a:xfrm>
            <a:off x="2930400" y="5148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0400" y="4392000"/>
            <a:ext cx="1238400" cy="123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37600" y="4831200"/>
            <a:ext cx="864000" cy="3600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2000" b="1">
                <a:solidFill>
                  <a:schemeClr val="tx2"/>
                </a:solidFill>
              </a:rPr>
              <a:t>VDD</a:t>
            </a:r>
          </a:p>
        </p:txBody>
      </p:sp>
      <p:sp>
        <p:nvSpPr>
          <p:cNvPr id="37" name="Oval 36"/>
          <p:cNvSpPr/>
          <p:nvPr/>
        </p:nvSpPr>
        <p:spPr>
          <a:xfrm>
            <a:off x="4658400" y="5148000"/>
            <a:ext cx="86400" cy="864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1600" y="5731200"/>
            <a:ext cx="504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빨간 점 = XY 좌표 / 문자열의 어느 지점을 좌표에 맞출지 9가지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6000" y="1519200"/>
            <a:ext cx="396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PRESENTATION (0x17) 비트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6000" y="1807199"/>
            <a:ext cx="936000" cy="30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15 …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6000" y="2149200"/>
            <a:ext cx="936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사용 안 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20800" y="1807199"/>
            <a:ext cx="936000" cy="30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5  4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20800" y="2149200"/>
            <a:ext cx="936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글꼴 번호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85600" y="1807199"/>
            <a:ext cx="1152000" cy="30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3  2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85600" y="2149200"/>
            <a:ext cx="1152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세로 위치</a:t>
            </a:r>
          </a:p>
          <a:p>
            <a:pPr algn="ctr"/>
            <a:r>
              <a:rPr sz="1000" b="0">
                <a:solidFill>
                  <a:schemeClr val="tx1"/>
                </a:solidFill>
              </a:rPr>
              <a:t>0 / 1 / 2</a:t>
            </a:r>
          </a:p>
          <a:p>
            <a:pPr algn="ctr"/>
            <a:r>
              <a:rPr sz="1000" b="0">
                <a:solidFill>
                  <a:schemeClr val="tx1"/>
                </a:solidFill>
              </a:rPr>
              <a:t>Top / Mid / Bot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400" y="1807199"/>
            <a:ext cx="1152000" cy="30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1  0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400" y="2149200"/>
            <a:ext cx="1152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chemeClr val="tx1"/>
                </a:solidFill>
              </a:rPr>
              <a:t>가로 위치</a:t>
            </a:r>
          </a:p>
          <a:p>
            <a:pPr algn="ctr"/>
            <a:r>
              <a:rPr sz="1000" b="0">
                <a:solidFill>
                  <a:schemeClr val="tx1"/>
                </a:solidFill>
              </a:rPr>
              <a:t>0 / 1 / 2</a:t>
            </a:r>
          </a:p>
          <a:p>
            <a:pPr algn="ctr"/>
            <a:r>
              <a:rPr sz="1000" b="0">
                <a:solidFill>
                  <a:schemeClr val="tx1"/>
                </a:solidFill>
              </a:rPr>
              <a:t>Left / Ctr / Right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6000" y="2869200"/>
            <a:ext cx="1152000" cy="223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TEXT  0x0C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6000" y="3175200"/>
            <a:ext cx="4269600" cy="3168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GdsText: Text / Position / TextType / FontNumber / 기준점</a:t>
            </a:r>
          </a:p>
          <a:p>
            <a:pPr lvl="1"/>
            <a:r>
              <a:rPr lang="ko-KR"/>
              <a:t>STRING = 문자열, XY = 위치 1점</a:t>
            </a:r>
          </a:p>
          <a:p>
            <a:pPr lvl="1"/>
            <a:r>
              <a:rPr lang="ko-KR"/>
              <a:t>예약값 3은 기본값 Left / Top으로 처리</a:t>
            </a:r>
          </a:p>
          <a:p>
            <a:pPr lvl="0"/>
            <a:r>
              <a:rPr lang="ko-KR"/>
              <a:t>Bounds는 위치 1점 (글자 크기는 화면에서 결정)</a:t>
            </a:r>
          </a:p>
          <a:p>
            <a:pPr lvl="0"/>
            <a:r>
              <a:rPr lang="ko-KR"/>
              <a:t>Flatten에서 위치만 변환 후 Label로 등록</a:t>
            </a:r>
          </a:p>
          <a:p>
            <a:pPr lvl="1"/>
            <a:r>
              <a:rPr lang="ko-KR"/>
              <a:t>표시 방식은 IV장 Label 설명 참고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GDS 파일 개념</a:t>
            </a:r>
            <a:endParaRPr lang="en-US" altLang="ko-KR" dirty="0" smtClean="0"/>
          </a:p>
          <a:p>
            <a:pPr lvl="0"/>
            <a:r>
              <a:rPr lang="ko-KR" altLang="en-US" dirty="0"/>
              <a:t>Parsing 구조</a:t>
            </a:r>
            <a:endParaRPr lang="en-US" altLang="ko-KR" dirty="0" smtClean="0"/>
          </a:p>
          <a:p>
            <a:pPr lvl="0"/>
            <a:r>
              <a:rPr lang="ko-KR" altLang="en-US" dirty="0"/>
              <a:t>Element 상세</a:t>
            </a:r>
            <a:endParaRPr lang="en-US" altLang="ko-KR" dirty="0" smtClean="0"/>
          </a:p>
          <a:p>
            <a:pPr lvl="0"/>
            <a:r>
              <a:rPr lang="ko-KR" altLang="en-US" sz="2600" b="1" dirty="0">
                <a:solidFill>
                  <a:schemeClr val="accent1"/>
                </a:solidFill>
              </a:rPr>
              <a:t>화면 표시</a:t>
            </a:r>
            <a:endParaRPr lang="en-US" altLang="ko-KR" sz="2600" b="1" dirty="0">
              <a:solidFill>
                <a:schemeClr val="accent1"/>
              </a:solidFill>
            </a:endParaRPr>
          </a:p>
          <a:p>
            <a:pPr lvl="0"/>
            <a:r>
              <a:rPr lang="ko-KR" altLang="en-US" dirty="0"/>
              <a:t>한계와 확인 사항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Flatten: 참조를 펼쳐 실제 배치 도형 생성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SREF 행렬을 누적해 월드 좌표를 계산하고, 배치마다 고유 ID(R0/R3/E5)를 부여함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IV.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655999" cy="54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GdsLibrary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5600" y="1789200"/>
            <a:ext cx="18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53600" y="1519200"/>
            <a:ext cx="1655999" cy="54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ShowStructure</a:t>
            </a:r>
          </a:p>
          <a:p>
            <a:pPr algn="ctr"/>
            <a:r>
              <a:rPr sz="1200" b="1">
                <a:solidFill>
                  <a:schemeClr val="bg1"/>
                </a:solidFill>
              </a:rPr>
              <a:t>Top 선택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27600" y="1789200"/>
            <a:ext cx="18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125600" y="1519200"/>
            <a:ext cx="1655999" cy="5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FlattenStructure</a:t>
            </a:r>
          </a:p>
          <a:p>
            <a:pPr algn="ctr"/>
            <a:r>
              <a:rPr sz="1200" b="1">
                <a:solidFill>
                  <a:schemeClr val="bg1"/>
                </a:solidFill>
              </a:rPr>
              <a:t>재귀 / 행렬 누적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99600" y="1789200"/>
            <a:ext cx="18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997600" y="1519200"/>
            <a:ext cx="1655999" cy="54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GlSceneItem</a:t>
            </a:r>
          </a:p>
          <a:p>
            <a:pPr algn="ctr"/>
            <a:r>
              <a:rPr sz="1200" b="1">
                <a:solidFill>
                  <a:schemeClr val="bg1"/>
                </a:solidFill>
              </a:rPr>
              <a:t>월드 좌표 + 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71600" y="1789200"/>
            <a:ext cx="18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869600" y="1519200"/>
            <a:ext cx="1655999" cy="54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GPU 버퍼 / Label</a:t>
            </a:r>
          </a:p>
          <a:p>
            <a:pPr algn="ctr"/>
            <a:r>
              <a:rPr sz="1200" b="1">
                <a:solidFill>
                  <a:schemeClr val="bg1"/>
                </a:solidFill>
              </a:rPr>
              <a:t>Chain / DB 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2311200"/>
            <a:ext cx="86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배치 ID 생성 방식 (같은 Cell이 여러 번 놓여도 서로 다른 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600" y="2599200"/>
            <a:ext cx="1655999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TOP  (R0)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7600" y="2959199"/>
            <a:ext cx="0" cy="396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7600" y="3355200"/>
            <a:ext cx="18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7600" y="3175200"/>
            <a:ext cx="2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E0 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5600" y="3265200"/>
            <a:ext cx="14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R0/E0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7600" y="2959199"/>
            <a:ext cx="0" cy="954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7600" y="3913200"/>
            <a:ext cx="18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600" y="3733200"/>
            <a:ext cx="2160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E3  SREF → BUMP_CELL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5600" y="3823200"/>
            <a:ext cx="14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R0/R3 경로 진입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85600" y="3913200"/>
            <a:ext cx="288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809600" y="3733200"/>
            <a:ext cx="1728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E5 → R0/R3/E5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7600" y="2959199"/>
            <a:ext cx="0" cy="1512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7600" y="4471200"/>
            <a:ext cx="18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77600" y="4291200"/>
            <a:ext cx="2160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E4  SREF → BUMP_CELL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5600" y="4381200"/>
            <a:ext cx="14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R0/R4 경로 진입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485600" y="4471200"/>
            <a:ext cx="288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809600" y="4291200"/>
            <a:ext cx="1728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tx1"/>
                </a:solidFill>
              </a:rPr>
              <a:t>E5 → R0/R4/E5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0000" y="2599200"/>
            <a:ext cx="2685600" cy="3671999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PlacedElementId</a:t>
            </a:r>
          </a:p>
          <a:p>
            <a:pPr lvl="1"/>
            <a:r>
              <a:rPr lang="ko-KR"/>
              <a:t>R0 / R&lt;참조순번&gt; … / E&lt;순번&gt;</a:t>
            </a:r>
          </a:p>
          <a:p>
            <a:pPr lvl="0"/>
            <a:r>
              <a:rPr lang="ko-KR"/>
              <a:t>SourceElementId</a:t>
            </a:r>
          </a:p>
          <a:p>
            <a:pPr lvl="1"/>
            <a:r>
              <a:rPr lang="ko-KR"/>
              <a:t>&lt;Structure&gt;/E&lt;순번&gt;</a:t>
            </a:r>
          </a:p>
          <a:p>
            <a:pPr lvl="1"/>
            <a:r>
              <a:rPr lang="ko-KR"/>
              <a:t>예) BUMP_CELL/E5</a:t>
            </a:r>
          </a:p>
          <a:p>
            <a:pPr lvl="0"/>
            <a:r>
              <a:rPr lang="ko-KR"/>
              <a:t>Chain 멤버 / DB 저장 기준 = PlacedId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600" y="4975200"/>
            <a:ext cx="6300000" cy="1296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재귀 깊이 64 제한, 순환 참조 차단</a:t>
            </a:r>
          </a:p>
          <a:p>
            <a:pPr lvl="1"/>
            <a:r>
              <a:rPr lang="ko-KR"/>
              <a:t>TEXT는 위치만 변환해 Label 목록에 등록함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 프레임(OnPaint) 그리기 순서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OpenGL로 도형을 먼저 그리고, 그 위에 GDI로 Label / 원점 / Chain 설정 표시를 덧그림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IV.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296000" cy="1007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OpenGL</a:t>
            </a:r>
          </a:p>
          <a:p>
            <a:pPr algn="ctr"/>
            <a:r>
              <a:rPr sz="1300" b="1">
                <a:solidFill>
                  <a:schemeClr val="bg1"/>
                </a:solidFill>
              </a:rPr>
              <a:t>GPU 버퍼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1600" y="1519200"/>
            <a:ext cx="1425600" cy="1007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① 화면 지우기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투영 행렬 계산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61600" y="2023199"/>
            <a:ext cx="115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391200" y="1519200"/>
            <a:ext cx="1425600" cy="1007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② 표시 Layer만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채움 → 외곽선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31200" y="2023199"/>
            <a:ext cx="115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60800" y="1519200"/>
            <a:ext cx="1425600" cy="1007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③ 선택 도형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다시 그려 맨 위로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2023199"/>
            <a:ext cx="115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530400" y="1519200"/>
            <a:ext cx="1425600" cy="1007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④ Defect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빨간 채움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70400" y="2023199"/>
            <a:ext cx="115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00000" y="1519200"/>
            <a:ext cx="1425600" cy="1007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⑤ Chain 외곽선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→ 화면 교체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600" y="3031200"/>
            <a:ext cx="1296000" cy="100799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GDI</a:t>
            </a:r>
          </a:p>
          <a:p>
            <a:pPr algn="ctr"/>
            <a:r>
              <a:rPr sz="1300" b="1">
                <a:solidFill>
                  <a:schemeClr val="bg1"/>
                </a:solidFill>
              </a:rPr>
              <a:t>오버레이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1600" y="3031200"/>
            <a:ext cx="1425600" cy="1007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⑥ TEXT Label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61600" y="3535200"/>
            <a:ext cx="115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391200" y="3031200"/>
            <a:ext cx="1425600" cy="1007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⑦ 원점 십자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1200" y="3535200"/>
            <a:ext cx="1152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960800" y="3031200"/>
            <a:ext cx="1425600" cy="1007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0">
                <a:solidFill>
                  <a:schemeClr val="tx1"/>
                </a:solidFill>
              </a:rPr>
              <a:t>⑧ Chain 설정 표시</a:t>
            </a:r>
          </a:p>
          <a:p>
            <a:pPr algn="ctr"/>
            <a:r>
              <a:rPr sz="1200" b="0">
                <a:solidFill>
                  <a:schemeClr val="tx1"/>
                </a:solidFill>
              </a:rPr>
              <a:t>드래그 사각형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2800" y="2527200"/>
            <a:ext cx="0" cy="252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534400" y="2779200"/>
            <a:ext cx="6278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4400" y="2779200"/>
            <a:ext cx="0" cy="234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81600" y="4399200"/>
            <a:ext cx="9144000" cy="28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300" b="1">
                <a:solidFill>
                  <a:schemeClr val="bg1"/>
                </a:solidFill>
              </a:rPr>
              <a:t>월드 → 화면 좌표 (WorldToScreen)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600" y="4759200"/>
            <a:ext cx="9144000" cy="1512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화면 X = (월드 X − offset.X) × scale + 폭 ÷ 2</a:t>
            </a:r>
          </a:p>
          <a:p>
            <a:pPr lvl="0"/>
            <a:r>
              <a:rPr lang="ko-KR"/>
              <a:t>화면 Y = 높이 ÷ 2 − (월드 Y − offset.Y) × scale</a:t>
            </a:r>
          </a:p>
          <a:p>
            <a:pPr lvl="1"/>
            <a:r>
              <a:rPr lang="ko-KR"/>
              <a:t>GDS는 Y가 위로, 화면은 아래로 커져 Y를 뒤집음 / GPU는 같은 계산을 투영 행렬로 수행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GPU 버퍼: 도면을 열 때 정점 1회 생성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Layer별 연속 구간으로 버퍼를 구성해, 색 / 선택 변경 시 </a:t>
            </a:r>
            <a:r>
              <a:rPr lang="ko-KR" altLang="en-US" b="1" dirty="0"/>
              <a:t>바뀐 구간만 다시 전송</a:t>
            </a:r>
            <a:r>
              <a:rPr lang="ko-KR" altLang="en-US" dirty="0"/>
              <a:t>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IV.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23760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Layer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4399" y="1519200"/>
            <a:ext cx="2736000" cy="39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Layer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587200" y="1519200"/>
            <a:ext cx="2304000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Layer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38000" y="1519200"/>
            <a:ext cx="1584000" cy="396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Defect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81600" y="1915200"/>
            <a:ext cx="2422800" cy="504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40400" y="1915200"/>
            <a:ext cx="817200" cy="504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1600" y="2419200"/>
            <a:ext cx="1655999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tx1"/>
                </a:solidFill>
              </a:rPr>
              <a:t>Item A 채움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3600" y="2419200"/>
            <a:ext cx="12240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Item A 외곽선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3600" y="2419200"/>
            <a:ext cx="1368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tx1"/>
                </a:solidFill>
              </a:rPr>
              <a:t>Item B 채움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7600" y="2419200"/>
            <a:ext cx="12240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Item B 외곽선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7600" y="2419200"/>
            <a:ext cx="360000" cy="3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600" y="2815200"/>
            <a:ext cx="61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Item마다 Fill / Line 정점 시작 위치와 개수를 기억 → 필요한 구간만 그림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3999" y="2419200"/>
            <a:ext cx="2901600" cy="57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1">
                <a:solidFill>
                  <a:schemeClr val="bg1"/>
                </a:solidFill>
              </a:rPr>
              <a:t>정점 1개 = 위치(x, y)</a:t>
            </a:r>
          </a:p>
          <a:p>
            <a:pPr algn="l"/>
            <a:r>
              <a:rPr sz="1200" b="1">
                <a:solidFill>
                  <a:schemeClr val="bg1"/>
                </a:solidFill>
              </a:rPr>
              <a:t>+ 색(RGBA) + 선택 여부(0 / 1)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81600" y="3247200"/>
          <a:ext cx="9144000" cy="23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이벤트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버퍼 처리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이유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</a:rPr>
                        <a:t>새 도면 열기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전체 정점 생성 + 전체 업로드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Flatten 결과 변경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</a:rPr>
                        <a:t>Layer 색 변경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해당 Layer 구간 색만 바꿔 부분 전송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Layer가 연속 구간이라 1회 전송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</a:rPr>
                        <a:t>선택 변경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바뀐 Item 구간만, 인접 구간은 합쳐 전송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전체 재전송 비용 회피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</a:rPr>
                        <a:t>Layer 체크 해제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버퍼 변경 없음, 그리기만 생략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다시 켤 때 즉시 표시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Element별 삼각형 생성 방식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BOUNDARY는 P0 기준 부채꼴, PATH는 선분별 사각형으로 삼각형을 만들어 GPU에 전달함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IV.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2951999" cy="273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" name="Freeform 1"/>
          <p:cNvSpPr/>
          <p:nvPr/>
        </p:nvSpPr>
        <p:spPr>
          <a:xfrm>
            <a:off x="849600" y="1951200"/>
            <a:ext cx="1692000" cy="1800000"/>
          </a:xfrm>
          <a:custGeom>
            <a:avLst/>
            <a:gdLst/>
            <a:ahLst/>
            <a:cxnLst/>
            <a:rect l="l" t="t" r="r" b="b"/>
            <a:pathLst>
              <a:path w="1692000" h="1800000">
                <a:moveTo>
                  <a:pt x="36000" y="1584000"/>
                </a:moveTo>
                <a:lnTo>
                  <a:pt x="899999" y="1800000"/>
                </a:lnTo>
                <a:lnTo>
                  <a:pt x="1692000" y="1224000"/>
                </a:lnTo>
                <a:lnTo>
                  <a:pt x="1548000" y="251999"/>
                </a:lnTo>
                <a:lnTo>
                  <a:pt x="684000" y="0"/>
                </a:lnTo>
                <a:lnTo>
                  <a:pt x="0" y="504000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85600" y="3175200"/>
            <a:ext cx="1656000" cy="36000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85600" y="2203199"/>
            <a:ext cx="1512000" cy="1332001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600" y="1951200"/>
            <a:ext cx="648000" cy="158400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6000" y="3495600"/>
            <a:ext cx="79200" cy="792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09999" y="3711600"/>
            <a:ext cx="79200" cy="792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502000" y="3135600"/>
            <a:ext cx="79200" cy="792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358000" y="2163599"/>
            <a:ext cx="79200" cy="792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93999" y="1911599"/>
            <a:ext cx="79200" cy="792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0000" y="2415600"/>
            <a:ext cx="79200" cy="792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1600" y="3481200"/>
            <a:ext cx="28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5"/>
                </a:solidFill>
              </a:rPr>
              <a:t>P0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600" y="1627199"/>
            <a:ext cx="1080000" cy="223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BOUNDARY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7600" y="1519200"/>
            <a:ext cx="2951999" cy="273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3981600" y="3265200"/>
            <a:ext cx="1440000" cy="396000"/>
          </a:xfrm>
          <a:custGeom>
            <a:avLst/>
            <a:gdLst/>
            <a:ahLst/>
            <a:cxnLst/>
            <a:rect l="l" t="t" r="r" b="b"/>
            <a:pathLst>
              <a:path w="1440000" h="396000">
                <a:moveTo>
                  <a:pt x="0" y="0"/>
                </a:moveTo>
                <a:lnTo>
                  <a:pt x="1440000" y="0"/>
                </a:lnTo>
                <a:lnTo>
                  <a:pt x="1440000" y="396000"/>
                </a:lnTo>
                <a:lnTo>
                  <a:pt x="0" y="396000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3981600" y="3265200"/>
            <a:ext cx="1440000" cy="39600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5223600" y="2095200"/>
            <a:ext cx="396000" cy="1368000"/>
          </a:xfrm>
          <a:custGeom>
            <a:avLst/>
            <a:gdLst/>
            <a:ahLst/>
            <a:cxnLst/>
            <a:rect l="l" t="t" r="r" b="b"/>
            <a:pathLst>
              <a:path w="396000" h="1368000">
                <a:moveTo>
                  <a:pt x="0" y="0"/>
                </a:moveTo>
                <a:lnTo>
                  <a:pt x="396000" y="0"/>
                </a:lnTo>
                <a:lnTo>
                  <a:pt x="396000" y="1368000"/>
                </a:lnTo>
                <a:lnTo>
                  <a:pt x="0" y="1368000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5223600" y="2095200"/>
            <a:ext cx="396000" cy="136800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5421600" y="3463200"/>
            <a:ext cx="198000" cy="198000"/>
          </a:xfrm>
          <a:custGeom>
            <a:avLst/>
            <a:gdLst/>
            <a:ahLst/>
            <a:cxnLst/>
            <a:rect l="l" t="t" r="r" b="b"/>
            <a:pathLst>
              <a:path w="198000" h="198000">
                <a:moveTo>
                  <a:pt x="0" y="0"/>
                </a:moveTo>
                <a:lnTo>
                  <a:pt x="0" y="198000"/>
                </a:lnTo>
                <a:lnTo>
                  <a:pt x="198000" y="0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 w="127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783600" y="3265200"/>
            <a:ext cx="396000" cy="396000"/>
          </a:xfrm>
          <a:prstGeom prst="ellipse">
            <a:avLst/>
          </a:prstGeom>
          <a:solidFill>
            <a:schemeClr val="accent2">
              <a:alpha val="5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3981600" y="3463200"/>
            <a:ext cx="1440000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21600" y="2095200"/>
            <a:ext cx="0" cy="136800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85600" y="1627199"/>
            <a:ext cx="864000" cy="223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600" y="3895200"/>
            <a:ext cx="158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chemeClr val="bg1"/>
                </a:solidFill>
              </a:rPr>
              <a:t>하늘색 = 꺾임 연결 삼각형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73599" y="1519200"/>
            <a:ext cx="2951999" cy="273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681600" y="1663200"/>
            <a:ext cx="864000" cy="223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7599" y="1699200"/>
            <a:ext cx="183599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</a:rPr>
              <a:t>버퍼 제외 → Label 오버레이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81600" y="2131200"/>
            <a:ext cx="864000" cy="223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SREF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7599" y="2167200"/>
            <a:ext cx="183599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</a:rPr>
              <a:t>자체 도형 없음 → 펼친 도형만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81600" y="2599200"/>
            <a:ext cx="864000" cy="223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AREF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7599" y="2635200"/>
            <a:ext cx="183599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</a:rPr>
              <a:t>현재 미전개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81600" y="3067200"/>
            <a:ext cx="864000" cy="223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Defect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7599" y="3103200"/>
            <a:ext cx="183599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</a:rPr>
              <a:t>빨간 불투명 채움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1600" y="3535200"/>
            <a:ext cx="2736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</a:rPr>
              <a:t>1점 PATH → 폭 크기 패드</a:t>
            </a:r>
          </a:p>
          <a:p>
            <a:pPr algn="l"/>
            <a:r>
              <a:rPr sz="1100" b="0">
                <a:solidFill>
                  <a:schemeClr val="bg1"/>
                </a:solidFill>
              </a:rPr>
              <a:t>(Round는 원, 그 밖은 정사각형)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600" y="4345200"/>
            <a:ext cx="2951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P0 기준 부채꼴로 삼각형 n−2개 + 외곽선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채움 반투명(알파 110), 외곽선 불투명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7600" y="4345200"/>
            <a:ext cx="2951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선분마다 폭 ÷ 2 법선으로 사각형(삼각형 2개)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Round는 양끝 원(16분할), Extended는 폭 ÷ 2 연장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73599" y="4345200"/>
            <a:ext cx="2951999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도형이 아닌 Element는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다른 경로로 표시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1600" y="4975200"/>
            <a:ext cx="9144000" cy="39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좌표는 GPU 전달 시 float로 변환 → 월드 좌표(µm)가 매우 크면 확대 시 정밀도 한계 가능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600" y="5479200"/>
            <a:ext cx="9144000" cy="396000"/>
          </a:xfrm>
          <a:prstGeom prst="rect">
            <a:avLst/>
          </a:prstGeom>
          <a:solidFill>
            <a:schemeClr val="accent6">
              <a:lumMod val="15000"/>
              <a:lumOff val="85000"/>
            </a:schemeClr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오목 다각형(U자 등)은 부채꼴 채움이 틀릴 수 있음 → V장 상세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Layer 색상, 반투명, 선택 강조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채움은 알파 110 반투명이라 겹친 Layer가 비쳐 보이고, 선택 도형은 맨 위에 다시 그려 강조함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IV. 화면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519200"/>
            <a:ext cx="43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기본 팔레트 12색 (GetDefaultLayerColor, RGB)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1600" y="1807199"/>
          <a:ext cx="4392000" cy="2066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RGB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bg1"/>
                          </a:solidFill>
                        </a:rPr>
                        <a:t>RGB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80,180,80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150,150,150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80,140,220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220,80,80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220,200,60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140,110,230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200,90,200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190,220,110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70,200,200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240,150,180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230,140,60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</a:rPr>
                        <a:t>100,190,170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1600" y="4039199"/>
            <a:ext cx="4392000" cy="2232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sz="1400"/>
              <a:t>Layer 13은 Layer 1 색 (12색 순환)</a:t>
            </a:r>
          </a:p>
          <a:p>
            <a:pPr lvl="0"/>
            <a:r>
              <a:rPr lang="ko-KR" sz="1400"/>
              <a:t>사용자 지정 색(SetLayerColor) 우선</a:t>
            </a:r>
          </a:p>
          <a:p>
            <a:pPr lvl="0"/>
            <a:r>
              <a:rPr lang="ko-KR" sz="1400"/>
              <a:t>Layer 체크 해제 시 그리기만 생략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8000" y="1519200"/>
            <a:ext cx="4557600" cy="273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56000" y="1807199"/>
            <a:ext cx="1944000" cy="1296000"/>
          </a:xfrm>
          <a:prstGeom prst="rect">
            <a:avLst/>
          </a:prstGeom>
          <a:solidFill>
            <a:schemeClr val="accent2">
              <a:alpha val="45000"/>
            </a:schemeClr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4000" y="2383199"/>
            <a:ext cx="1944000" cy="1296000"/>
          </a:xfrm>
          <a:prstGeom prst="rect">
            <a:avLst/>
          </a:prstGeom>
          <a:solidFill>
            <a:schemeClr val="accent5">
              <a:alpha val="45000"/>
            </a:schemeClr>
          </a:solidFill>
          <a:ln w="190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63999" y="3139199"/>
            <a:ext cx="1224000" cy="864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6000" y="3859199"/>
            <a:ext cx="27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</a:rPr>
              <a:t>채움 반투명 → 겹친 Layer가 비쳐 보임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8000" y="4399200"/>
            <a:ext cx="4557600" cy="1872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채움 알파 110 / 255, 외곽선 불투명</a:t>
            </a:r>
          </a:p>
          <a:p>
            <a:pPr lvl="1"/>
            <a:r>
              <a:rPr lang="ko-KR"/>
              <a:t>ColorAlpha 속성으로 조정 가능</a:t>
            </a:r>
          </a:p>
          <a:p>
            <a:pPr lvl="0"/>
            <a:r>
              <a:rPr lang="ko-KR"/>
              <a:t>선택 = 정점의 선택 플래그</a:t>
            </a:r>
          </a:p>
          <a:p>
            <a:pPr lvl="1"/>
            <a:r>
              <a:rPr lang="ko-KR"/>
              <a:t>셰이더가 노랑으로 바꿔 그림 (그림의 붉은 테두리 위치)</a:t>
            </a:r>
          </a:p>
          <a:p>
            <a:pPr lvl="1"/>
            <a:r>
              <a:rPr lang="ko-KR"/>
              <a:t>모든 Layer를 그린 뒤 선택 도형을 다시 그려 가림 방지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Label: TEXT를 GDI로 덧그리는 오버레이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TEXT는 GPU 버퍼에 넣지 않고, 매 프레임 </a:t>
            </a:r>
            <a:r>
              <a:rPr lang="ko-KR" altLang="en-US" b="1" dirty="0"/>
              <a:t>7단계 검사를 통과한 Label만</a:t>
            </a:r>
            <a:r>
              <a:rPr lang="ko-KR" altLang="en-US" dirty="0"/>
              <a:t> 그림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IV.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2736000" cy="68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TEXT Element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49599" y="2203199"/>
            <a:ext cx="0" cy="252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81600" y="2455200"/>
            <a:ext cx="2736000" cy="684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Flatten: 위치만 변환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49599" y="3139200"/>
            <a:ext cx="0" cy="252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1600" y="3391200"/>
            <a:ext cx="2736000" cy="68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Label 목록</a:t>
            </a:r>
          </a:p>
          <a:p>
            <a:pPr algn="ctr"/>
            <a:r>
              <a:rPr sz="1200" b="1">
                <a:solidFill>
                  <a:schemeClr val="bg1"/>
                </a:solidFill>
              </a:rPr>
              <a:t>Layer / 문자열 / 기준점 / 위치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9599" y="4075200"/>
            <a:ext cx="0" cy="252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1600" y="4327200"/>
            <a:ext cx="2736000" cy="684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도면 열 때 1회: 이웃 간격 계산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49599" y="5011200"/>
            <a:ext cx="0" cy="252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1600" y="5263200"/>
            <a:ext cx="2736000" cy="68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매 프레임: DrawTextLabels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519200"/>
            <a:ext cx="61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Label 1개를 그리기까지의 검사 (하나라도 안 되면 건너뜀)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4000" y="1825199"/>
            <a:ext cx="61416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1.  Label의 Layer가 표시 중인가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4000" y="2365200"/>
            <a:ext cx="5817600" cy="4320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2.  기준 좌표가 화면 안인가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4000" y="2905200"/>
            <a:ext cx="5493599" cy="432000"/>
          </a:xfrm>
          <a:prstGeom prst="rect">
            <a:avLst/>
          </a:prstGeom>
          <a:solidFill>
            <a:schemeClr val="accent1">
              <a:lumMod val="30000"/>
              <a:lumOff val="7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3.  허용 영역(이웃 간격 × 배율 − 6px) &gt; 0인가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4000" y="3445200"/>
            <a:ext cx="5169600" cy="432000"/>
          </a:xfrm>
          <a:prstGeom prst="rect">
            <a:avLst/>
          </a:prstGeom>
          <a:solidFill>
            <a:schemeClr val="accent1">
              <a:lumMod val="35000"/>
              <a:lumOff val="6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4.  맞춘 글꼴 크기 ≥ 6px인가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4000" y="3985200"/>
            <a:ext cx="4845600" cy="43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5.  실제 문자열 크기 ≤ 허용 영역인가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4000" y="4525200"/>
            <a:ext cx="4521600" cy="43200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6.  기준점 보정 후에도 화면 안인가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4000" y="5065200"/>
            <a:ext cx="4197599" cy="432000"/>
          </a:xfrm>
          <a:prstGeom prst="rect">
            <a:avLst/>
          </a:prstGeom>
          <a:solidFill>
            <a:schemeClr val="accent1">
              <a:lumMod val="50000"/>
              <a:lumOff val="5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0">
                <a:solidFill>
                  <a:schemeClr val="tx1"/>
                </a:solidFill>
              </a:rPr>
              <a:t>7.  이미 그린 Label과 겹치지 않는가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4000" y="5641200"/>
            <a:ext cx="3780000" cy="43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200" b="1">
                <a:solidFill>
                  <a:schemeClr val="bg1"/>
                </a:solidFill>
              </a:rPr>
              <a:t>통과 → DrawString + 화면 격자 기록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Label 글꼴 크기: 줌 배율 + 이웃 간격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기본 10px를 줌 비율로 키우고(6~64px), 같은 행 / 열 </a:t>
            </a:r>
            <a:r>
              <a:rPr lang="ko-KR" altLang="en-US" b="1" dirty="0"/>
              <a:t>이웃 간격의 40% 안</a:t>
            </a:r>
            <a:r>
              <a:rPr lang="ko-KR" altLang="en-US" dirty="0"/>
              <a:t>으로 맞춤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IV.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4176000" cy="2304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3600" y="2023199"/>
            <a:ext cx="503999" cy="503999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7599" y="2023199"/>
            <a:ext cx="503999" cy="503999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P2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1600" y="2023199"/>
            <a:ext cx="503999" cy="503999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65600" y="2023199"/>
            <a:ext cx="503999" cy="503999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P4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9599" y="2779200"/>
            <a:ext cx="1044001" cy="0"/>
          </a:xfrm>
          <a:prstGeom prst="line">
            <a:avLst/>
          </a:prstGeom>
          <a:ln w="19050">
            <a:solidFill>
              <a:schemeClr val="accent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929599" y="2779200"/>
            <a:ext cx="1044001" cy="0"/>
          </a:xfrm>
          <a:prstGeom prst="line">
            <a:avLst/>
          </a:prstGeom>
          <a:ln w="19050">
            <a:solidFill>
              <a:schemeClr val="accent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9599" y="2851200"/>
            <a:ext cx="104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accent5"/>
                </a:solidFill>
              </a:rPr>
              <a:t>이웃 간격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600" y="3175200"/>
            <a:ext cx="388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bg1"/>
                </a:solidFill>
              </a:rPr>
              <a:t>글자는 d의 40% 안에서만 표시</a:t>
            </a:r>
          </a:p>
          <a:p>
            <a:pPr algn="l"/>
            <a:r>
              <a:rPr sz="1100" b="0">
                <a:solidFill>
                  <a:schemeClr val="bg1"/>
                </a:solidFill>
              </a:rPr>
              <a:t>같은 Layer에서 Y가 같으면 같은 행, X가 같으면 같은 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2000" y="1519200"/>
            <a:ext cx="1152000" cy="503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① 기본 글꼴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0000" y="1519200"/>
            <a:ext cx="3585600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10px × (현재 배율 ÷ 전체 보기 배율), 6~64px 제한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2000" y="2095200"/>
            <a:ext cx="1152000" cy="503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② 허용 영역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0000" y="2095200"/>
            <a:ext cx="3585600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이웃 간격 × 배율 − 6px (가로 / 세로 각각)</a:t>
            </a:r>
          </a:p>
          <a:p>
            <a:pPr algn="l"/>
            <a:r>
              <a:rPr sz="1100" b="0">
                <a:solidFill>
                  <a:schemeClr val="tx1"/>
                </a:solidFill>
              </a:rPr>
              <a:t>한 방향만 이웃 있으면 양쪽에 사용, 없으면 화면 크기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2000" y="2671200"/>
            <a:ext cx="1152000" cy="503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③ 맞춤 비율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0000" y="2671200"/>
            <a:ext cx="3585600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min(1, 허용 × 0.4 ÷ 기본 글꼴 문자열 크기)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2000" y="3247200"/>
            <a:ext cx="1152000" cy="503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200" b="1">
                <a:solidFill>
                  <a:schemeClr val="bg1"/>
                </a:solidFill>
              </a:rPr>
              <a:t>④ 최종 크기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0000" y="3247200"/>
            <a:ext cx="3585600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100" b="0">
                <a:solidFill>
                  <a:schemeClr val="tx1"/>
                </a:solidFill>
              </a:rPr>
              <a:t>기본 글꼴 × 맞춤 비율, 6px 미만이면 생략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600" y="4039199"/>
            <a:ext cx="2951999" cy="1655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7600" y="4777200"/>
            <a:ext cx="180000" cy="180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3600" y="4777200"/>
            <a:ext cx="180000" cy="180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89600" y="4777200"/>
            <a:ext cx="180000" cy="180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785600" y="4777200"/>
            <a:ext cx="180000" cy="180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81600" y="4777200"/>
            <a:ext cx="180000" cy="180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1600" y="5767200"/>
            <a:ext cx="295199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tx1"/>
                </a:solidFill>
              </a:rPr>
              <a:t>전체 보기: 6px 미만 → 생략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7600" y="4039199"/>
            <a:ext cx="2951999" cy="1655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93600" y="4633200"/>
            <a:ext cx="468000" cy="468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P1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49600" y="4633200"/>
            <a:ext cx="468000" cy="468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P2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05600" y="4633200"/>
            <a:ext cx="468000" cy="468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r>
              <a:rPr sz="1100" b="1">
                <a:solidFill>
                  <a:schemeClr val="bg1"/>
                </a:solidFill>
              </a:rPr>
              <a:t>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7600" y="5767200"/>
            <a:ext cx="295199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tx1"/>
                </a:solidFill>
              </a:rPr>
              <a:t>확대: 간격에 맞춰 작게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73599" y="4039199"/>
            <a:ext cx="2951999" cy="1655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789600" y="4453200"/>
            <a:ext cx="827999" cy="827999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r>
              <a:rPr sz="1800" b="1">
                <a:solidFill>
                  <a:schemeClr val="bg1"/>
                </a:solidFill>
              </a:rPr>
              <a:t>P1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9600" y="4453200"/>
            <a:ext cx="827999" cy="827999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000" rIns="0" bIns="18000" rtlCol="0" anchor="ctr"/>
          <a:lstStyle/>
          <a:p>
            <a:pPr algn="ctr"/>
            <a:r>
              <a:rPr sz="1800" b="1">
                <a:solidFill>
                  <a:schemeClr val="bg1"/>
                </a:solidFill>
              </a:rPr>
              <a:t>P2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3599" y="5767200"/>
            <a:ext cx="2951999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tx1"/>
                </a:solidFill>
              </a:rPr>
              <a:t>크게 확대: 최대 64px까지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Label 겹침 차단: 64px 화면 격자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그린 Label이 차지한 격자를 기록해 주변 칸만 비교하므로, Label이 많아도 빠르게 겹침을 막음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IV.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4320000" cy="432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921600" y="1519200"/>
            <a:ext cx="0" cy="432000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1600" y="1519200"/>
            <a:ext cx="0" cy="432000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01600" y="1519200"/>
            <a:ext cx="0" cy="432000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41600" y="1519200"/>
            <a:ext cx="0" cy="432000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81600" y="1519200"/>
            <a:ext cx="0" cy="432000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21600" y="1519200"/>
            <a:ext cx="0" cy="432000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61600" y="1519200"/>
            <a:ext cx="0" cy="432000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1600" y="2059200"/>
            <a:ext cx="4320000" cy="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1600" y="2599200"/>
            <a:ext cx="4320000" cy="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1600" y="3139199"/>
            <a:ext cx="4320000" cy="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1600" y="3679199"/>
            <a:ext cx="4320000" cy="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1600" y="4219200"/>
            <a:ext cx="4320000" cy="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1600" y="4759200"/>
            <a:ext cx="4320000" cy="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1600" y="5299200"/>
            <a:ext cx="4320000" cy="0"/>
          </a:xfrm>
          <a:prstGeom prst="line">
            <a:avLst/>
          </a:prstGeom>
          <a:ln w="9525">
            <a:solidFill>
              <a:schemeClr val="accent4">
                <a:lumMod val="70000"/>
                <a:lumOff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29600" y="2239200"/>
            <a:ext cx="1152000" cy="324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VDD_1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57600" y="3103200"/>
            <a:ext cx="1224000" cy="324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GND_A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7600" y="4183200"/>
            <a:ext cx="1080000" cy="324000"/>
          </a:xfrm>
          <a:prstGeom prst="rect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IO_07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85600" y="3319199"/>
            <a:ext cx="1080000" cy="324000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accent6"/>
                </a:solidFill>
              </a:rPr>
              <a:t>VSS_2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5600" y="3679199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겹침 → 건너뜀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17600" y="4831199"/>
            <a:ext cx="1080000" cy="324000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r>
              <a:rPr sz="1300" b="1">
                <a:solidFill>
                  <a:schemeClr val="bg1"/>
                </a:solidFill>
              </a:rPr>
              <a:t>CLK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17600" y="5191199"/>
            <a:ext cx="144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bg1"/>
                </a:solidFill>
              </a:rPr>
              <a:t>겹침 없음 → 그림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600" y="5875200"/>
            <a:ext cx="2880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칸 1개 = 화면 64px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1519200"/>
            <a:ext cx="4665600" cy="4752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기록: 그린 Label이 걸친 칸에 사각형 저장</a:t>
            </a:r>
          </a:p>
          <a:p>
            <a:pPr lvl="1"/>
            <a:r>
              <a:rPr lang="ko-KR"/>
              <a:t>ReserveLabelCells</a:t>
            </a:r>
          </a:p>
          <a:p>
            <a:pPr lvl="0"/>
            <a:r>
              <a:rPr lang="ko-KR"/>
              <a:t>검사: 걸친 칸 + 주변 1칸의 사각형과만 교차 비교</a:t>
            </a:r>
          </a:p>
          <a:p>
            <a:pPr lvl="1"/>
            <a:r>
              <a:rPr lang="ko-KR"/>
              <a:t>HasLabelCollision, 전체 Label 끼리는 비교하지 않음</a:t>
            </a:r>
          </a:p>
          <a:p>
            <a:pPr lvl="0"/>
            <a:r>
              <a:rPr lang="ko-KR"/>
              <a:t>우선순위: 먼저 등록된 Label 우선 (Flatten 순서)</a:t>
            </a:r>
          </a:p>
          <a:p>
            <a:pPr lvl="0"/>
            <a:r>
              <a:rPr lang="ko-KR"/>
              <a:t>갱신: 줌 / 이동마다 매 프레임 다시 계산</a:t>
            </a:r>
          </a:p>
          <a:p>
            <a:pPr lvl="1"/>
            <a:r>
              <a:rPr lang="ko-KR"/>
              <a:t>그린 개수는 LastVisibleTextLabelCount로 확인</a:t>
            </a:r>
          </a:p>
          <a:p>
            <a:pPr lvl="0"/>
            <a:r>
              <a:rPr lang="ko-KR"/>
              <a:t>Label 글꼴 / 색: Segoe UI / 흰색 고정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GDS 파일 개념</a:t>
            </a:r>
            <a:endParaRPr lang="en-US" altLang="ko-KR" dirty="0" smtClean="0"/>
          </a:p>
          <a:p>
            <a:pPr lvl="0"/>
            <a:r>
              <a:rPr lang="ko-KR" altLang="en-US" dirty="0"/>
              <a:t>Parsing 구조</a:t>
            </a:r>
            <a:endParaRPr lang="en-US" altLang="ko-KR" dirty="0" smtClean="0"/>
          </a:p>
          <a:p>
            <a:pPr lvl="0"/>
            <a:r>
              <a:rPr lang="ko-KR" altLang="en-US" dirty="0"/>
              <a:t>Element 상세</a:t>
            </a:r>
            <a:endParaRPr lang="en-US" altLang="ko-KR" dirty="0" smtClean="0"/>
          </a:p>
          <a:p>
            <a:pPr lvl="0"/>
            <a:r>
              <a:rPr lang="ko-KR" altLang="en-US" dirty="0"/>
              <a:t>화면 표시</a:t>
            </a:r>
            <a:endParaRPr lang="en-US" altLang="ko-KR" dirty="0" smtClean="0"/>
          </a:p>
          <a:p>
            <a:pPr lvl="0"/>
            <a:r>
              <a:rPr lang="ko-KR" altLang="en-US" sz="2600" b="1" dirty="0">
                <a:solidFill>
                  <a:schemeClr val="accent1"/>
                </a:solidFill>
              </a:rPr>
              <a:t>한계와 확인 사항</a:t>
            </a:r>
            <a:endParaRPr lang="en-US" altLang="ko-KR" sz="2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파서 한계 6건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결과 누락으로 이어질 수 있는 </a:t>
            </a:r>
            <a:r>
              <a:rPr lang="ko-KR" altLang="en-US" b="1" dirty="0"/>
              <a:t>2건(AREF 미전개, Bounds 기준 중복 제외)</a:t>
            </a:r>
            <a:r>
              <a:rPr lang="ko-KR" altLang="en-US" dirty="0"/>
              <a:t>을 우선 확인 필요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V. 한계와 확인 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2951999" cy="17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3600" y="1681200"/>
            <a:ext cx="324000" cy="324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3600" y="1735199"/>
            <a:ext cx="32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00" y="17351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chemeClr val="tx1"/>
                </a:solidFill>
              </a:rPr>
              <a:t>AREF 미전개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600" y="2239200"/>
            <a:ext cx="2591999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읽기는 하나 Flatten 분기가 없어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화면 / Chain / DB에 미표시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7600" y="1519200"/>
            <a:ext cx="2951999" cy="17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39600" y="1681200"/>
            <a:ext cx="324000" cy="324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600" y="1735199"/>
            <a:ext cx="32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3600" y="17351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chemeClr val="tx1"/>
                </a:solidFill>
              </a:rPr>
              <a:t>Bounds 기준 중복 제외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239200"/>
            <a:ext cx="2591999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같은 Layer / 종류 / 외곽 사각형이면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모양이 달라도 1개만 남음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73599" y="1519200"/>
            <a:ext cx="2951999" cy="17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735599" y="1681200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5599" y="1735199"/>
            <a:ext cx="32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9600" y="17351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chemeClr val="tx1"/>
                </a:solidFill>
              </a:rPr>
              <a:t>PATHTYPE 4 미지원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599" y="2239200"/>
            <a:ext cx="2591999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BGNEXTN / ENDEXTN 미처리로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사용자 지정 연장 미반영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600" y="3427200"/>
            <a:ext cx="2951999" cy="17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43600" y="3589200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3600" y="3643199"/>
            <a:ext cx="32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600" y="36431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chemeClr val="tx1"/>
                </a:solidFill>
              </a:rPr>
              <a:t>STRANS 일부 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600" y="4147200"/>
            <a:ext cx="2591999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MirrorX만 읽고 절대 배율 /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절대 각도 비트는 무시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7600" y="3427200"/>
            <a:ext cx="2951999" cy="17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639600" y="3589200"/>
            <a:ext cx="324000" cy="324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9600" y="3643199"/>
            <a:ext cx="32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3600" y="36431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chemeClr val="tx1"/>
                </a:solidFill>
              </a:rPr>
              <a:t>무시 레코드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147200"/>
            <a:ext cx="2591999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BOX / NODE / PROPATTR 등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건너뜀 (속성 정보 미보관)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73599" y="3427200"/>
            <a:ext cx="2951999" cy="17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735599" y="3589200"/>
            <a:ext cx="324000" cy="324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35599" y="3643199"/>
            <a:ext cx="32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9600" y="3643199"/>
            <a:ext cx="230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chemeClr val="tx1"/>
                </a:solidFill>
              </a:rPr>
              <a:t>Structure 검색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3599" y="4147200"/>
            <a:ext cx="2591999" cy="9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SREF마다 이름으로 선형 검색</a:t>
            </a:r>
          </a:p>
          <a:p>
            <a:pPr algn="l"/>
            <a:r>
              <a:rPr sz="1200" b="0">
                <a:solidFill>
                  <a:schemeClr val="tx1"/>
                </a:solidFill>
              </a:rPr>
              <a:t>Cell이 많으면 Flatten 시간 증가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1600" y="5371200"/>
            <a:ext cx="914400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l"/>
            <a:r>
              <a:rPr sz="1300" b="1">
                <a:solidFill>
                  <a:schemeClr val="tx1"/>
                </a:solidFill>
              </a:rPr>
              <a:t>우선 확인: 01 / 02는 결과 누락, 03~06은 표현 정밀도 / 성능 영향 → 다음 장 확인 계획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오목 BOUNDARY 채움 오류 가능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P0 기준 부채꼴 삼각형은 볼록 다각형에서만 정확해,</a:t>
            </a:r>
            <a:endParaRPr lang="en-US" altLang="ko-KR" dirty="0" smtClean="0"/>
          </a:p>
          <a:p>
            <a:r>
              <a:rPr lang="en-US" altLang="ko-KR" b="1" dirty="0" smtClean="0"/>
              <a:t>U자처럼 오목한 다각형은 빈 곳이 채워질 수 있음</a:t>
            </a:r>
            <a:r>
              <a:rPr lang="en-US" altLang="ko-KR" dirty="0" smtClean="0"/>
              <a:t> (외곽선은 정확)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V. 한계와 확인 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2951999" cy="3671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600" y="1627199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bg1"/>
                </a:solidFill>
              </a:rPr>
              <a:t>원래 모양 (U자 다각형)</a:t>
            </a:r>
          </a:p>
        </p:txBody>
      </p:sp>
      <p:sp>
        <p:nvSpPr>
          <p:cNvPr id="2" name="Freeform 1"/>
          <p:cNvSpPr/>
          <p:nvPr/>
        </p:nvSpPr>
        <p:spPr>
          <a:xfrm>
            <a:off x="867600" y="2131200"/>
            <a:ext cx="1998000" cy="2484000"/>
          </a:xfrm>
          <a:custGeom>
            <a:avLst/>
            <a:gdLst/>
            <a:ahLst/>
            <a:cxnLst/>
            <a:rect l="l" t="t" r="r" b="b"/>
            <a:pathLst>
              <a:path w="1998000" h="2484000">
                <a:moveTo>
                  <a:pt x="0" y="2484000"/>
                </a:moveTo>
                <a:lnTo>
                  <a:pt x="1998000" y="2484000"/>
                </a:lnTo>
                <a:lnTo>
                  <a:pt x="1998000" y="0"/>
                </a:lnTo>
                <a:lnTo>
                  <a:pt x="1332000" y="0"/>
                </a:lnTo>
                <a:lnTo>
                  <a:pt x="1332000" y="1656000"/>
                </a:lnTo>
                <a:lnTo>
                  <a:pt x="666000" y="1656000"/>
                </a:lnTo>
                <a:lnTo>
                  <a:pt x="6660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7600" y="1519200"/>
            <a:ext cx="2951999" cy="3671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5600" y="1627199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chemeClr val="bg1"/>
                </a:solidFill>
              </a:rPr>
              <a:t>현재 화면 결과 (P0 기준 부채꼴)</a:t>
            </a:r>
          </a:p>
        </p:txBody>
      </p:sp>
      <p:sp>
        <p:nvSpPr>
          <p:cNvPr id="5" name="Freeform 4"/>
          <p:cNvSpPr/>
          <p:nvPr/>
        </p:nvSpPr>
        <p:spPr>
          <a:xfrm>
            <a:off x="3963600" y="2131200"/>
            <a:ext cx="1998000" cy="2484000"/>
          </a:xfrm>
          <a:custGeom>
            <a:avLst/>
            <a:gdLst/>
            <a:ahLst/>
            <a:cxnLst/>
            <a:rect l="l" t="t" r="r" b="b"/>
            <a:pathLst>
              <a:path w="1998000" h="2484000">
                <a:moveTo>
                  <a:pt x="0" y="2484000"/>
                </a:moveTo>
                <a:lnTo>
                  <a:pt x="1998000" y="2484000"/>
                </a:lnTo>
                <a:lnTo>
                  <a:pt x="1998000" y="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3963600" y="2131200"/>
            <a:ext cx="1998000" cy="2484000"/>
          </a:xfrm>
          <a:custGeom>
            <a:avLst/>
            <a:gdLst/>
            <a:ahLst/>
            <a:cxnLst/>
            <a:rect l="l" t="t" r="r" b="b"/>
            <a:pathLst>
              <a:path w="1998000" h="2484000">
                <a:moveTo>
                  <a:pt x="0" y="2484000"/>
                </a:moveTo>
                <a:lnTo>
                  <a:pt x="1998000" y="0"/>
                </a:lnTo>
                <a:lnTo>
                  <a:pt x="1332000" y="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3963600" y="2131200"/>
            <a:ext cx="1332000" cy="2484000"/>
          </a:xfrm>
          <a:custGeom>
            <a:avLst/>
            <a:gdLst/>
            <a:ahLst/>
            <a:cxnLst/>
            <a:rect l="l" t="t" r="r" b="b"/>
            <a:pathLst>
              <a:path w="1332000" h="2484000">
                <a:moveTo>
                  <a:pt x="0" y="2484000"/>
                </a:moveTo>
                <a:lnTo>
                  <a:pt x="1332000" y="0"/>
                </a:lnTo>
                <a:lnTo>
                  <a:pt x="1332000" y="165600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3963600" y="3787200"/>
            <a:ext cx="1332000" cy="828000"/>
          </a:xfrm>
          <a:custGeom>
            <a:avLst/>
            <a:gdLst/>
            <a:ahLst/>
            <a:cxnLst/>
            <a:rect l="l" t="t" r="r" b="b"/>
            <a:pathLst>
              <a:path w="1332000" h="828000">
                <a:moveTo>
                  <a:pt x="0" y="828000"/>
                </a:moveTo>
                <a:lnTo>
                  <a:pt x="1332000" y="0"/>
                </a:lnTo>
                <a:lnTo>
                  <a:pt x="666000" y="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3963600" y="2131200"/>
            <a:ext cx="666000" cy="2484000"/>
          </a:xfrm>
          <a:custGeom>
            <a:avLst/>
            <a:gdLst/>
            <a:ahLst/>
            <a:cxnLst/>
            <a:rect l="l" t="t" r="r" b="b"/>
            <a:pathLst>
              <a:path w="666000" h="2484000">
                <a:moveTo>
                  <a:pt x="0" y="2484000"/>
                </a:moveTo>
                <a:lnTo>
                  <a:pt x="666000" y="1656000"/>
                </a:lnTo>
                <a:lnTo>
                  <a:pt x="666000" y="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963600" y="2131200"/>
            <a:ext cx="666000" cy="2484000"/>
          </a:xfrm>
          <a:custGeom>
            <a:avLst/>
            <a:gdLst/>
            <a:ahLst/>
            <a:cxnLst/>
            <a:rect l="l" t="t" r="r" b="b"/>
            <a:pathLst>
              <a:path w="666000" h="2484000">
                <a:moveTo>
                  <a:pt x="0" y="2484000"/>
                </a:moveTo>
                <a:lnTo>
                  <a:pt x="6660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29600" y="2131200"/>
            <a:ext cx="666000" cy="1655999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85600" y="4867200"/>
            <a:ext cx="273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6"/>
                </a:solidFill>
              </a:rPr>
              <a:t>점선 = 비어야 할 곳이 채워진 영역</a:t>
            </a:r>
          </a:p>
        </p:txBody>
      </p:sp>
      <p:sp>
        <p:nvSpPr>
          <p:cNvPr id="18" name="Oval 17"/>
          <p:cNvSpPr/>
          <p:nvPr/>
        </p:nvSpPr>
        <p:spPr>
          <a:xfrm>
            <a:off x="3916799" y="4568400"/>
            <a:ext cx="93600" cy="936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21600" y="4543200"/>
            <a:ext cx="28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chemeClr val="accent5"/>
                </a:solidFill>
              </a:rP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1519200"/>
            <a:ext cx="3045600" cy="4752000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원인</a:t>
            </a:r>
          </a:p>
          <a:p>
            <a:pPr lvl="1"/>
            <a:r>
              <a:rPr lang="ko-KR"/>
              <a:t>P0과 (Pi, Pi+1)로 삼각형을 만드는 부채꼴 방식</a:t>
            </a:r>
          </a:p>
          <a:p>
            <a:pPr lvl="1"/>
            <a:r>
              <a:rPr lang="ko-KR"/>
              <a:t>볼록 다각형에서만 항상 정확</a:t>
            </a:r>
          </a:p>
          <a:p>
            <a:pPr lvl="0"/>
            <a:r>
              <a:rPr lang="ko-KR"/>
              <a:t>영향</a:t>
            </a:r>
          </a:p>
          <a:p>
            <a:pPr lvl="1"/>
            <a:r>
              <a:rPr lang="ko-KR"/>
              <a:t>채움만 틀리고 외곽선은 정확</a:t>
            </a:r>
          </a:p>
          <a:p>
            <a:pPr lvl="1"/>
            <a:r>
              <a:rPr lang="ko-KR"/>
              <a:t>Bump(원) / Pad(사각형)는 볼록이라 영향 없음</a:t>
            </a:r>
          </a:p>
          <a:p>
            <a:pPr lvl="0"/>
            <a:r>
              <a:rPr lang="ko-KR"/>
              <a:t>확인 필요 </a:t>
            </a:r>
            <a:r>
              <a:rPr lang="ko-KR">
                <a:solidFill>
                  <a:schemeClr val="accent6"/>
                </a:solidFill>
              </a:rPr>
              <a:t>[확인 필요]</a:t>
            </a:r>
          </a:p>
          <a:p>
            <a:pPr lvl="1"/>
            <a:r>
              <a:rPr lang="ko-KR"/>
              <a:t>고객 GDS의 오목 BOUNDARY(꺾인 RDL 면 등) 유무</a:t>
            </a:r>
          </a:p>
          <a:p>
            <a:pPr lvl="1"/>
            <a:r>
              <a:rPr lang="ko-KR"/>
              <a:t>필요 시 Ear Clipping 등 삼각분할로 개선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00" y="5299200"/>
            <a:ext cx="61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※ 코드 기준 분석 (BuildGpuBuffers의 Closed 분기), 실제 고객 도면 발생 여부 미확인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확인 필요 사항과 다음 단계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고객 GDS로 결과 누락 가능 3건을 먼저 확인한 뒤 개선 범위를 정함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V. 한계와 확인 사항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28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확인 방법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영향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</a:rPr>
                        <a:t>개선안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</a:rPr>
                        <a:t>AREF 사용 여부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고객 GDS의 AREF 레코드(0x0B) 건수 집계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배열 도형 전체 누락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Flatten에 AREF 전개 분기 추가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</a:rPr>
                        <a:t>Bounds 중복 제외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Layer별 DuplicatedItems 건수 확인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다른 모양 도형 누락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비교 키에 좌표 해시 등 추가 검토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</a:rPr>
                        <a:t>오목 BOUNDARY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오목 다각형 건수와 화면 결과 대조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채움 색 오류 (외곽선 정상)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</a:rPr>
                        <a:t>Ear Clipping 등 삼각분할 적용</a:t>
                      </a:r>
                    </a:p>
                  </a:txBody>
                  <a:tcPr marL="72000" marR="72000" marT="18000" marB="18000" anchor="ctr">
                    <a:lnL w="6350">
                      <a:solidFill>
                        <a:schemeClr val="bg1">
                          <a:lumMod val="75000"/>
                        </a:schemeClr>
                      </a:solidFill>
                    </a:lnL>
                    <a:lnR w="6350">
                      <a:solidFill>
                        <a:schemeClr val="bg1">
                          <a:lumMod val="75000"/>
                        </a:schemeClr>
                      </a:solidFill>
                    </a:lnR>
                    <a:lnT w="6350">
                      <a:solidFill>
                        <a:schemeClr val="bg1">
                          <a:lumMod val="75000"/>
                        </a:schemeClr>
                      </a:solidFill>
                    </a:lnT>
                    <a:lnB w="6350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600" y="4615200"/>
            <a:ext cx="9144000" cy="1655999"/>
          </a:xfrm>
          <a:prstGeom prst="rect">
            <a:avLst/>
          </a:prstGeom>
          <a:noFill/>
        </p:spPr>
        <p:txBody>
          <a:bodyPr wrap="square" lIns="0" tIns="45720" rIns="0" bIns="4572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SDS 산스  Regular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/>
              <a:t>다음 단계: 대표 고객 GDS 1건으로 3개 항목 건수 측정 </a:t>
            </a:r>
            <a:r>
              <a:rPr lang="ko-KR">
                <a:solidFill>
                  <a:schemeClr val="accent6"/>
                </a:solidFill>
              </a:rPr>
              <a:t>[확인 필요]</a:t>
            </a:r>
          </a:p>
          <a:p>
            <a:pPr lvl="1"/>
            <a:r>
              <a:rPr lang="ko-KR"/>
              <a:t>측정 결과로 개선 우선순위와 일정 확정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SDS 산스  Regular"/>
        <a:ea typeface="SDS 산스  Regular"/>
        <a:cs typeface=""/>
      </a:majorFont>
      <a:minorFont>
        <a:latin typeface="SDS 산스  Regular"/>
        <a:ea typeface="SDS 산스 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DS 산스 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DS 산스 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DS 산스 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DS 산스 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2C52DB-E9E3-46CD-811C-803D077AD9CA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27955</TotalTime>
  <Words>3675</Words>
  <Application>Microsoft Office PowerPoint</Application>
  <PresentationFormat>A4 용지(210x297mm)</PresentationFormat>
  <Paragraphs>801</Paragraphs>
  <Slides>35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Arial</vt:lpstr>
      <vt:lpstr>Wingdings</vt:lpstr>
      <vt:lpstr>SDS 산스  Regular</vt:lpstr>
      <vt:lpstr>Segoe UI</vt:lpstr>
      <vt:lpstr>맑은 고딕</vt:lpstr>
      <vt:lpstr>문서템플릿</vt:lpstr>
      <vt:lpstr>PowerPoint 프레젠테이션</vt:lpstr>
      <vt:lpstr>PowerPoint 프레젠테이션</vt:lpstr>
      <vt:lpstr>GDS 파서 핵심 요약</vt:lpstr>
      <vt:lpstr>PowerPoint 프레젠테이션</vt:lpstr>
      <vt:lpstr>GDS는 Library &gt; Structure &gt; Element 3단계 계층</vt:lpstr>
      <vt:lpstr>Layer는 도형마다 붙은 공정층 번호</vt:lpstr>
      <vt:lpstr>Element 5종 개요</vt:lpstr>
      <vt:lpstr>PowerPoint 프레젠테이션</vt:lpstr>
      <vt:lpstr>레코드 1개 = 길이 + 종류 + 자료형 + 값</vt:lpstr>
      <vt:lpstr>파일 안 레코드는 중첩 반복 구조</vt:lpstr>
      <vt:lpstr>GdsReader.Read()는 읽기 루프 + 상태 2개</vt:lpstr>
      <vt:lpstr>레코드 종류별 처리 대응표</vt:lpstr>
      <vt:lpstr>좌표 = 정수 × DatabaseUnit (µm)</vt:lpstr>
      <vt:lpstr>파싱 결과 메모리 모델</vt:lpstr>
      <vt:lpstr>AddElement: Layer별 정렬 삽입과 중복 제외</vt:lpstr>
      <vt:lpstr>PowerPoint 프레젠테이션</vt:lpstr>
      <vt:lpstr>BOUNDARY: 닫힌 다각형</vt:lpstr>
      <vt:lpstr>PATH: 중심선 + 폭 + 끝 모양</vt:lpstr>
      <vt:lpstr>SREF: 다른 Structure를 변환해 1회 배치</vt:lpstr>
      <vt:lpstr>AREF: 다른 Structure를 행렬로 배치</vt:lpstr>
      <vt:lpstr>TEXT: 문자열 + 기준 좌표 + 기준점</vt:lpstr>
      <vt:lpstr>PowerPoint 프레젠테이션</vt:lpstr>
      <vt:lpstr>Flatten: 참조를 펼쳐 실제 배치 도형 생성</vt:lpstr>
      <vt:lpstr>한 프레임(OnPaint) 그리기 순서</vt:lpstr>
      <vt:lpstr>GPU 버퍼: 도면을 열 때 정점 1회 생성</vt:lpstr>
      <vt:lpstr>Element별 삼각형 생성 방식</vt:lpstr>
      <vt:lpstr>Layer 색상, 반투명, 선택 강조</vt:lpstr>
      <vt:lpstr>Label: TEXT를 GDI로 덧그리는 오버레이</vt:lpstr>
      <vt:lpstr>Label 글꼴 크기: 줌 배율 + 이웃 간격</vt:lpstr>
      <vt:lpstr>Label 겹침 차단: 64px 화면 격자</vt:lpstr>
      <vt:lpstr>PowerPoint 프레젠테이션</vt:lpstr>
      <vt:lpstr>현재 파서 한계 6건</vt:lpstr>
      <vt:lpstr>오목 BOUNDARY 채움 오류 가능</vt:lpstr>
      <vt:lpstr>확인 필요 사항과 다음 단계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GDS 파일 Parsing 구조와 화면 표시</dc:title>
  <dc:creator/>
  <cp:lastModifiedBy>BJ</cp:lastModifiedBy>
  <cp:revision>3</cp:revision>
  <dcterms:created xsi:type="dcterms:W3CDTF">2013-11-13T01:08:07Z</dcterms:created>
  <dcterms:modified xsi:type="dcterms:W3CDTF">2026-10-08T05:08:28Z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