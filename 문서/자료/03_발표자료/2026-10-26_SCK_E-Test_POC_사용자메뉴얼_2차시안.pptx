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5"/>
  </p:notesMasterIdLst>
  <p:sldIdLst>
    <p:sldId id="257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8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DEA"/>
    <a:srgbClr val="F74E19"/>
    <a:srgbClr val="3A98E6"/>
    <a:srgbClr val="009CE1"/>
    <a:srgbClr val="F2F2F2"/>
    <a:srgbClr val="1283B6"/>
    <a:srgbClr val="4AABC6"/>
    <a:srgbClr val="4BDAE1"/>
    <a:srgbClr val="376889"/>
    <a:srgbClr val="0D9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1841" autoAdjust="0"/>
  </p:normalViewPr>
  <p:slideViewPr>
    <p:cSldViewPr snapToGrid="0">
      <p:cViewPr varScale="1">
        <p:scale>
          <a:sx n="99" d="100"/>
          <a:sy n="99" d="100"/>
        </p:scale>
        <p:origin x="1704" y="60"/>
      </p:cViewPr>
      <p:guideLst/>
    </p:cSldViewPr>
  </p:slideViewPr>
  <p:outlineViewPr>
    <p:cViewPr>
      <p:scale>
        <a:sx n="33" d="100"/>
        <a:sy n="33" d="100"/>
      </p:scale>
      <p:origin x="0" y="-2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0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E5B6F-C10B-4B3A-83EF-10CE51EA9189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1613-9850-4640-BEA1-E291504B1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02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5" name="모서리가 둥근 직사각형 14"/>
          <p:cNvSpPr/>
          <p:nvPr userDrawn="1"/>
        </p:nvSpPr>
        <p:spPr>
          <a:xfrm flipH="1">
            <a:off x="1044250" y="951722"/>
            <a:ext cx="6428792" cy="4712335"/>
          </a:xfrm>
          <a:prstGeom prst="roundRect">
            <a:avLst>
              <a:gd name="adj" fmla="val 3485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 userDrawn="1"/>
        </p:nvSpPr>
        <p:spPr>
          <a:xfrm>
            <a:off x="4617875" y="951722"/>
            <a:ext cx="2855167" cy="1951214"/>
          </a:xfrm>
          <a:prstGeom prst="roundRect">
            <a:avLst>
              <a:gd name="adj" fmla="val 0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4"/>
          <p:cNvSpPr/>
          <p:nvPr userDrawn="1"/>
        </p:nvSpPr>
        <p:spPr>
          <a:xfrm flipH="1">
            <a:off x="4798025" y="2024331"/>
            <a:ext cx="4982547" cy="3905832"/>
          </a:xfrm>
          <a:custGeom>
            <a:avLst/>
            <a:gdLst>
              <a:gd name="connsiteX0" fmla="*/ 0 w 4982547"/>
              <a:gd name="connsiteY0" fmla="*/ 4086807 h 4086807"/>
              <a:gd name="connsiteX1" fmla="*/ 1721271 w 4982547"/>
              <a:gd name="connsiteY1" fmla="*/ 0 h 4086807"/>
              <a:gd name="connsiteX2" fmla="*/ 4982547 w 4982547"/>
              <a:gd name="connsiteY2" fmla="*/ 4086807 h 4086807"/>
              <a:gd name="connsiteX3" fmla="*/ 0 w 4982547"/>
              <a:gd name="connsiteY3" fmla="*/ 4086807 h 4086807"/>
              <a:gd name="connsiteX0" fmla="*/ 0 w 4982547"/>
              <a:gd name="connsiteY0" fmla="*/ 3905832 h 3905832"/>
              <a:gd name="connsiteX1" fmla="*/ 1616496 w 4982547"/>
              <a:gd name="connsiteY1" fmla="*/ 0 h 3905832"/>
              <a:gd name="connsiteX2" fmla="*/ 4982547 w 4982547"/>
              <a:gd name="connsiteY2" fmla="*/ 3905832 h 3905832"/>
              <a:gd name="connsiteX3" fmla="*/ 0 w 4982547"/>
              <a:gd name="connsiteY3" fmla="*/ 3905832 h 390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2547" h="3905832">
                <a:moveTo>
                  <a:pt x="0" y="3905832"/>
                </a:moveTo>
                <a:lnTo>
                  <a:pt x="1616496" y="0"/>
                </a:lnTo>
                <a:lnTo>
                  <a:pt x="4982547" y="3905832"/>
                </a:lnTo>
                <a:lnTo>
                  <a:pt x="0" y="39058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1311569" y="2830036"/>
            <a:ext cx="5826349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975437" y="5951663"/>
            <a:ext cx="1398939" cy="50409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45033" y="3843453"/>
            <a:ext cx="1980000" cy="1631250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2374376" y="6188025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28821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77078" y="98416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 userDrawn="1"/>
        </p:nvSpPr>
        <p:spPr>
          <a:xfrm>
            <a:off x="877078" y="433385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6064898"/>
            <a:ext cx="9906000" cy="793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508768" y="6206474"/>
            <a:ext cx="1268152" cy="456962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37119" y="635372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8495" y="1946644"/>
            <a:ext cx="1980000" cy="1631250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>
            <p:ph type="ctrTitle"/>
          </p:nvPr>
        </p:nvSpPr>
        <p:spPr>
          <a:xfrm>
            <a:off x="877079" y="1366962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>
          <a:xfrm>
            <a:off x="877078" y="272742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5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 userDrawn="1"/>
        </p:nvSpPr>
        <p:spPr bwMode="auto">
          <a:xfrm>
            <a:off x="452500" y="6424420"/>
            <a:ext cx="370198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marL="0" marR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240824" y="6141523"/>
            <a:ext cx="1425691" cy="51372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758458" y="2594219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pic>
        <p:nvPicPr>
          <p:cNvPr id="7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6851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75" y="1380566"/>
            <a:ext cx="8693649" cy="4096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9087" y="2128657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9086" y="348912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240028" y="6068987"/>
            <a:ext cx="1145555" cy="458923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977596" y="624834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8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1394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541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736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7715" y="1355782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0870" y="379609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714068" y="6069419"/>
            <a:ext cx="992149" cy="397467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31931" y="6236054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9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877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57388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87898" y="6207359"/>
            <a:ext cx="1028748" cy="412129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05596" y="632865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609892" y="712109"/>
            <a:ext cx="4599992" cy="527179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575" y="1358676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575" y="334800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483929" y="583121"/>
            <a:ext cx="4851919" cy="5529773"/>
          </a:xfrm>
          <a:prstGeom prst="rect">
            <a:avLst/>
          </a:prstGeom>
          <a:noFill/>
          <a:ln>
            <a:solidFill>
              <a:srgbClr val="028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69017" y="5212996"/>
            <a:ext cx="4290803" cy="250830"/>
          </a:xfrm>
          <a:prstGeom prst="rect">
            <a:avLst/>
          </a:prstGeom>
        </p:spPr>
      </p:pic>
      <p:pic>
        <p:nvPicPr>
          <p:cNvPr id="11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-17909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333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6184232"/>
            <a:ext cx="9906000" cy="689548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4124330" y="1397711"/>
            <a:ext cx="4868156" cy="2551112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001676" y="1394537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4000" b="1" kern="1200" dirty="0" smtClean="0">
                <a:solidFill>
                  <a:srgbClr val="028D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4000" b="1" kern="1200" dirty="0" err="1" smtClean="0">
              <a:solidFill>
                <a:srgbClr val="028D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89557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13791"/>
            <a:ext cx="5933661" cy="69680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 userDrawn="1"/>
        </p:nvSpPr>
        <p:spPr>
          <a:xfrm>
            <a:off x="1302026" y="875383"/>
            <a:ext cx="7729329" cy="2680869"/>
          </a:xfrm>
          <a:custGeom>
            <a:avLst/>
            <a:gdLst>
              <a:gd name="connsiteX0" fmla="*/ 2768600 w 5723467"/>
              <a:gd name="connsiteY0" fmla="*/ 25400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2768600 w 5723467"/>
              <a:gd name="connsiteY4" fmla="*/ 25400 h 4114800"/>
              <a:gd name="connsiteX0" fmla="*/ 1074882 w 5723467"/>
              <a:gd name="connsiteY0" fmla="*/ 77354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1074882 w 5723467"/>
              <a:gd name="connsiteY4" fmla="*/ 77354 h 4114800"/>
              <a:gd name="connsiteX0" fmla="*/ 2010064 w 6658649"/>
              <a:gd name="connsiteY0" fmla="*/ 77354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77354 h 4116724"/>
              <a:gd name="connsiteX0" fmla="*/ 2010064 w 6658649"/>
              <a:gd name="connsiteY0" fmla="*/ 28118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28118 h 4116724"/>
              <a:gd name="connsiteX0" fmla="*/ 2010064 w 6658649"/>
              <a:gd name="connsiteY0" fmla="*/ 0 h 4088606"/>
              <a:gd name="connsiteX1" fmla="*/ 0 w 6658649"/>
              <a:gd name="connsiteY1" fmla="*/ 4088606 h 4088606"/>
              <a:gd name="connsiteX2" fmla="*/ 6650182 w 6658649"/>
              <a:gd name="connsiteY2" fmla="*/ 4086682 h 4088606"/>
              <a:gd name="connsiteX3" fmla="*/ 6658649 w 6658649"/>
              <a:gd name="connsiteY3" fmla="*/ 77390 h 4088606"/>
              <a:gd name="connsiteX4" fmla="*/ 2010064 w 6658649"/>
              <a:gd name="connsiteY4" fmla="*/ 0 h 4088606"/>
              <a:gd name="connsiteX0" fmla="*/ 2010064 w 6650479"/>
              <a:gd name="connsiteY0" fmla="*/ 7016 h 4095622"/>
              <a:gd name="connsiteX1" fmla="*/ 0 w 6650479"/>
              <a:gd name="connsiteY1" fmla="*/ 4095622 h 4095622"/>
              <a:gd name="connsiteX2" fmla="*/ 6650182 w 6650479"/>
              <a:gd name="connsiteY2" fmla="*/ 4093698 h 4095622"/>
              <a:gd name="connsiteX3" fmla="*/ 6637548 w 6650479"/>
              <a:gd name="connsiteY3" fmla="*/ 0 h 4095622"/>
              <a:gd name="connsiteX4" fmla="*/ 2010064 w 6650479"/>
              <a:gd name="connsiteY4" fmla="*/ 7016 h 4095622"/>
              <a:gd name="connsiteX0" fmla="*/ 2010064 w 6650640"/>
              <a:gd name="connsiteY0" fmla="*/ 7016 h 4095622"/>
              <a:gd name="connsiteX1" fmla="*/ 0 w 6650640"/>
              <a:gd name="connsiteY1" fmla="*/ 4095622 h 4095622"/>
              <a:gd name="connsiteX2" fmla="*/ 6650182 w 6650640"/>
              <a:gd name="connsiteY2" fmla="*/ 4093698 h 4095622"/>
              <a:gd name="connsiteX3" fmla="*/ 6644581 w 6650640"/>
              <a:gd name="connsiteY3" fmla="*/ 0 h 4095622"/>
              <a:gd name="connsiteX4" fmla="*/ 2010064 w 6650640"/>
              <a:gd name="connsiteY4" fmla="*/ 7016 h 4095622"/>
              <a:gd name="connsiteX0" fmla="*/ 2018531 w 6650640"/>
              <a:gd name="connsiteY0" fmla="*/ 0 h 4101306"/>
              <a:gd name="connsiteX1" fmla="*/ 0 w 6650640"/>
              <a:gd name="connsiteY1" fmla="*/ 4101306 h 4101306"/>
              <a:gd name="connsiteX2" fmla="*/ 6650182 w 6650640"/>
              <a:gd name="connsiteY2" fmla="*/ 4099382 h 4101306"/>
              <a:gd name="connsiteX3" fmla="*/ 6644581 w 6650640"/>
              <a:gd name="connsiteY3" fmla="*/ 5684 h 4101306"/>
              <a:gd name="connsiteX4" fmla="*/ 2018531 w 6650640"/>
              <a:gd name="connsiteY4" fmla="*/ 0 h 4101306"/>
              <a:gd name="connsiteX0" fmla="*/ 2018531 w 6650527"/>
              <a:gd name="connsiteY0" fmla="*/ 2782 h 4104088"/>
              <a:gd name="connsiteX1" fmla="*/ 0 w 6650527"/>
              <a:gd name="connsiteY1" fmla="*/ 4104088 h 4104088"/>
              <a:gd name="connsiteX2" fmla="*/ 6650182 w 6650527"/>
              <a:gd name="connsiteY2" fmla="*/ 4102164 h 4104088"/>
              <a:gd name="connsiteX3" fmla="*/ 6640348 w 6650527"/>
              <a:gd name="connsiteY3" fmla="*/ 0 h 4104088"/>
              <a:gd name="connsiteX4" fmla="*/ 2018531 w 6650527"/>
              <a:gd name="connsiteY4" fmla="*/ 2782 h 4104088"/>
              <a:gd name="connsiteX0" fmla="*/ 2018531 w 6650865"/>
              <a:gd name="connsiteY0" fmla="*/ 2782 h 4104088"/>
              <a:gd name="connsiteX1" fmla="*/ 0 w 6650865"/>
              <a:gd name="connsiteY1" fmla="*/ 4104088 h 4104088"/>
              <a:gd name="connsiteX2" fmla="*/ 6650182 w 6650865"/>
              <a:gd name="connsiteY2" fmla="*/ 4102164 h 4104088"/>
              <a:gd name="connsiteX3" fmla="*/ 6648815 w 6650865"/>
              <a:gd name="connsiteY3" fmla="*/ 0 h 4104088"/>
              <a:gd name="connsiteX4" fmla="*/ 2018531 w 6650865"/>
              <a:gd name="connsiteY4" fmla="*/ 2782 h 4104088"/>
              <a:gd name="connsiteX0" fmla="*/ 2018531 w 6650865"/>
              <a:gd name="connsiteY0" fmla="*/ 2782 h 4106397"/>
              <a:gd name="connsiteX1" fmla="*/ 0 w 6650865"/>
              <a:gd name="connsiteY1" fmla="*/ 4104088 h 4106397"/>
              <a:gd name="connsiteX2" fmla="*/ 6650182 w 6650865"/>
              <a:gd name="connsiteY2" fmla="*/ 4106397 h 4106397"/>
              <a:gd name="connsiteX3" fmla="*/ 6648815 w 6650865"/>
              <a:gd name="connsiteY3" fmla="*/ 0 h 4106397"/>
              <a:gd name="connsiteX4" fmla="*/ 2018531 w 6650865"/>
              <a:gd name="connsiteY4" fmla="*/ 2782 h 410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0865" h="4106397">
                <a:moveTo>
                  <a:pt x="2018531" y="2782"/>
                </a:moveTo>
                <a:lnTo>
                  <a:pt x="0" y="4104088"/>
                </a:lnTo>
                <a:lnTo>
                  <a:pt x="6650182" y="4106397"/>
                </a:lnTo>
                <a:cubicBezTo>
                  <a:pt x="6653004" y="2734797"/>
                  <a:pt x="6645993" y="1371600"/>
                  <a:pt x="6648815" y="0"/>
                </a:cubicBezTo>
                <a:lnTo>
                  <a:pt x="2018531" y="27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3267601" y="2007160"/>
            <a:ext cx="5246462" cy="2934407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794652" y="1183007"/>
            <a:ext cx="2056502" cy="3186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3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3200" b="1" kern="1200" dirty="0" err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33380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326571"/>
            <a:ext cx="9906000" cy="77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974" y="443062"/>
            <a:ext cx="9241467" cy="597399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028DEA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1237492"/>
            <a:ext cx="9182554" cy="84961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7153947" y="76376"/>
            <a:ext cx="2646530" cy="268872"/>
          </a:xfrm>
        </p:spPr>
        <p:txBody>
          <a:bodyPr>
            <a:noAutofit/>
          </a:bodyPr>
          <a:lstStyle>
            <a:lvl1pPr marL="0" indent="0"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4"/>
          </p:nvPr>
        </p:nvSpPr>
        <p:spPr>
          <a:xfrm>
            <a:off x="205740" y="1988449"/>
            <a:ext cx="5087413" cy="1804988"/>
          </a:xfrm>
        </p:spPr>
        <p:txBody>
          <a:bodyPr/>
          <a:lstStyle>
            <a:lvl1pPr marL="185738" indent="-185738">
              <a:buFont typeface="Arial" panose="020B0604020202020204" pitchFamily="34" charset="0"/>
              <a:buChar char="•"/>
              <a:defRPr sz="1400"/>
            </a:lvl1pPr>
            <a:lvl2pPr marL="358775" indent="-173038">
              <a:buFont typeface="Calibri" panose="020F0502020204030204" pitchFamily="34" charset="0"/>
              <a:buChar char="–"/>
              <a:defRPr sz="1200"/>
            </a:lvl2pPr>
            <a:lvl3pPr marL="542925" indent="-184150">
              <a:buFont typeface="Wingdings" panose="05000000000000000000" pitchFamily="2" charset="2"/>
              <a:buChar char="§"/>
              <a:defRPr sz="12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5" name="평행 사변형 4"/>
          <p:cNvSpPr/>
          <p:nvPr userDrawn="1"/>
        </p:nvSpPr>
        <p:spPr>
          <a:xfrm rot="283436">
            <a:off x="1026" y="156930"/>
            <a:ext cx="787112" cy="1013791"/>
          </a:xfrm>
          <a:prstGeom prst="parallelogram">
            <a:avLst>
              <a:gd name="adj" fmla="val 7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 userDrawn="1"/>
        </p:nvSpPr>
        <p:spPr>
          <a:xfrm>
            <a:off x="-19878" y="308113"/>
            <a:ext cx="576469" cy="785191"/>
          </a:xfrm>
          <a:custGeom>
            <a:avLst/>
            <a:gdLst>
              <a:gd name="connsiteX0" fmla="*/ 0 w 576469"/>
              <a:gd name="connsiteY0" fmla="*/ 0 h 785191"/>
              <a:gd name="connsiteX1" fmla="*/ 576469 w 576469"/>
              <a:gd name="connsiteY1" fmla="*/ 0 h 785191"/>
              <a:gd name="connsiteX2" fmla="*/ 19878 w 576469"/>
              <a:gd name="connsiteY2" fmla="*/ 785191 h 785191"/>
              <a:gd name="connsiteX3" fmla="*/ 0 w 576469"/>
              <a:gd name="connsiteY3" fmla="*/ 0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69" h="785191">
                <a:moveTo>
                  <a:pt x="0" y="0"/>
                </a:moveTo>
                <a:lnTo>
                  <a:pt x="576469" y="0"/>
                </a:lnTo>
                <a:lnTo>
                  <a:pt x="19878" y="785191"/>
                </a:lnTo>
                <a:lnTo>
                  <a:pt x="0" y="0"/>
                </a:lnTo>
                <a:close/>
              </a:path>
            </a:pathLst>
          </a:cu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25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1" y="132054"/>
            <a:ext cx="9241467" cy="316414"/>
          </a:xfrm>
        </p:spPr>
        <p:txBody>
          <a:bodyPr>
            <a:normAutofit/>
          </a:bodyPr>
          <a:lstStyle>
            <a:lvl1pPr>
              <a:defRPr sz="1600" b="1">
                <a:solidFill>
                  <a:srgbClr val="009CE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326571" y="76479"/>
            <a:ext cx="9302621" cy="0"/>
          </a:xfrm>
          <a:prstGeom prst="line">
            <a:avLst/>
          </a:prstGeom>
          <a:ln w="3810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334261" y="504042"/>
            <a:ext cx="9302621" cy="0"/>
          </a:xfrm>
          <a:prstGeom prst="line">
            <a:avLst/>
          </a:prstGeom>
          <a:ln w="635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6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idx="1"/>
          </p:nvPr>
        </p:nvSpPr>
        <p:spPr bwMode="auto">
          <a:xfrm>
            <a:off x="272587" y="2057403"/>
            <a:ext cx="9360827" cy="13382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dirty="0" smtClean="0"/>
              <a:t>Text on first level here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84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CB39C-1549-4F20-960B-CD7D0719942E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5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6" r:id="rId4"/>
    <p:sldLayoutId id="2147483672" r:id="rId5"/>
    <p:sldLayoutId id="2147483685" r:id="rId6"/>
    <p:sldLayoutId id="2147483677" r:id="rId7"/>
    <p:sldLayoutId id="2147483689" r:id="rId8"/>
    <p:sldLayoutId id="2147483662" r:id="rId9"/>
    <p:sldLayoutId id="2147483691" r:id="rId10"/>
    <p:sldLayoutId id="2147483690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1044226" y="1455453"/>
            <a:ext cx="5106568" cy="1300342"/>
          </a:xfrm>
        </p:spPr>
        <p:txBody>
          <a:bodyPr/>
          <a:lstStyle/>
          <a:p>
            <a:r>
              <a:rPr lang="en-US" altLang="ko-KR" sz="3600" dirty="0" smtClean="0"/>
              <a:t>SCK E-Test POC</a:t>
            </a:r>
            <a:endParaRPr lang="ko-KR" altLang="en-US" sz="3600" dirty="0"/>
          </a:p>
          <a:p>
            <a:r>
              <a:rPr lang="en-US" altLang="ko-KR" sz="3600" dirty="0" err="1" smtClean="0"/>
              <a:t>사용자</a:t>
            </a:r>
            <a:r>
              <a:rPr lang="en-US" altLang="ko-KR" sz="3600" dirty="0" smtClean="0"/>
              <a:t> </a:t>
            </a:r>
            <a:r>
              <a:rPr lang="en-US" altLang="ko-KR" sz="3600" dirty="0" err="1" smtClean="0"/>
              <a:t>메뉴얼</a:t>
            </a:r>
            <a:endParaRPr lang="ko-KR" altLang="en-US" sz="3600" dirty="0"/>
          </a:p>
        </p:txBody>
      </p:sp>
      <p:sp>
        <p:nvSpPr>
          <p:cNvPr id="6" name="부제목 1"/>
          <p:cNvSpPr txBox="1">
            <a:spLocks/>
          </p:cNvSpPr>
          <p:nvPr/>
        </p:nvSpPr>
        <p:spPr>
          <a:xfrm>
            <a:off x="1044226" y="4569843"/>
            <a:ext cx="3723902" cy="3469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dirty="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2026.10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7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설치 정보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0" y="2820604"/>
            <a:ext cx="3002401" cy="2329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6"/>
          <p:cNvSpPr/>
          <p:nvPr/>
        </p:nvSpPr>
        <p:spPr>
          <a:xfrm>
            <a:off x="326571" y="67338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FTP </a:t>
            </a:r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접속 정보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326570" y="1134180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>
                <a:solidFill>
                  <a:schemeClr val="tx1"/>
                </a:solidFill>
                <a:latin typeface="+mn-ea"/>
              </a:rPr>
              <a:t>ftp://</a:t>
            </a:r>
            <a:r>
              <a:rPr lang="en-US" dirty="0" smtClean="0">
                <a:solidFill>
                  <a:schemeClr val="tx1"/>
                </a:solidFill>
                <a:latin typeface="+mn-ea"/>
              </a:rPr>
              <a:t>10.86.253.162/SetupFile/</a:t>
            </a:r>
            <a:r>
              <a:rPr lang="en-US" dirty="0">
                <a:solidFill>
                  <a:schemeClr val="tx1"/>
                </a:solidFill>
                <a:latin typeface="+mn-ea"/>
              </a:rPr>
              <a:t/>
            </a:r>
            <a:br>
              <a:rPr lang="en-US" dirty="0">
                <a:solidFill>
                  <a:schemeClr val="tx1"/>
                </a:solidFill>
                <a:latin typeface="+mn-ea"/>
              </a:rPr>
            </a:br>
            <a:r>
              <a:rPr lang="en-US" dirty="0" smtClean="0">
                <a:solidFill>
                  <a:schemeClr val="tx1"/>
                </a:solidFill>
                <a:latin typeface="+mn-ea"/>
              </a:rPr>
              <a:t>POC / POC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326571" y="1752092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설치 서버 주소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326570" y="2212892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>
                <a:solidFill>
                  <a:schemeClr val="tx1"/>
                </a:solidFill>
                <a:latin typeface="+mn-ea"/>
              </a:rPr>
              <a:t>10.86.253.162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326571" y="5298607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Log In </a:t>
            </a:r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정보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Rectangle 7"/>
          <p:cNvSpPr/>
          <p:nvPr/>
        </p:nvSpPr>
        <p:spPr>
          <a:xfrm>
            <a:off x="326570" y="5759407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 smtClean="0">
                <a:solidFill>
                  <a:schemeClr val="tx1"/>
                </a:solidFill>
                <a:latin typeface="+mn-ea"/>
              </a:rPr>
              <a:t>ADMIN / 1111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084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화면 구성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49180"/>
              </p:ext>
            </p:extLst>
          </p:nvPr>
        </p:nvGraphicFramePr>
        <p:xfrm>
          <a:off x="342000" y="831600"/>
          <a:ext cx="9117532" cy="5648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9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4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34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메뉴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49">
                <a:tc rowSpan="6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Setup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</a:t>
                      </a:r>
                      <a:r>
                        <a:rPr lang="ko-KR" altLang="en-US"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을</a:t>
                      </a:r>
                      <a:r>
                        <a:rPr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Device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DB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등록함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Map Setup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원형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Wafer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만들어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Para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Register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헤더를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Parameter로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등록함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Para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Parameter의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GDS Chain, Spec,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Bin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</a:t>
                      </a:r>
                      <a:r>
                        <a:rPr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Bin</a:t>
                      </a:r>
                      <a:r>
                        <a:rPr lang="en-US" sz="95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Type Define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Class </a:t>
                      </a:r>
                      <a:r>
                        <a:rPr lang="ko-KR" altLang="en-US"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49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Data Upload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File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Upload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이미지를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DMS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DB에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Result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Upload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</a:t>
                      </a:r>
                      <a:r>
                        <a:rPr lang="en-US"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DB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349">
                <a:tc rowSpan="4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View /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DB의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GDS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조회하고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Chain을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Wafer Map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조회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Result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E-Test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조회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GDS-KLARF-ET </a:t>
                      </a:r>
                      <a:r>
                        <a:rPr sz="95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Correlation</a:t>
                      </a:r>
                      <a:endParaRPr sz="95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KLARF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Defect와</a:t>
                      </a:r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GDS Chain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위치의</a:t>
                      </a:r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연관성을</a:t>
                      </a:r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분석함</a:t>
                      </a:r>
                      <a:endParaRPr sz="95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349">
                <a:tc rowSpan="4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DMS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Viewer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위치를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Wafer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Chart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Analysis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항목별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차트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Gallery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한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화면에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나열해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Image Gallery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이미지를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Class별로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5349">
                <a:tc rowSpan="7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Map View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1장의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측정값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분석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Bin Map Gallery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바둑판으로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놓고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Map Gallery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측정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값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나란히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Cum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위치를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누적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Bin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Lot별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구성과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수율을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차트로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Yield Report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Wafer, Lot,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일자별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추이를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차트로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Param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</a:t>
                      </a:r>
                      <a:r>
                        <a:rPr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측정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통계와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추이를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tx1"/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 Map Setup (GDS Map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84469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GDS Map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GDS 도면을 Layer 색으로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휠 확대, 축소, 드래그 이동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Layer별 도형 수, 선택 합계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Layer만 Device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Map으로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파일 열기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GDS 파일 선택 후 도면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Map을 저장할 Device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Layer 도형만 DB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중지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진행 중인 저장 중지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Layer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Layer만 표시,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원점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도면 원점 십자선 표시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GDS 파일의 Layer를 선택해 Device Map으로 DB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1_gds_ma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Map Setup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458694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Wafer Map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KLARF 기준 원형 Wafer Map 미리보기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Net Die, 생성 Die, 검사 Die 개수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위치의 Die 번호, 좌표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위 Die 번호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크기, Edge, XY 방향 설정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원점, Die Pitch, Flat Zone 설정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새 Map ID로 저장, 같은 ID는 덮어씀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파일 선택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파일 선택 후 Map 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새 Map ID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저장할 Map ID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가장자리 제외 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정도로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XY 방향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번호 시작 위치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Pitch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간격, 초기값은 KLARF 값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그리기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변경한 설정으로 Map 재생성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Map ID로 저장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파일로 원형 Wafer Map을 만들어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2_wafer_ma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723924" y="2238149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30324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124" y="2393774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1524" y="2300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124" y="2960249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1524" y="2866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436" y="2960249"/>
            <a:ext cx="4388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2836" y="2866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124" y="3570299"/>
            <a:ext cx="9213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1524" y="3476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124" y="3781949"/>
            <a:ext cx="54780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1524" y="36883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124" y="3900224"/>
            <a:ext cx="8901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1524" y="38066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Para Register (E-Test Para 등록)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9614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55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Para Register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헤더별 등록 상태(신규, 등록됨, 오류)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헤더에서 나눈 측정, 조건, Chain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파일명에서 읽은 Device, 공정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신규 헤더를 Parameter로 등록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 단위 등록 정보, 결과 삭제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결과 파일 열기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E-Test 결과 파일을 읽어 헤더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규칙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파일명 구성 규칙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신규 행만 등록 가능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이름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DB에 저장할 Parameter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 전체 선택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표시된 신규 행 전체 체크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등록 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Parameter가 등록된 Device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Device의 등록 정보, 결과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결과 파일 헤더를 Parameter로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3_et_para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951574" y="2216361"/>
            <a:ext cx="45442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57974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7786" y="2319074"/>
            <a:ext cx="108937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34186" y="2225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686" y="2512049"/>
            <a:ext cx="23655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6086" y="2418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61311" y="2512049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767711" y="2418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2974" y="2406224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09374" y="23126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899" y="2309736"/>
            <a:ext cx="10893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5299" y="22161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3174" y="2306624"/>
            <a:ext cx="37038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459574" y="22130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Para Setup (E-Test Para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691985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Para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공정별 등록 Parameter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측정, Chain 1, 사용 여부 필터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이름 GDS Device의 Setup Chain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Chain별 사용 Parameter 수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Parameter별 GDS Chain 이름 입력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Lower, Upper, Enable Spec 입력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여부, 비고 수정 후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측정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측정 항목 필터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1에 연결할 GDS Chain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하한, 상한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Enable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판정 사용 여부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결과 업로드 시 값 저장 여부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Setup Chain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더블클릭 시 Chain 이름 복사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해제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모든 필터 초기화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등록 Parameter의 GDS Chain, Spec, 사용 설정함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4_et_para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6449" y="2359536"/>
            <a:ext cx="4326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2849" y="22659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8486" y="2449799"/>
            <a:ext cx="51667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0488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6486" y="2449799"/>
            <a:ext cx="4544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90288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2236" y="2449799"/>
            <a:ext cx="17430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386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1536" y="2449799"/>
            <a:ext cx="1556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679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2149" y="2624099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38549" y="25304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2074" y="23439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78474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Bin Setup (E-Test Bin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908648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Bin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공정별 Bin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Software Bin 번호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표시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양품 Bin 수, 파일 Die 수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이름, 양품, 색, 설명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추가,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Hardware Bin 번호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양품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YMS 수율 계산 시 양품 Bin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색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더블클릭 시 색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Software Bin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Software Bin 번호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추가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Bin 행 추가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선택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Bin 정의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Bin의 이름, 양품, 색, 설명을 설정함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5_et_bin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98036" y="2449799"/>
            <a:ext cx="192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44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336" y="2449799"/>
            <a:ext cx="485550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87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9211" y="2449799"/>
            <a:ext cx="15562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561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6161" y="2449799"/>
            <a:ext cx="2676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56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2061" y="2449799"/>
            <a:ext cx="3579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3846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899" y="23439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5299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399" y="2343974"/>
            <a:ext cx="3423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8799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Type Define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68643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Defect Type Define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 번호별 이름, 설명, 그룹, 색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Class별 등록, 수정 사용자와 시각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새 Class 번호, 이름, 그룹, 색 등록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이름, 설명, Group ID, 색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선택한 Class 삭제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목록 다시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CLASSNUMBER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번호(KLARF Class 값)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Group ID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Group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Insert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Class 입력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Class 수정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입력, 수정 내용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Delete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Class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Defect Class 번호별 이름, 그룹, 색을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6_defect_type_de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019611" y="2281724"/>
            <a:ext cx="3392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26011" y="21881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2396886"/>
            <a:ext cx="420187" cy="10271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0399" y="23032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43399" y="2471586"/>
            <a:ext cx="846600" cy="5415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49799" y="2377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6761" y="532263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13161" y="52290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58961" y="540978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65361" y="53161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2861" y="532263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39261" y="52290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2861" y="540978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39261" y="53161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KLARF File Upload (KLARF File 업로드)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5677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Data Upload → KLARF File Upload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Device, Step, Defect 수 요약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Defect, 검사 Die, 이미지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Wafer의 Map, Defect 목록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KLARF Defect, 이미지를 DB에 저장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Product, Step ID, 설비 저장 값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등록된 Wafer 재등록 또는 제외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KLARF 파일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시 파일을 읽어 미리보기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이미지 폴더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이미지 폴더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값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저장할 Product, Step ID, 설비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Defect, 이미지 DB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Wafer별 저장 결과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Class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Class 번호, Map 색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분류명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번호의 분류 이름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파일과 Defect 이미지를 DMS DB에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7_klarf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70024" y="2281724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424" y="21881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024" y="2381324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6424" y="22877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674" y="2493374"/>
            <a:ext cx="5484225" cy="1867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9074" y="23997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6899" y="2552511"/>
            <a:ext cx="4544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23299" y="2458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2036" y="2826411"/>
            <a:ext cx="2676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88436" y="2732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836" y="3501824"/>
            <a:ext cx="20231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2236" y="34082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9474" y="3501824"/>
            <a:ext cx="2396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25874" y="34082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Result Upload (E-Test 결과 업로드)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4607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55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Data Upload → E-Test Result Upload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분석 상태와 사유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판정, Fail 수, Map 좌표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선택한 Die의 Parameter 값, Spec, 판정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중인 Parameter 값만 저장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정보 표의 Device, 공정, Lot 값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Wafer, 공정 결과는 덮어씀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파일 열기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E-Test 결과 파일 읽기, 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읽기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설정 변경 후 재분석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업로드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미리보기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파일 정보, 분석 상태, 더블클릭 시 수정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1단계: Die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판정, Fail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2단계: 정의 Para 값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Die의 측정값, Spec, 판정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기준 Die 좌표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분석 결과 DB 저장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결과 파일(xlsx) 1개를 분석해 DB에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8_et_result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908886" y="2219474"/>
            <a:ext cx="3548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5286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3711" y="22194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0111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99" y="2325299"/>
            <a:ext cx="152512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03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2899" y="2325299"/>
            <a:ext cx="44571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392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5349" y="4239486"/>
            <a:ext cx="557137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51749" y="4145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9311" y="2393774"/>
            <a:ext cx="252112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65711" y="2300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2524" y="2219474"/>
            <a:ext cx="2925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789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 Map View (GDS Map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728695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Layer만 DB에서 받아 도면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Front, Back side 보기 전환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Chain을 색 외곽선으로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Device별 Map 정보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생성, Input 지정, 경로 찾기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도형 추가, 제외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저장, Map 복사, 삭제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일부 적용: 2027-01-31 이후 Chain 저장, Map 복사, 삭제 불가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조회할 Device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새 Chain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Chain 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Input 지정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시작 도형 지정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후보 경로 찾기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Input에서 연결된 도형 탐색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도형 추가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클릭으로 Chain 도형 추가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도형 제외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클릭으로 Chain 도형 제외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Chain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변경된 Chain DB 반영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DB의 GDS Map을 조회하고 Chain을 설정,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9_gds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9561" y="2228811"/>
            <a:ext cx="5820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5961" y="21352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5524" y="2396886"/>
            <a:ext cx="364162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31924" y="23032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261" y="2328411"/>
            <a:ext cx="3299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9661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474" y="2328411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33874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9449" y="2328411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849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0699" y="2328411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77099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99424" y="2496486"/>
            <a:ext cx="451312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505824" y="2402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Map View (Wafer Map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8794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Wafer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목록의 Wafer, Net Die, XY 방향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Map 형상, 사용, 제거 Die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XY 방향 기준 Die 번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목록 다시 조회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저장된 Wafer Map 형상과 Die 수를 조회함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0_wafer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8" name="Oval 7"/>
          <p:cNvSpPr/>
          <p:nvPr/>
        </p:nvSpPr>
        <p:spPr>
          <a:xfrm>
            <a:off x="351524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Result View (E-Test 결과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00284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E-Test Result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공정, Lot별 저장 파일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파일별 Spec Pass, Fail Die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추가 Parameter, Spec 변경, YMS 반영 상태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선택한 파일의 Die 판정, Para 값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미적용(선택 파일 삭제도 제한 없음)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Fail Die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Fail Die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 후 추가 등록된 Parameter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바뀜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후 Spec 변경 여부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좌표 계산에 사용한 Map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YMS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YMS 반영 상태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하한, 상한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선택 파일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파일, Die, 측정값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저장된 E-Test 결과 파일을 조회하고 삭제함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1_et_resul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2340636" y="2325299"/>
            <a:ext cx="3454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47036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9624" y="2325299"/>
            <a:ext cx="28012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66024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1074" y="2325299"/>
            <a:ext cx="2894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27474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1861" y="2325299"/>
            <a:ext cx="1898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8261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4686" y="2325299"/>
            <a:ext cx="1960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51086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5999" y="4678349"/>
            <a:ext cx="423300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02399" y="4584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4249" y="2219474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60649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GDS-KLARF-ET Correlation (GDS-KLARF-ET 연관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3977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8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GDS-KLARF-ET Correlation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Chain 위 Defect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Chain 위, 밖 Defect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Die의 Defect 이미지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위치의 Die X, Y, Index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영역 판정 방식, 허용오차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GDS Chain 면, KLARF 위치 보정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색 구간, 표시 기준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색 구간 설정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색 구간, 표시 기준 설정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크기 + 허용오차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크기에 허용오차를 더해 판정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중심 정사각형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중심 정사각형으로 판정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 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면 선택(FS, BS)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KLARF 위치 조정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좌표 X, Y 보정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분석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변경한 설정으로 재분석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Chain 위, 밖 Defect 수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Defect와 GDS Chain 위치의 연관성을 분석함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2_gds_klarf_et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3800399" y="2337749"/>
            <a:ext cx="4108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06799" y="22441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74" y="2515161"/>
            <a:ext cx="4793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73674" y="2421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74" y="2602311"/>
            <a:ext cx="4482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73674" y="25087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74" y="2695686"/>
            <a:ext cx="50422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73674" y="2602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5486" y="2801511"/>
            <a:ext cx="326812" cy="653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51886" y="2707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9611" y="2879324"/>
            <a:ext cx="345487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26011" y="27857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5486" y="2994486"/>
            <a:ext cx="115162" cy="653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51886" y="2900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01788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8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GDS-KLARF-ET Correlation → Die 더블클릭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Defect, Chain 위 Defect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걸린 Defect 목록, Chain 밖 Defect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Chain의 E-Test 값(E-Test 있는 Wafer만)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도면 표시 범위, 원점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도면에 표시할 Chain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Limit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미적용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조회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화면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목록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선택한 Die로 상세 화면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분석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원래 분석 화면 설정으로 재분석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 도면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Layer 외 전체 Layer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원점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도면 원점 위치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걸린 / Fail Chain 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Defect가 걸리거나 E-Test Fail인 Chain만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모든 Chain 도면 표시 켜기, 끄기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Chain별 도면 표시 여부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36" y="2208419"/>
            <a:ext cx="6025338" cy="328597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GDS-KLARF-ET Correlation 상세보기 (Die 상세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선택한 Die의 GDS 도면에서 Chain, Defect 위치와 E-Test 값을 확인함</a:t>
            </a:r>
            <a:endParaRPr kumimoji="1" lang="ko-KR" altLang="ko-KR" sz="1400" dirty="0">
              <a:latin typeface="+mn-ea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413999" y="2200799"/>
            <a:ext cx="1098712" cy="1743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8"/>
          <p:cNvSpPr/>
          <p:nvPr/>
        </p:nvSpPr>
        <p:spPr>
          <a:xfrm>
            <a:off x="320399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9"/>
          <p:cNvSpPr/>
          <p:nvPr/>
        </p:nvSpPr>
        <p:spPr>
          <a:xfrm>
            <a:off x="5972924" y="2213249"/>
            <a:ext cx="392175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10"/>
          <p:cNvSpPr/>
          <p:nvPr/>
        </p:nvSpPr>
        <p:spPr>
          <a:xfrm>
            <a:off x="5879324" y="2119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284611" y="2443574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2"/>
          <p:cNvSpPr/>
          <p:nvPr/>
        </p:nvSpPr>
        <p:spPr>
          <a:xfrm>
            <a:off x="2191011" y="2349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539836" y="2443574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4"/>
          <p:cNvSpPr/>
          <p:nvPr/>
        </p:nvSpPr>
        <p:spPr>
          <a:xfrm>
            <a:off x="2446236" y="2349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8799" y="2648999"/>
            <a:ext cx="43886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6"/>
          <p:cNvSpPr/>
          <p:nvPr/>
        </p:nvSpPr>
        <p:spPr>
          <a:xfrm>
            <a:off x="4105199" y="25553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646999" y="2648999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8"/>
          <p:cNvSpPr/>
          <p:nvPr/>
        </p:nvSpPr>
        <p:spPr>
          <a:xfrm>
            <a:off x="4553399" y="25553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86349" y="2723699"/>
            <a:ext cx="166567" cy="170352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20"/>
          <p:cNvSpPr/>
          <p:nvPr/>
        </p:nvSpPr>
        <p:spPr>
          <a:xfrm>
            <a:off x="4092749" y="399181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tx1"/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DMSearch (왼쪽 Wafer 조회 창)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0466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37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Analysis, Correlation 화면을 열면 왼쪽에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기간, 조건에 맞는 Wafer 검사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검사별 Defect 수, 이미지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 항목별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묶음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트리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없이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Lot, Wafer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조건으로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46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검사 기간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Last Inspection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마지막 검사만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기간 없이 Lot, Wafer 조건으로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Dynamic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항목별 조회 조건 입력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 아이콘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조건에 맞는 검사 목록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Wafer를 분석 화면에 전달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조건에 맞는 Wafer 검사를 찾아 분석 화면에 전달함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dm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59551" y="1327744"/>
            <a:ext cx="778440" cy="27221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5951" y="123414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7992" y="1303865"/>
            <a:ext cx="553982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4392" y="121026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7992" y="1494894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4392" y="140129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8654" y="1719352"/>
            <a:ext cx="1690601" cy="8405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5054" y="162575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1050" y="2034549"/>
            <a:ext cx="181477" cy="51577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37450" y="19409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2450" y="6218074"/>
            <a:ext cx="859627" cy="16237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68850" y="6124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lang="en-US" sz="1000" b="1" dirty="0" smtClean="0">
                <a:solidFill>
                  <a:srgbClr val="000000"/>
                </a:solidFill>
              </a:rPr>
              <a:t>6</a:t>
            </a:r>
            <a:endParaRPr sz="1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Map Viewer (Defect 맵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32930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Viewer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위 Defect 위치, Class별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Class, Size별 Defect 분포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Defect 이미지, Die, Class, 크기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정보, 선택 Defect 상세 정보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Count Color 구간,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Class별 표시 색(Defect Color 탭)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Select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드래그로 Defect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 기준 항목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막대 클릭 시 해당 Defect만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Count Color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Defect 수 구간 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ImageList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Defect 이미지, 더블클릭 시 확대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Data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Defect의 ID, 좌표, 크기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정보, 선택 Defect 정보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Wafer의 Defect 위치를 Wafer Map에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3_defect_map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3056736"/>
            <a:ext cx="155625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22186" y="29631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5986" y="2963361"/>
            <a:ext cx="1680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72386" y="2869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1549" y="2291061"/>
            <a:ext cx="4793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87949" y="21974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20811" y="5434686"/>
            <a:ext cx="2178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27211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9349" y="5434686"/>
            <a:ext cx="21165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35749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4774" y="5434686"/>
            <a:ext cx="2334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41174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Chart Analysis (Chart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99797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Chart Analysis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Step, Wafer, Class 등 기준별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수, 밀도, 불량 Die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Type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Bar, Line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 기준 항목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집계 값(Defect Count 등)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아이콘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Size 구간, Defect Type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Normalize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비율로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Label / X Insp. Time / X Value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X축 정렬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변경한 옵션으로 차트 다시 그림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Wafer의 Defect를 기준 항목별 차트로 집계함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4_char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65224" y="2266161"/>
            <a:ext cx="3641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71624" y="2172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5224" y="2350199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71624" y="22565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5224" y="2437349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71624" y="2343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2236" y="2350199"/>
            <a:ext cx="87150" cy="1680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48636" y="22565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886" y="2437349"/>
            <a:ext cx="2770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58286" y="2343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7574" y="2278611"/>
            <a:ext cx="317475" cy="2147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853974" y="21850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1399" y="2266161"/>
            <a:ext cx="342375" cy="1711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7799" y="2172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Map Gallery (Defect 맵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7611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검사별 Defect Map 나란히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Step, Class 기준 행렬 배치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Map별 Lot, Wafer 등 정보 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화면 Map 가로, 세로 개수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격자, 이미지 표시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묶음 기준(Column, Row)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가로 묶음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세로 묶음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화면 Map 가로, 세로 개수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개수 적용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 dies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격자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 defects only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신규 Defect만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 Mark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이미지가 있는 Defect 표시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Defect Map을 한 화면에 나열해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5_defect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2219474"/>
            <a:ext cx="6380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6061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7724" y="2219474"/>
            <a:ext cx="61005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1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7724" y="2219474"/>
            <a:ext cx="893287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941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0011" y="2216361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36411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2324" y="2225699"/>
            <a:ext cx="2801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38724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2449" y="2225699"/>
            <a:ext cx="4015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818849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961" y="2225699"/>
            <a:ext cx="3019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20361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Image Gallery (Defect 이미지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91263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Image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Class별 이미지 썸네일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이미지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더블클릭 시 확대 이미지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화면 이미지 가로, 세로 개수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 구분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없이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나열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화면 이미지 가로, 세로 개수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개수 적용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구분 없이 나열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 Display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썸네일 아래 정보 숨김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Zoom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이미지 확대 창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이미지의 Defect 정보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Remove Image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이미지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Wafer의 Defect 이미지를 Class별로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6_defect_image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2216361"/>
            <a:ext cx="5042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7186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1899" y="2213249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88299" y="2119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5536" y="2200799"/>
            <a:ext cx="202312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71936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9174" y="2200799"/>
            <a:ext cx="286350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55574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6849" y="2200799"/>
            <a:ext cx="196087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23249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8036" y="2207024"/>
            <a:ext cx="249000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84436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9349" y="2207024"/>
            <a:ext cx="32058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35749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tx1"/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TESTSearch (왼쪽 TEST 조회 창)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56163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화면을 열면 왼쪽에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기간, 조건에 맞는 Wafer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수율, 검사 Die 수, 테스트 시간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 항목 기준 Lot, 제품별 묶음 트리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조건 항목 추가, 삭제, 순서 변경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마지막 조회 조건, 기간 자동 복원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테스트 기간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Last Test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재측정 Wafer는 최신 결과만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기간 없이 Lot, Wafer 조건으로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 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조회 조건 입력(쉼표, * 사용)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 아이콘(공구 모양)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조회 조건 항목 설정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 아이콘(표 모양)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조건에 맞는 검사 목록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Wafer를 분석 화면에 전달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조건에 맞는 TEST Wafer를 찾아 분석 화면에 전달함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test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07308" y="1332519"/>
            <a:ext cx="778440" cy="267439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3708" y="123891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49" y="1375501"/>
            <a:ext cx="39638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2149" y="128190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749" y="1475791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92149" y="138219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102" y="1590408"/>
            <a:ext cx="1719255" cy="916936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5502" y="1496808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0152" y="1580857"/>
            <a:ext cx="171925" cy="38205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56552" y="148725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0152" y="1934259"/>
            <a:ext cx="171925" cy="56353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56552" y="184065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6777" y="6203747"/>
            <a:ext cx="845300" cy="17670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3177" y="611014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 Map View (TEST 맵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0802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색 Wafer 맵, Bin별 수량, 비율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수량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 항목 값 구간별 색 맵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측정값(Raw Data)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Select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표시할 Bin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 (Option)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Bin으로 맵 다시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/ Wafer Info / Zone 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번호, Wafer 정보, Zone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Test Item 목록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값으로 색 구간 맵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색 구간 수, 표시 구간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Limit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규격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Analysis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분포 차트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1장의 Bin 맵과 측정값 맵을 분석함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7_test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2269274"/>
            <a:ext cx="9742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22186" y="21756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8286" y="5229261"/>
            <a:ext cx="273900" cy="1431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4686" y="51356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5124" y="5229261"/>
            <a:ext cx="292575" cy="2054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31524" y="51356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8099" y="5434686"/>
            <a:ext cx="19920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524499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Bin Map Gallery (Probe 맵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439058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Bin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Bin 색 맵 한 화면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맵별 제품, Program, 수율, Tester 정보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맵 1장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Cnt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줄에 표시할 맵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맵 다시 배치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View Mode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더블클릭 시 맵 분석 창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 &lt; &gt; &gt;&gt;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확대 보기 이동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맵 생성 중지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맵 클릭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맵 선택(Ctrl, Shift 다중 선택)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Bin 맵을 바둑판으로 놓고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8_bin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2200799"/>
            <a:ext cx="3174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60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8461" y="2200799"/>
            <a:ext cx="192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548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8686" y="2207024"/>
            <a:ext cx="3828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45086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7661" y="2200799"/>
            <a:ext cx="4170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540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149" y="5428461"/>
            <a:ext cx="1618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34549" y="53348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 Map Gallery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0511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측정 항목 값 맵 여러 장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규격선 기준 판정 맵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항목의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값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줄에 표시할 맵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 이름 필터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전체 항목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Decimal Length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값 소수 자리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항목으로 맵 다시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색 구간 수, 표시 구간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Limit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규격 선택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측정 항목 값 맵을 나란히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9_test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58999" y="2228811"/>
            <a:ext cx="6785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5399" y="21352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7374" y="2331524"/>
            <a:ext cx="9026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93774" y="22379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99824" y="4513386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06224" y="44197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5574" y="4504049"/>
            <a:ext cx="44197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41974" y="4410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6636" y="4603649"/>
            <a:ext cx="345487" cy="1960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33036" y="45100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3599" y="4793511"/>
            <a:ext cx="28323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99999" y="4699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58161" y="4793511"/>
            <a:ext cx="2427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664561" y="4699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Cum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9190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Cum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Bin 수량, 비율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Bin 위치의 누적 맵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Bin별 Die 수 막대 차트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누적 횟수 구간별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 값 비율, 수량 전환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/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비율, 수량 표시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열(노란 칸)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누적할 Bin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Wafer, Bin으로 누적 맵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/ Y /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좌표, 누적 횟수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Chart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Bin별 Die 수 차트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Count Color Setup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누적 횟수 구간별 색 설정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Bin 발생 위치를 누적 맵으로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0_wafer_cu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546511" y="2238149"/>
            <a:ext cx="3735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52911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2325299"/>
            <a:ext cx="5976000" cy="3078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03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0474" y="2219474"/>
            <a:ext cx="4108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6687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5024" y="2851311"/>
            <a:ext cx="236550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21424" y="27577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6936" y="2854424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13336" y="27608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6936" y="4186574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13336" y="4092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Bin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28032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Bin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Bin 누적 막대, 수율 선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 단위 합산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수량, 비율, 불량률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 Y축 최대, 최소, 간격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차트 표시, 값 라벨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 Base / Lot Base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단위, Lot 단위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Mode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값을 비율로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Visible (범례)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차트에 표시할 Bin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 Visible (범례)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막대 위 값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Size Reset (우클릭)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확대한 차트 원래 크기로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Config (우클릭)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Y축 범위, 간격 설정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Wafer, Lot별 Bin 구성과 수율을 차트로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1_wafer_bi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74561" y="2222586"/>
            <a:ext cx="53535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0961" y="2128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8086" y="2222586"/>
            <a:ext cx="2832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4486" y="2128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599" y="2319074"/>
            <a:ext cx="239662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48999" y="2225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2599" y="2371986"/>
            <a:ext cx="261450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48999" y="22783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Yield Report (수율 리포트)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0564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931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Yield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수율 선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일자별 평균 수율 추이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Lot별 Wafer 수율 분포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가로축 글자, 점 값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50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Wafer별 수율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Lot별 평균 수율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일자별 평균 수율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Scatter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Lot별 Wafer 수율 분포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Box Plot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Lot별 수율 상자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가로축 글자, 점 값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ToExcel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표, 차트 Excel 저장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Wafer, Lot, 일자별 수율 추이를 차트로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2_yiel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3899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9029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6674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33074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9449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7584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3549" y="2418674"/>
            <a:ext cx="233437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29994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6986" y="2418674"/>
            <a:ext cx="2365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33386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4124" y="2434236"/>
            <a:ext cx="4544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80524" y="23406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8549" y="2412449"/>
            <a:ext cx="26145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034949" y="23188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Param Analysis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3596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Param Analysis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측정값(Raw)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항목별 최소, 최대, 평균, 표준편차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추이선, Sigma 선, 규격선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 Y축 최대, 최소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 이름 필터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전체 항목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Analysis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표, 차트 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/ 통계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값, 항목별 통계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1장의 측정 항목 통계와 추이를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3_param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2287949"/>
            <a:ext cx="1123612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7186" y="21943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4561" y="4158561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80961" y="40649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2886" y="4136774"/>
            <a:ext cx="49800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09286" y="4043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1349" y="2210136"/>
            <a:ext cx="3174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47749" y="21165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1460612" y="2852936"/>
            <a:ext cx="1610306" cy="580254"/>
          </a:xfrm>
          <a:prstGeom prst="rect">
            <a:avLst/>
          </a:prstGeom>
        </p:spPr>
      </p:pic>
      <p:sp>
        <p:nvSpPr>
          <p:cNvPr id="8" name="텍스트 개체 틀 22"/>
          <p:cNvSpPr txBox="1">
            <a:spLocks/>
          </p:cNvSpPr>
          <p:nvPr/>
        </p:nvSpPr>
        <p:spPr>
          <a:xfrm>
            <a:off x="6126443" y="3423915"/>
            <a:ext cx="2350003" cy="96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138113" indent="-138113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1pPr>
            <a:lvl2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685800" indent="-161925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9366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2060"/>
              </a:buClr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lang="en-US" altLang="ko-KR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sz="7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Copyright ⓒ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2026 </a:t>
            </a:r>
            <a:r>
              <a:rPr sz="700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Miracom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Inc. Co., Ltd. All rights reserved</a:t>
            </a:r>
            <a:endParaRPr sz="7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3154865" y="2955863"/>
            <a:ext cx="0" cy="468052"/>
          </a:xfrm>
          <a:prstGeom prst="line">
            <a:avLst/>
          </a:prstGeom>
          <a:ln w="3175" cap="flat">
            <a:solidFill>
              <a:schemeClr val="tx1">
                <a:lumMod val="40000"/>
                <a:lumOff val="6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09" y="3009387"/>
            <a:ext cx="5291328" cy="4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6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8926</TotalTime>
  <Words>3822</Words>
  <Application>Microsoft Office PowerPoint</Application>
  <PresentationFormat>A4 용지(210x297mm)</PresentationFormat>
  <Paragraphs>836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SCK E-Test POC 사용자 메뉴얼</vt:lpstr>
      <vt:lpstr>설치 정보</vt:lpstr>
      <vt:lpstr>화면 구성</vt:lpstr>
      <vt:lpstr>PowerPoint 프레젠테이션</vt:lpstr>
      <vt:lpstr>GDS Map Setup (GDS Map 설정)</vt:lpstr>
      <vt:lpstr>Wafer Map Setup</vt:lpstr>
      <vt:lpstr>E-Test Para Register (E-Test Para 등록)</vt:lpstr>
      <vt:lpstr>E-Test Para Setup (E-Test Para 설정)</vt:lpstr>
      <vt:lpstr>E-Test Bin Setup (E-Test Bin 설정)</vt:lpstr>
      <vt:lpstr>Defect Type Define</vt:lpstr>
      <vt:lpstr>KLARF File Upload (KLARF File 업로드)</vt:lpstr>
      <vt:lpstr>E-Test Result Upload (E-Test 결과 업로드)</vt:lpstr>
      <vt:lpstr>GDS Map View (GDS Map 조회)</vt:lpstr>
      <vt:lpstr>Wafer Map View (Wafer Map 조회)</vt:lpstr>
      <vt:lpstr>E-Test Result View (E-Test 결과 조회)</vt:lpstr>
      <vt:lpstr>GDS-KLARF-ET Correlation (GDS-KLARF-ET 연관 분석)</vt:lpstr>
      <vt:lpstr>GDS-KLARF-ET Correlation 상세보기 (Die 상세 분석)</vt:lpstr>
      <vt:lpstr>PowerPoint 프레젠테이션</vt:lpstr>
      <vt:lpstr>DMSearch (왼쪽 Wafer 조회 창)</vt:lpstr>
      <vt:lpstr>Defect Map Viewer (Defect 맵 조회)</vt:lpstr>
      <vt:lpstr>Chart Analysis (Chart 분석)</vt:lpstr>
      <vt:lpstr>Defect Map Gallery (Defect 맵 갤러리)</vt:lpstr>
      <vt:lpstr>Defect Image Gallery (Defect 이미지 갤러리)</vt:lpstr>
      <vt:lpstr>PowerPoint 프레젠테이션</vt:lpstr>
      <vt:lpstr>TESTSearch (왼쪽 TEST 조회 창)</vt:lpstr>
      <vt:lpstr>TEST Map View (TEST 맵 분석)</vt:lpstr>
      <vt:lpstr>Bin Map Gallery (Probe 맵 갤러리)</vt:lpstr>
      <vt:lpstr>Test Map Gallery</vt:lpstr>
      <vt:lpstr>Wafer Cum Report</vt:lpstr>
      <vt:lpstr>Wafer Bin Report</vt:lpstr>
      <vt:lpstr>Yield Report (수율 리포트)</vt:lpstr>
      <vt:lpstr>Param Analysis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SCK E-Test POC 사용자 메뉴얼 (2차 시안)</dc:title>
  <dc:subject/>
  <dc:creator/>
  <cp:keywords/>
  <dc:description/>
  <cp:lastModifiedBy>BJ</cp:lastModifiedBy>
  <cp:revision>42</cp:revision>
  <dcterms:created xsi:type="dcterms:W3CDTF">2014-01-27T23:50:26Z</dcterms:created>
  <dcterms:modified xsi:type="dcterms:W3CDTF">2026-10-26T23:41:13Z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