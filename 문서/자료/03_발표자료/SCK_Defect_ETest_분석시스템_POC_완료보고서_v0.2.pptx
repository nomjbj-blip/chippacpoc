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12" r:id="rId4"/>
  </p:sldMasterIdLst>
  <p:notesMasterIdLst>
    <p:notesMasterId r:id="rId14"/>
  </p:notesMasterIdLst>
  <p:handoutMasterIdLst>
    <p:handoutMasterId r:id="rId15"/>
  </p:handoutMasterIdLst>
  <p:sldIdLst>
    <p:sldId id="257" r:id="rId5"/>
    <p:sldId id="259" r:id="rId6"/>
    <p:sldId id="261" r:id="rId7"/>
    <p:sldId id="262" r:id="rId8"/>
    <p:sldId id="263" r:id="rId9"/>
    <p:sldId id="269" r:id="rId10"/>
    <p:sldId id="270" r:id="rId11"/>
    <p:sldId id="271" r:id="rId12"/>
    <p:sldId id="276" r:id="rId13"/>
  </p:sldIdLst>
  <p:sldSz cx="9906000" cy="6858000" type="A4"/>
  <p:notesSz cx="6807200" cy="9939338"/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69" autoAdjust="0"/>
    <p:restoredTop sz="96339" autoAdjust="0"/>
  </p:normalViewPr>
  <p:slideViewPr>
    <p:cSldViewPr snapToGrid="0">
      <p:cViewPr varScale="1">
        <p:scale>
          <a:sx n="92" d="100"/>
          <a:sy n="92" d="100"/>
        </p:scale>
        <p:origin x="1292" y="68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9198" y="2094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2026-10-26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2026-10-26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938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4" y="321809"/>
            <a:ext cx="1794274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 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업_배경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524000" y="-1523998"/>
            <a:ext cx="6858000" cy="9906000"/>
          </a:xfrm>
          <a:prstGeom prst="rect">
            <a:avLst/>
          </a:prstGeom>
        </p:spPr>
      </p:pic>
      <p:sp>
        <p:nvSpPr>
          <p:cNvPr id="33" name="TextBox 32"/>
          <p:cNvSpPr txBox="1"/>
          <p:nvPr userDrawn="1"/>
        </p:nvSpPr>
        <p:spPr>
          <a:xfrm>
            <a:off x="334584" y="321809"/>
            <a:ext cx="1794274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 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각 삼각형 3"/>
          <p:cNvSpPr/>
          <p:nvPr userDrawn="1"/>
        </p:nvSpPr>
        <p:spPr>
          <a:xfrm flipH="1">
            <a:off x="3833446" y="785449"/>
            <a:ext cx="6072552" cy="6072552"/>
          </a:xfrm>
          <a:prstGeom prst="rtTriangle">
            <a:avLst/>
          </a:prstGeom>
          <a:gradFill flip="none" rotWithShape="1">
            <a:gsLst>
              <a:gs pos="51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tx1">
                  <a:alpha val="37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25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35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39" name="그룹 3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40" name="그룹 3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47" name="직사각형 4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8" name="직사각형 4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41" name="그룹 4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42" name="직사각형 4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43" name="그룹 4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45" name="직사각형 4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46" name="직사각형 4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44" name="직사각형 4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49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44084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23" name="그룹 22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chemeClr val="bg1"/>
          </a:solidFill>
        </p:grpSpPr>
        <p:sp>
          <p:nvSpPr>
            <p:cNvPr id="2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416832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>
          <p15:clr>
            <a:srgbClr val="FBAE40"/>
          </p15:clr>
        </p15:guide>
        <p15:guide id="2" pos="602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021813" y="1618816"/>
            <a:ext cx="1669688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Agenda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3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2751826" y="908721"/>
            <a:ext cx="6487065" cy="546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115038" y="1124745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ko-KR" altLang="en-US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별첨자료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1037" y="1019970"/>
            <a:ext cx="1669688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Agenda</a:t>
            </a:r>
          </a:p>
        </p:txBody>
      </p:sp>
      <p:cxnSp>
        <p:nvCxnSpPr>
          <p:cNvPr id="6" name="직선 연결선 5"/>
          <p:cNvCxnSpPr/>
          <p:nvPr userDrawn="1"/>
        </p:nvCxnSpPr>
        <p:spPr>
          <a:xfrm flipV="1">
            <a:off x="819509" y="1645444"/>
            <a:ext cx="1506972" cy="95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28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380999" y="286985"/>
            <a:ext cx="7418295" cy="0"/>
          </a:xfrm>
          <a:prstGeom prst="line">
            <a:avLst/>
          </a:prstGeom>
          <a:ln w="12700">
            <a:gradFill>
              <a:gsLst>
                <a:gs pos="2400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7</a:t>
            </a:r>
            <a:endParaRPr lang="ko-KR" altLang="en-US" dirty="0"/>
          </a:p>
        </p:txBody>
      </p:sp>
      <p:sp>
        <p:nvSpPr>
          <p:cNvPr id="30" name="텍스트 개체 틀 2"/>
          <p:cNvSpPr>
            <a:spLocks noGrp="1"/>
          </p:cNvSpPr>
          <p:nvPr userDrawn="1">
            <p:ph type="body" idx="10" hasCustomPrompt="1"/>
          </p:nvPr>
        </p:nvSpPr>
        <p:spPr>
          <a:xfrm>
            <a:off x="7938019" y="142944"/>
            <a:ext cx="1586981" cy="288082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lang="ko-KR" altLang="en-US" sz="800" b="0" kern="1200" spc="-50" baseline="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 smtClean="0"/>
              <a:t>1. </a:t>
            </a:r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05040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pos="600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오브젝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380999" y="286985"/>
            <a:ext cx="7418295" cy="0"/>
          </a:xfrm>
          <a:prstGeom prst="line">
            <a:avLst/>
          </a:prstGeom>
          <a:ln w="12700">
            <a:gradFill>
              <a:gsLst>
                <a:gs pos="2400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7</a:t>
            </a:r>
            <a:endParaRPr lang="ko-KR" altLang="en-US" dirty="0"/>
          </a:p>
        </p:txBody>
      </p:sp>
      <p:sp>
        <p:nvSpPr>
          <p:cNvPr id="30" name="텍스트 개체 틀 2"/>
          <p:cNvSpPr>
            <a:spLocks noGrp="1"/>
          </p:cNvSpPr>
          <p:nvPr userDrawn="1">
            <p:ph type="body" idx="10" hasCustomPrompt="1"/>
          </p:nvPr>
        </p:nvSpPr>
        <p:spPr>
          <a:xfrm>
            <a:off x="7938019" y="142944"/>
            <a:ext cx="1586981" cy="288082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lang="ko-KR" altLang="en-US" sz="800" b="0" kern="1200" spc="-50" baseline="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 smtClean="0"/>
              <a:t>1. </a:t>
            </a:r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graphicFrame>
        <p:nvGraphicFramePr>
          <p:cNvPr id="19" name="표 2">
            <a:extLst>
              <a:ext uri="{FF2B5EF4-FFF2-40B4-BE49-F238E27FC236}">
                <a16:creationId xmlns:a16="http://schemas.microsoft.com/office/drawing/2014/main" id="{F97B612E-35DE-560C-37CA-503D4EBDF32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8004078"/>
              </p:ext>
            </p:extLst>
          </p:nvPr>
        </p:nvGraphicFramePr>
        <p:xfrm>
          <a:off x="417515" y="1563113"/>
          <a:ext cx="9072880" cy="48842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3644">
                  <a:extLst>
                    <a:ext uri="{9D8B030D-6E8A-4147-A177-3AD203B41FA5}">
                      <a16:colId xmlns:a16="http://schemas.microsoft.com/office/drawing/2014/main" val="397380730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200072876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40174775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19298287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48622524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032514863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19069717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03039018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713891701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0596480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19888667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6690651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95831483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868525859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68234630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151942863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787990906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26539898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3022057505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3398815053"/>
                    </a:ext>
                  </a:extLst>
                </a:gridCol>
              </a:tblGrid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433756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5765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67125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975704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863577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80053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34917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911529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108744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410953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83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1500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  <p15:guide id="2" orient="horz" pos="4088">
          <p15:clr>
            <a:srgbClr val="FBAE40"/>
          </p15:clr>
        </p15:guide>
        <p15:guide id="3" pos="240">
          <p15:clr>
            <a:srgbClr val="FBAE40"/>
          </p15:clr>
        </p15:guide>
        <p15:guide id="4" pos="600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090907" y="3432561"/>
            <a:ext cx="1722138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</a:t>
            </a:r>
            <a:endParaRPr lang="ko-KR" altLang="en-US" sz="1600" b="1" dirty="0">
              <a:solidFill>
                <a:schemeClr val="tx2">
                  <a:lumMod val="20000"/>
                  <a:lumOff val="8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bg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4027" r:id="rId2"/>
    <p:sldLayoutId id="2147483958" r:id="rId3"/>
    <p:sldLayoutId id="2147484030" r:id="rId4"/>
    <p:sldLayoutId id="2147484095" r:id="rId5"/>
    <p:sldLayoutId id="2147484097" r:id="rId6"/>
    <p:sldLayoutId id="2147484096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atinLnBrk="0"/>
            <a:r>
              <a:rPr lang="ko-KR" altLang="en-US" dirty="0" smtClean="0"/>
              <a:t>'26.10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4"/>
          </p:nvPr>
        </p:nvSpPr>
        <p:spPr>
          <a:prstGeom prst="rect">
            <a:avLst/>
          </a:prstGeom>
        </p:spPr>
        <p:txBody>
          <a:bodyPr/>
          <a:lstStyle/>
          <a:p>
            <a:pPr latinLnBrk="0"/>
            <a:r>
              <a:rPr lang="ko-KR" altLang="en-US" dirty="0" smtClean="0"/>
              <a:t>Defect / </a:t>
            </a:r>
            <a:r>
              <a:rPr lang="ko-KR" altLang="en-US" dirty="0" err="1" smtClean="0"/>
              <a:t>E-Test</a:t>
            </a:r>
            <a:r>
              <a:rPr lang="ko-KR" altLang="en-US" dirty="0" smtClean="0"/>
              <a:t> 연관 분석</a:t>
            </a:r>
            <a:endParaRPr lang="ko-KR" altLang="en-US" dirty="0"/>
          </a:p>
          <a:p>
            <a:pPr latinLnBrk="0"/>
            <a:r>
              <a:rPr lang="ko-KR" altLang="en-US" dirty="0" smtClean="0"/>
              <a:t>시스템 구축 POC 완료보고</a:t>
            </a:r>
            <a:endParaRPr lang="ko-KR" altLang="en-US" dirty="0"/>
          </a:p>
        </p:txBody>
      </p:sp>
      <p:pic>
        <p:nvPicPr>
          <p:cNvPr id="4" name="고객사 CI" descr="sck_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00" y="6214202"/>
            <a:ext cx="1375200" cy="29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28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 latinLnBrk="0"/>
            <a:r>
              <a:rPr lang="ko-KR" altLang="en-US"/>
              <a:t>POC 개요</a:t>
            </a:r>
            <a:endParaRPr lang="ko-KR" altLang="en-US" dirty="0"/>
          </a:p>
          <a:p>
            <a:pPr lvl="0" latinLnBrk="0"/>
            <a:r>
              <a:rPr lang="ko-KR" altLang="en-US"/>
              <a:t>추진 경과</a:t>
            </a:r>
            <a:endParaRPr lang="ko-KR" altLang="en-US" dirty="0"/>
          </a:p>
          <a:p>
            <a:pPr lvl="0" latinLnBrk="0"/>
            <a:r>
              <a:rPr lang="ko-KR" altLang="en-US"/>
              <a:t>POC 결과</a:t>
            </a:r>
            <a:endParaRPr lang="ko-KR" altLang="en-US" dirty="0"/>
          </a:p>
          <a:p>
            <a:pPr lvl="0" latinLnBrk="0"/>
            <a:r>
              <a:rPr lang="ko-KR" altLang="en-US"/>
              <a:t>종료 후 운영 방안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992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POC 배경 및 목표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pPr latinLnBrk="0"/>
            <a:r>
              <a:rPr lang="ko-KR" altLang="en-US" dirty="0" smtClean="0"/>
              <a:t>AOI </a:t>
            </a:r>
            <a:r>
              <a:rPr lang="ko-KR" altLang="en-US" dirty="0"/>
              <a:t>Defect 좌표가 GDS Daisy Chain의 Bump, RDL 위치와 겹치는지 </a:t>
            </a:r>
            <a:r>
              <a:rPr lang="ko-KR" altLang="en-US" dirty="0" smtClean="0"/>
              <a:t>확인 및 </a:t>
            </a:r>
            <a:r>
              <a:rPr lang="ko-KR" altLang="en-US" dirty="0" err="1" smtClean="0"/>
              <a:t>E-Test</a:t>
            </a:r>
            <a:r>
              <a:rPr lang="ko-KR" altLang="en-US" dirty="0" smtClean="0"/>
              <a:t> </a:t>
            </a:r>
            <a:r>
              <a:rPr lang="ko-KR" altLang="en-US" dirty="0" err="1"/>
              <a:t>Fail과</a:t>
            </a:r>
            <a:r>
              <a:rPr lang="ko-KR" altLang="en-US" dirty="0"/>
              <a:t> </a:t>
            </a:r>
            <a:r>
              <a:rPr lang="ko-KR" altLang="en-US" dirty="0" smtClean="0"/>
              <a:t>연관 분석</a:t>
            </a:r>
            <a:endParaRPr lang="en-US" altLang="ko-KR" dirty="0" smtClean="0"/>
          </a:p>
        </p:txBody>
      </p:sp>
      <p:pic>
        <p:nvPicPr>
          <p:cNvPr id="12" name="고객사 CI" descr="sck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81600" y="1519200"/>
            <a:ext cx="44352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500" b="1" dirty="0">
                <a:solidFill>
                  <a:schemeClr val="bg1"/>
                </a:solidFill>
              </a:rPr>
              <a:t>고객 요청 </a:t>
            </a:r>
            <a:r>
              <a:rPr lang="ko-KR" altLang="en-US" sz="1500" b="1" dirty="0" smtClean="0">
                <a:solidFill>
                  <a:schemeClr val="bg1"/>
                </a:solidFill>
              </a:rPr>
              <a:t>사항</a:t>
            </a:r>
            <a:endParaRPr lang="ko-KR" altLang="en-US" sz="1500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8000" y="1944000"/>
            <a:ext cx="4284000" cy="1274837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ko-KR" altLang="en-US" sz="1300" dirty="0"/>
              <a:t>AOI KLARF 파일의 좌표를 포함한 결함 정보가 있는지 </a:t>
            </a:r>
            <a:r>
              <a:rPr lang="ko-KR" altLang="en-US" sz="1300" dirty="0" smtClean="0"/>
              <a:t>확인</a:t>
            </a:r>
            <a:endParaRPr lang="en-US" altLang="ko-KR" sz="1300" dirty="0" smtClean="0"/>
          </a:p>
          <a:p>
            <a:pPr lvl="1"/>
            <a:r>
              <a:rPr lang="ko-KR" altLang="en-US" sz="1300" dirty="0"/>
              <a:t>GDS CAD 파일의 데이지 체인 내 </a:t>
            </a:r>
            <a:r>
              <a:rPr lang="ko-KR" altLang="en-US" sz="1300" dirty="0" err="1"/>
              <a:t>범프</a:t>
            </a:r>
            <a:r>
              <a:rPr lang="ko-KR" altLang="en-US" sz="1300" dirty="0"/>
              <a:t> 및/또는 RDL 라우팅 위치와 </a:t>
            </a:r>
            <a:r>
              <a:rPr lang="ko-KR" altLang="en-US" sz="1300" dirty="0" smtClean="0"/>
              <a:t>일치 확인 </a:t>
            </a:r>
            <a:endParaRPr lang="en-US" altLang="ko-KR" sz="1300" dirty="0" smtClean="0"/>
          </a:p>
          <a:p>
            <a:pPr lvl="1"/>
            <a:r>
              <a:rPr lang="ko-KR" altLang="en-US" sz="1300" dirty="0" err="1" smtClean="0"/>
              <a:t>E-Test</a:t>
            </a:r>
            <a:r>
              <a:rPr lang="ko-KR" altLang="en-US" sz="1300" dirty="0" smtClean="0"/>
              <a:t> </a:t>
            </a:r>
            <a:r>
              <a:rPr lang="ko-KR" altLang="en-US" sz="1300" dirty="0" err="1" smtClean="0"/>
              <a:t>Fail</a:t>
            </a:r>
            <a:r>
              <a:rPr lang="ko-KR" altLang="en-US" sz="1300" dirty="0" smtClean="0"/>
              <a:t> </a:t>
            </a:r>
            <a:r>
              <a:rPr lang="ko-KR" altLang="en-US" sz="1300" dirty="0" err="1"/>
              <a:t>Chain과</a:t>
            </a:r>
            <a:r>
              <a:rPr lang="ko-KR" altLang="en-US" sz="1300" dirty="0"/>
              <a:t> AOI </a:t>
            </a:r>
            <a:r>
              <a:rPr lang="ko-KR" altLang="en-US" sz="1300" dirty="0" err="1"/>
              <a:t>Defect의</a:t>
            </a:r>
            <a:r>
              <a:rPr lang="ko-KR" altLang="en-US" sz="1300" dirty="0"/>
              <a:t> 연관 </a:t>
            </a:r>
            <a:r>
              <a:rPr lang="ko-KR" altLang="en-US" sz="1300" dirty="0" smtClean="0"/>
              <a:t>분석 제공</a:t>
            </a:r>
            <a:endParaRPr lang="ko-KR" altLang="en-US" sz="130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724988"/>
              </p:ext>
            </p:extLst>
          </p:nvPr>
        </p:nvGraphicFramePr>
        <p:xfrm>
          <a:off x="381600" y="3671999"/>
          <a:ext cx="9143999" cy="241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51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고객 요청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POC 구현 목표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</a:rPr>
                        <a:t>Defect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 좌표 ↔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</a:rPr>
                        <a:t>Chain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 위치 확인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KLARF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Defect를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GDS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Chain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영역(크기 + 허용오차)과 겹쳐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Die별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Defect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수 계산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GDS</a:t>
                      </a:r>
                      <a:r>
                        <a:rPr lang="ko-KR" altLang="en-US" sz="1200" b="1" baseline="0" dirty="0" smtClean="0">
                          <a:solidFill>
                            <a:schemeClr val="tx1"/>
                          </a:solidFill>
                        </a:rPr>
                        <a:t> 기준 도면 조회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Die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상세 화면에서 도면 위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Defect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Chain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위치,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Defect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이미지를 함께 표시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</a:rPr>
                        <a:t>Fail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</a:rPr>
                        <a:t>Chain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 ↔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</a:rPr>
                        <a:t>Defect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 연관 판단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E-Test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Spec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Out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Chain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표시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</a:rPr>
                        <a:t> – 사용자가 Limit 설정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판단 주체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판정은 엔지니어, 시스템은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Map, Defect 위치,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이미지등을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제공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945" y="1519200"/>
            <a:ext cx="3706091" cy="19980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 dirty="0" err="1"/>
              <a:t>I</a:t>
            </a:r>
            <a:r>
              <a:rPr lang="ko-KR" altLang="en-US" dirty="0"/>
              <a:t>. POC 개요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 smtClean="0"/>
              <a:t>시스템 구성 및 업무 영역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pPr latinLnBrk="0"/>
            <a:r>
              <a:rPr lang="ko-KR" altLang="en-US" dirty="0" smtClean="0"/>
              <a:t>초기 제안 했던 기능 List(개발 완료) 및 각 Part별 업무 영역</a:t>
            </a:r>
            <a:endParaRPr lang="en-US" altLang="ko-KR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I. POC 개요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4782261"/>
            <a:ext cx="30024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500" b="1">
                <a:solidFill>
                  <a:schemeClr val="bg1"/>
                </a:solidFill>
              </a:rPr>
              <a:t>미라콤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5142261"/>
            <a:ext cx="3002400" cy="11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600" y="5312236"/>
            <a:ext cx="2808000" cy="776047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/>
              <a:t>PM, 설계, 개발, 검증 </a:t>
            </a:r>
            <a:endParaRPr lang="en-US" altLang="ko-KR" sz="1300" dirty="0" smtClean="0"/>
          </a:p>
          <a:p>
            <a:pPr lvl="1" latinLnBrk="0"/>
            <a:r>
              <a:rPr lang="ko-KR" altLang="en-US" sz="1300" dirty="0" smtClean="0"/>
              <a:t>반영 </a:t>
            </a:r>
            <a:r>
              <a:rPr lang="ko-KR" altLang="en-US" sz="1300" dirty="0"/>
              <a:t>자료, 절차, 교육, 결과 보고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2400" y="4782261"/>
            <a:ext cx="3002400" cy="36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500" b="1">
                <a:solidFill>
                  <a:schemeClr val="bg1"/>
                </a:solidFill>
              </a:rPr>
              <a:t>SCK 연구소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2400" y="5142261"/>
            <a:ext cx="3002400" cy="11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0400" y="5412937"/>
            <a:ext cx="2808000" cy="574646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 smtClean="0"/>
              <a:t>요건, </a:t>
            </a:r>
            <a:r>
              <a:rPr lang="ko-KR" altLang="en-US" sz="1300" dirty="0"/>
              <a:t>샘플 데이터 제공</a:t>
            </a:r>
          </a:p>
          <a:p>
            <a:pPr lvl="1" latinLnBrk="0"/>
            <a:r>
              <a:rPr lang="ko-KR" altLang="en-US" sz="1300" dirty="0"/>
              <a:t>결과 </a:t>
            </a:r>
            <a:r>
              <a:rPr lang="ko-KR" altLang="en-US" sz="1300" dirty="0" smtClean="0"/>
              <a:t>검증</a:t>
            </a:r>
            <a:endParaRPr lang="ko-KR" altLang="en-US" sz="1300" dirty="0"/>
          </a:p>
        </p:txBody>
      </p:sp>
      <p:sp>
        <p:nvSpPr>
          <p:cNvPr id="14" name="Rectangle 13"/>
          <p:cNvSpPr/>
          <p:nvPr/>
        </p:nvSpPr>
        <p:spPr>
          <a:xfrm>
            <a:off x="6523199" y="4782261"/>
            <a:ext cx="3002400" cy="36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500" b="1">
                <a:solidFill>
                  <a:schemeClr val="bg1"/>
                </a:solidFill>
              </a:rPr>
              <a:t>SCK IT팀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23199" y="5142261"/>
            <a:ext cx="3002400" cy="11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31199" y="5412938"/>
            <a:ext cx="2808000" cy="574646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/>
              <a:t>서버, </a:t>
            </a:r>
            <a:r>
              <a:rPr lang="ko-KR" altLang="en-US" sz="1300" dirty="0" smtClean="0"/>
              <a:t>DB 제공</a:t>
            </a:r>
            <a:endParaRPr lang="ko-KR" altLang="en-US" sz="1300" dirty="0"/>
          </a:p>
          <a:p>
            <a:pPr lvl="1" latinLnBrk="0"/>
            <a:r>
              <a:rPr lang="ko-KR" altLang="en-US" sz="1300" dirty="0" smtClean="0"/>
              <a:t>시스템에 대한 아키텍처 지원</a:t>
            </a:r>
            <a:endParaRPr lang="ko-KR" altLang="en-US" sz="1300" dirty="0"/>
          </a:p>
        </p:txBody>
      </p:sp>
      <p:pic>
        <p:nvPicPr>
          <p:cNvPr id="18" name="고객사 CI" descr="sck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  <p:sp>
        <p:nvSpPr>
          <p:cNvPr id="19" name="Rectangle 6"/>
          <p:cNvSpPr/>
          <p:nvPr/>
        </p:nvSpPr>
        <p:spPr>
          <a:xfrm>
            <a:off x="381600" y="1519200"/>
            <a:ext cx="1618281" cy="36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400" b="1" dirty="0">
                <a:solidFill>
                  <a:schemeClr val="bg1"/>
                </a:solidFill>
              </a:rPr>
              <a:t>입력 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파일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20" name="Rectangle 7"/>
          <p:cNvSpPr/>
          <p:nvPr/>
        </p:nvSpPr>
        <p:spPr>
          <a:xfrm>
            <a:off x="381600" y="1998000"/>
            <a:ext cx="1618281" cy="82799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 dirty="0">
                <a:solidFill>
                  <a:schemeClr val="tx1"/>
                </a:solidFill>
              </a:rPr>
              <a:t>GDS 도면</a:t>
            </a:r>
          </a:p>
          <a:p>
            <a:pPr algn="ctr" latinLnBrk="0"/>
            <a:r>
              <a:rPr lang="ko-KR" altLang="en-US" sz="1300" b="0" dirty="0" err="1">
                <a:solidFill>
                  <a:schemeClr val="tx1"/>
                </a:solidFill>
              </a:rPr>
              <a:t>Chain</a:t>
            </a:r>
            <a:r>
              <a:rPr lang="ko-KR" altLang="en-US" sz="1300" b="0" dirty="0">
                <a:solidFill>
                  <a:schemeClr val="tx1"/>
                </a:solidFill>
              </a:rPr>
              <a:t> 배선 위치</a:t>
            </a:r>
          </a:p>
        </p:txBody>
      </p:sp>
      <p:sp>
        <p:nvSpPr>
          <p:cNvPr id="21" name="Rectangle 8"/>
          <p:cNvSpPr/>
          <p:nvPr/>
        </p:nvSpPr>
        <p:spPr>
          <a:xfrm>
            <a:off x="381600" y="2934000"/>
            <a:ext cx="1618281" cy="82799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>
                <a:solidFill>
                  <a:schemeClr val="tx1"/>
                </a:solidFill>
              </a:rPr>
              <a:t>KLARF + 이미지</a:t>
            </a:r>
          </a:p>
          <a:p>
            <a:pPr algn="ctr" latinLnBrk="0"/>
            <a:r>
              <a:rPr lang="ko-KR" altLang="en-US" sz="1300" b="0">
                <a:solidFill>
                  <a:schemeClr val="tx1"/>
                </a:solidFill>
              </a:rPr>
              <a:t>AOI Defect 좌표</a:t>
            </a:r>
          </a:p>
        </p:txBody>
      </p:sp>
      <p:sp>
        <p:nvSpPr>
          <p:cNvPr id="22" name="Rectangle 9"/>
          <p:cNvSpPr/>
          <p:nvPr/>
        </p:nvSpPr>
        <p:spPr>
          <a:xfrm>
            <a:off x="381600" y="3870000"/>
            <a:ext cx="1618281" cy="82799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>
                <a:solidFill>
                  <a:schemeClr val="tx1"/>
                </a:solidFill>
              </a:rPr>
              <a:t>E-Test 결과</a:t>
            </a:r>
          </a:p>
          <a:p>
            <a:pPr algn="ctr" latinLnBrk="0"/>
            <a:r>
              <a:rPr lang="ko-KR" altLang="en-US" sz="1300" b="0">
                <a:solidFill>
                  <a:schemeClr val="tx1"/>
                </a:solidFill>
              </a:rPr>
              <a:t>Chain별 측정값</a:t>
            </a:r>
          </a:p>
        </p:txBody>
      </p:sp>
      <p:sp>
        <p:nvSpPr>
          <p:cNvPr id="33" name="Rectangle 23"/>
          <p:cNvSpPr/>
          <p:nvPr/>
        </p:nvSpPr>
        <p:spPr>
          <a:xfrm>
            <a:off x="8223700" y="1519200"/>
            <a:ext cx="1301899" cy="36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400" b="1" dirty="0" smtClean="0">
                <a:solidFill>
                  <a:schemeClr val="bg1"/>
                </a:solidFill>
              </a:rPr>
              <a:t>Service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34" name="Rectangle 24"/>
          <p:cNvSpPr/>
          <p:nvPr/>
        </p:nvSpPr>
        <p:spPr>
          <a:xfrm>
            <a:off x="8223700" y="1998000"/>
            <a:ext cx="1301899" cy="827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200" b="1" dirty="0" err="1">
                <a:solidFill>
                  <a:schemeClr val="tx1"/>
                </a:solidFill>
              </a:rPr>
              <a:t>App</a:t>
            </a:r>
            <a:r>
              <a:rPr lang="ko-KR" altLang="en-US" sz="1200" b="1" dirty="0">
                <a:solidFill>
                  <a:schemeClr val="tx1"/>
                </a:solidFill>
              </a:rPr>
              <a:t> 서버</a:t>
            </a:r>
          </a:p>
          <a:p>
            <a:pPr algn="ctr" latinLnBrk="0"/>
            <a:r>
              <a:rPr lang="ko-KR" altLang="en-US" sz="1200" b="0" dirty="0">
                <a:solidFill>
                  <a:schemeClr val="tx1"/>
                </a:solidFill>
              </a:rPr>
              <a:t>업무 </a:t>
            </a:r>
            <a:r>
              <a:rPr lang="ko-KR" altLang="en-US" sz="1200" b="0" dirty="0" smtClean="0">
                <a:solidFill>
                  <a:schemeClr val="tx1"/>
                </a:solidFill>
              </a:rPr>
              <a:t>서비스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  <p:sp>
        <p:nvSpPr>
          <p:cNvPr id="35" name="Rectangle 25"/>
          <p:cNvSpPr/>
          <p:nvPr/>
        </p:nvSpPr>
        <p:spPr>
          <a:xfrm>
            <a:off x="8223700" y="2934000"/>
            <a:ext cx="1301899" cy="827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200" b="1" dirty="0">
                <a:solidFill>
                  <a:schemeClr val="tx1"/>
                </a:solidFill>
              </a:rPr>
              <a:t>Oracle DB</a:t>
            </a:r>
          </a:p>
          <a:p>
            <a:pPr algn="ctr" latinLnBrk="0"/>
            <a:r>
              <a:rPr lang="ko-KR" altLang="en-US" sz="1200" b="0" dirty="0" smtClean="0">
                <a:solidFill>
                  <a:schemeClr val="tx1"/>
                </a:solidFill>
              </a:rPr>
              <a:t>DMS/YMS</a:t>
            </a:r>
            <a:r>
              <a:rPr lang="ko-KR" altLang="en-US" sz="1200" dirty="0" smtClean="0">
                <a:solidFill>
                  <a:schemeClr val="tx1"/>
                </a:solidFill>
              </a:rPr>
              <a:t>/POC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  <p:sp>
        <p:nvSpPr>
          <p:cNvPr id="36" name="Rectangle 26"/>
          <p:cNvSpPr/>
          <p:nvPr/>
        </p:nvSpPr>
        <p:spPr>
          <a:xfrm>
            <a:off x="8223700" y="3870000"/>
            <a:ext cx="1301899" cy="827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200" b="1" dirty="0">
                <a:solidFill>
                  <a:schemeClr val="tx1"/>
                </a:solidFill>
              </a:rPr>
              <a:t>FTP</a:t>
            </a:r>
          </a:p>
          <a:p>
            <a:pPr algn="ctr" latinLnBrk="0"/>
            <a:r>
              <a:rPr lang="ko-KR" altLang="en-US" sz="1200" b="0" dirty="0" err="1">
                <a:solidFill>
                  <a:schemeClr val="tx1"/>
                </a:solidFill>
              </a:rPr>
              <a:t>Defect</a:t>
            </a:r>
            <a:r>
              <a:rPr lang="ko-KR" altLang="en-US" sz="1200" b="0" dirty="0">
                <a:solidFill>
                  <a:schemeClr val="tx1"/>
                </a:solidFill>
              </a:rPr>
              <a:t> 이미지 저장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484" y="1538526"/>
            <a:ext cx="5577457" cy="31389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추진 </a:t>
            </a:r>
            <a:r>
              <a:rPr lang="ko-KR" altLang="en-US" dirty="0" smtClean="0"/>
              <a:t>경과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II. 추진 경과</a:t>
            </a:r>
          </a:p>
        </p:txBody>
      </p:sp>
      <p:pic>
        <p:nvPicPr>
          <p:cNvPr id="9" name="고객사 CI" descr="sck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Defect/E-Test 분석 시스템 구축 POC 개발 </a:t>
            </a:r>
            <a:r>
              <a:rPr lang="ko-KR" altLang="en-US" dirty="0" smtClean="0"/>
              <a:t>일정</a:t>
            </a:r>
            <a:endParaRPr lang="en-US" altLang="ko-KR" dirty="0" smtClean="0"/>
          </a:p>
          <a:p>
            <a:r>
              <a:rPr lang="ko-KR" altLang="en-US" dirty="0" smtClean="0"/>
              <a:t>10월 01일 ~ 10월 30일 1M/M</a:t>
            </a:r>
            <a:endParaRPr lang="ko-KR" altLang="en-US" dirty="0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544127"/>
              </p:ext>
            </p:extLst>
          </p:nvPr>
        </p:nvGraphicFramePr>
        <p:xfrm>
          <a:off x="380999" y="1520825"/>
          <a:ext cx="9144005" cy="4968876"/>
        </p:xfrm>
        <a:graphic>
          <a:graphicData uri="http://schemas.openxmlformats.org/drawingml/2006/table">
            <a:tbl>
              <a:tblPr/>
              <a:tblGrid>
                <a:gridCol w="1174457">
                  <a:extLst>
                    <a:ext uri="{9D8B030D-6E8A-4147-A177-3AD203B41FA5}">
                      <a16:colId xmlns:a16="http://schemas.microsoft.com/office/drawing/2014/main" val="1089198094"/>
                    </a:ext>
                  </a:extLst>
                </a:gridCol>
                <a:gridCol w="3093434">
                  <a:extLst>
                    <a:ext uri="{9D8B030D-6E8A-4147-A177-3AD203B41FA5}">
                      <a16:colId xmlns:a16="http://schemas.microsoft.com/office/drawing/2014/main" val="2558450106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3628097885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176281940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565344335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706812883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2975998697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661491838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812172750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929032589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278274203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825445197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2023160632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408979366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673113566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4214701570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683771251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913689146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651302836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3562489949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2469142778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2877981028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3146549748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972769220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2703678738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427663558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543465536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2681753601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328664885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4088257632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029885692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3178644591"/>
                    </a:ext>
                  </a:extLst>
                </a:gridCol>
                <a:gridCol w="157294">
                  <a:extLst>
                    <a:ext uri="{9D8B030D-6E8A-4147-A177-3AD203B41FA5}">
                      <a16:colId xmlns:a16="http://schemas.microsoft.com/office/drawing/2014/main" val="1667597785"/>
                    </a:ext>
                  </a:extLst>
                </a:gridCol>
              </a:tblGrid>
              <a:tr h="14589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</a:t>
                      </a:r>
                    </a:p>
                  </a:txBody>
                  <a:tcPr marL="3758" marR="3758" marT="37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수행내용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W01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W02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W03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W04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W05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334260"/>
                  </a:ext>
                </a:extLst>
              </a:tr>
              <a:tr h="1501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10/01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10/02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10/03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10/04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10/05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10/06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10/07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10/08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10/09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F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10/10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10/11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10/12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10/13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10/14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10/15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10/16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F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10/17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10/18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10/19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10/20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10/21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10/22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10/23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F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10/24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10/25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10/26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10/27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10/28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10/29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10/30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F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10/31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49626"/>
                  </a:ext>
                </a:extLst>
              </a:tr>
              <a:tr h="72945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착수/범위확정</a:t>
                      </a:r>
                    </a:p>
                  </a:txBody>
                  <a:tcPr marL="3758" marR="3758" marT="37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프로젝트룸 및 수행환경 준비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WBS 및 세부 일정 수립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업무범위 정의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제공자료 및 Sample Data 확인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PoC 범위 및 검증기준 확인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225427"/>
                  </a:ext>
                </a:extLst>
              </a:tr>
              <a:tr h="58356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분석/설계</a:t>
                      </a:r>
                    </a:p>
                  </a:txBody>
                  <a:tcPr marL="3758" marR="3758" marT="37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개발 및 테스트 환경 확인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업무 Process 및 분석 Scenario 정의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GDS, KLARF, CSV 데이터 구조 분석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좌표 및 Mapping 기준 정의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618297"/>
                  </a:ext>
                </a:extLst>
              </a:tr>
              <a:tr h="102123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 기능 개발</a:t>
                      </a:r>
                    </a:p>
                  </a:txBody>
                  <a:tcPr marL="3758" marR="3758" marT="37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각 공정 별 File Parsing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Map Drawing Control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기준정보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및 분석 Data 처리 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좌표 변환 및 위치 Mapping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Chain 영역 설정 및 분석 기능 개발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Defect Offset 및 Tolerance Logic 개발 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Correlation Logic 개발 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0322535"/>
                  </a:ext>
                </a:extLst>
              </a:tr>
              <a:tr h="58356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운영환경 구성</a:t>
                      </a:r>
                    </a:p>
                  </a:txBody>
                  <a:tcPr marL="3758" marR="3758" marT="37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운영 Server Setup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YMS, DMS 기능 Setup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기준정보 및 대상 Device Setup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Service 및 Client 환경 구성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8667960"/>
                  </a:ext>
                </a:extLst>
              </a:tr>
              <a:tr h="43767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테스트/검증</a:t>
                      </a:r>
                    </a:p>
                  </a:txBody>
                  <a:tcPr marL="3758" marR="3758" marT="37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좌표 및 Mapping 결과 검증 및 Correlation 결과 검증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오류 수정 및 기능 보완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실제 Devecie 기반 검증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045580"/>
                  </a:ext>
                </a:extLst>
              </a:tr>
              <a:tr h="43767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교육/Go-Live</a:t>
                      </a:r>
                    </a:p>
                  </a:txBody>
                  <a:tcPr marL="3758" marR="3758" marT="37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Key User 대상 주요 기능 사용법 교육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주요 유의사항 및 운영방법 전달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시스템 Go-Live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6064881"/>
                  </a:ext>
                </a:extLst>
              </a:tr>
              <a:tr h="43767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안정화/운영지원</a:t>
                      </a:r>
                    </a:p>
                  </a:txBody>
                  <a:tcPr marL="3758" marR="3758" marT="37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시스템 안정화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운영 중 발생 Issue 확인 및 조치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최종 기능 보완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816390"/>
                  </a:ext>
                </a:extLst>
              </a:tr>
              <a:tr h="44196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종료보고</a:t>
                      </a:r>
                    </a:p>
                  </a:txBody>
                  <a:tcPr marL="3758" marR="3758" marT="37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종료계획 및 결과 정리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종료보고서 작성 및 보완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최종 결과 보고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58" marR="3758" marT="37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126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POC 검증 결과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[고객 검증 후 작성] 사전 검증에서 U9 Wafer 1장 기준 47개 항목 중 44개 PASS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III. POC 결과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002233"/>
              </p:ext>
            </p:extLst>
          </p:nvPr>
        </p:nvGraphicFramePr>
        <p:xfrm>
          <a:off x="381600" y="1519200"/>
          <a:ext cx="9144000" cy="309599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검증 항목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검증 기준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결과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판정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99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좌표 대응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KLARF, GDS,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E-Test의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Die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위치가 고객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히트맵과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일치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accent6"/>
                          </a:solidFill>
                        </a:rPr>
                        <a:t>[검증 후 작성]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999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Chain 영역 Defect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판정 영역(크기 + 허용오차) 안 Defect 수, 위치 정확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accent6"/>
                          </a:solidFill>
                        </a:rPr>
                        <a:t>[검증 후 작성]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99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E-Test Fail 연결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Spec Out Chain이 도면 Chain에 정확히 표시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accent6"/>
                          </a:solidFill>
                        </a:rPr>
                        <a:t>[검증 후 작성]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999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연관 분류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일치 / Fail만 / Defect만 목록이 엔지니어 판단과 일치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accent6"/>
                          </a:solidFill>
                        </a:rPr>
                        <a:t>[검증 후 작성]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999">
                <a:tc>
                  <a:txBody>
                    <a:bodyPr/>
                    <a:lstStyle/>
                    <a:p>
                      <a:pPr algn="ctr" latinLnBrk="0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200" dirty="0">
                        <a:solidFill>
                          <a:schemeClr val="accent6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200" dirty="0">
                        <a:solidFill>
                          <a:schemeClr val="accent6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dirty="0"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999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사용성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Key User가 매뉴얼만으로 셋업부터 분석까지 수행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>
                          <a:solidFill>
                            <a:schemeClr val="accent6"/>
                          </a:solidFill>
                        </a:rPr>
                        <a:t>[검증 후 작성]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dirty="0"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81600" y="4752000"/>
            <a:ext cx="9144000" cy="34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6000" rIns="144000" bIns="36000" rtlCol="0" anchor="ctr"/>
          <a:lstStyle/>
          <a:p>
            <a:pPr algn="l" latinLnBrk="0"/>
            <a:r>
              <a:rPr lang="ko-KR" altLang="en-US" sz="1400" b="1" dirty="0">
                <a:solidFill>
                  <a:schemeClr val="accent1"/>
                </a:solidFill>
              </a:rPr>
              <a:t>사전 검증 </a:t>
            </a:r>
            <a:r>
              <a:rPr lang="ko-KR" altLang="en-US" sz="1400" b="1">
                <a:solidFill>
                  <a:schemeClr val="accent1"/>
                </a:solidFill>
              </a:rPr>
              <a:t>결과</a:t>
            </a:r>
            <a:r>
              <a:rPr lang="ko-KR" altLang="en-US" sz="1400" b="0">
                <a:solidFill>
                  <a:schemeClr val="accent1"/>
                </a:solidFill>
              </a:rPr>
              <a:t> </a:t>
            </a:r>
            <a:endParaRPr lang="ko-KR" altLang="en-US" sz="1400" b="0" dirty="0">
              <a:solidFill>
                <a:schemeClr val="accent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3999" y="5148000"/>
            <a:ext cx="8928000" cy="1080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/>
              <a:t>점검 47개 항목 중 44개 PASS, FAIL 3건은 원본 데이터 문제로 확인</a:t>
            </a:r>
          </a:p>
          <a:p>
            <a:pPr lvl="1" latinLnBrk="0"/>
            <a:r>
              <a:rPr lang="ko-KR" altLang="en-US" sz="1300" dirty="0" err="1"/>
              <a:t>Chain에</a:t>
            </a:r>
            <a:r>
              <a:rPr lang="ko-KR" altLang="en-US" sz="1300" dirty="0"/>
              <a:t> 걸린 </a:t>
            </a:r>
            <a:r>
              <a:rPr lang="ko-KR" altLang="en-US" sz="1300" dirty="0" err="1"/>
              <a:t>Defect</a:t>
            </a:r>
            <a:r>
              <a:rPr lang="ko-KR" altLang="en-US" sz="1300" dirty="0"/>
              <a:t> 472건 / (</a:t>
            </a:r>
            <a:r>
              <a:rPr lang="ko-KR" altLang="en-US" sz="1300" dirty="0" err="1"/>
              <a:t>Die</a:t>
            </a:r>
            <a:r>
              <a:rPr lang="ko-KR" altLang="en-US" sz="1300" dirty="0"/>
              <a:t>, </a:t>
            </a:r>
            <a:r>
              <a:rPr lang="ko-KR" altLang="en-US" sz="1300" dirty="0" err="1"/>
              <a:t>Chain</a:t>
            </a:r>
            <a:r>
              <a:rPr lang="ko-KR" altLang="en-US" sz="1300" dirty="0"/>
              <a:t>) 298칸 분류: 일치 26, </a:t>
            </a:r>
            <a:r>
              <a:rPr lang="ko-KR" altLang="en-US" sz="1300" dirty="0" err="1"/>
              <a:t>Fail만</a:t>
            </a:r>
            <a:r>
              <a:rPr lang="ko-KR" altLang="en-US" sz="1300" dirty="0"/>
              <a:t> 123, </a:t>
            </a:r>
            <a:r>
              <a:rPr lang="ko-KR" altLang="en-US" sz="1300" dirty="0" err="1"/>
              <a:t>Defect만</a:t>
            </a:r>
            <a:r>
              <a:rPr lang="ko-KR" altLang="en-US" sz="1300" dirty="0"/>
              <a:t> 106, 비교 불가 43</a:t>
            </a:r>
          </a:p>
          <a:p>
            <a:pPr lvl="1" latinLnBrk="0"/>
            <a:r>
              <a:rPr lang="ko-KR" altLang="en-US" sz="1300" dirty="0" err="1"/>
              <a:t>Fail만</a:t>
            </a:r>
            <a:r>
              <a:rPr lang="ko-KR" altLang="en-US" sz="1300" dirty="0"/>
              <a:t>, </a:t>
            </a:r>
            <a:r>
              <a:rPr lang="ko-KR" altLang="en-US" sz="1300" dirty="0" err="1"/>
              <a:t>Defect만</a:t>
            </a:r>
            <a:r>
              <a:rPr lang="ko-KR" altLang="en-US" sz="1300" dirty="0"/>
              <a:t> 칸이 많아 허용오차, </a:t>
            </a:r>
            <a:r>
              <a:rPr lang="ko-KR" altLang="en-US" sz="1300" dirty="0" err="1"/>
              <a:t>Wafer</a:t>
            </a:r>
            <a:r>
              <a:rPr lang="ko-KR" altLang="en-US" sz="1300" dirty="0"/>
              <a:t> 매칭 기준 확정 후 </a:t>
            </a:r>
            <a:r>
              <a:rPr lang="ko-KR" altLang="en-US" sz="1300" dirty="0" err="1"/>
              <a:t>재검증</a:t>
            </a:r>
            <a:r>
              <a:rPr lang="ko-KR" altLang="en-US" sz="1300" dirty="0"/>
              <a:t> 필요</a:t>
            </a:r>
          </a:p>
        </p:txBody>
      </p:sp>
      <p:pic>
        <p:nvPicPr>
          <p:cNvPr id="10" name="고객사 CI" descr="sck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POC 평가 및 시사점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도면 기반 Defect, Fail 연관 분석의 </a:t>
            </a:r>
            <a:r>
              <a:rPr lang="ko-KR" altLang="en-US" b="1" dirty="0"/>
              <a:t>구현 가능성 확인</a:t>
            </a:r>
            <a:r>
              <a:rPr lang="ko-KR" altLang="en-US" dirty="0"/>
              <a:t>, 실사용에는 데이터 기준 표준화가 선결 과제 [고객 평가 반영 예정]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III. POC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bg1"/>
                </a:solidFill>
              </a:rPr>
              <a:t>확인된 가능성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1980000"/>
            <a:ext cx="3002400" cy="273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9600" y="2052000"/>
            <a:ext cx="2808000" cy="295916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en-US" altLang="ko-KR" sz="1300" dirty="0" smtClean="0"/>
              <a:t>???????????????????????????</a:t>
            </a:r>
            <a:endParaRPr lang="ko-KR" altLang="en-US" sz="1300" dirty="0"/>
          </a:p>
        </p:txBody>
      </p:sp>
      <p:sp>
        <p:nvSpPr>
          <p:cNvPr id="10" name="Rectangle 9"/>
          <p:cNvSpPr/>
          <p:nvPr/>
        </p:nvSpPr>
        <p:spPr>
          <a:xfrm>
            <a:off x="3452400" y="1519200"/>
            <a:ext cx="3002400" cy="396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bg1"/>
                </a:solidFill>
              </a:rPr>
              <a:t>남은 과제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2400" y="1980000"/>
            <a:ext cx="3002400" cy="273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0400" y="2052000"/>
            <a:ext cx="2808000" cy="295916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en-US" altLang="ko-KR" sz="1300" dirty="0" smtClean="0"/>
              <a:t>??????????????????????</a:t>
            </a:r>
            <a:endParaRPr lang="ko-KR" altLang="en-US" sz="1300" dirty="0"/>
          </a:p>
        </p:txBody>
      </p:sp>
      <p:sp>
        <p:nvSpPr>
          <p:cNvPr id="13" name="Rectangle 12"/>
          <p:cNvSpPr/>
          <p:nvPr/>
        </p:nvSpPr>
        <p:spPr>
          <a:xfrm>
            <a:off x="6523199" y="1519200"/>
            <a:ext cx="3002400" cy="396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bg1"/>
                </a:solidFill>
              </a:rPr>
              <a:t>Lesson Learned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3199" y="1980000"/>
            <a:ext cx="3002400" cy="273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31199" y="2052000"/>
            <a:ext cx="2808000" cy="295916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en-US" altLang="ko-KR" sz="1300" dirty="0" smtClean="0"/>
              <a:t>?????????????????????</a:t>
            </a:r>
            <a:endParaRPr lang="ko-KR" altLang="en-US" sz="1300" dirty="0"/>
          </a:p>
        </p:txBody>
      </p:sp>
      <p:sp>
        <p:nvSpPr>
          <p:cNvPr id="16" name="Rectangle 15"/>
          <p:cNvSpPr/>
          <p:nvPr/>
        </p:nvSpPr>
        <p:spPr>
          <a:xfrm>
            <a:off x="381600" y="4860000"/>
            <a:ext cx="1800000" cy="1296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bg1"/>
                </a:solidFill>
              </a:rPr>
              <a:t>고객 평가 의견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81600" y="4860000"/>
            <a:ext cx="7343999" cy="129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36000" rIns="180000" bIns="36000" rtlCol="0" anchor="ctr"/>
          <a:lstStyle/>
          <a:p>
            <a:pPr algn="l" latinLnBrk="0"/>
            <a:r>
              <a:rPr lang="en-US" altLang="ko-KR" sz="1400" b="0" dirty="0" smtClean="0">
                <a:solidFill>
                  <a:schemeClr val="accent6"/>
                </a:solidFill>
              </a:rPr>
              <a:t>?????????????????????????????????????</a:t>
            </a:r>
            <a:endParaRPr lang="ko-KR" altLang="en-US" sz="1400" b="0" dirty="0">
              <a:solidFill>
                <a:schemeClr val="tx1"/>
              </a:solidFill>
            </a:endParaRPr>
          </a:p>
        </p:txBody>
      </p:sp>
      <p:pic>
        <p:nvPicPr>
          <p:cNvPr id="18" name="고객사 CI" descr="sck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철수 후 운영 방안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미라콤 철수 후에도 연구소가 </a:t>
            </a:r>
            <a:r>
              <a:rPr lang="ko-KR" altLang="en-US" b="1" dirty="0"/>
              <a:t>'27.1.31까지 POC 시스템을 직접 사용</a:t>
            </a:r>
            <a:r>
              <a:rPr lang="ko-KR" altLang="en-US" dirty="0"/>
              <a:t>하도록 사용 조건, 운영 역할, 인계 자료를 정함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IV. 종료 후 운영 방안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3002400" cy="39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bg1"/>
                </a:solidFill>
              </a:rPr>
              <a:t>시스템 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1980000"/>
            <a:ext cx="30024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9600" y="2070000"/>
            <a:ext cx="2808000" cy="1754969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/>
              <a:t>POC </a:t>
            </a:r>
            <a:r>
              <a:rPr lang="ko-KR" altLang="en-US" sz="1300" dirty="0" err="1"/>
              <a:t>License</a:t>
            </a:r>
            <a:r>
              <a:rPr lang="ko-KR" altLang="en-US" sz="1300" dirty="0"/>
              <a:t>: '27.1.31까지 데이터 등록, 수정 가능</a:t>
            </a:r>
          </a:p>
          <a:p>
            <a:pPr lvl="1" latinLnBrk="0"/>
            <a:r>
              <a:rPr lang="ko-KR" altLang="en-US" sz="1300" dirty="0"/>
              <a:t>기한 후 조회 전용 전환 (등록 데이터 유지)</a:t>
            </a:r>
          </a:p>
          <a:p>
            <a:pPr lvl="1" latinLnBrk="0"/>
            <a:r>
              <a:rPr lang="ko-KR" altLang="en-US" sz="1300" dirty="0"/>
              <a:t>사용 결과로 </a:t>
            </a:r>
            <a:r>
              <a:rPr lang="ko-KR" altLang="en-US" sz="1300" dirty="0" smtClean="0"/>
              <a:t>본 사업 </a:t>
            </a:r>
            <a:r>
              <a:rPr lang="ko-KR" altLang="en-US" sz="1300" dirty="0"/>
              <a:t>확장 판단 (착수 시 약 3개월 사용 안내)</a:t>
            </a:r>
          </a:p>
          <a:p>
            <a:pPr lvl="1" latinLnBrk="0"/>
            <a:r>
              <a:rPr lang="ko-KR" altLang="en-US" sz="1300" dirty="0" err="1" smtClean="0"/>
              <a:t>Device</a:t>
            </a:r>
            <a:r>
              <a:rPr lang="ko-KR" altLang="en-US" sz="1300" dirty="0" smtClean="0"/>
              <a:t> </a:t>
            </a:r>
            <a:r>
              <a:rPr lang="ko-KR" altLang="en-US" sz="1300" dirty="0" smtClean="0"/>
              <a:t>개수 </a:t>
            </a:r>
            <a:r>
              <a:rPr lang="en-US" altLang="ko-KR" sz="1300" dirty="0" smtClean="0"/>
              <a:t>Limit</a:t>
            </a:r>
            <a:r>
              <a:rPr lang="ko-KR" altLang="en-US" sz="1300" dirty="0" smtClean="0"/>
              <a:t>은 없음</a:t>
            </a:r>
            <a:r>
              <a:rPr lang="en-US" altLang="ko-KR" sz="1300" dirty="0" smtClean="0"/>
              <a:t>.</a:t>
            </a:r>
            <a:endParaRPr lang="ko-KR" altLang="en-US" sz="1300" dirty="0">
              <a:solidFill>
                <a:schemeClr val="accent6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452400" y="15192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bg1"/>
                </a:solidFill>
              </a:rPr>
              <a:t>운영 역할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2400" y="1980000"/>
            <a:ext cx="30024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0400" y="2070000"/>
            <a:ext cx="2808000" cy="295916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en-US" altLang="ko-KR" sz="1300" dirty="0" smtClean="0"/>
              <a:t>????????????????</a:t>
            </a:r>
            <a:endParaRPr lang="ko-KR" altLang="en-US" sz="1300" dirty="0">
              <a:solidFill>
                <a:schemeClr val="accent6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23199" y="1519200"/>
            <a:ext cx="3002400" cy="396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bg1"/>
                </a:solidFill>
              </a:rPr>
              <a:t>인계 자료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3199" y="1980000"/>
            <a:ext cx="30024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31199" y="2070000"/>
            <a:ext cx="2808000" cy="295916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en-US" altLang="ko-KR" sz="1300" dirty="0" smtClean="0"/>
              <a:t>??????????????????</a:t>
            </a:r>
            <a:endParaRPr lang="ko-KR" altLang="en-US" sz="1300" dirty="0"/>
          </a:p>
        </p:txBody>
      </p:sp>
      <p:sp>
        <p:nvSpPr>
          <p:cNvPr id="16" name="Rectangle 15"/>
          <p:cNvSpPr/>
          <p:nvPr/>
        </p:nvSpPr>
        <p:spPr>
          <a:xfrm>
            <a:off x="381600" y="4788000"/>
            <a:ext cx="91440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6000" rIns="144000" bIns="36000" rtlCol="0" anchor="ctr"/>
          <a:lstStyle/>
          <a:p>
            <a:pPr algn="l" latinLnBrk="0"/>
            <a:r>
              <a:rPr lang="ko-KR" altLang="en-US" sz="1400" b="1">
                <a:solidFill>
                  <a:schemeClr val="accent1"/>
                </a:solidFill>
              </a:rPr>
              <a:t>철수 전후 일정</a:t>
            </a:r>
          </a:p>
        </p:txBody>
      </p:sp>
      <p:sp>
        <p:nvSpPr>
          <p:cNvPr id="17" name="Pentagon 16"/>
          <p:cNvSpPr/>
          <p:nvPr/>
        </p:nvSpPr>
        <p:spPr>
          <a:xfrm>
            <a:off x="381600" y="5202000"/>
            <a:ext cx="1908000" cy="79200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36000" rIns="216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10.26~10.28</a:t>
            </a:r>
          </a:p>
          <a:p>
            <a:pPr algn="ctr" latinLnBrk="0"/>
            <a:r>
              <a:rPr lang="ko-KR" altLang="en-US" sz="1200" b="0">
                <a:solidFill>
                  <a:schemeClr val="bg1"/>
                </a:solidFill>
              </a:rPr>
              <a:t>고객 검증</a:t>
            </a:r>
          </a:p>
        </p:txBody>
      </p:sp>
      <p:sp>
        <p:nvSpPr>
          <p:cNvPr id="18" name="Chevron 17"/>
          <p:cNvSpPr/>
          <p:nvPr/>
        </p:nvSpPr>
        <p:spPr>
          <a:xfrm>
            <a:off x="2190600" y="5202000"/>
            <a:ext cx="1908000" cy="79200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36000" rIns="216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10.29</a:t>
            </a:r>
          </a:p>
          <a:p>
            <a:pPr algn="ctr" latinLnBrk="0"/>
            <a:r>
              <a:rPr lang="ko-KR" altLang="en-US" sz="1200" b="0">
                <a:solidFill>
                  <a:schemeClr val="bg1"/>
                </a:solidFill>
              </a:rPr>
              <a:t>종료 보고</a:t>
            </a:r>
          </a:p>
        </p:txBody>
      </p:sp>
      <p:sp>
        <p:nvSpPr>
          <p:cNvPr id="19" name="Chevron 18"/>
          <p:cNvSpPr/>
          <p:nvPr/>
        </p:nvSpPr>
        <p:spPr>
          <a:xfrm>
            <a:off x="3999600" y="5202000"/>
            <a:ext cx="1908000" cy="79200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36000" rIns="216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10월 말</a:t>
            </a:r>
          </a:p>
          <a:p>
            <a:pPr algn="ctr" latinLnBrk="0"/>
            <a:r>
              <a:rPr lang="ko-KR" altLang="en-US" sz="1200" b="0">
                <a:solidFill>
                  <a:schemeClr val="bg1"/>
                </a:solidFill>
              </a:rPr>
              <a:t>현장 철수</a:t>
            </a:r>
          </a:p>
        </p:txBody>
      </p:sp>
      <p:sp>
        <p:nvSpPr>
          <p:cNvPr id="20" name="Chevron 19"/>
          <p:cNvSpPr/>
          <p:nvPr/>
        </p:nvSpPr>
        <p:spPr>
          <a:xfrm>
            <a:off x="5808600" y="5202000"/>
            <a:ext cx="1908000" cy="792000"/>
          </a:xfrm>
          <a:prstGeom prst="chevron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36000" rIns="216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~'27.1.31</a:t>
            </a:r>
          </a:p>
          <a:p>
            <a:pPr algn="ctr" latinLnBrk="0"/>
            <a:r>
              <a:rPr lang="ko-KR" altLang="en-US" sz="1200" b="0">
                <a:solidFill>
                  <a:schemeClr val="bg1"/>
                </a:solidFill>
              </a:rPr>
              <a:t>POC 사용</a:t>
            </a:r>
          </a:p>
        </p:txBody>
      </p:sp>
      <p:sp>
        <p:nvSpPr>
          <p:cNvPr id="21" name="Chevron 20"/>
          <p:cNvSpPr/>
          <p:nvPr/>
        </p:nvSpPr>
        <p:spPr>
          <a:xfrm>
            <a:off x="7617600" y="5202000"/>
            <a:ext cx="1908000" cy="792000"/>
          </a:xfrm>
          <a:prstGeom prst="chevron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36000" rIns="216000" bIns="36000" rtlCol="0" anchor="ctr"/>
          <a:lstStyle/>
          <a:p>
            <a:pPr algn="ctr" latinLnBrk="0"/>
            <a:r>
              <a:rPr lang="ko-KR" altLang="en-US" sz="1200" b="1" dirty="0">
                <a:solidFill>
                  <a:schemeClr val="bg1"/>
                </a:solidFill>
              </a:rPr>
              <a:t>'27.1~</a:t>
            </a:r>
          </a:p>
          <a:p>
            <a:pPr algn="ctr" latinLnBrk="0"/>
            <a:r>
              <a:rPr lang="ko-KR" altLang="en-US" sz="1200" b="0" dirty="0" err="1">
                <a:solidFill>
                  <a:schemeClr val="bg1"/>
                </a:solidFill>
              </a:rPr>
              <a:t>본사업</a:t>
            </a:r>
            <a:r>
              <a:rPr lang="ko-KR" altLang="en-US" sz="1200" b="0" dirty="0">
                <a:solidFill>
                  <a:schemeClr val="bg1"/>
                </a:solidFill>
              </a:rPr>
              <a:t> 판단</a:t>
            </a:r>
          </a:p>
        </p:txBody>
      </p:sp>
      <p:pic>
        <p:nvPicPr>
          <p:cNvPr id="23" name="고객사 CI" descr="sck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617474"/>
      </p:ext>
    </p:extLst>
  </p:cSld>
  <p:clrMapOvr>
    <a:masterClrMapping/>
  </p:clrMapOvr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92C52DB-E9E3-46CD-811C-803D077AD9CA}">
  <ds:schemaRefs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28081</TotalTime>
  <Words>1119</Words>
  <Application>Microsoft Office PowerPoint</Application>
  <PresentationFormat>A4 용지(210x297mm)</PresentationFormat>
  <Paragraphs>417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Segoe UI</vt:lpstr>
      <vt:lpstr>문서템플릿</vt:lpstr>
      <vt:lpstr>PowerPoint 프레젠테이션</vt:lpstr>
      <vt:lpstr>PowerPoint 프레젠테이션</vt:lpstr>
      <vt:lpstr>POC 배경 및 목표</vt:lpstr>
      <vt:lpstr>시스템 구성 및 업무 영역</vt:lpstr>
      <vt:lpstr>추진 경과</vt:lpstr>
      <vt:lpstr>POC 검증 결과</vt:lpstr>
      <vt:lpstr>POC 평가 및 시사점</vt:lpstr>
      <vt:lpstr>철수 후 운영 방안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Defect / E-Test 자동 분석 시스템 구축 POC 완료보고</dc:title>
  <dc:creator>정병주</dc:creator>
  <cp:lastModifiedBy>BJ</cp:lastModifiedBy>
  <cp:revision>46</cp:revision>
  <dcterms:created xsi:type="dcterms:W3CDTF">2013-11-13T01:08:07Z</dcterms:created>
  <dcterms:modified xsi:type="dcterms:W3CDTF">2026-10-26T05:56:50Z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5C58129F-E5B8-477A-9B38-B3E54BFA04C8}" pid="2">
    <vt:lpwstr>A2265D46B23E86417CDAB57A7F05BAAEADCBBC752B73D54DA3E9536622969EE5</vt:lpwstr>
  </property>
</Properties>
</file>