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  <p:sldMasterId id="2147484601" r:id="rId5"/>
  </p:sldMasterIdLst>
  <p:notesMasterIdLst>
    <p:notesMasterId r:id="rId52"/>
  </p:notesMasterIdLst>
  <p:handoutMasterIdLst>
    <p:handoutMasterId r:id="rId53"/>
  </p:handoutMasterIdLst>
  <p:sldIdLst>
    <p:sldId id="460" r:id="rId6"/>
    <p:sldId id="576" r:id="rId7"/>
    <p:sldId id="577" r:id="rId8"/>
    <p:sldId id="578" r:id="rId9"/>
    <p:sldId id="579" r:id="rId10"/>
    <p:sldId id="633" r:id="rId11"/>
    <p:sldId id="582" r:id="rId12"/>
    <p:sldId id="581" r:id="rId13"/>
    <p:sldId id="580" r:id="rId14"/>
    <p:sldId id="583" r:id="rId15"/>
    <p:sldId id="585" r:id="rId16"/>
    <p:sldId id="634" r:id="rId17"/>
    <p:sldId id="631" r:id="rId18"/>
    <p:sldId id="632" r:id="rId19"/>
    <p:sldId id="636" r:id="rId20"/>
    <p:sldId id="637" r:id="rId21"/>
    <p:sldId id="635" r:id="rId22"/>
    <p:sldId id="598" r:id="rId23"/>
    <p:sldId id="586" r:id="rId24"/>
    <p:sldId id="587" r:id="rId25"/>
    <p:sldId id="588" r:id="rId26"/>
    <p:sldId id="589" r:id="rId27"/>
    <p:sldId id="590" r:id="rId28"/>
    <p:sldId id="591" r:id="rId29"/>
    <p:sldId id="592" r:id="rId30"/>
    <p:sldId id="593" r:id="rId31"/>
    <p:sldId id="594" r:id="rId32"/>
    <p:sldId id="595" r:id="rId33"/>
    <p:sldId id="597" r:id="rId34"/>
    <p:sldId id="599" r:id="rId35"/>
    <p:sldId id="614" r:id="rId36"/>
    <p:sldId id="616" r:id="rId37"/>
    <p:sldId id="617" r:id="rId38"/>
    <p:sldId id="618" r:id="rId39"/>
    <p:sldId id="619" r:id="rId40"/>
    <p:sldId id="620" r:id="rId41"/>
    <p:sldId id="621" r:id="rId42"/>
    <p:sldId id="622" r:id="rId43"/>
    <p:sldId id="623" r:id="rId44"/>
    <p:sldId id="600" r:id="rId45"/>
    <p:sldId id="615" r:id="rId46"/>
    <p:sldId id="624" r:id="rId47"/>
    <p:sldId id="625" r:id="rId48"/>
    <p:sldId id="626" r:id="rId49"/>
    <p:sldId id="627" r:id="rId50"/>
    <p:sldId id="473" r:id="rId5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686" userDrawn="1">
          <p15:clr>
            <a:srgbClr val="A4A3A4"/>
          </p15:clr>
        </p15:guide>
        <p15:guide id="7" pos="417" userDrawn="1">
          <p15:clr>
            <a:srgbClr val="A4A3A4"/>
          </p15:clr>
        </p15:guide>
        <p15:guide id="8" pos="190" userDrawn="1">
          <p15:clr>
            <a:srgbClr val="A4A3A4"/>
          </p15:clr>
        </p15:guide>
        <p15:guide id="9" pos="939" userDrawn="1">
          <p15:clr>
            <a:srgbClr val="A4A3A4"/>
          </p15:clr>
        </p15:guide>
        <p15:guide id="10" pos="7470" userDrawn="1">
          <p15:clr>
            <a:srgbClr val="A4A3A4"/>
          </p15:clr>
        </p15:guide>
        <p15:guide id="11" orient="horz" pos="39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UM JaeYeon (SCK Bump Eng'g-Process Engineering)" initials="KJ(BEE" lastIdx="1" clrIdx="0">
    <p:extLst>
      <p:ext uri="{19B8F6BF-5375-455C-9EA6-DF929625EA0E}">
        <p15:presenceInfo xmlns:p15="http://schemas.microsoft.com/office/powerpoint/2012/main" userId="S-1-5-21-431975993-854741942-556304927-119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BFBFBF"/>
    <a:srgbClr val="FF0000"/>
    <a:srgbClr val="0000FF"/>
    <a:srgbClr val="000099"/>
    <a:srgbClr val="0F1C32"/>
    <a:srgbClr val="A0C8FC"/>
    <a:srgbClr val="B6CEFE"/>
    <a:srgbClr val="C0CEFB"/>
    <a:srgbClr val="C0D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660" autoAdjust="0"/>
    <p:restoredTop sz="94333" autoAdjust="0"/>
  </p:normalViewPr>
  <p:slideViewPr>
    <p:cSldViewPr snapToGrid="0" snapToObjects="1">
      <p:cViewPr varScale="1">
        <p:scale>
          <a:sx n="123" d="100"/>
          <a:sy n="123" d="100"/>
        </p:scale>
        <p:origin x="102" y="492"/>
      </p:cViewPr>
      <p:guideLst>
        <p:guide orient="horz" pos="686"/>
        <p:guide pos="417"/>
        <p:guide pos="190"/>
        <p:guide pos="939"/>
        <p:guide pos="7470"/>
        <p:guide orient="horz" pos="39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7/29/2026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7/29/2026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9375FBF-55F8-EA40-A7EA-1FE0290C4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7970"/>
            <a:ext cx="12196762" cy="6894309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400071E0-813A-4C9E-81CF-5584FF73E301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F20943B3-7161-4252-BCE5-2664C0B3C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1" y="1414463"/>
            <a:ext cx="5118100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23" name="副标题 2">
            <a:extLst>
              <a:ext uri="{FF2B5EF4-FFF2-40B4-BE49-F238E27FC236}">
                <a16:creationId xmlns:a16="http://schemas.microsoft.com/office/drawing/2014/main" id="{C0B9BDD2-289B-4F7C-AC8A-7DCAAE6868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571876"/>
            <a:ext cx="5118101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66592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EA1A39-4449-E147-955E-23CBF455C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duotone>
              <a:schemeClr val="accent1">
                <a:shade val="45000"/>
                <a:satMod val="135000"/>
              </a:schemeClr>
              <a:prstClr val="white"/>
            </a:duotone>
            <a:alphaModFix amt="9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821382"/>
            <a:ext cx="12196763" cy="203661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281ACAB-5B76-F644-A180-9E8E7059D36B}"/>
              </a:ext>
            </a:extLst>
          </p:cNvPr>
          <p:cNvSpPr/>
          <p:nvPr userDrawn="1"/>
        </p:nvSpPr>
        <p:spPr>
          <a:xfrm rot="10800000">
            <a:off x="0" y="-2"/>
            <a:ext cx="12196762" cy="6857999"/>
          </a:xfrm>
          <a:prstGeom prst="rect">
            <a:avLst/>
          </a:prstGeom>
          <a:gradFill>
            <a:gsLst>
              <a:gs pos="22000">
                <a:srgbClr val="FFFFFF">
                  <a:alpha val="99235"/>
                </a:srgbClr>
              </a:gs>
              <a:gs pos="0">
                <a:schemeClr val="bg1">
                  <a:lumMod val="0"/>
                  <a:lumOff val="100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32351F-0F5B-4F45-9771-8F27891281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421A985D-3125-6548-A336-A599FE2EA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668836" cy="4792304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F542CB-CBAE-B342-A99F-9FC17E415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604988"/>
            <a:ext cx="9047467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1570F7-B0F7-87F0-4A6E-1C3CCBFDDC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4871" y="643921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79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5C433D-B595-4D2D-827D-14B7E626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FC0BA1D8-D6E2-42CD-BA3F-ED7BAA08E8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7665" y="1463646"/>
            <a:ext cx="10801430" cy="4760402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85B7AFF-5434-490E-B8BB-0714210727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6" y="611022"/>
            <a:ext cx="9047467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A311E74-1417-761D-2E76-67C8218B46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4871" y="643921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42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15969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3B1516-D590-994D-AA0B-A8328E07466F}"/>
              </a:ext>
            </a:extLst>
          </p:cNvPr>
          <p:cNvSpPr/>
          <p:nvPr userDrawn="1"/>
        </p:nvSpPr>
        <p:spPr>
          <a:xfrm>
            <a:off x="0" y="0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82312C41-B052-2B4B-B15D-A9EC4DB87AB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C273EF-4387-D14B-B75D-30B325ADE7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467" y="2661041"/>
            <a:ext cx="3627773" cy="111379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26" y="4475069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420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15969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3B1516-D590-994D-AA0B-A8328E07466F}"/>
              </a:ext>
            </a:extLst>
          </p:cNvPr>
          <p:cNvSpPr/>
          <p:nvPr userDrawn="1"/>
        </p:nvSpPr>
        <p:spPr>
          <a:xfrm>
            <a:off x="0" y="0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82312C41-B052-2B4B-B15D-A9EC4DB87AB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FC273EF-4387-D14B-B75D-30B325ADE7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08467" y="2661041"/>
            <a:ext cx="3627773" cy="1113790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69726" y="4475069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0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596" r:id="rId2"/>
    <p:sldLayoutId id="2147484614" r:id="rId3"/>
    <p:sldLayoutId id="214748461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3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1819-D36C-4FC7-8FA7-B17AD4538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76311"/>
            <a:ext cx="12196763" cy="1664297"/>
          </a:xfrm>
        </p:spPr>
        <p:txBody>
          <a:bodyPr/>
          <a:lstStyle/>
          <a:p>
            <a:pPr algn="ctr"/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Defect/E-Test 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자동 분석 시스템 구축 제안</a:t>
            </a:r>
            <a:endParaRPr 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F40652-8105-D165-6E4A-691EAD3D750D}"/>
              </a:ext>
            </a:extLst>
          </p:cNvPr>
          <p:cNvSpPr txBox="1">
            <a:spLocks/>
          </p:cNvSpPr>
          <p:nvPr/>
        </p:nvSpPr>
        <p:spPr>
          <a:xfrm>
            <a:off x="1628776" y="4805255"/>
            <a:ext cx="2609850" cy="336810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>
                <a:latin typeface="Arial" panose="020B0604020202020204" pitchFamily="34" charset="0"/>
                <a:cs typeface="Arial" panose="020B0604020202020204" pitchFamily="34" charset="0"/>
              </a:rPr>
              <a:t>v1.1 (2026.07.29)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0B646-CCDA-840A-D122-87F588FC95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35371" y="521366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67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85ABF565-131D-E06E-4426-0BE64DEA7FC4}"/>
              </a:ext>
            </a:extLst>
          </p:cNvPr>
          <p:cNvSpPr txBox="1">
            <a:spLocks/>
          </p:cNvSpPr>
          <p:nvPr/>
        </p:nvSpPr>
        <p:spPr>
          <a:xfrm>
            <a:off x="1410807" y="371556"/>
            <a:ext cx="4607143" cy="130034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914400" lvl="1" indent="-457200">
              <a:buFont typeface="+mj-lt"/>
              <a:buAutoNum type="arabicPeriod"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2pPr>
          </a:lstStyle>
          <a:p>
            <a:pPr marL="0" marR="0" lvl="0" indent="0" defTabSz="91440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Agenda</a:t>
            </a: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제목 5">
            <a:extLst>
              <a:ext uri="{FF2B5EF4-FFF2-40B4-BE49-F238E27FC236}">
                <a16:creationId xmlns:a16="http://schemas.microsoft.com/office/drawing/2014/main" id="{7419B261-E701-B58C-43F9-072C5CDEB1BA}"/>
              </a:ext>
            </a:extLst>
          </p:cNvPr>
          <p:cNvSpPr txBox="1">
            <a:spLocks/>
          </p:cNvSpPr>
          <p:nvPr/>
        </p:nvSpPr>
        <p:spPr>
          <a:xfrm>
            <a:off x="985077" y="880043"/>
            <a:ext cx="5255950" cy="509791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개요 및 시스템 구축 전략</a:t>
            </a: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 및 목표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범위</a:t>
            </a:r>
            <a:endParaRPr lang="en-US" altLang="ko-KR" sz="1400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중점 추진 항목</a:t>
            </a:r>
            <a:endParaRPr lang="en-US" altLang="ko-KR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GDS/CAD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Correlation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특정 영역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2)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2)</a:t>
            </a:r>
          </a:p>
          <a:p>
            <a:pPr marL="457200" lvl="1" defTabSz="914400" latinLnBrk="1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DMS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YMS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4268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AA03F-629D-E563-9A15-FFA639F58C4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 및 목표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EDA4-E92D-11C2-FDC9-1F9D7E2928F1}"/>
              </a:ext>
            </a:extLst>
          </p:cNvPr>
          <p:cNvSpPr txBox="1"/>
          <p:nvPr/>
        </p:nvSpPr>
        <p:spPr>
          <a:xfrm>
            <a:off x="272999" y="974719"/>
            <a:ext cx="1158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Nexplant QMS® YMS/DMS </a:t>
            </a:r>
            <a:r>
              <a:rPr lang="ko-KR" altLang="en-US" sz="2000" dirty="0"/>
              <a:t>시스템을 통해 광학적으로 발견된 외관 결함</a:t>
            </a:r>
            <a:r>
              <a:rPr lang="en-US" altLang="ko-KR" sz="2000" dirty="0"/>
              <a:t>(AOI Defect)</a:t>
            </a:r>
            <a:r>
              <a:rPr lang="ko-KR" altLang="en-US" sz="2000" dirty="0"/>
              <a:t>이 실제 전기적 불량</a:t>
            </a:r>
            <a:r>
              <a:rPr lang="en-US" altLang="ko-KR" sz="2000" dirty="0"/>
              <a:t>(E-Test Fail)</a:t>
            </a:r>
            <a:r>
              <a:rPr lang="ko-KR" altLang="en-US" sz="2000" dirty="0"/>
              <a:t>을 일으킨 원인인지를</a:t>
            </a:r>
            <a:r>
              <a:rPr lang="en-US" altLang="ko-KR" sz="2000" dirty="0"/>
              <a:t> </a:t>
            </a:r>
            <a:r>
              <a:rPr lang="ko-KR" altLang="en-US" sz="2000" dirty="0"/>
              <a:t>알고리즘을 통해 자동으로 분석하여 생산성과 품질을 향상할 수 있습니다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49" name="직사각형 548">
            <a:extLst>
              <a:ext uri="{FF2B5EF4-FFF2-40B4-BE49-F238E27FC236}">
                <a16:creationId xmlns:a16="http://schemas.microsoft.com/office/drawing/2014/main" id="{B75E466C-63D1-2DB9-05FC-3D31F22237C8}"/>
              </a:ext>
            </a:extLst>
          </p:cNvPr>
          <p:cNvSpPr/>
          <p:nvPr/>
        </p:nvSpPr>
        <p:spPr>
          <a:xfrm>
            <a:off x="1682825" y="2588377"/>
            <a:ext cx="9913900" cy="3573349"/>
          </a:xfrm>
          <a:prstGeom prst="rect">
            <a:avLst/>
          </a:prstGeom>
          <a:solidFill>
            <a:srgbClr val="169EF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38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0" name="대각선 방향의 모서리가 둥근 사각형 69">
            <a:extLst>
              <a:ext uri="{FF2B5EF4-FFF2-40B4-BE49-F238E27FC236}">
                <a16:creationId xmlns:a16="http://schemas.microsoft.com/office/drawing/2014/main" id="{71297B1D-D9E4-7CCD-4CD2-E80779F1B690}"/>
              </a:ext>
            </a:extLst>
          </p:cNvPr>
          <p:cNvSpPr/>
          <p:nvPr/>
        </p:nvSpPr>
        <p:spPr>
          <a:xfrm>
            <a:off x="375924" y="2280600"/>
            <a:ext cx="6607619" cy="4091625"/>
          </a:xfrm>
          <a:prstGeom prst="round2DiagRect">
            <a:avLst>
              <a:gd name="adj1" fmla="val 0"/>
              <a:gd name="adj2" fmla="val 0"/>
            </a:avLst>
          </a:prstGeom>
          <a:solidFill>
            <a:schemeClr val="bg1"/>
          </a:solidFill>
          <a:ln w="6350">
            <a:solidFill>
              <a:srgbClr val="B2B2B2"/>
            </a:solidFill>
          </a:ln>
          <a:effectLst>
            <a:outerShdw blurRad="88900" algn="r" rotWithShape="0">
              <a:prstClr val="black">
                <a:alpha val="4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138" spc="-4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1" name="갈매기형 수장 3">
            <a:extLst>
              <a:ext uri="{FF2B5EF4-FFF2-40B4-BE49-F238E27FC236}">
                <a16:creationId xmlns:a16="http://schemas.microsoft.com/office/drawing/2014/main" id="{ACA4EBD2-CDE7-183C-6ABC-7B9AC9025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924" y="2135184"/>
            <a:ext cx="6607619" cy="387949"/>
          </a:xfrm>
          <a:prstGeom prst="homePlate">
            <a:avLst>
              <a:gd name="adj" fmla="val 0"/>
            </a:avLst>
          </a:prstGeom>
          <a:pattFill prst="wdUpDiag">
            <a:fgClr>
              <a:srgbClr val="0070C0"/>
            </a:fgClr>
            <a:bgClr>
              <a:srgbClr val="0279CA"/>
            </a:bgClr>
          </a:pattFill>
          <a:ln w="9525">
            <a:solidFill>
              <a:srgbClr val="3176C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endParaRPr kumimoji="1" lang="en-US" altLang="ko-KR" sz="16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8D0EBA4A-A2A3-98E7-D359-364248A82D02}"/>
              </a:ext>
            </a:extLst>
          </p:cNvPr>
          <p:cNvSpPr/>
          <p:nvPr/>
        </p:nvSpPr>
        <p:spPr>
          <a:xfrm>
            <a:off x="473429" y="2178525"/>
            <a:ext cx="63805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반도체 </a:t>
            </a:r>
            <a:r>
              <a:rPr kumimoji="1" lang="en-US" altLang="ko-KR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Package </a:t>
            </a:r>
            <a:r>
              <a:rPr kumimoji="1" lang="ko-KR" altLang="en-US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제조 품질 시스템 구축</a:t>
            </a:r>
            <a:endParaRPr kumimoji="1" lang="ko-KR" altLang="ko-KR" sz="1400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554" name="Text Box 10">
            <a:extLst>
              <a:ext uri="{FF2B5EF4-FFF2-40B4-BE49-F238E27FC236}">
                <a16:creationId xmlns:a16="http://schemas.microsoft.com/office/drawing/2014/main" id="{E4B9AFA0-229D-13FE-C748-36081E35704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550217" y="2606533"/>
            <a:ext cx="2745848" cy="514126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wrap="none" lIns="0" tIns="36000" rIns="0" bIns="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r>
              <a:rPr lang="en-US" altLang="ko-KR" sz="1600" dirty="0">
                <a:latin typeface="+mn-ea"/>
              </a:rPr>
              <a:t>DMS</a:t>
            </a:r>
          </a:p>
          <a:p>
            <a:r>
              <a:rPr lang="en-US" altLang="ko-KR" dirty="0">
                <a:latin typeface="+mn-ea"/>
              </a:rPr>
              <a:t>(Defect Management System)</a:t>
            </a:r>
            <a:endParaRPr lang="ko-KR" altLang="en-US" dirty="0">
              <a:latin typeface="+mn-ea"/>
            </a:endParaRPr>
          </a:p>
        </p:txBody>
      </p:sp>
      <p:sp>
        <p:nvSpPr>
          <p:cNvPr id="555" name="Text Box 10">
            <a:extLst>
              <a:ext uri="{FF2B5EF4-FFF2-40B4-BE49-F238E27FC236}">
                <a16:creationId xmlns:a16="http://schemas.microsoft.com/office/drawing/2014/main" id="{B99444B0-474B-A654-6F26-67A5CA39BDC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99605" y="2606533"/>
            <a:ext cx="2745848" cy="514126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wrap="none" lIns="0" tIns="36000" rIns="0" bIns="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r>
              <a:rPr lang="en-US" altLang="ko-KR" sz="1600" dirty="0">
                <a:latin typeface="+mn-ea"/>
              </a:rPr>
              <a:t>YMS</a:t>
            </a:r>
          </a:p>
          <a:p>
            <a:r>
              <a:rPr lang="en-US" altLang="ko-KR" dirty="0">
                <a:latin typeface="+mn-ea"/>
              </a:rPr>
              <a:t>(Yield Management System)</a:t>
            </a:r>
            <a:endParaRPr lang="ko-KR" altLang="en-US" dirty="0">
              <a:latin typeface="+mn-ea"/>
            </a:endParaRPr>
          </a:p>
        </p:txBody>
      </p:sp>
      <p:sp>
        <p:nvSpPr>
          <p:cNvPr id="561" name="AutoShape 12">
            <a:extLst>
              <a:ext uri="{FF2B5EF4-FFF2-40B4-BE49-F238E27FC236}">
                <a16:creationId xmlns:a16="http://schemas.microsoft.com/office/drawing/2014/main" id="{34D7501B-1113-211F-E31F-383DCE0E7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85" y="5008660"/>
            <a:ext cx="6174451" cy="336733"/>
          </a:xfrm>
          <a:prstGeom prst="roundRect">
            <a:avLst>
              <a:gd name="adj" fmla="val 0"/>
            </a:avLst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wrap="none" lIns="0" tIns="3600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spc="-80" dirty="0">
                <a:solidFill>
                  <a:prstClr val="white"/>
                </a:solidFill>
                <a:latin typeface="+mn-ea"/>
                <a:cs typeface="Arial" pitchFamily="34" charset="0"/>
              </a:rPr>
              <a:t>Defect </a:t>
            </a:r>
            <a:r>
              <a:rPr lang="ko-KR" altLang="en-US" sz="1400" b="1" kern="0" spc="-80" dirty="0">
                <a:solidFill>
                  <a:prstClr val="white"/>
                </a:solidFill>
                <a:latin typeface="+mn-ea"/>
                <a:cs typeface="Arial" pitchFamily="34" charset="0"/>
              </a:rPr>
              <a:t>및 </a:t>
            </a:r>
            <a:r>
              <a:rPr lang="en-US" altLang="ko-KR" sz="1400" b="1" kern="0" spc="-80" dirty="0">
                <a:solidFill>
                  <a:prstClr val="white"/>
                </a:solidFill>
                <a:latin typeface="+mn-ea"/>
                <a:cs typeface="Arial" pitchFamily="34" charset="0"/>
              </a:rPr>
              <a:t>E-Test </a:t>
            </a:r>
            <a:r>
              <a:rPr lang="ko-KR" altLang="en-US" sz="1400" b="1" kern="0" spc="-80" dirty="0">
                <a:solidFill>
                  <a:prstClr val="white"/>
                </a:solidFill>
                <a:latin typeface="+mn-ea"/>
                <a:cs typeface="Arial" pitchFamily="34" charset="0"/>
              </a:rPr>
              <a:t>데이터 분석 프로세스 정립</a:t>
            </a:r>
          </a:p>
        </p:txBody>
      </p:sp>
      <p:sp>
        <p:nvSpPr>
          <p:cNvPr id="562" name="Rectangle 16">
            <a:extLst>
              <a:ext uri="{FF2B5EF4-FFF2-40B4-BE49-F238E27FC236}">
                <a16:creationId xmlns:a16="http://schemas.microsoft.com/office/drawing/2014/main" id="{1DB9571F-0CBA-0795-6010-9DA5750D67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587384" y="5384890"/>
            <a:ext cx="6174450" cy="768647"/>
          </a:xfrm>
          <a:prstGeom prst="rect">
            <a:avLst/>
          </a:prstGeom>
          <a:ln>
            <a:headEnd/>
            <a:tailEnd/>
          </a:ln>
          <a:effectLst/>
        </p:spPr>
        <p:style>
          <a:lnRef idx="1">
            <a:schemeClr val="accen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latinLnBrk="0">
              <a:buFont typeface="Wingdings" pitchFamily="2" charset="2"/>
              <a:buChar char="ü"/>
            </a:pPr>
            <a:r>
              <a:rPr lang="ko-KR" altLang="en-US" sz="1200" dirty="0">
                <a:solidFill>
                  <a:srgbClr val="000000"/>
                </a:solidFill>
                <a:latin typeface="+mn-ea"/>
              </a:rPr>
              <a:t> 표준화된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</a:rPr>
              <a:t>Defect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</a:rPr>
              <a:t>및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</a:rPr>
              <a:t>E-Test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</a:rPr>
              <a:t>데이터 분석</a:t>
            </a:r>
            <a:r>
              <a:rPr lang="en-US" altLang="ko-KR" sz="120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시스템 구축</a:t>
            </a:r>
            <a:endParaRPr lang="en-US" altLang="ko-KR" sz="1200" dirty="0">
              <a:solidFill>
                <a:schemeClr val="tx1"/>
              </a:solidFill>
              <a:latin typeface="+mn-ea"/>
              <a:sym typeface="Symbol"/>
            </a:endParaRPr>
          </a:p>
          <a:p>
            <a:pPr latinLnBrk="0">
              <a:buFont typeface="Wingdings" pitchFamily="2" charset="2"/>
              <a:buChar char="ü"/>
            </a:pPr>
            <a:r>
              <a:rPr lang="en-US" altLang="ko-KR" sz="1200" dirty="0">
                <a:solidFill>
                  <a:srgbClr val="000000"/>
                </a:solidFill>
                <a:latin typeface="+mn-ea"/>
                <a:sym typeface="Symbol"/>
              </a:rPr>
              <a:t>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sym typeface="Symbol"/>
              </a:rPr>
              <a:t>데이터 연계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sym typeface="Symbol"/>
              </a:rPr>
              <a:t> 분석 절차의 간소화로 조기에 프로세스 안정화</a:t>
            </a:r>
            <a:endParaRPr lang="en-US" altLang="ko-KR" sz="1200" dirty="0">
              <a:solidFill>
                <a:schemeClr val="tx1"/>
              </a:solidFill>
              <a:latin typeface="+mn-ea"/>
              <a:sym typeface="Symbol"/>
            </a:endParaRPr>
          </a:p>
          <a:p>
            <a:pPr latinLnBrk="0">
              <a:buFont typeface="Wingdings" pitchFamily="2" charset="2"/>
              <a:buChar char="ü"/>
            </a:pPr>
            <a:r>
              <a:rPr lang="en-US" altLang="ko-KR" sz="1200" dirty="0">
                <a:solidFill>
                  <a:srgbClr val="000000"/>
                </a:solidFill>
                <a:latin typeface="+mn-ea"/>
                <a:sym typeface="Symbol"/>
              </a:rPr>
              <a:t> Defect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sym typeface="Symbol"/>
              </a:rPr>
              <a:t>및 </a:t>
            </a:r>
            <a:r>
              <a:rPr lang="en-US" altLang="ko-KR" sz="1200" dirty="0">
                <a:solidFill>
                  <a:srgbClr val="000000"/>
                </a:solidFill>
                <a:latin typeface="+mn-ea"/>
                <a:sym typeface="Symbol"/>
              </a:rPr>
              <a:t>E-Test </a:t>
            </a:r>
            <a:r>
              <a:rPr lang="ko-KR" altLang="en-US" sz="1200" dirty="0">
                <a:solidFill>
                  <a:srgbClr val="000000"/>
                </a:solidFill>
                <a:latin typeface="+mn-ea"/>
                <a:sym typeface="Symbol"/>
              </a:rPr>
              <a:t>데이터 수집 및 판정 </a:t>
            </a:r>
            <a:r>
              <a:rPr lang="ko-KR" altLang="en-US" sz="1200" dirty="0">
                <a:solidFill>
                  <a:schemeClr val="tx1"/>
                </a:solidFill>
                <a:latin typeface="+mn-ea"/>
                <a:sym typeface="Symbol"/>
              </a:rPr>
              <a:t>등의 업무 자동화</a:t>
            </a:r>
            <a:endParaRPr lang="en-US" altLang="ko-KR" sz="1200" dirty="0">
              <a:solidFill>
                <a:schemeClr val="tx1"/>
              </a:solidFill>
              <a:latin typeface="+mn-ea"/>
              <a:sym typeface="Symbol"/>
            </a:endParaRPr>
          </a:p>
        </p:txBody>
      </p:sp>
      <p:pic>
        <p:nvPicPr>
          <p:cNvPr id="567" name="Picture 105" descr="화살표">
            <a:extLst>
              <a:ext uri="{FF2B5EF4-FFF2-40B4-BE49-F238E27FC236}">
                <a16:creationId xmlns:a16="http://schemas.microsoft.com/office/drawing/2014/main" id="{5E45E872-379A-111D-8A63-5CB884F393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3448707" y="1752682"/>
            <a:ext cx="377468" cy="3215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6" name="Text Box 10">
            <a:extLst>
              <a:ext uri="{FF2B5EF4-FFF2-40B4-BE49-F238E27FC236}">
                <a16:creationId xmlns:a16="http://schemas.microsoft.com/office/drawing/2014/main" id="{A5D3D7CB-E15C-F63D-CE14-7E44CF0ED16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34994" y="3567854"/>
            <a:ext cx="4213355" cy="514126"/>
          </a:xfrm>
          <a:prstGeom prst="rect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wrap="none" lIns="0" tIns="36000" rIns="0" bIns="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r>
              <a:rPr lang="en-US" altLang="ko-KR" sz="1600" dirty="0">
                <a:latin typeface="+mn-ea"/>
              </a:rPr>
              <a:t>Defect</a:t>
            </a:r>
            <a:r>
              <a:rPr lang="ko-KR" altLang="en-US" sz="1600" dirty="0">
                <a:latin typeface="+mn-ea"/>
              </a:rPr>
              <a:t> 데이터와 </a:t>
            </a:r>
            <a:r>
              <a:rPr lang="en-US" altLang="ko-KR" sz="1600" dirty="0">
                <a:latin typeface="+mn-ea"/>
              </a:rPr>
              <a:t>E-Test </a:t>
            </a:r>
            <a:r>
              <a:rPr lang="ko-KR" altLang="en-US" sz="1600" dirty="0">
                <a:latin typeface="+mn-ea"/>
              </a:rPr>
              <a:t>결과 데이터</a:t>
            </a:r>
            <a:endParaRPr lang="en-US" altLang="ko-KR" sz="1600" dirty="0">
              <a:latin typeface="+mn-ea"/>
            </a:endParaRPr>
          </a:p>
          <a:p>
            <a:r>
              <a:rPr lang="ko-KR" altLang="en-US" sz="1600" dirty="0">
                <a:latin typeface="+mn-ea"/>
              </a:rPr>
              <a:t>상관관계 자동 분석</a:t>
            </a:r>
            <a:endParaRPr lang="ko-KR" altLang="en-US" sz="1100" dirty="0">
              <a:latin typeface="+mn-ea"/>
            </a:endParaRPr>
          </a:p>
        </p:txBody>
      </p:sp>
      <p:sp>
        <p:nvSpPr>
          <p:cNvPr id="568" name="오른쪽 화살표 342">
            <a:extLst>
              <a:ext uri="{FF2B5EF4-FFF2-40B4-BE49-F238E27FC236}">
                <a16:creationId xmlns:a16="http://schemas.microsoft.com/office/drawing/2014/main" id="{7F8F5A60-3561-9430-0AAB-301FB13CF3F7}"/>
              </a:ext>
            </a:extLst>
          </p:cNvPr>
          <p:cNvSpPr/>
          <p:nvPr/>
        </p:nvSpPr>
        <p:spPr>
          <a:xfrm>
            <a:off x="7236479" y="3107600"/>
            <a:ext cx="4161299" cy="425470"/>
          </a:xfrm>
          <a:prstGeom prst="rightArrow">
            <a:avLst>
              <a:gd name="adj1" fmla="val 58083"/>
              <a:gd name="adj2" fmla="val 47213"/>
            </a:avLst>
          </a:prstGeom>
          <a:solidFill>
            <a:schemeClr val="tx1">
              <a:lumMod val="50000"/>
              <a:lumOff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lIns="63307" tIns="31653" rIns="63307" bIns="31653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0" cap="none" spc="-21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735" name="직사각형 734">
            <a:extLst>
              <a:ext uri="{FF2B5EF4-FFF2-40B4-BE49-F238E27FC236}">
                <a16:creationId xmlns:a16="http://schemas.microsoft.com/office/drawing/2014/main" id="{D680D529-2ABA-4A10-5AA9-AADF8E8DCD59}"/>
              </a:ext>
            </a:extLst>
          </p:cNvPr>
          <p:cNvSpPr/>
          <p:nvPr/>
        </p:nvSpPr>
        <p:spPr>
          <a:xfrm>
            <a:off x="7250295" y="3845957"/>
            <a:ext cx="3544206" cy="814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AOI Defect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데이터 파일 자동 수집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전기적 검사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(E-Test)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데이터 파일 자동 수집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전기적 검사가 불량인 데이터의 발생 위치 정보 확인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위치 정보가 겹치는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데이터 검색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741" name="그림 740">
            <a:extLst>
              <a:ext uri="{FF2B5EF4-FFF2-40B4-BE49-F238E27FC236}">
                <a16:creationId xmlns:a16="http://schemas.microsoft.com/office/drawing/2014/main" id="{CF4E2D45-DB19-32DA-E270-C328244AA2D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3365" y="5850856"/>
            <a:ext cx="1311836" cy="272403"/>
          </a:xfrm>
          <a:prstGeom prst="rect">
            <a:avLst/>
          </a:prstGeom>
        </p:spPr>
      </p:pic>
      <p:sp>
        <p:nvSpPr>
          <p:cNvPr id="748" name="TextBox 747">
            <a:extLst>
              <a:ext uri="{FF2B5EF4-FFF2-40B4-BE49-F238E27FC236}">
                <a16:creationId xmlns:a16="http://schemas.microsoft.com/office/drawing/2014/main" id="{15E6B769-09B0-9F7C-6B29-D2D61C1D6D22}"/>
              </a:ext>
            </a:extLst>
          </p:cNvPr>
          <p:cNvSpPr txBox="1"/>
          <p:nvPr/>
        </p:nvSpPr>
        <p:spPr>
          <a:xfrm>
            <a:off x="1544542" y="4182419"/>
            <a:ext cx="43942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00FF"/>
                </a:solidFill>
              </a:rPr>
              <a:t>“</a:t>
            </a:r>
            <a:r>
              <a:rPr lang="ko-KR" altLang="en-US" sz="1400" b="1" dirty="0" err="1">
                <a:solidFill>
                  <a:srgbClr val="0000FF"/>
                </a:solidFill>
              </a:rPr>
              <a:t>AOI에서</a:t>
            </a:r>
            <a:r>
              <a:rPr lang="ko-KR" altLang="en-US" sz="1400" b="1" dirty="0">
                <a:solidFill>
                  <a:srgbClr val="0000FF"/>
                </a:solidFill>
              </a:rPr>
              <a:t> 검출된 결함(</a:t>
            </a:r>
            <a:r>
              <a:rPr lang="ko-KR" altLang="en-US" sz="1400" b="1" dirty="0" err="1">
                <a:solidFill>
                  <a:srgbClr val="0000FF"/>
                </a:solidFill>
              </a:rPr>
              <a:t>Defect</a:t>
            </a:r>
            <a:r>
              <a:rPr lang="ko-KR" altLang="en-US" sz="1400" b="1" dirty="0">
                <a:solidFill>
                  <a:srgbClr val="0000FF"/>
                </a:solidFill>
              </a:rPr>
              <a:t>) 좌표와 </a:t>
            </a:r>
            <a:r>
              <a:rPr lang="ko-KR" altLang="en-US" sz="1400" b="1" dirty="0" err="1">
                <a:solidFill>
                  <a:srgbClr val="0000FF"/>
                </a:solidFill>
              </a:rPr>
              <a:t>E-Test</a:t>
            </a:r>
            <a:r>
              <a:rPr lang="ko-KR" altLang="en-US" sz="1400" b="1" dirty="0">
                <a:solidFill>
                  <a:srgbClr val="0000FF"/>
                </a:solidFill>
              </a:rPr>
              <a:t> 불량 간의 상관관계를 자동으로 분석 및 매핑</a:t>
            </a:r>
            <a:r>
              <a:rPr lang="en-US" altLang="ko-KR" sz="1400" b="1" dirty="0">
                <a:solidFill>
                  <a:srgbClr val="0000FF"/>
                </a:solidFill>
              </a:rPr>
              <a:t>”</a:t>
            </a:r>
            <a:endParaRPr lang="ko-KR" altLang="en-US" sz="1400" b="1" dirty="0">
              <a:solidFill>
                <a:srgbClr val="0000FF"/>
              </a:solidFill>
            </a:endParaRPr>
          </a:p>
        </p:txBody>
      </p:sp>
      <p:sp>
        <p:nvSpPr>
          <p:cNvPr id="749" name="타원 748">
            <a:extLst>
              <a:ext uri="{FF2B5EF4-FFF2-40B4-BE49-F238E27FC236}">
                <a16:creationId xmlns:a16="http://schemas.microsoft.com/office/drawing/2014/main" id="{07309F1A-3160-D26E-95CF-9D8CDB158132}"/>
              </a:ext>
            </a:extLst>
          </p:cNvPr>
          <p:cNvSpPr/>
          <p:nvPr/>
        </p:nvSpPr>
        <p:spPr>
          <a:xfrm>
            <a:off x="7323232" y="3060595"/>
            <a:ext cx="532517" cy="487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dirty="0"/>
              <a:t>공정</a:t>
            </a:r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750" name="사각형: 둥근 모서리 749">
            <a:extLst>
              <a:ext uri="{FF2B5EF4-FFF2-40B4-BE49-F238E27FC236}">
                <a16:creationId xmlns:a16="http://schemas.microsoft.com/office/drawing/2014/main" id="{3F9CA10B-1792-613C-DEEB-0E8529AC67C2}"/>
              </a:ext>
            </a:extLst>
          </p:cNvPr>
          <p:cNvSpPr/>
          <p:nvPr/>
        </p:nvSpPr>
        <p:spPr>
          <a:xfrm>
            <a:off x="8318191" y="3122496"/>
            <a:ext cx="323850" cy="34578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E-TEST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1" name="이등변 삼각형 750">
            <a:extLst>
              <a:ext uri="{FF2B5EF4-FFF2-40B4-BE49-F238E27FC236}">
                <a16:creationId xmlns:a16="http://schemas.microsoft.com/office/drawing/2014/main" id="{4465361F-3293-2180-60C3-97A8980B1E4A}"/>
              </a:ext>
            </a:extLst>
          </p:cNvPr>
          <p:cNvSpPr/>
          <p:nvPr/>
        </p:nvSpPr>
        <p:spPr>
          <a:xfrm>
            <a:off x="7864650" y="3107829"/>
            <a:ext cx="401112" cy="345786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AOI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52" name="타원 751">
            <a:extLst>
              <a:ext uri="{FF2B5EF4-FFF2-40B4-BE49-F238E27FC236}">
                <a16:creationId xmlns:a16="http://schemas.microsoft.com/office/drawing/2014/main" id="{A42FF5C5-0BB8-9B33-57EB-2DE62C745EC4}"/>
              </a:ext>
            </a:extLst>
          </p:cNvPr>
          <p:cNvSpPr/>
          <p:nvPr/>
        </p:nvSpPr>
        <p:spPr>
          <a:xfrm>
            <a:off x="8706662" y="3060595"/>
            <a:ext cx="532517" cy="487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dirty="0"/>
              <a:t>공정</a:t>
            </a:r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753" name="사각형: 둥근 모서리 752">
            <a:extLst>
              <a:ext uri="{FF2B5EF4-FFF2-40B4-BE49-F238E27FC236}">
                <a16:creationId xmlns:a16="http://schemas.microsoft.com/office/drawing/2014/main" id="{C5F2A757-4310-A754-6FFE-758496191093}"/>
              </a:ext>
            </a:extLst>
          </p:cNvPr>
          <p:cNvSpPr/>
          <p:nvPr/>
        </p:nvSpPr>
        <p:spPr>
          <a:xfrm>
            <a:off x="9701621" y="3122496"/>
            <a:ext cx="323850" cy="345786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E-TEST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54" name="이등변 삼각형 753">
            <a:extLst>
              <a:ext uri="{FF2B5EF4-FFF2-40B4-BE49-F238E27FC236}">
                <a16:creationId xmlns:a16="http://schemas.microsoft.com/office/drawing/2014/main" id="{F41B6E26-AB6C-5921-F8E6-9C4231EAE61B}"/>
              </a:ext>
            </a:extLst>
          </p:cNvPr>
          <p:cNvSpPr/>
          <p:nvPr/>
        </p:nvSpPr>
        <p:spPr>
          <a:xfrm>
            <a:off x="9248080" y="3107829"/>
            <a:ext cx="401112" cy="345786"/>
          </a:xfrm>
          <a:prstGeom prst="triangle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</a:rPr>
              <a:t>AOI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55" name="타원 754">
            <a:extLst>
              <a:ext uri="{FF2B5EF4-FFF2-40B4-BE49-F238E27FC236}">
                <a16:creationId xmlns:a16="http://schemas.microsoft.com/office/drawing/2014/main" id="{02F0D51A-937A-22A1-44A1-0D2654E351EF}"/>
              </a:ext>
            </a:extLst>
          </p:cNvPr>
          <p:cNvSpPr/>
          <p:nvPr/>
        </p:nvSpPr>
        <p:spPr>
          <a:xfrm>
            <a:off x="10092894" y="3060595"/>
            <a:ext cx="532517" cy="48701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ko-KR" altLang="en-US" sz="1400" dirty="0"/>
              <a:t>공정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756" name="타원 755">
            <a:extLst>
              <a:ext uri="{FF2B5EF4-FFF2-40B4-BE49-F238E27FC236}">
                <a16:creationId xmlns:a16="http://schemas.microsoft.com/office/drawing/2014/main" id="{0FAA002C-B420-7694-3B88-0B6943A98B2C}"/>
              </a:ext>
            </a:extLst>
          </p:cNvPr>
          <p:cNvSpPr/>
          <p:nvPr/>
        </p:nvSpPr>
        <p:spPr>
          <a:xfrm>
            <a:off x="10665176" y="3258546"/>
            <a:ext cx="110507" cy="101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57" name="타원 756">
            <a:extLst>
              <a:ext uri="{FF2B5EF4-FFF2-40B4-BE49-F238E27FC236}">
                <a16:creationId xmlns:a16="http://schemas.microsoft.com/office/drawing/2014/main" id="{1321ABF8-1F6F-30CF-B377-F851C6F9EF5C}"/>
              </a:ext>
            </a:extLst>
          </p:cNvPr>
          <p:cNvSpPr/>
          <p:nvPr/>
        </p:nvSpPr>
        <p:spPr>
          <a:xfrm>
            <a:off x="10794501" y="3258546"/>
            <a:ext cx="110507" cy="101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758" name="타원 757">
            <a:extLst>
              <a:ext uri="{FF2B5EF4-FFF2-40B4-BE49-F238E27FC236}">
                <a16:creationId xmlns:a16="http://schemas.microsoft.com/office/drawing/2014/main" id="{C05B13E1-1585-A528-E581-64FF4A6B13EF}"/>
              </a:ext>
            </a:extLst>
          </p:cNvPr>
          <p:cNvSpPr/>
          <p:nvPr/>
        </p:nvSpPr>
        <p:spPr>
          <a:xfrm>
            <a:off x="10924315" y="3258546"/>
            <a:ext cx="110507" cy="1010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 sz="1400" dirty="0"/>
          </a:p>
        </p:txBody>
      </p:sp>
      <p:pic>
        <p:nvPicPr>
          <p:cNvPr id="760" name="그림 759">
            <a:extLst>
              <a:ext uri="{FF2B5EF4-FFF2-40B4-BE49-F238E27FC236}">
                <a16:creationId xmlns:a16="http://schemas.microsoft.com/office/drawing/2014/main" id="{94D74094-F750-E08F-CDF9-16C8B573CA6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25000"/>
          </a:blip>
          <a:stretch>
            <a:fillRect/>
          </a:stretch>
        </p:blipFill>
        <p:spPr>
          <a:xfrm>
            <a:off x="10727882" y="2622136"/>
            <a:ext cx="782598" cy="370972"/>
          </a:xfrm>
          <a:prstGeom prst="rect">
            <a:avLst/>
          </a:prstGeom>
        </p:spPr>
      </p:pic>
      <p:sp>
        <p:nvSpPr>
          <p:cNvPr id="761" name="직사각형 760">
            <a:extLst>
              <a:ext uri="{FF2B5EF4-FFF2-40B4-BE49-F238E27FC236}">
                <a16:creationId xmlns:a16="http://schemas.microsoft.com/office/drawing/2014/main" id="{C06A93B1-B0E5-0680-8288-7A077C693304}"/>
              </a:ext>
            </a:extLst>
          </p:cNvPr>
          <p:cNvSpPr/>
          <p:nvPr/>
        </p:nvSpPr>
        <p:spPr>
          <a:xfrm>
            <a:off x="7323232" y="4973785"/>
            <a:ext cx="2128196" cy="999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Die Level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Correlation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 → E-Test </a:t>
            </a:r>
            <a:r>
              <a:rPr lang="ko-KR" altLang="en-US" sz="1000" b="1" kern="0" dirty="0" err="1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전이율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AOI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Repeated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설비 이상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Monitoring</a:t>
            </a:r>
          </a:p>
        </p:txBody>
      </p:sp>
      <p:sp>
        <p:nvSpPr>
          <p:cNvPr id="765" name="TextBox 764">
            <a:extLst>
              <a:ext uri="{FF2B5EF4-FFF2-40B4-BE49-F238E27FC236}">
                <a16:creationId xmlns:a16="http://schemas.microsoft.com/office/drawing/2014/main" id="{0B478C05-46B7-6699-4766-F0C0C826B216}"/>
              </a:ext>
            </a:extLst>
          </p:cNvPr>
          <p:cNvSpPr txBox="1"/>
          <p:nvPr/>
        </p:nvSpPr>
        <p:spPr>
          <a:xfrm>
            <a:off x="7201289" y="3605968"/>
            <a:ext cx="1942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kern="0" dirty="0">
                <a:solidFill>
                  <a:prstClr val="black"/>
                </a:solidFill>
                <a:latin typeface="+mn-ea"/>
                <a:cs typeface="Segoe UI" panose="020B0502040204020203" pitchFamily="34" charset="0"/>
              </a:rPr>
              <a:t>데이터 처리 절차</a:t>
            </a:r>
            <a:endParaRPr lang="ko-KR" altLang="en-US" sz="1200" b="1" dirty="0"/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94263706-7B61-1891-38EF-8C9E08B3C691}"/>
              </a:ext>
            </a:extLst>
          </p:cNvPr>
          <p:cNvSpPr txBox="1"/>
          <p:nvPr/>
        </p:nvSpPr>
        <p:spPr>
          <a:xfrm>
            <a:off x="7201289" y="4738997"/>
            <a:ext cx="19423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kern="0" dirty="0">
                <a:solidFill>
                  <a:prstClr val="black"/>
                </a:solidFill>
                <a:latin typeface="+mn-ea"/>
                <a:cs typeface="Segoe UI" panose="020B0502040204020203" pitchFamily="34" charset="0"/>
              </a:rPr>
              <a:t>분석 가능한 기능</a:t>
            </a:r>
            <a:endParaRPr lang="ko-KR" altLang="en-US" sz="1200" b="1" dirty="0"/>
          </a:p>
        </p:txBody>
      </p:sp>
      <p:sp>
        <p:nvSpPr>
          <p:cNvPr id="767" name="직사각형 766">
            <a:extLst>
              <a:ext uri="{FF2B5EF4-FFF2-40B4-BE49-F238E27FC236}">
                <a16:creationId xmlns:a16="http://schemas.microsoft.com/office/drawing/2014/main" id="{40B320D7-EF83-6522-360A-FD08DFE04A2F}"/>
              </a:ext>
            </a:extLst>
          </p:cNvPr>
          <p:cNvSpPr/>
          <p:nvPr/>
        </p:nvSpPr>
        <p:spPr>
          <a:xfrm>
            <a:off x="9417374" y="4973785"/>
            <a:ext cx="2193128" cy="815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Test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데이터 누적 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누적 </a:t>
            </a: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 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Defect Kill Ratio</a:t>
            </a: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 분석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  <a:p>
            <a:pPr marL="143173" indent="-143173">
              <a:lnSpc>
                <a:spcPct val="12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000" b="1" kern="0" dirty="0">
                <a:solidFill>
                  <a:prstClr val="white"/>
                </a:solidFill>
                <a:latin typeface="+mn-ea"/>
                <a:cs typeface="Times New Roman" panose="02020603050405020304" pitchFamily="18" charset="0"/>
              </a:rPr>
              <a:t>공정 별 기여도</a:t>
            </a:r>
            <a:endParaRPr lang="en-US" altLang="ko-KR" sz="1000" b="1" kern="0" dirty="0">
              <a:solidFill>
                <a:prstClr val="white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7B164DA7-2AFB-7811-4D96-77FBC838556B}"/>
              </a:ext>
            </a:extLst>
          </p:cNvPr>
          <p:cNvSpPr txBox="1"/>
          <p:nvPr/>
        </p:nvSpPr>
        <p:spPr>
          <a:xfrm>
            <a:off x="7603196" y="2599569"/>
            <a:ext cx="278634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50" b="1" dirty="0">
                <a:solidFill>
                  <a:srgbClr val="0000FF"/>
                </a:solidFill>
              </a:rPr>
              <a:t>"</a:t>
            </a:r>
            <a:r>
              <a:rPr lang="ko-KR" altLang="en-US" sz="1050" b="1" dirty="0">
                <a:solidFill>
                  <a:srgbClr val="0000FF"/>
                </a:solidFill>
              </a:rPr>
              <a:t>어느 공정에서 어떤 </a:t>
            </a:r>
            <a:r>
              <a:rPr lang="en-US" altLang="ko-KR" sz="1050" b="1" dirty="0">
                <a:solidFill>
                  <a:srgbClr val="0000FF"/>
                </a:solidFill>
              </a:rPr>
              <a:t>Defect</a:t>
            </a:r>
            <a:r>
              <a:rPr lang="ko-KR" altLang="en-US" sz="1050" b="1" dirty="0">
                <a:solidFill>
                  <a:srgbClr val="0000FF"/>
                </a:solidFill>
              </a:rPr>
              <a:t>가 발생했고</a:t>
            </a:r>
            <a:r>
              <a:rPr lang="en-US" altLang="ko-KR" sz="1050" b="1" dirty="0">
                <a:solidFill>
                  <a:srgbClr val="0000FF"/>
                </a:solidFill>
              </a:rPr>
              <a:t>, </a:t>
            </a:r>
            <a:r>
              <a:rPr lang="ko-KR" altLang="en-US" sz="1050" b="1" dirty="0">
                <a:solidFill>
                  <a:srgbClr val="0000FF"/>
                </a:solidFill>
              </a:rPr>
              <a:t>이것이 최종 전기적 불량으로 이어졌는가</a:t>
            </a:r>
            <a:r>
              <a:rPr lang="en-US" altLang="ko-KR" sz="1050" b="1" dirty="0">
                <a:solidFill>
                  <a:srgbClr val="0000FF"/>
                </a:solidFill>
              </a:rPr>
              <a:t>"</a:t>
            </a:r>
            <a:endParaRPr lang="ko-KR" altLang="en-US" sz="105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67694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4B239ED9-CE4B-5DEA-6369-C391BEC1732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범위</a:t>
            </a:r>
          </a:p>
        </p:txBody>
      </p:sp>
      <p:sp>
        <p:nvSpPr>
          <p:cNvPr id="6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685" y="2191515"/>
            <a:ext cx="3517038" cy="339768"/>
          </a:xfrm>
          <a:prstGeom prst="homePlate">
            <a:avLst>
              <a:gd name="adj" fmla="val 0"/>
            </a:avLst>
          </a:prstGeom>
          <a:pattFill prst="wdUpDiag">
            <a:fgClr>
              <a:srgbClr val="0070C0"/>
            </a:fgClr>
            <a:bgClr>
              <a:srgbClr val="0279CA"/>
            </a:bgClr>
          </a:pattFill>
          <a:ln w="9525">
            <a:solidFill>
              <a:srgbClr val="3176C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DMS </a:t>
            </a:r>
            <a:r>
              <a:rPr kumimoji="1" lang="en-US" altLang="ko-KR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(Defect Management System)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3D4C42C-EEC4-6240-3A8C-E8E6B2B03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5787458"/>
              </p:ext>
            </p:extLst>
          </p:nvPr>
        </p:nvGraphicFramePr>
        <p:xfrm>
          <a:off x="608022" y="2737242"/>
          <a:ext cx="3167789" cy="3226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096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380693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8949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Type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Color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Group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Alarm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539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Chart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Stack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Stack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Image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Source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Pattern Search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Alarm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Kill Ratio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Equipment Defect Trend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19696"/>
                  </a:ext>
                </a:extLst>
              </a:tr>
            </a:tbl>
          </a:graphicData>
        </a:graphic>
      </p:graphicFrame>
      <p:sp>
        <p:nvSpPr>
          <p:cNvPr id="8" name="갈매기형 수장 3">
            <a:extLst>
              <a:ext uri="{FF2B5EF4-FFF2-40B4-BE49-F238E27FC236}">
                <a16:creationId xmlns:a16="http://schemas.microsoft.com/office/drawing/2014/main" id="{BB9EBBAC-E09F-E2D6-AF37-7FFEB7FBC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899" y="2191515"/>
            <a:ext cx="3517038" cy="339768"/>
          </a:xfrm>
          <a:prstGeom prst="homePlate">
            <a:avLst>
              <a:gd name="adj" fmla="val 0"/>
            </a:avLst>
          </a:prstGeom>
          <a:pattFill prst="wdUpDiag">
            <a:fgClr>
              <a:srgbClr val="0070C0"/>
            </a:fgClr>
            <a:bgClr>
              <a:srgbClr val="0279CA"/>
            </a:bgClr>
          </a:pattFill>
          <a:ln w="9525">
            <a:solidFill>
              <a:srgbClr val="3176C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YMS </a:t>
            </a:r>
            <a:r>
              <a:rPr kumimoji="1" lang="en-US" altLang="ko-KR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(Yield Management System)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9B05F589-73DD-2657-0FB4-654DA5E7B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42700"/>
              </p:ext>
            </p:extLst>
          </p:nvPr>
        </p:nvGraphicFramePr>
        <p:xfrm>
          <a:off x="4399761" y="2737242"/>
          <a:ext cx="3167789" cy="3219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096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380693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914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Wafer Map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Program Parameter Setup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Parsing Rule Setup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1601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Cumulative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Stack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Fail Pattern Search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1144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Standard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Measure Data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549674"/>
                  </a:ext>
                </a:extLst>
              </a:tr>
            </a:tbl>
          </a:graphicData>
        </a:graphic>
      </p:graphicFrame>
      <p:sp>
        <p:nvSpPr>
          <p:cNvPr id="10" name="갈매기형 수장 3">
            <a:extLst>
              <a:ext uri="{FF2B5EF4-FFF2-40B4-BE49-F238E27FC236}">
                <a16:creationId xmlns:a16="http://schemas.microsoft.com/office/drawing/2014/main" id="{70B0C776-2106-1694-01DE-67026D51B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6113" y="2191515"/>
            <a:ext cx="3517038" cy="339768"/>
          </a:xfrm>
          <a:prstGeom prst="homePlate">
            <a:avLst>
              <a:gd name="adj" fmla="val 0"/>
            </a:avLst>
          </a:prstGeom>
          <a:pattFill prst="wdUpDiag">
            <a:fgClr>
              <a:srgbClr val="0070C0"/>
            </a:fgClr>
            <a:bgClr>
              <a:srgbClr val="0279CA"/>
            </a:bgClr>
          </a:pattFill>
          <a:ln w="9525">
            <a:solidFill>
              <a:srgbClr val="3176C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DMS-YMS Correlation Analysis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CA1852C7-8E36-C8C3-8DD2-B45B953FC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1714045"/>
              </p:ext>
            </p:extLst>
          </p:nvPr>
        </p:nvGraphicFramePr>
        <p:xfrm>
          <a:off x="8172450" y="2737242"/>
          <a:ext cx="3167789" cy="321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096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380693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1172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Layer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CAD Data Mapping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055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Die Level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Map View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Chart Analysis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9912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Kill Ratio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전이율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공정별 기여도 분석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Alarm Report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19696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240E96F-2AC6-B1CA-C034-64D42E4A57CE}"/>
              </a:ext>
            </a:extLst>
          </p:cNvPr>
          <p:cNvSpPr txBox="1"/>
          <p:nvPr/>
        </p:nvSpPr>
        <p:spPr>
          <a:xfrm>
            <a:off x="272999" y="974719"/>
            <a:ext cx="115851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Nexplant QMS® YMS/TEST </a:t>
            </a:r>
            <a:r>
              <a:rPr lang="ko-KR" altLang="en-US" sz="2000" dirty="0"/>
              <a:t>시스템은 사용자 환경 설정과 데이터 분석을 보다 쉽고 효율적으로 수행할 수 있도록 다양한 기능을 제공합니다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5277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6A877E9B-FD15-2849-A7E8-297881EA2F34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중점 추진 항목</a:t>
            </a:r>
          </a:p>
        </p:txBody>
      </p:sp>
      <p:sp>
        <p:nvSpPr>
          <p:cNvPr id="5" name="직사각형 29">
            <a:extLst>
              <a:ext uri="{FF2B5EF4-FFF2-40B4-BE49-F238E27FC236}">
                <a16:creationId xmlns:a16="http://schemas.microsoft.com/office/drawing/2014/main" id="{131CBD34-41D0-3F35-2E93-38C188063464}"/>
              </a:ext>
            </a:extLst>
          </p:cNvPr>
          <p:cNvSpPr/>
          <p:nvPr/>
        </p:nvSpPr>
        <p:spPr bwMode="auto">
          <a:xfrm>
            <a:off x="483123" y="2006052"/>
            <a:ext cx="3428478" cy="52662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1. GDS/CAD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데이터 관리 기능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" name="직사각형 29">
            <a:extLst>
              <a:ext uri="{FF2B5EF4-FFF2-40B4-BE49-F238E27FC236}">
                <a16:creationId xmlns:a16="http://schemas.microsoft.com/office/drawing/2014/main" id="{E1A3553A-1437-2E0C-48FA-C991E263BDD9}"/>
              </a:ext>
            </a:extLst>
          </p:cNvPr>
          <p:cNvSpPr/>
          <p:nvPr/>
        </p:nvSpPr>
        <p:spPr bwMode="auto">
          <a:xfrm>
            <a:off x="483123" y="2590970"/>
            <a:ext cx="3428478" cy="52662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2. Die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레이아웃 관리 기능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" name="직사각형 29">
            <a:extLst>
              <a:ext uri="{FF2B5EF4-FFF2-40B4-BE49-F238E27FC236}">
                <a16:creationId xmlns:a16="http://schemas.microsoft.com/office/drawing/2014/main" id="{CAB52AB0-C28A-E032-E547-CA5F875E0775}"/>
              </a:ext>
            </a:extLst>
          </p:cNvPr>
          <p:cNvSpPr/>
          <p:nvPr/>
        </p:nvSpPr>
        <p:spPr bwMode="auto">
          <a:xfrm>
            <a:off x="483123" y="3175149"/>
            <a:ext cx="3428478" cy="52662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3. Die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단위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Correlation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분석 기능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8" name="직사각형 29">
            <a:extLst>
              <a:ext uri="{FF2B5EF4-FFF2-40B4-BE49-F238E27FC236}">
                <a16:creationId xmlns:a16="http://schemas.microsoft.com/office/drawing/2014/main" id="{CFD20DA5-E0C2-BFBF-79BD-22A85A2B101D}"/>
              </a:ext>
            </a:extLst>
          </p:cNvPr>
          <p:cNvSpPr/>
          <p:nvPr/>
        </p:nvSpPr>
        <p:spPr bwMode="auto">
          <a:xfrm>
            <a:off x="483123" y="3759683"/>
            <a:ext cx="3423832" cy="52662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설비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Monitoring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기능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9" name="직사각형 29">
            <a:extLst>
              <a:ext uri="{FF2B5EF4-FFF2-40B4-BE49-F238E27FC236}">
                <a16:creationId xmlns:a16="http://schemas.microsoft.com/office/drawing/2014/main" id="{4A213CDC-363A-2E6F-9056-F626134FFBFA}"/>
              </a:ext>
            </a:extLst>
          </p:cNvPr>
          <p:cNvSpPr/>
          <p:nvPr/>
        </p:nvSpPr>
        <p:spPr bwMode="auto">
          <a:xfrm>
            <a:off x="483123" y="4353573"/>
            <a:ext cx="3423834" cy="53264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5. Die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의 특정 영역 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Monitoring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기능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" name="Rectangle 18">
            <a:extLst>
              <a:ext uri="{FF2B5EF4-FFF2-40B4-BE49-F238E27FC236}">
                <a16:creationId xmlns:a16="http://schemas.microsoft.com/office/drawing/2014/main" id="{754C2906-EDE6-E8C5-6EBF-F9851A9AB6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2006052"/>
            <a:ext cx="7226300" cy="52662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tIns="9144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내부의 각 영역 별 위치 데이터 등록이 용이하도록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GDS/CAD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자동 로드 및 매핑 기능을 제공</a:t>
            </a: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90C4ADBF-B85C-BA12-B698-397D5EC14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2586620"/>
            <a:ext cx="7226300" cy="531176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tIns="9144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Die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내부에 정의된 각 영역에 대한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Label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정보를 설정하고 관리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5A0A167B-A22A-89B2-F335-D704C085E6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171744"/>
            <a:ext cx="7226300" cy="528987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lIns="54000" tIns="91440" rIns="5400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분석이 용이하도록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단위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Defect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E-Test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불량 중첩 연계 분석</a:t>
            </a:r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36A77895-5E72-7ECD-54C1-D93E9DD184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3754679"/>
            <a:ext cx="7226300" cy="526620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tIns="9144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설비 별 설정된 기준을 초과하는 불량이 발생할 경우</a:t>
            </a:r>
            <a:r>
              <a:rPr lang="en-US" altLang="ko-KR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실시간으로 모니터링하고 사용자에게 이메일 알림을 발송</a:t>
            </a:r>
            <a:endParaRPr lang="en-US" altLang="ko-KR" sz="14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Rectangle 28">
            <a:extLst>
              <a:ext uri="{FF2B5EF4-FFF2-40B4-BE49-F238E27FC236}">
                <a16:creationId xmlns:a16="http://schemas.microsoft.com/office/drawing/2014/main" id="{E1FA8F9C-2C7C-4E9D-FBF4-C2C0114C8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4344217"/>
            <a:ext cx="7226300" cy="539065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lIns="54000" tIns="91440" rIns="5400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Die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특정 영역에 불량이 </a:t>
            </a: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설정된 기준을 초과하는 불량이 발생할 경우</a:t>
            </a:r>
            <a:r>
              <a:rPr lang="en-US" altLang="ko-KR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1400" dirty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이를 실시간으로 모니터링하고 사용자에게 이메일 알림을 발송</a:t>
            </a:r>
            <a:endParaRPr lang="en-US" altLang="ko-KR" sz="14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AF58841-74F8-CA64-3417-34E8977340EA}"/>
              </a:ext>
            </a:extLst>
          </p:cNvPr>
          <p:cNvSpPr txBox="1"/>
          <p:nvPr/>
        </p:nvSpPr>
        <p:spPr>
          <a:xfrm>
            <a:off x="272999" y="974719"/>
            <a:ext cx="115851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Nexplant QMS® YMS/TEST </a:t>
            </a:r>
            <a:r>
              <a:rPr lang="ko-KR" altLang="en-US" sz="2000" dirty="0"/>
              <a:t>시스템은 사용자 환경 설정과 데이터 분석을 보다 쉽고 효율적으로 수행할 수 있도록 다양한 기능을 제공합니다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22" name="직사각형 29">
            <a:extLst>
              <a:ext uri="{FF2B5EF4-FFF2-40B4-BE49-F238E27FC236}">
                <a16:creationId xmlns:a16="http://schemas.microsoft.com/office/drawing/2014/main" id="{B4D9A992-0244-B820-4E9E-A73BB716FA1B}"/>
              </a:ext>
            </a:extLst>
          </p:cNvPr>
          <p:cNvSpPr/>
          <p:nvPr/>
        </p:nvSpPr>
        <p:spPr bwMode="auto">
          <a:xfrm>
            <a:off x="483122" y="4952438"/>
            <a:ext cx="3436925" cy="53264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6. DMS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 기능 고도화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Rectangle 28">
            <a:extLst>
              <a:ext uri="{FF2B5EF4-FFF2-40B4-BE49-F238E27FC236}">
                <a16:creationId xmlns:a16="http://schemas.microsoft.com/office/drawing/2014/main" id="{CE5CD88C-ED57-C66C-C0D2-DF6DA7EFB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4946200"/>
            <a:ext cx="7226300" cy="539065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lIns="54000" tIns="91440" rIns="5400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DMS(Defect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Management System)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기본 기능인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Defect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 기능을 엔지니어의 데이터 분석 방법에 맞게 고도화</a:t>
            </a:r>
          </a:p>
        </p:txBody>
      </p:sp>
      <p:sp>
        <p:nvSpPr>
          <p:cNvPr id="24" name="직사각형 29">
            <a:extLst>
              <a:ext uri="{FF2B5EF4-FFF2-40B4-BE49-F238E27FC236}">
                <a16:creationId xmlns:a16="http://schemas.microsoft.com/office/drawing/2014/main" id="{547AEDA0-22E6-AA28-EA20-7C3C8B24864F}"/>
              </a:ext>
            </a:extLst>
          </p:cNvPr>
          <p:cNvSpPr/>
          <p:nvPr/>
        </p:nvSpPr>
        <p:spPr bwMode="auto">
          <a:xfrm>
            <a:off x="483122" y="5550457"/>
            <a:ext cx="3436925" cy="532640"/>
          </a:xfrm>
          <a:prstGeom prst="rect">
            <a:avLst/>
          </a:prstGeom>
          <a:solidFill>
            <a:srgbClr val="00B0F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7. YMS 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기능 고도화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5" name="Rectangle 28">
            <a:extLst>
              <a:ext uri="{FF2B5EF4-FFF2-40B4-BE49-F238E27FC236}">
                <a16:creationId xmlns:a16="http://schemas.microsoft.com/office/drawing/2014/main" id="{A0A70FA9-638E-4936-5676-FFA9DD29B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3200" y="5544219"/>
            <a:ext cx="7226300" cy="539065"/>
          </a:xfrm>
          <a:prstGeom prst="rect">
            <a:avLst/>
          </a:prstGeom>
          <a:solidFill>
            <a:srgbClr val="FFFFFF"/>
          </a:solidFill>
          <a:ln w="9525">
            <a:solidFill>
              <a:srgbClr val="808080"/>
            </a:solidFill>
            <a:prstDash val="sysDot"/>
            <a:miter lim="800000"/>
            <a:headEnd/>
            <a:tailEnd/>
          </a:ln>
          <a:effectLst/>
        </p:spPr>
        <p:txBody>
          <a:bodyPr lIns="54000" tIns="91440" rIns="54000" bIns="91440" anchor="ctr"/>
          <a:lstStyle/>
          <a:p>
            <a:pPr marL="93663" indent="-93663">
              <a:spcBef>
                <a:spcPct val="50000"/>
              </a:spcBef>
              <a:buFontTx/>
              <a:buChar char="•"/>
              <a:defRPr/>
            </a:pP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YMS(Yield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Management System)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기본 기능인 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Bin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분석</a:t>
            </a:r>
            <a:r>
              <a:rPr lang="en-US" altLang="ko-KR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Test </a:t>
            </a:r>
            <a:r>
              <a:rPr lang="ko-KR" altLang="en-US" sz="14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데이터 분석 기능을 엔지니어의 데이터 분석 방법에 맞게 고도화</a:t>
            </a:r>
          </a:p>
        </p:txBody>
      </p:sp>
    </p:spTree>
    <p:extLst>
      <p:ext uri="{BB962C8B-B14F-4D97-AF65-F5344CB8AC3E}">
        <p14:creationId xmlns:p14="http://schemas.microsoft.com/office/powerpoint/2010/main" val="7266911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85ABF565-131D-E06E-4426-0BE64DEA7FC4}"/>
              </a:ext>
            </a:extLst>
          </p:cNvPr>
          <p:cNvSpPr txBox="1">
            <a:spLocks/>
          </p:cNvSpPr>
          <p:nvPr/>
        </p:nvSpPr>
        <p:spPr>
          <a:xfrm>
            <a:off x="1410807" y="381148"/>
            <a:ext cx="4607143" cy="130034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914400" lvl="1" indent="-457200">
              <a:buFont typeface="+mj-lt"/>
              <a:buAutoNum type="arabicPeriod"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2pPr>
          </a:lstStyle>
          <a:p>
            <a:pPr marL="0" marR="0" lvl="0" indent="0" defTabSz="91440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Agenda</a:t>
            </a: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제목 5">
            <a:extLst>
              <a:ext uri="{FF2B5EF4-FFF2-40B4-BE49-F238E27FC236}">
                <a16:creationId xmlns:a16="http://schemas.microsoft.com/office/drawing/2014/main" id="{7419B261-E701-B58C-43F9-072C5CDEB1BA}"/>
              </a:ext>
            </a:extLst>
          </p:cNvPr>
          <p:cNvSpPr txBox="1">
            <a:spLocks/>
          </p:cNvSpPr>
          <p:nvPr/>
        </p:nvSpPr>
        <p:spPr>
          <a:xfrm>
            <a:off x="985077" y="889635"/>
            <a:ext cx="5255950" cy="5839745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개요 및 시스템 구축 전략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 및 목표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범위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중점 추진 항목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방안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GDS/CAD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관리 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관리 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Correlation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Die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특정 영역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(Phase 2)</a:t>
            </a:r>
          </a:p>
          <a:p>
            <a:pPr marL="457200" lvl="1" defTabSz="914400" latinLnBrk="1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DMS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YMS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0546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B372EE3-DA93-63F9-7431-A09A2AF2AD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73480" y="2289606"/>
            <a:ext cx="7778054" cy="394865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4C1058-9DA0-FCD9-F86C-9C9B6279508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91678" y="3460376"/>
            <a:ext cx="2217896" cy="249116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4B5B1F9E-FFAD-2B6D-C90B-4B55F4E4DCAC}"/>
              </a:ext>
            </a:extLst>
          </p:cNvPr>
          <p:cNvSpPr/>
          <p:nvPr/>
        </p:nvSpPr>
        <p:spPr>
          <a:xfrm>
            <a:off x="1774114" y="5128594"/>
            <a:ext cx="138896" cy="24726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3F99F15-0CA6-431B-2F3A-10454F216D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672" y="3618522"/>
            <a:ext cx="2083429" cy="143421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6" name="화살표: 굽음 15">
            <a:extLst>
              <a:ext uri="{FF2B5EF4-FFF2-40B4-BE49-F238E27FC236}">
                <a16:creationId xmlns:a16="http://schemas.microsoft.com/office/drawing/2014/main" id="{91C50D8A-A07C-096E-C1DE-C9978AF4B8F5}"/>
              </a:ext>
            </a:extLst>
          </p:cNvPr>
          <p:cNvSpPr/>
          <p:nvPr/>
        </p:nvSpPr>
        <p:spPr>
          <a:xfrm rot="5400000">
            <a:off x="9017216" y="2855766"/>
            <a:ext cx="539005" cy="818837"/>
          </a:xfrm>
          <a:prstGeom prst="bentArrow">
            <a:avLst>
              <a:gd name="adj1" fmla="val 10862"/>
              <a:gd name="adj2" fmla="val 25000"/>
              <a:gd name="adj3" fmla="val 33836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2DDDA8-57C8-7D87-A027-299F92D3F3EA}"/>
              </a:ext>
            </a:extLst>
          </p:cNvPr>
          <p:cNvSpPr txBox="1"/>
          <p:nvPr/>
        </p:nvSpPr>
        <p:spPr>
          <a:xfrm>
            <a:off x="272999" y="974719"/>
            <a:ext cx="1158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GDS/CAD </a:t>
            </a:r>
            <a:r>
              <a:rPr lang="ko-KR" altLang="en-US" sz="2000" dirty="0"/>
              <a:t>데이터 파일을 읽어 제품별 </a:t>
            </a:r>
            <a:r>
              <a:rPr lang="en-US" altLang="ko-KR" sz="2000" dirty="0"/>
              <a:t>Die </a:t>
            </a:r>
            <a:r>
              <a:rPr lang="ko-KR" altLang="en-US" sz="2000" dirty="0"/>
              <a:t>레이아웃을 확인하고 효율적으로 관리할 수 있습니다</a:t>
            </a:r>
            <a:r>
              <a:rPr lang="en-US" altLang="ko-KR" sz="2000" dirty="0"/>
              <a:t>. </a:t>
            </a:r>
          </a:p>
          <a:p>
            <a:r>
              <a:rPr lang="ko-KR" altLang="en-US" sz="2000" dirty="0"/>
              <a:t>또한</a:t>
            </a:r>
            <a:r>
              <a:rPr lang="en-US" altLang="ko-KR" sz="2000" dirty="0"/>
              <a:t>, </a:t>
            </a:r>
            <a:r>
              <a:rPr lang="ko-KR" altLang="en-US" sz="2000" dirty="0"/>
              <a:t>해당 데이터는 </a:t>
            </a:r>
            <a:r>
              <a:rPr lang="en-US" altLang="ko-KR" sz="2000" dirty="0"/>
              <a:t>Structure </a:t>
            </a:r>
            <a:r>
              <a:rPr lang="ko-KR" altLang="en-US" sz="2000" dirty="0"/>
              <a:t>정보와 연계되어 </a:t>
            </a:r>
            <a:r>
              <a:rPr lang="en-US" altLang="ko-KR" sz="2000" dirty="0"/>
              <a:t>Die </a:t>
            </a:r>
            <a:r>
              <a:rPr lang="ko-KR" altLang="en-US" sz="2000" dirty="0"/>
              <a:t>상의 정확한 위치를 표현하고 분석하는 데 활용됩니다</a:t>
            </a:r>
            <a:r>
              <a:rPr lang="en-US" altLang="ko-KR" sz="2000" dirty="0"/>
              <a:t>.</a:t>
            </a:r>
          </a:p>
        </p:txBody>
      </p:sp>
      <p:sp>
        <p:nvSpPr>
          <p:cNvPr id="18" name="제목 1">
            <a:extLst>
              <a:ext uri="{FF2B5EF4-FFF2-40B4-BE49-F238E27FC236}">
                <a16:creationId xmlns:a16="http://schemas.microsoft.com/office/drawing/2014/main" id="{B26DDD99-0F78-5966-8355-C432C32C7825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GDS/CAD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데이터 관리 기능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F5CF794-9D14-79F2-3E39-9D0DDEBBB339}"/>
              </a:ext>
            </a:extLst>
          </p:cNvPr>
          <p:cNvCxnSpPr>
            <a:cxnSpLocks/>
          </p:cNvCxnSpPr>
          <p:nvPr/>
        </p:nvCxnSpPr>
        <p:spPr>
          <a:xfrm flipV="1">
            <a:off x="1973580" y="4145280"/>
            <a:ext cx="1905000" cy="1059180"/>
          </a:xfrm>
          <a:prstGeom prst="straightConnector1">
            <a:avLst/>
          </a:prstGeom>
          <a:ln w="38100">
            <a:solidFill>
              <a:srgbClr val="FF0000"/>
            </a:solidFill>
            <a:prstDash val="sys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61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9446BE-0AE7-37C3-88C9-53E15459EE6B}"/>
              </a:ext>
            </a:extLst>
          </p:cNvPr>
          <p:cNvSpPr txBox="1"/>
          <p:nvPr/>
        </p:nvSpPr>
        <p:spPr>
          <a:xfrm>
            <a:off x="272999" y="974719"/>
            <a:ext cx="110579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Die </a:t>
            </a:r>
            <a:r>
              <a:rPr lang="ko-KR" altLang="en-US" sz="2000" dirty="0"/>
              <a:t>내부의 </a:t>
            </a:r>
            <a:r>
              <a:rPr lang="en-US" altLang="ko-KR" sz="2000" dirty="0"/>
              <a:t>Structure </a:t>
            </a:r>
            <a:r>
              <a:rPr lang="ko-KR" altLang="en-US" sz="2000" dirty="0"/>
              <a:t>명칭과 </a:t>
            </a:r>
            <a:r>
              <a:rPr lang="en-US" altLang="ko-KR" sz="2000" dirty="0"/>
              <a:t>GDS/CAD </a:t>
            </a:r>
            <a:r>
              <a:rPr lang="ko-KR" altLang="en-US" sz="2000" dirty="0"/>
              <a:t>데이터 항목 간의 매핑을 설정할 수 있는 기능입니다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또한</a:t>
            </a:r>
            <a:r>
              <a:rPr lang="en-US" altLang="ko-KR" sz="2000" dirty="0"/>
              <a:t>, </a:t>
            </a:r>
            <a:r>
              <a:rPr lang="ko-KR" altLang="en-US" sz="2000" dirty="0"/>
              <a:t>하나의 </a:t>
            </a:r>
            <a:r>
              <a:rPr lang="en-US" altLang="ko-KR" sz="2000" dirty="0"/>
              <a:t>Structure</a:t>
            </a:r>
            <a:r>
              <a:rPr lang="ko-KR" altLang="en-US" sz="2000" dirty="0"/>
              <a:t>에 대해 여러 개의 </a:t>
            </a:r>
            <a:r>
              <a:rPr lang="en-US" altLang="ko-KR" sz="2000" dirty="0"/>
              <a:t>GDS/CAD </a:t>
            </a:r>
            <a:r>
              <a:rPr lang="ko-KR" altLang="en-US" sz="2000" dirty="0"/>
              <a:t>데이터 항목을 연결하여 유연하게 관리할 수 있습니다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Die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관리 기능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808EA7F3-6780-B2AF-C6C7-39533910B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71186" y="2233431"/>
            <a:ext cx="8165490" cy="414534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7C92B5F-44F7-5C1B-EE1B-C89E3467E3ED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0630" y="3473449"/>
            <a:ext cx="2326510" cy="261315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A5D362A-9A1D-0937-5D2B-9FDB7712E66E}"/>
              </a:ext>
            </a:extLst>
          </p:cNvPr>
          <p:cNvSpPr/>
          <p:nvPr/>
        </p:nvSpPr>
        <p:spPr>
          <a:xfrm>
            <a:off x="8058552" y="3936206"/>
            <a:ext cx="138896" cy="108648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CC386BF-123A-6507-3A77-A763EB0FB32F}"/>
              </a:ext>
            </a:extLst>
          </p:cNvPr>
          <p:cNvSpPr/>
          <p:nvPr/>
        </p:nvSpPr>
        <p:spPr>
          <a:xfrm>
            <a:off x="8056573" y="3681413"/>
            <a:ext cx="138896" cy="90487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16D196D2-EF3E-23F6-4ED1-7E8E353BEC45}"/>
              </a:ext>
            </a:extLst>
          </p:cNvPr>
          <p:cNvSpPr/>
          <p:nvPr/>
        </p:nvSpPr>
        <p:spPr bwMode="auto">
          <a:xfrm>
            <a:off x="4447791" y="2517495"/>
            <a:ext cx="6913934" cy="2732149"/>
          </a:xfrm>
          <a:prstGeom prst="roundRect">
            <a:avLst>
              <a:gd name="adj" fmla="val 634"/>
            </a:avLst>
          </a:prstGeom>
          <a:solidFill>
            <a:srgbClr val="94B5D0">
              <a:alpha val="53000"/>
            </a:srgbClr>
          </a:solidFill>
          <a:ln w="12700" cap="rnd" algn="ctr">
            <a:solidFill>
              <a:schemeClr val="bg1">
                <a:lumMod val="50000"/>
              </a:schemeClr>
            </a:solidFill>
            <a:prstDash val="sysDash"/>
            <a:round/>
            <a:headEnd/>
            <a:tailEnd/>
          </a:ln>
          <a:effectLst/>
        </p:spPr>
        <p:txBody>
          <a:bodyPr lIns="0" tIns="61350" rIns="0" bIns="0"/>
          <a:lstStyle/>
          <a:p>
            <a:pPr algn="ctr"/>
            <a:endParaRPr kumimoji="0" lang="ko-KR" altLang="en-US" sz="9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0" name="직사각형 29">
            <a:extLst>
              <a:ext uri="{FF2B5EF4-FFF2-40B4-BE49-F238E27FC236}">
                <a16:creationId xmlns:a16="http://schemas.microsoft.com/office/drawing/2014/main" id="{FF0C0FC0-CE6B-D9B0-BEED-C372F4B4322C}"/>
              </a:ext>
            </a:extLst>
          </p:cNvPr>
          <p:cNvSpPr/>
          <p:nvPr/>
        </p:nvSpPr>
        <p:spPr bwMode="auto">
          <a:xfrm>
            <a:off x="7552019" y="4654468"/>
            <a:ext cx="441606" cy="249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164F4098-416A-F4F9-4C12-CD1E13DE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01" y="3329742"/>
            <a:ext cx="1110390" cy="1437194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C7899629-988A-D47A-837D-6DFB2D59CFAA}"/>
              </a:ext>
            </a:extLst>
          </p:cNvPr>
          <p:cNvGrpSpPr/>
          <p:nvPr/>
        </p:nvGrpSpPr>
        <p:grpSpPr>
          <a:xfrm>
            <a:off x="5354998" y="3352967"/>
            <a:ext cx="1110390" cy="1437194"/>
            <a:chOff x="1929703" y="1608880"/>
            <a:chExt cx="2848373" cy="3686689"/>
          </a:xfrm>
          <a:scene3d>
            <a:camera prst="isometricLeftDown"/>
            <a:lightRig rig="threePt" dir="t"/>
          </a:scene3d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2DA8D5D-229C-CD85-4044-D24D48FA58BF}"/>
                </a:ext>
              </a:extLst>
            </p:cNvPr>
            <p:cNvSpPr/>
            <p:nvPr/>
          </p:nvSpPr>
          <p:spPr>
            <a:xfrm>
              <a:off x="1929703" y="1608880"/>
              <a:ext cx="2848373" cy="3686689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0574F769-8B10-D8D8-AA8D-1037667A3D2E}"/>
                </a:ext>
              </a:extLst>
            </p:cNvPr>
            <p:cNvSpPr/>
            <p:nvPr/>
          </p:nvSpPr>
          <p:spPr>
            <a:xfrm>
              <a:off x="2801073" y="2100880"/>
              <a:ext cx="185195" cy="1851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F37B70B7-F94A-0511-988E-E5EC81B50495}"/>
                </a:ext>
              </a:extLst>
            </p:cNvPr>
            <p:cNvSpPr/>
            <p:nvPr/>
          </p:nvSpPr>
          <p:spPr>
            <a:xfrm>
              <a:off x="4166886" y="4039639"/>
              <a:ext cx="185195" cy="1851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1E07FC7D-41FA-CB46-8831-30EAD96BA367}"/>
                </a:ext>
              </a:extLst>
            </p:cNvPr>
            <p:cNvSpPr/>
            <p:nvPr/>
          </p:nvSpPr>
          <p:spPr>
            <a:xfrm>
              <a:off x="2656389" y="4792070"/>
              <a:ext cx="185195" cy="185195"/>
            </a:xfrm>
            <a:prstGeom prst="rect">
              <a:avLst/>
            </a:prstGeom>
            <a:noFill/>
            <a:ln w="28575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3F61FCCA-B072-A10E-D083-1999F083F863}"/>
              </a:ext>
            </a:extLst>
          </p:cNvPr>
          <p:cNvGrpSpPr/>
          <p:nvPr/>
        </p:nvGrpSpPr>
        <p:grpSpPr>
          <a:xfrm>
            <a:off x="9311863" y="3343442"/>
            <a:ext cx="1110390" cy="1437194"/>
            <a:chOff x="7861166" y="1608880"/>
            <a:chExt cx="2848373" cy="3686689"/>
          </a:xfrm>
          <a:scene3d>
            <a:camera prst="isometricLeftDown"/>
            <a:lightRig rig="threePt" dir="t"/>
          </a:scene3d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4BAD968-3896-50CF-B8A6-AF1B09631CD7}"/>
                </a:ext>
              </a:extLst>
            </p:cNvPr>
            <p:cNvGrpSpPr/>
            <p:nvPr/>
          </p:nvGrpSpPr>
          <p:grpSpPr>
            <a:xfrm>
              <a:off x="7861166" y="1608880"/>
              <a:ext cx="2848373" cy="3686689"/>
              <a:chOff x="1929703" y="1608880"/>
              <a:chExt cx="2848373" cy="3686689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70CA6FF-9143-77EE-5304-186D3F25BE4C}"/>
                  </a:ext>
                </a:extLst>
              </p:cNvPr>
              <p:cNvSpPr/>
              <p:nvPr/>
            </p:nvSpPr>
            <p:spPr>
              <a:xfrm>
                <a:off x="1929703" y="1608880"/>
                <a:ext cx="2848373" cy="368668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957D9771-C044-9CF1-3C6C-8143E6B25A4C}"/>
                  </a:ext>
                </a:extLst>
              </p:cNvPr>
              <p:cNvSpPr/>
              <p:nvPr/>
            </p:nvSpPr>
            <p:spPr>
              <a:xfrm>
                <a:off x="2801072" y="2100880"/>
                <a:ext cx="185195" cy="185195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E54DA695-7B90-CC5A-0B08-355BE1A703CE}"/>
                  </a:ext>
                </a:extLst>
              </p:cNvPr>
              <p:cNvSpPr/>
              <p:nvPr/>
            </p:nvSpPr>
            <p:spPr>
              <a:xfrm>
                <a:off x="4187020" y="4132236"/>
                <a:ext cx="185195" cy="185195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DEBB568C-D708-EB6E-C3F4-89CA1F3EF910}"/>
                  </a:ext>
                </a:extLst>
              </p:cNvPr>
              <p:cNvSpPr/>
              <p:nvPr/>
            </p:nvSpPr>
            <p:spPr>
              <a:xfrm>
                <a:off x="2546572" y="4695318"/>
                <a:ext cx="185195" cy="185195"/>
              </a:xfrm>
              <a:prstGeom prst="rect">
                <a:avLst/>
              </a:prstGeom>
              <a:noFill/>
              <a:ln w="2857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B783EBC-6FC4-A65A-9E62-2F8367A2102D}"/>
                </a:ext>
              </a:extLst>
            </p:cNvPr>
            <p:cNvSpPr/>
            <p:nvPr/>
          </p:nvSpPr>
          <p:spPr>
            <a:xfrm>
              <a:off x="8698133" y="2214563"/>
              <a:ext cx="397058" cy="155257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40B07809-4171-F580-C409-3F5B04496CC1}"/>
              </a:ext>
            </a:extLst>
          </p:cNvPr>
          <p:cNvSpPr txBox="1"/>
          <p:nvPr/>
        </p:nvSpPr>
        <p:spPr>
          <a:xfrm>
            <a:off x="4764567" y="2928798"/>
            <a:ext cx="214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1" dirty="0">
                <a:solidFill>
                  <a:schemeClr val="tx1"/>
                </a:solidFill>
              </a:rPr>
              <a:t>AOI Defect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F1BC8-D13A-13F3-ADB3-9B76D5E2BBF3}"/>
              </a:ext>
            </a:extLst>
          </p:cNvPr>
          <p:cNvSpPr txBox="1"/>
          <p:nvPr/>
        </p:nvSpPr>
        <p:spPr>
          <a:xfrm>
            <a:off x="6477318" y="2907521"/>
            <a:ext cx="214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1" dirty="0">
                <a:solidFill>
                  <a:schemeClr val="tx1"/>
                </a:solidFill>
              </a:rPr>
              <a:t>E-Test</a:t>
            </a:r>
          </a:p>
        </p:txBody>
      </p: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6FC4F54F-85DB-C97F-9801-612200A789EE}"/>
              </a:ext>
            </a:extLst>
          </p:cNvPr>
          <p:cNvCxnSpPr>
            <a:cxnSpLocks/>
          </p:cNvCxnSpPr>
          <p:nvPr/>
        </p:nvCxnSpPr>
        <p:spPr>
          <a:xfrm>
            <a:off x="5757357" y="3541590"/>
            <a:ext cx="3966389" cy="0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85427DEA-0763-C33B-5A33-B2A00675E37C}"/>
              </a:ext>
            </a:extLst>
          </p:cNvPr>
          <p:cNvCxnSpPr>
            <a:cxnSpLocks/>
          </p:cNvCxnSpPr>
          <p:nvPr/>
        </p:nvCxnSpPr>
        <p:spPr>
          <a:xfrm>
            <a:off x="7552019" y="4134259"/>
            <a:ext cx="2267957" cy="0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A649864D-CE0D-7E75-0CE5-ABC1E5FB66A3}"/>
              </a:ext>
            </a:extLst>
          </p:cNvPr>
          <p:cNvCxnSpPr>
            <a:cxnSpLocks/>
          </p:cNvCxnSpPr>
          <p:nvPr/>
        </p:nvCxnSpPr>
        <p:spPr>
          <a:xfrm flipV="1">
            <a:off x="5813126" y="3643673"/>
            <a:ext cx="3940470" cy="20076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29">
            <a:extLst>
              <a:ext uri="{FF2B5EF4-FFF2-40B4-BE49-F238E27FC236}">
                <a16:creationId xmlns:a16="http://schemas.microsoft.com/office/drawing/2014/main" id="{7ADB519E-ED13-8105-E9EB-E3F3884BE448}"/>
              </a:ext>
            </a:extLst>
          </p:cNvPr>
          <p:cNvSpPr/>
          <p:nvPr/>
        </p:nvSpPr>
        <p:spPr bwMode="auto">
          <a:xfrm>
            <a:off x="4447792" y="2509468"/>
            <a:ext cx="2024612" cy="249522"/>
          </a:xfrm>
          <a:prstGeom prst="rect">
            <a:avLst/>
          </a:prstGeom>
          <a:solidFill>
            <a:srgbClr val="009CE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ko-KR" altLang="en-US" sz="1100" b="1" dirty="0">
                <a:solidFill>
                  <a:schemeClr val="bg1"/>
                </a:solidFill>
                <a:latin typeface="+mn-ea"/>
              </a:rPr>
              <a:t>데이터 간 연관관계 분석</a:t>
            </a: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64" name="모서리가 둥근 직사각형 112">
            <a:extLst>
              <a:ext uri="{FF2B5EF4-FFF2-40B4-BE49-F238E27FC236}">
                <a16:creationId xmlns:a16="http://schemas.microsoft.com/office/drawing/2014/main" id="{B672E143-1F7A-D268-CBD8-76683418AB52}"/>
              </a:ext>
            </a:extLst>
          </p:cNvPr>
          <p:cNvSpPr/>
          <p:nvPr/>
        </p:nvSpPr>
        <p:spPr bwMode="auto">
          <a:xfrm>
            <a:off x="746911" y="2960598"/>
            <a:ext cx="2706595" cy="1750461"/>
          </a:xfrm>
          <a:prstGeom prst="roundRect">
            <a:avLst>
              <a:gd name="adj" fmla="val 634"/>
            </a:avLst>
          </a:prstGeom>
          <a:solidFill>
            <a:schemeClr val="bg1">
              <a:lumMod val="75000"/>
              <a:alpha val="53000"/>
            </a:schemeClr>
          </a:solidFill>
          <a:ln w="12700" cap="rnd" algn="ctr">
            <a:noFill/>
            <a:prstDash val="sysDash"/>
            <a:round/>
            <a:headEnd/>
            <a:tailEnd/>
          </a:ln>
          <a:effectLst/>
        </p:spPr>
        <p:txBody>
          <a:bodyPr lIns="0" tIns="61350" rIns="0" bIns="0"/>
          <a:lstStyle/>
          <a:p>
            <a:pPr algn="ctr"/>
            <a:endParaRPr kumimoji="0" lang="ko-KR" altLang="en-US" sz="9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5" name="직사각형 29">
            <a:extLst>
              <a:ext uri="{FF2B5EF4-FFF2-40B4-BE49-F238E27FC236}">
                <a16:creationId xmlns:a16="http://schemas.microsoft.com/office/drawing/2014/main" id="{8D84EE55-6366-22B5-4032-B7BC5A57C479}"/>
              </a:ext>
            </a:extLst>
          </p:cNvPr>
          <p:cNvSpPr/>
          <p:nvPr/>
        </p:nvSpPr>
        <p:spPr bwMode="auto">
          <a:xfrm>
            <a:off x="744737" y="2966790"/>
            <a:ext cx="1493638" cy="24222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  <a:ea typeface="+mn-ea"/>
              </a:rPr>
              <a:t>Packaging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</a:rPr>
              <a:t> 공정</a:t>
            </a: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9783720B-47C2-256F-0BAC-F5D4CFCA6079}"/>
              </a:ext>
            </a:extLst>
          </p:cNvPr>
          <p:cNvGrpSpPr/>
          <p:nvPr/>
        </p:nvGrpSpPr>
        <p:grpSpPr>
          <a:xfrm>
            <a:off x="851408" y="3596519"/>
            <a:ext cx="749123" cy="588362"/>
            <a:chOff x="3406531" y="3602847"/>
            <a:chExt cx="844558" cy="676159"/>
          </a:xfrm>
        </p:grpSpPr>
        <p:pic>
          <p:nvPicPr>
            <p:cNvPr id="67" name="Picture 2">
              <a:extLst>
                <a:ext uri="{FF2B5EF4-FFF2-40B4-BE49-F238E27FC236}">
                  <a16:creationId xmlns:a16="http://schemas.microsoft.com/office/drawing/2014/main" id="{348163F9-2145-BF25-D34A-8358F217F9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2502" y="3741934"/>
              <a:ext cx="748587" cy="53707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8" name="그림 67" descr="cap_man.png">
              <a:extLst>
                <a:ext uri="{FF2B5EF4-FFF2-40B4-BE49-F238E27FC236}">
                  <a16:creationId xmlns:a16="http://schemas.microsoft.com/office/drawing/2014/main" id="{B7A5CCEB-CE69-7CD5-DF61-D85B3EA1F2B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06531" y="3602847"/>
              <a:ext cx="300346" cy="400061"/>
            </a:xfrm>
            <a:prstGeom prst="rect">
              <a:avLst/>
            </a:prstGeom>
          </p:spPr>
        </p:pic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2180D9FE-1C93-9B66-7410-6668572C869C}"/>
              </a:ext>
            </a:extLst>
          </p:cNvPr>
          <p:cNvSpPr/>
          <p:nvPr/>
        </p:nvSpPr>
        <p:spPr>
          <a:xfrm>
            <a:off x="794700" y="4146778"/>
            <a:ext cx="10349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1600" b="1" dirty="0">
                <a:latin typeface="+mn-ea"/>
              </a:rPr>
              <a:t>Package</a:t>
            </a:r>
          </a:p>
          <a:p>
            <a:pPr algn="ctr" latinLnBrk="0">
              <a:defRPr/>
            </a:pPr>
            <a:r>
              <a:rPr lang="ko-KR" altLang="en-US" sz="1600" b="1" dirty="0">
                <a:latin typeface="+mn-ea"/>
              </a:rPr>
              <a:t>공정</a:t>
            </a:r>
            <a:endParaRPr lang="ko-KR" altLang="en-US" sz="1600" b="1" dirty="0">
              <a:latin typeface="+mn-ea"/>
              <a:ea typeface="+mn-ea"/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4855BDC4-06A0-B91E-F704-EF7CF8D425CA}"/>
              </a:ext>
            </a:extLst>
          </p:cNvPr>
          <p:cNvGrpSpPr/>
          <p:nvPr/>
        </p:nvGrpSpPr>
        <p:grpSpPr>
          <a:xfrm>
            <a:off x="2630420" y="3482457"/>
            <a:ext cx="681597" cy="1083463"/>
            <a:chOff x="5522075" y="3427845"/>
            <a:chExt cx="681597" cy="1104439"/>
          </a:xfrm>
        </p:grpSpPr>
        <p:pic>
          <p:nvPicPr>
            <p:cNvPr id="71" name="Picture 80">
              <a:extLst>
                <a:ext uri="{FF2B5EF4-FFF2-40B4-BE49-F238E27FC236}">
                  <a16:creationId xmlns:a16="http://schemas.microsoft.com/office/drawing/2014/main" id="{1EE4A52A-7FD6-EDE3-786C-6CB833B12C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474" b="100000" l="9346" r="8972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1698" y="3427845"/>
              <a:ext cx="530959" cy="755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AD9241A-DE9F-2C41-5F7D-67D066E865A8}"/>
                </a:ext>
              </a:extLst>
            </p:cNvPr>
            <p:cNvSpPr/>
            <p:nvPr/>
          </p:nvSpPr>
          <p:spPr>
            <a:xfrm>
              <a:off x="5522075" y="4105997"/>
              <a:ext cx="681597" cy="4262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l" latinLnBrk="0"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  <a:ea typeface="+mn-ea"/>
                </a:rPr>
                <a:t>TEST</a:t>
              </a:r>
              <a:endParaRPr lang="ko-KR" altLang="ko-KR" sz="1600" b="1" dirty="0">
                <a:latin typeface="+mn-ea"/>
                <a:ea typeface="+mn-ea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952671AD-1AE6-17C1-E960-9B2CE1EB1E04}"/>
              </a:ext>
            </a:extLst>
          </p:cNvPr>
          <p:cNvGrpSpPr/>
          <p:nvPr/>
        </p:nvGrpSpPr>
        <p:grpSpPr>
          <a:xfrm>
            <a:off x="1714232" y="3668153"/>
            <a:ext cx="880382" cy="856472"/>
            <a:chOff x="3742809" y="4342407"/>
            <a:chExt cx="880382" cy="837075"/>
          </a:xfrm>
        </p:grpSpPr>
        <p:pic>
          <p:nvPicPr>
            <p:cNvPr id="74" name="Picture 1705">
              <a:extLst>
                <a:ext uri="{FF2B5EF4-FFF2-40B4-BE49-F238E27FC236}">
                  <a16:creationId xmlns:a16="http://schemas.microsoft.com/office/drawing/2014/main" id="{3A1CECDC-88F6-83A1-6999-6FE7C0870D10}"/>
                </a:ext>
              </a:extLst>
            </p:cNvPr>
            <p:cNvPicPr preferRelativeResize="0">
              <a:picLocks noChangeAspect="1" noChangeArrowheads="1"/>
            </p:cNvPicPr>
            <p:nvPr/>
          </p:nvPicPr>
          <p:blipFill>
            <a:blip r:embed="rId7" cstate="print">
              <a:clrChange>
                <a:clrFrom>
                  <a:srgbClr val="FFFEFF"/>
                </a:clrFrom>
                <a:clrTo>
                  <a:srgbClr val="FFFE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2709" y="4342407"/>
              <a:ext cx="379247" cy="475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AB7BC76F-032D-7642-03F3-C9FC3306BBCB}"/>
                </a:ext>
              </a:extLst>
            </p:cNvPr>
            <p:cNvSpPr/>
            <p:nvPr/>
          </p:nvSpPr>
          <p:spPr>
            <a:xfrm>
              <a:off x="3742809" y="4770762"/>
              <a:ext cx="880382" cy="4087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latinLnBrk="0">
                <a:lnSpc>
                  <a:spcPct val="150000"/>
                </a:lnSpc>
              </a:pPr>
              <a:r>
                <a:rPr lang="en-US" altLang="ko-KR" sz="1600" b="1" dirty="0">
                  <a:latin typeface="+mn-ea"/>
                  <a:ea typeface="+mn-ea"/>
                </a:rPr>
                <a:t>AOI</a:t>
              </a:r>
              <a:endParaRPr lang="ko-KR" altLang="ko-KR" sz="1600" b="1" dirty="0">
                <a:latin typeface="+mn-ea"/>
                <a:ea typeface="+mn-ea"/>
              </a:endParaRPr>
            </a:p>
          </p:txBody>
        </p:sp>
      </p:grp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2A05C5E-3508-C643-5FF0-CA6C034A2B5B}"/>
              </a:ext>
            </a:extLst>
          </p:cNvPr>
          <p:cNvCxnSpPr/>
          <p:nvPr/>
        </p:nvCxnSpPr>
        <p:spPr>
          <a:xfrm>
            <a:off x="1663706" y="3951213"/>
            <a:ext cx="2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F4B2115-609E-0718-5E98-E421266FFB05}"/>
              </a:ext>
            </a:extLst>
          </p:cNvPr>
          <p:cNvCxnSpPr/>
          <p:nvPr/>
        </p:nvCxnSpPr>
        <p:spPr>
          <a:xfrm>
            <a:off x="2392687" y="3951213"/>
            <a:ext cx="2160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20">
            <a:extLst>
              <a:ext uri="{FF2B5EF4-FFF2-40B4-BE49-F238E27FC236}">
                <a16:creationId xmlns:a16="http://schemas.microsoft.com/office/drawing/2014/main" id="{555ED764-D39A-9314-2F80-2145C0756BB3}"/>
              </a:ext>
            </a:extLst>
          </p:cNvPr>
          <p:cNvCxnSpPr>
            <a:cxnSpLocks/>
            <a:stCxn id="75" idx="2"/>
            <a:endCxn id="10" idx="2"/>
          </p:cNvCxnSpPr>
          <p:nvPr/>
        </p:nvCxnSpPr>
        <p:spPr bwMode="auto">
          <a:xfrm rot="16200000" flipH="1">
            <a:off x="3850662" y="2828386"/>
            <a:ext cx="379365" cy="3771842"/>
          </a:xfrm>
          <a:prstGeom prst="bentConnector3">
            <a:avLst>
              <a:gd name="adj1" fmla="val 268572"/>
            </a:avLst>
          </a:prstGeom>
          <a:noFill/>
          <a:ln w="19050" cap="flat" cmpd="sng" algn="ctr">
            <a:solidFill>
              <a:srgbClr val="0279CA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90" name="꺾인 연결선 20">
            <a:extLst>
              <a:ext uri="{FF2B5EF4-FFF2-40B4-BE49-F238E27FC236}">
                <a16:creationId xmlns:a16="http://schemas.microsoft.com/office/drawing/2014/main" id="{CD900089-3821-0794-DF70-5F68E2518135}"/>
              </a:ext>
            </a:extLst>
          </p:cNvPr>
          <p:cNvCxnSpPr>
            <a:cxnSpLocks/>
            <a:stCxn id="72" idx="2"/>
            <a:endCxn id="100" idx="2"/>
          </p:cNvCxnSpPr>
          <p:nvPr/>
        </p:nvCxnSpPr>
        <p:spPr bwMode="auto">
          <a:xfrm rot="16200000" flipH="1">
            <a:off x="5202985" y="2334153"/>
            <a:ext cx="338070" cy="4801603"/>
          </a:xfrm>
          <a:prstGeom prst="bentConnector3">
            <a:avLst>
              <a:gd name="adj1" fmla="val 438095"/>
            </a:avLst>
          </a:prstGeom>
          <a:noFill/>
          <a:ln w="19050" cap="flat" cmpd="sng" algn="ctr">
            <a:solidFill>
              <a:srgbClr val="0279CA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2DA4D08-C671-2F1D-A56A-E19FB5FB594D}"/>
              </a:ext>
            </a:extLst>
          </p:cNvPr>
          <p:cNvSpPr txBox="1"/>
          <p:nvPr/>
        </p:nvSpPr>
        <p:spPr>
          <a:xfrm>
            <a:off x="3344885" y="5312005"/>
            <a:ext cx="1390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KLARF file</a:t>
            </a:r>
            <a:endParaRPr lang="ko-KR" altLang="en-US" sz="11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E7E860-818C-4A4F-4ED9-35731210DDCA}"/>
              </a:ext>
            </a:extLst>
          </p:cNvPr>
          <p:cNvSpPr txBox="1"/>
          <p:nvPr/>
        </p:nvSpPr>
        <p:spPr>
          <a:xfrm>
            <a:off x="4676561" y="5806160"/>
            <a:ext cx="13909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CSV file</a:t>
            </a:r>
            <a:endParaRPr lang="ko-KR" altLang="en-US" sz="1100" dirty="0"/>
          </a:p>
        </p:txBody>
      </p:sp>
      <p:sp>
        <p:nvSpPr>
          <p:cNvPr id="97" name="제목 1">
            <a:extLst>
              <a:ext uri="{FF2B5EF4-FFF2-40B4-BE49-F238E27FC236}">
                <a16:creationId xmlns:a16="http://schemas.microsoft.com/office/drawing/2014/main" id="{60ECED3C-D9E0-88D8-FFF6-AC7BBC2284B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Die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Correlation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0A289-9DD9-AFED-F7C1-99A1E4DAE068}"/>
              </a:ext>
            </a:extLst>
          </p:cNvPr>
          <p:cNvSpPr txBox="1"/>
          <p:nvPr/>
        </p:nvSpPr>
        <p:spPr>
          <a:xfrm>
            <a:off x="9819976" y="2932015"/>
            <a:ext cx="156741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000" dirty="0">
                <a:solidFill>
                  <a:srgbClr val="0000FF"/>
                </a:solidFill>
              </a:rPr>
              <a:t>AOI</a:t>
            </a:r>
            <a:r>
              <a:rPr lang="ko-KR" altLang="en-US" sz="1000" dirty="0">
                <a:solidFill>
                  <a:srgbClr val="0000FF"/>
                </a:solidFill>
              </a:rPr>
              <a:t>에서 검출된 </a:t>
            </a:r>
            <a:r>
              <a:rPr lang="en-US" altLang="ko-KR" sz="1000" dirty="0">
                <a:solidFill>
                  <a:srgbClr val="0000FF"/>
                </a:solidFill>
              </a:rPr>
              <a:t>Defect</a:t>
            </a:r>
            <a:r>
              <a:rPr lang="ko-KR" altLang="en-US" sz="1000" dirty="0">
                <a:solidFill>
                  <a:srgbClr val="0000FF"/>
                </a:solidFill>
              </a:rPr>
              <a:t>가 회로의 전기적 테스트 불량에 영향을 미침</a:t>
            </a:r>
            <a:endParaRPr lang="en-US" altLang="ko-KR" sz="1000" dirty="0">
              <a:solidFill>
                <a:srgbClr val="0000FF"/>
              </a:solidFill>
            </a:endParaRPr>
          </a:p>
        </p:txBody>
      </p:sp>
      <p:sp>
        <p:nvSpPr>
          <p:cNvPr id="8" name="폭발: 14pt 7">
            <a:extLst>
              <a:ext uri="{FF2B5EF4-FFF2-40B4-BE49-F238E27FC236}">
                <a16:creationId xmlns:a16="http://schemas.microsoft.com/office/drawing/2014/main" id="{2BA6D948-28B3-A611-D3EA-C6B9D54B8F21}"/>
              </a:ext>
            </a:extLst>
          </p:cNvPr>
          <p:cNvSpPr/>
          <p:nvPr/>
        </p:nvSpPr>
        <p:spPr>
          <a:xfrm>
            <a:off x="9565903" y="3381448"/>
            <a:ext cx="375387" cy="405442"/>
          </a:xfrm>
          <a:prstGeom prst="irregularSeal2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29">
            <a:extLst>
              <a:ext uri="{FF2B5EF4-FFF2-40B4-BE49-F238E27FC236}">
                <a16:creationId xmlns:a16="http://schemas.microsoft.com/office/drawing/2014/main" id="{F5F43880-24DF-54A1-86C8-44510138C418}"/>
              </a:ext>
            </a:extLst>
          </p:cNvPr>
          <p:cNvSpPr/>
          <p:nvPr/>
        </p:nvSpPr>
        <p:spPr bwMode="auto">
          <a:xfrm>
            <a:off x="5705462" y="4654468"/>
            <a:ext cx="441606" cy="249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499A467-93FA-BBA2-A460-55FEF78CB5C2}"/>
              </a:ext>
            </a:extLst>
          </p:cNvPr>
          <p:cNvSpPr/>
          <p:nvPr/>
        </p:nvSpPr>
        <p:spPr>
          <a:xfrm>
            <a:off x="5035734" y="3424797"/>
            <a:ext cx="236977" cy="21887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2C57A7D-5B27-039B-5A38-893F97AA77F6}"/>
              </a:ext>
            </a:extLst>
          </p:cNvPr>
          <p:cNvSpPr/>
          <p:nvPr/>
        </p:nvSpPr>
        <p:spPr>
          <a:xfrm>
            <a:off x="5035734" y="3689455"/>
            <a:ext cx="236977" cy="21887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A3C5F961-5627-7432-F2C0-69759003FBA0}"/>
              </a:ext>
            </a:extLst>
          </p:cNvPr>
          <p:cNvSpPr/>
          <p:nvPr/>
        </p:nvSpPr>
        <p:spPr>
          <a:xfrm>
            <a:off x="5035734" y="3954113"/>
            <a:ext cx="236977" cy="21887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A401552C-0F49-2A12-A1EF-D5CC61D80954}"/>
              </a:ext>
            </a:extLst>
          </p:cNvPr>
          <p:cNvSpPr/>
          <p:nvPr/>
        </p:nvSpPr>
        <p:spPr>
          <a:xfrm>
            <a:off x="5035734" y="4218771"/>
            <a:ext cx="236977" cy="21887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B57AA549-678B-B0F1-2164-DC1F6F5F108D}"/>
              </a:ext>
            </a:extLst>
          </p:cNvPr>
          <p:cNvSpPr/>
          <p:nvPr/>
        </p:nvSpPr>
        <p:spPr>
          <a:xfrm>
            <a:off x="5035734" y="4480835"/>
            <a:ext cx="236977" cy="218876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1FCEE-90FB-F30E-0DB7-F8744A3CAD9A}"/>
              </a:ext>
            </a:extLst>
          </p:cNvPr>
          <p:cNvSpPr txBox="1"/>
          <p:nvPr/>
        </p:nvSpPr>
        <p:spPr>
          <a:xfrm>
            <a:off x="4391674" y="3744619"/>
            <a:ext cx="7457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b="1" dirty="0">
                <a:solidFill>
                  <a:srgbClr val="00B050"/>
                </a:solidFill>
              </a:rPr>
              <a:t>Die </a:t>
            </a:r>
            <a:r>
              <a:rPr lang="ko-KR" altLang="en-US" sz="1200" b="1" dirty="0">
                <a:solidFill>
                  <a:srgbClr val="00B050"/>
                </a:solidFill>
              </a:rPr>
              <a:t>간</a:t>
            </a:r>
            <a:endParaRPr lang="en-US" altLang="ko-KR" sz="1200" b="1" dirty="0">
              <a:solidFill>
                <a:srgbClr val="00B050"/>
              </a:solidFill>
            </a:endParaRPr>
          </a:p>
          <a:p>
            <a:pPr algn="ctr"/>
            <a:r>
              <a:rPr lang="ko-KR" altLang="en-US" sz="1200" b="1" dirty="0">
                <a:solidFill>
                  <a:srgbClr val="00B050"/>
                </a:solidFill>
              </a:rPr>
              <a:t>데이터 투영</a:t>
            </a:r>
            <a:endParaRPr lang="ko-KR" altLang="en-US" sz="1200" dirty="0">
              <a:solidFill>
                <a:srgbClr val="00B05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CFCEB43-80B0-EBA7-AF5C-8E65885B03CC}"/>
              </a:ext>
            </a:extLst>
          </p:cNvPr>
          <p:cNvSpPr txBox="1"/>
          <p:nvPr/>
        </p:nvSpPr>
        <p:spPr>
          <a:xfrm>
            <a:off x="272999" y="974719"/>
            <a:ext cx="1158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AOI </a:t>
            </a:r>
            <a:r>
              <a:rPr lang="ko-KR" altLang="en-US" sz="2000" dirty="0"/>
              <a:t>검사 장비로부터 결함의 위치 좌표 및 이미지 데이터를 추출합니다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전기적 불량 테스트 결과를 설계 데이터</a:t>
            </a:r>
            <a:r>
              <a:rPr lang="en-US" altLang="ko-KR" sz="2000" dirty="0"/>
              <a:t>(GDS/CAD Layout)</a:t>
            </a:r>
            <a:r>
              <a:rPr lang="ko-KR" altLang="en-US" sz="2000" dirty="0"/>
              <a:t>와 대조하여 좌표를 확인합니다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Defect </a:t>
            </a:r>
            <a:r>
              <a:rPr lang="ko-KR" altLang="en-US" sz="2000" dirty="0"/>
              <a:t>좌표 정보가 </a:t>
            </a:r>
            <a:r>
              <a:rPr lang="en-US" altLang="ko-KR" sz="2000" dirty="0"/>
              <a:t>GDS</a:t>
            </a:r>
            <a:r>
              <a:rPr lang="ko-KR" altLang="en-US" sz="2000" dirty="0"/>
              <a:t> </a:t>
            </a:r>
            <a:r>
              <a:rPr lang="en-US" altLang="ko-KR" sz="2000" dirty="0"/>
              <a:t>CAD</a:t>
            </a:r>
            <a:r>
              <a:rPr lang="ko-KR" altLang="en-US" sz="2000" dirty="0"/>
              <a:t> 파일 내 데이지 체인의 </a:t>
            </a:r>
            <a:r>
              <a:rPr lang="en-US" altLang="ko-KR" sz="2000" dirty="0"/>
              <a:t>RDL</a:t>
            </a:r>
            <a:r>
              <a:rPr lang="ko-KR" altLang="en-US" sz="2000" dirty="0"/>
              <a:t> 라우팅 위치와 일치하는지를 검증합니다</a:t>
            </a:r>
            <a:r>
              <a:rPr lang="en-US" altLang="ko-KR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9126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A41B6888-6E5A-D7B0-3878-BB82C1EB3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348" y="4031440"/>
            <a:ext cx="1170660" cy="11152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446BE-0AE7-37C3-88C9-53E15459EE6B}"/>
              </a:ext>
            </a:extLst>
          </p:cNvPr>
          <p:cNvSpPr txBox="1"/>
          <p:nvPr/>
        </p:nvSpPr>
        <p:spPr>
          <a:xfrm>
            <a:off x="272999" y="974719"/>
            <a:ext cx="110579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Package </a:t>
            </a:r>
            <a:r>
              <a:rPr lang="ko-KR" altLang="en-US" sz="2000" dirty="0"/>
              <a:t>공정 진행 중 </a:t>
            </a:r>
            <a:r>
              <a:rPr lang="en-US" altLang="ko-KR" sz="2000" dirty="0"/>
              <a:t>AOI </a:t>
            </a:r>
            <a:r>
              <a:rPr lang="ko-KR" altLang="en-US" sz="2000" dirty="0"/>
              <a:t>설비의 </a:t>
            </a:r>
            <a:r>
              <a:rPr lang="en-US" altLang="ko-KR" sz="2000" dirty="0"/>
              <a:t>Defect </a:t>
            </a:r>
            <a:r>
              <a:rPr lang="ko-KR" altLang="en-US" sz="2000" dirty="0"/>
              <a:t>검사 데이터 또는 </a:t>
            </a:r>
            <a:r>
              <a:rPr lang="en-US" altLang="ko-KR" sz="2000" dirty="0"/>
              <a:t>TEST </a:t>
            </a:r>
            <a:r>
              <a:rPr lang="ko-KR" altLang="en-US" sz="2000" dirty="0"/>
              <a:t>설비의 전기적 불량 발생 건수가 설정된 기준을 초과할 경우</a:t>
            </a:r>
            <a:r>
              <a:rPr lang="en-US" altLang="ko-KR" sz="2000" dirty="0"/>
              <a:t>, </a:t>
            </a:r>
            <a:r>
              <a:rPr lang="ko-KR" altLang="en-US" sz="2000" dirty="0"/>
              <a:t>설비를 </a:t>
            </a:r>
            <a:r>
              <a:rPr lang="en-US" altLang="ko-KR" sz="2000" dirty="0"/>
              <a:t>Hold </a:t>
            </a:r>
            <a:r>
              <a:rPr lang="ko-KR" altLang="en-US" sz="2000" dirty="0"/>
              <a:t>처리하거나 메일을 발송하여 대량의 품질 사고를 사전에 예방합니다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Monitoring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기능</a:t>
            </a:r>
          </a:p>
        </p:txBody>
      </p:sp>
      <p:sp>
        <p:nvSpPr>
          <p:cNvPr id="11" name="모서리가 둥근 직사각형 112">
            <a:extLst>
              <a:ext uri="{FF2B5EF4-FFF2-40B4-BE49-F238E27FC236}">
                <a16:creationId xmlns:a16="http://schemas.microsoft.com/office/drawing/2014/main" id="{E622945A-8A15-DA40-F370-9BE4BAC310D0}"/>
              </a:ext>
            </a:extLst>
          </p:cNvPr>
          <p:cNvSpPr/>
          <p:nvPr/>
        </p:nvSpPr>
        <p:spPr bwMode="auto">
          <a:xfrm>
            <a:off x="3550446" y="3741692"/>
            <a:ext cx="1373622" cy="1476740"/>
          </a:xfrm>
          <a:prstGeom prst="roundRect">
            <a:avLst>
              <a:gd name="adj" fmla="val 634"/>
            </a:avLst>
          </a:prstGeom>
          <a:solidFill>
            <a:srgbClr val="BFBFBF">
              <a:alpha val="20000"/>
            </a:srgbClr>
          </a:solidFill>
          <a:ln w="12700" cap="rnd" algn="ctr">
            <a:noFill/>
            <a:prstDash val="sysDash"/>
            <a:round/>
            <a:headEnd/>
            <a:tailEnd/>
          </a:ln>
          <a:effectLst/>
        </p:spPr>
        <p:txBody>
          <a:bodyPr lIns="0" tIns="61350" rIns="0" bIns="0"/>
          <a:lstStyle/>
          <a:p>
            <a:pPr algn="ctr"/>
            <a:endParaRPr kumimoji="0" lang="ko-KR" altLang="en-US" sz="9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29">
            <a:extLst>
              <a:ext uri="{FF2B5EF4-FFF2-40B4-BE49-F238E27FC236}">
                <a16:creationId xmlns:a16="http://schemas.microsoft.com/office/drawing/2014/main" id="{27689C8B-1058-4A8E-AFE5-68BD4D186167}"/>
              </a:ext>
            </a:extLst>
          </p:cNvPr>
          <p:cNvSpPr/>
          <p:nvPr/>
        </p:nvSpPr>
        <p:spPr bwMode="auto">
          <a:xfrm>
            <a:off x="3550445" y="3741692"/>
            <a:ext cx="1373622" cy="242224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  <a:ea typeface="+mn-ea"/>
              </a:rPr>
              <a:t>Packaging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</a:rPr>
              <a:t> 공정</a:t>
            </a:r>
            <a:r>
              <a:rPr lang="en-US" altLang="ko-KR" sz="1100" b="1" dirty="0">
                <a:solidFill>
                  <a:schemeClr val="bg1"/>
                </a:solidFill>
                <a:latin typeface="+mn-ea"/>
                <a:ea typeface="+mn-ea"/>
              </a:rPr>
              <a:t>1</a:t>
            </a: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55E79326-E577-7D6C-87AE-40736679E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768" y="4057408"/>
            <a:ext cx="1170660" cy="1063308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98972E21-A152-300C-A134-1CFD9C732A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537" y="4105004"/>
            <a:ext cx="1170660" cy="1113428"/>
          </a:xfrm>
          <a:prstGeom prst="rect">
            <a:avLst/>
          </a:prstGeom>
        </p:spPr>
      </p:pic>
      <p:sp>
        <p:nvSpPr>
          <p:cNvPr id="26" name="모서리가 둥근 직사각형 112">
            <a:extLst>
              <a:ext uri="{FF2B5EF4-FFF2-40B4-BE49-F238E27FC236}">
                <a16:creationId xmlns:a16="http://schemas.microsoft.com/office/drawing/2014/main" id="{E8170066-2DAD-380E-5922-DBD9964EE26E}"/>
              </a:ext>
            </a:extLst>
          </p:cNvPr>
          <p:cNvSpPr/>
          <p:nvPr/>
        </p:nvSpPr>
        <p:spPr bwMode="auto">
          <a:xfrm>
            <a:off x="5379246" y="3741692"/>
            <a:ext cx="1373622" cy="1476740"/>
          </a:xfrm>
          <a:prstGeom prst="roundRect">
            <a:avLst>
              <a:gd name="adj" fmla="val 634"/>
            </a:avLst>
          </a:prstGeom>
          <a:solidFill>
            <a:srgbClr val="BFBFBF">
              <a:alpha val="20000"/>
            </a:srgbClr>
          </a:solidFill>
          <a:ln w="12700" cap="rnd" algn="ctr">
            <a:noFill/>
            <a:prstDash val="sysDash"/>
            <a:round/>
            <a:headEnd/>
            <a:tailEnd/>
          </a:ln>
          <a:effectLst/>
        </p:spPr>
        <p:txBody>
          <a:bodyPr lIns="0" tIns="61350" rIns="0" bIns="0"/>
          <a:lstStyle/>
          <a:p>
            <a:pPr algn="ctr"/>
            <a:endParaRPr kumimoji="0" lang="ko-KR" altLang="en-US" sz="9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7" name="직사각형 29">
            <a:extLst>
              <a:ext uri="{FF2B5EF4-FFF2-40B4-BE49-F238E27FC236}">
                <a16:creationId xmlns:a16="http://schemas.microsoft.com/office/drawing/2014/main" id="{2F369226-3A1B-AB8F-3AF3-485DDB618329}"/>
              </a:ext>
            </a:extLst>
          </p:cNvPr>
          <p:cNvSpPr/>
          <p:nvPr/>
        </p:nvSpPr>
        <p:spPr bwMode="auto">
          <a:xfrm>
            <a:off x="5379245" y="3741692"/>
            <a:ext cx="1373622" cy="242224"/>
          </a:xfrm>
          <a:prstGeom prst="rect">
            <a:avLst/>
          </a:prstGeom>
          <a:solidFill>
            <a:srgbClr val="FFC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en-US" altLang="ko-KR" sz="1100" b="1" dirty="0">
                <a:solidFill>
                  <a:schemeClr val="bg1"/>
                </a:solidFill>
                <a:latin typeface="+mn-ea"/>
                <a:ea typeface="+mn-ea"/>
              </a:rPr>
              <a:t>AOI </a:t>
            </a: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</a:rPr>
              <a:t>검사</a:t>
            </a: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8" name="모서리가 둥근 직사각형 112">
            <a:extLst>
              <a:ext uri="{FF2B5EF4-FFF2-40B4-BE49-F238E27FC236}">
                <a16:creationId xmlns:a16="http://schemas.microsoft.com/office/drawing/2014/main" id="{3262033E-7064-8275-4E26-F35831663BFA}"/>
              </a:ext>
            </a:extLst>
          </p:cNvPr>
          <p:cNvSpPr/>
          <p:nvPr/>
        </p:nvSpPr>
        <p:spPr bwMode="auto">
          <a:xfrm>
            <a:off x="7208045" y="3741692"/>
            <a:ext cx="1373622" cy="1476740"/>
          </a:xfrm>
          <a:prstGeom prst="roundRect">
            <a:avLst>
              <a:gd name="adj" fmla="val 634"/>
            </a:avLst>
          </a:prstGeom>
          <a:solidFill>
            <a:srgbClr val="BFBFBF">
              <a:alpha val="20000"/>
            </a:srgbClr>
          </a:solidFill>
          <a:ln w="12700" cap="rnd" algn="ctr">
            <a:noFill/>
            <a:prstDash val="sysDash"/>
            <a:round/>
            <a:headEnd/>
            <a:tailEnd/>
          </a:ln>
          <a:effectLst/>
        </p:spPr>
        <p:txBody>
          <a:bodyPr lIns="0" tIns="61350" rIns="0" bIns="0"/>
          <a:lstStyle/>
          <a:p>
            <a:pPr algn="ctr"/>
            <a:endParaRPr kumimoji="0" lang="ko-KR" altLang="en-US" sz="900" b="1" dirty="0">
              <a:solidFill>
                <a:schemeClr val="accent1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" name="직사각형 29">
            <a:extLst>
              <a:ext uri="{FF2B5EF4-FFF2-40B4-BE49-F238E27FC236}">
                <a16:creationId xmlns:a16="http://schemas.microsoft.com/office/drawing/2014/main" id="{8AB3ABE4-A56B-AD60-65BB-D1A815619E83}"/>
              </a:ext>
            </a:extLst>
          </p:cNvPr>
          <p:cNvSpPr/>
          <p:nvPr/>
        </p:nvSpPr>
        <p:spPr bwMode="auto">
          <a:xfrm>
            <a:off x="7208044" y="3741692"/>
            <a:ext cx="1373622" cy="242224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100" b="1" dirty="0">
                <a:solidFill>
                  <a:schemeClr val="bg1"/>
                </a:solidFill>
                <a:latin typeface="+mn-ea"/>
                <a:ea typeface="+mn-ea"/>
              </a:rPr>
              <a:t>전기적 테스트</a:t>
            </a: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0DCE12FC-C35A-D50F-E469-B07718322C15}"/>
              </a:ext>
            </a:extLst>
          </p:cNvPr>
          <p:cNvSpPr/>
          <p:nvPr/>
        </p:nvSpPr>
        <p:spPr>
          <a:xfrm>
            <a:off x="2733559" y="5241804"/>
            <a:ext cx="6751080" cy="46032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/>
              <a:t>FLOW</a:t>
            </a:r>
            <a:endParaRPr lang="ko-KR" altLang="en-US" sz="1200" b="1" dirty="0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FD73B009-E729-EC99-116A-F521024AA619}"/>
              </a:ext>
            </a:extLst>
          </p:cNvPr>
          <p:cNvGrpSpPr/>
          <p:nvPr/>
        </p:nvGrpSpPr>
        <p:grpSpPr>
          <a:xfrm>
            <a:off x="8836938" y="4358128"/>
            <a:ext cx="544592" cy="144780"/>
            <a:chOff x="8427720" y="4381500"/>
            <a:chExt cx="544592" cy="144780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38279E9-E5B0-EE1E-1F0B-24C4E9DAD0F7}"/>
                </a:ext>
              </a:extLst>
            </p:cNvPr>
            <p:cNvSpPr/>
            <p:nvPr/>
          </p:nvSpPr>
          <p:spPr>
            <a:xfrm>
              <a:off x="8427720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7927A1B4-21BE-8831-5641-6015977A7A8A}"/>
                </a:ext>
              </a:extLst>
            </p:cNvPr>
            <p:cNvSpPr/>
            <p:nvPr/>
          </p:nvSpPr>
          <p:spPr>
            <a:xfrm>
              <a:off x="8627626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D055DD84-A884-2A89-C75C-F38F8D404E68}"/>
                </a:ext>
              </a:extLst>
            </p:cNvPr>
            <p:cNvSpPr/>
            <p:nvPr/>
          </p:nvSpPr>
          <p:spPr>
            <a:xfrm>
              <a:off x="8827532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E11F4577-E4E0-CE37-FC38-2E325089A9C2}"/>
              </a:ext>
            </a:extLst>
          </p:cNvPr>
          <p:cNvGrpSpPr/>
          <p:nvPr/>
        </p:nvGrpSpPr>
        <p:grpSpPr>
          <a:xfrm>
            <a:off x="2733558" y="4358128"/>
            <a:ext cx="544592" cy="144780"/>
            <a:chOff x="8427720" y="4381500"/>
            <a:chExt cx="544592" cy="144780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61127B4-8FAD-7C43-8871-BE641CB7428B}"/>
                </a:ext>
              </a:extLst>
            </p:cNvPr>
            <p:cNvSpPr/>
            <p:nvPr/>
          </p:nvSpPr>
          <p:spPr>
            <a:xfrm>
              <a:off x="8427720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149A7EC-CFD0-BE86-7F7C-3E4A0B4759D7}"/>
                </a:ext>
              </a:extLst>
            </p:cNvPr>
            <p:cNvSpPr/>
            <p:nvPr/>
          </p:nvSpPr>
          <p:spPr>
            <a:xfrm>
              <a:off x="8627626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AA31691-E9AD-7545-B4AE-8AC199DAE1FA}"/>
                </a:ext>
              </a:extLst>
            </p:cNvPr>
            <p:cNvSpPr/>
            <p:nvPr/>
          </p:nvSpPr>
          <p:spPr>
            <a:xfrm>
              <a:off x="8827532" y="4381500"/>
              <a:ext cx="144780" cy="14478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C671B44-DB7A-BB3D-3166-75B3DCA86C67}"/>
              </a:ext>
            </a:extLst>
          </p:cNvPr>
          <p:cNvSpPr txBox="1"/>
          <p:nvPr/>
        </p:nvSpPr>
        <p:spPr>
          <a:xfrm>
            <a:off x="5287806" y="2507125"/>
            <a:ext cx="1373622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설정된 개수를 초과하여 </a:t>
            </a:r>
            <a:r>
              <a:rPr lang="en-US" altLang="ko-KR" sz="1200" dirty="0"/>
              <a:t>Defect </a:t>
            </a:r>
            <a:r>
              <a:rPr lang="ko-KR" altLang="en-US" sz="1200" dirty="0"/>
              <a:t>발생 모니터링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9E9F33-4CBD-7AA5-A018-6BEDF007E2A4}"/>
              </a:ext>
            </a:extLst>
          </p:cNvPr>
          <p:cNvSpPr txBox="1"/>
          <p:nvPr/>
        </p:nvSpPr>
        <p:spPr>
          <a:xfrm>
            <a:off x="7147560" y="2507125"/>
            <a:ext cx="1689378" cy="646331"/>
          </a:xfrm>
          <a:prstGeom prst="rect">
            <a:avLst/>
          </a:prstGeom>
          <a:solidFill>
            <a:srgbClr val="FFFFCC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/>
              <a:t>설정된 개수를 초과하여  전기적 불량 발생 모니터링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3A9613A-77F1-8CE1-70A7-772F0F9725FC}"/>
              </a:ext>
            </a:extLst>
          </p:cNvPr>
          <p:cNvCxnSpPr>
            <a:endCxn id="27" idx="0"/>
          </p:cNvCxnSpPr>
          <p:nvPr/>
        </p:nvCxnSpPr>
        <p:spPr>
          <a:xfrm>
            <a:off x="5585460" y="3153456"/>
            <a:ext cx="480596" cy="5882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41FCD22-2A76-3BF1-4E95-EDC1AB0EA8C2}"/>
              </a:ext>
            </a:extLst>
          </p:cNvPr>
          <p:cNvCxnSpPr/>
          <p:nvPr/>
        </p:nvCxnSpPr>
        <p:spPr>
          <a:xfrm>
            <a:off x="7563118" y="3153456"/>
            <a:ext cx="480596" cy="588236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72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9446BE-0AE7-37C3-88C9-53E15459EE6B}"/>
              </a:ext>
            </a:extLst>
          </p:cNvPr>
          <p:cNvSpPr txBox="1"/>
          <p:nvPr/>
        </p:nvSpPr>
        <p:spPr>
          <a:xfrm>
            <a:off x="272999" y="974719"/>
            <a:ext cx="1105794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Die</a:t>
            </a:r>
            <a:r>
              <a:rPr lang="ko-KR" altLang="en-US" sz="2000" dirty="0"/>
              <a:t>의 특정 영역에서 반복적으로 테스트 오류가 발생하는 경우</a:t>
            </a:r>
            <a:r>
              <a:rPr lang="en-US" altLang="ko-KR" sz="2000" dirty="0"/>
              <a:t>, Die Monitoring </a:t>
            </a:r>
            <a:r>
              <a:rPr lang="ko-KR" altLang="en-US" sz="2000" dirty="0"/>
              <a:t>기능을 통해 이를 감지하고 설정된 기준 개수를 초과하면 설비를 </a:t>
            </a:r>
            <a:r>
              <a:rPr lang="en-US" altLang="ko-KR" sz="2000" dirty="0"/>
              <a:t>Hold </a:t>
            </a:r>
            <a:r>
              <a:rPr lang="ko-KR" altLang="en-US" sz="2000" dirty="0"/>
              <a:t>처리하거나 메일을 발송하여 엔지니어가 즉시 점검할 수 있도록 지원합니다</a:t>
            </a:r>
            <a:r>
              <a:rPr lang="en-US" altLang="ko-KR" sz="2000" dirty="0"/>
              <a:t>.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5. Die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의 특정 영역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98C507-E6CE-C626-7933-9525C5F8E7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46074" y="3094383"/>
            <a:ext cx="2217896" cy="2491161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02E7227C-5A6F-097E-9969-DC8FA89F4FAC}"/>
              </a:ext>
            </a:extLst>
          </p:cNvPr>
          <p:cNvSpPr/>
          <p:nvPr/>
        </p:nvSpPr>
        <p:spPr>
          <a:xfrm>
            <a:off x="5047710" y="3543400"/>
            <a:ext cx="138896" cy="101917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8C7B8D-7723-0F5A-96C5-8277DEE4D7B5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>
            <a:off x="5186606" y="4052990"/>
            <a:ext cx="980977" cy="683504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8F15516-B429-4D1B-87CB-3716A3B16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432464"/>
              </p:ext>
            </p:extLst>
          </p:nvPr>
        </p:nvGraphicFramePr>
        <p:xfrm>
          <a:off x="6167583" y="3890670"/>
          <a:ext cx="2996273" cy="1691648"/>
        </p:xfrm>
        <a:graphic>
          <a:graphicData uri="http://schemas.openxmlformats.org/drawingml/2006/table">
            <a:tbl>
              <a:tblPr/>
              <a:tblGrid>
                <a:gridCol w="1571333">
                  <a:extLst>
                    <a:ext uri="{9D8B030D-6E8A-4147-A177-3AD203B41FA5}">
                      <a16:colId xmlns:a16="http://schemas.microsoft.com/office/drawing/2014/main" val="2749945013"/>
                    </a:ext>
                  </a:extLst>
                </a:gridCol>
                <a:gridCol w="1424940">
                  <a:extLst>
                    <a:ext uri="{9D8B030D-6E8A-4147-A177-3AD203B41FA5}">
                      <a16:colId xmlns:a16="http://schemas.microsoft.com/office/drawing/2014/main" val="3904907804"/>
                    </a:ext>
                  </a:extLst>
                </a:gridCol>
              </a:tblGrid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항목명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설정값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E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064343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Structure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ASIC BCDC BL FH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94329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모니터링 단위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Wafer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800174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발생 개수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63332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메일 전송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541324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설비 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Hold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557639"/>
                  </a:ext>
                </a:extLst>
              </a:tr>
              <a:tr h="24166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Defect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 연계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TRUE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52002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84E0815C-E899-9DA8-6B79-474A004E3A2D}"/>
              </a:ext>
            </a:extLst>
          </p:cNvPr>
          <p:cNvSpPr txBox="1"/>
          <p:nvPr/>
        </p:nvSpPr>
        <p:spPr>
          <a:xfrm>
            <a:off x="6070526" y="3556332"/>
            <a:ext cx="204177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200" b="1" dirty="0"/>
              <a:t>Monitoring Item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65483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85ABF565-131D-E06E-4426-0BE64DEA7FC4}"/>
              </a:ext>
            </a:extLst>
          </p:cNvPr>
          <p:cNvSpPr txBox="1">
            <a:spLocks/>
          </p:cNvSpPr>
          <p:nvPr/>
        </p:nvSpPr>
        <p:spPr>
          <a:xfrm>
            <a:off x="1410807" y="371556"/>
            <a:ext cx="4607143" cy="130034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914400" lvl="1" indent="-457200">
              <a:buFont typeface="+mj-lt"/>
              <a:buAutoNum type="arabicPeriod"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2pPr>
          </a:lstStyle>
          <a:p>
            <a:pPr marL="0" marR="0" lvl="0" indent="0" defTabSz="91440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Agenda</a:t>
            </a: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제목 5">
            <a:extLst>
              <a:ext uri="{FF2B5EF4-FFF2-40B4-BE49-F238E27FC236}">
                <a16:creationId xmlns:a16="http://schemas.microsoft.com/office/drawing/2014/main" id="{7419B261-E701-B58C-43F9-072C5CDEB1BA}"/>
              </a:ext>
            </a:extLst>
          </p:cNvPr>
          <p:cNvSpPr txBox="1">
            <a:spLocks/>
          </p:cNvSpPr>
          <p:nvPr/>
        </p:nvSpPr>
        <p:spPr>
          <a:xfrm>
            <a:off x="985077" y="880043"/>
            <a:ext cx="5255950" cy="5706737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개요 및 시스템 구축 전략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 및 목표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범위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중점 추진 항목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GDS/CAD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Correlation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특정 영역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방안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 1)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2)</a:t>
            </a: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 2)</a:t>
            </a:r>
          </a:p>
          <a:p>
            <a:pPr marL="457200" lvl="1" defTabSz="914400" latinLnBrk="1">
              <a:lnSpc>
                <a:spcPct val="150000"/>
              </a:lnSpc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DMS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YMS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주요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83162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AA03F-629D-E563-9A15-FFA639F58C4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(Phase1)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EDA4-E92D-11C2-FDC9-1F9D7E2928F1}"/>
              </a:ext>
            </a:extLst>
          </p:cNvPr>
          <p:cNvSpPr txBox="1"/>
          <p:nvPr/>
        </p:nvSpPr>
        <p:spPr>
          <a:xfrm>
            <a:off x="272999" y="974719"/>
            <a:ext cx="1158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Phase 1 </a:t>
            </a:r>
            <a:r>
              <a:rPr lang="ko-KR" altLang="en-US" sz="2000" dirty="0"/>
              <a:t>프로젝트는 총 </a:t>
            </a:r>
            <a:r>
              <a:rPr lang="en-US" altLang="ko-KR" sz="2000" dirty="0"/>
              <a:t>6</a:t>
            </a:r>
            <a:r>
              <a:rPr lang="ko-KR" altLang="en-US" sz="2000" dirty="0"/>
              <a:t>개월간 수행되며</a:t>
            </a:r>
            <a:r>
              <a:rPr lang="en-US" altLang="ko-KR" sz="2000" dirty="0"/>
              <a:t>, </a:t>
            </a:r>
            <a:r>
              <a:rPr lang="ko-KR" altLang="en-US" sz="2000" dirty="0"/>
              <a:t>분석</a:t>
            </a:r>
            <a:r>
              <a:rPr lang="en-US" altLang="ko-KR" sz="2000" dirty="0"/>
              <a:t>·</a:t>
            </a:r>
            <a:r>
              <a:rPr lang="ko-KR" altLang="en-US" sz="2000" dirty="0"/>
              <a:t>설계</a:t>
            </a:r>
            <a:r>
              <a:rPr lang="en-US" altLang="ko-KR" sz="2000" dirty="0"/>
              <a:t>, </a:t>
            </a:r>
            <a:r>
              <a:rPr lang="ko-KR" altLang="en-US" sz="2000" dirty="0"/>
              <a:t>개발 및 테스트 단계를 거쳐 시스템을 오픈할 예정입니다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또한</a:t>
            </a:r>
            <a:r>
              <a:rPr lang="en-US" altLang="ko-KR" sz="2000" dirty="0"/>
              <a:t>, 1</a:t>
            </a:r>
            <a:r>
              <a:rPr lang="ko-KR" altLang="en-US" sz="2000" dirty="0"/>
              <a:t>개월의 안정화 기간을 포함하여 운영 과정에서 발생할 수 있는 이슈를 최소화하고</a:t>
            </a:r>
            <a:r>
              <a:rPr lang="en-US" altLang="ko-KR" sz="2000" dirty="0"/>
              <a:t>, </a:t>
            </a:r>
            <a:r>
              <a:rPr lang="ko-KR" altLang="en-US" sz="2000" dirty="0"/>
              <a:t>안정적인 서비스 제공이 이루어질 수 있도록 지원하겠습니다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0E99F1-4648-4A29-5B1E-3C53286FE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900750"/>
              </p:ext>
            </p:extLst>
          </p:nvPr>
        </p:nvGraphicFramePr>
        <p:xfrm>
          <a:off x="2065191" y="2317804"/>
          <a:ext cx="8066380" cy="3977185"/>
        </p:xfrm>
        <a:graphic>
          <a:graphicData uri="http://schemas.openxmlformats.org/drawingml/2006/table">
            <a:tbl>
              <a:tblPr/>
              <a:tblGrid>
                <a:gridCol w="1429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3099753027"/>
                    </a:ext>
                  </a:extLst>
                </a:gridCol>
              </a:tblGrid>
              <a:tr h="31784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9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분석</a:t>
                      </a:r>
                      <a:r>
                        <a:rPr lang="en-US" altLang="ko-KR" sz="12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/ </a:t>
                      </a:r>
                      <a:r>
                        <a:rPr lang="ko-KR" altLang="en-US" sz="1200" b="1" i="0" u="none" strike="noStrike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적용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안정화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74177"/>
                  </a:ext>
                </a:extLst>
              </a:tr>
              <a:tr h="519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Milestone</a:t>
                      </a:r>
                    </a:p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 및 일정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997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YMS+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DMS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70F02CF6-2E9D-D25A-D680-6FD91694FF6D}"/>
              </a:ext>
            </a:extLst>
          </p:cNvPr>
          <p:cNvGrpSpPr/>
          <p:nvPr/>
        </p:nvGrpSpPr>
        <p:grpSpPr>
          <a:xfrm>
            <a:off x="4182056" y="2982989"/>
            <a:ext cx="576000" cy="335714"/>
            <a:chOff x="2397081" y="2362308"/>
            <a:chExt cx="576000" cy="335714"/>
          </a:xfrm>
        </p:grpSpPr>
        <p:sp>
          <p:nvSpPr>
            <p:cNvPr id="6" name="Rectangle 115">
              <a:extLst>
                <a:ext uri="{FF2B5EF4-FFF2-40B4-BE49-F238E27FC236}">
                  <a16:creationId xmlns:a16="http://schemas.microsoft.com/office/drawing/2014/main" id="{DAF7CF32-76EA-DAF1-D688-E6A89694C85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397081" y="2573372"/>
              <a:ext cx="576000" cy="124650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defTabSz="911225" latinLnBrk="0">
                <a:lnSpc>
                  <a:spcPct val="90000"/>
                </a:lnSpc>
                <a:buFont typeface="Times New Roman" pitchFamily="18" charset="0"/>
                <a:buNone/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</a:rPr>
                <a:t>착수 보고</a:t>
              </a:r>
              <a:endParaRPr lang="en-US" altLang="ko-KR" sz="9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F3BFA59E-9E0B-7828-6D5F-0F059A62C5B6}"/>
                </a:ext>
              </a:extLst>
            </p:cNvPr>
            <p:cNvSpPr/>
            <p:nvPr/>
          </p:nvSpPr>
          <p:spPr bwMode="auto">
            <a:xfrm>
              <a:off x="2613076" y="2362308"/>
              <a:ext cx="144009" cy="144109"/>
            </a:xfrm>
            <a:prstGeom prst="ellipse">
              <a:avLst/>
            </a:prstGeom>
            <a:solidFill>
              <a:srgbClr val="6699FF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lIns="18000" rIns="18000" anchor="ctr"/>
            <a:lstStyle/>
            <a:p>
              <a:pPr algn="r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endParaRPr lang="ko-KR" altLang="en-US" sz="11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662D32D-DC73-86CB-654A-4262B9971622}"/>
              </a:ext>
            </a:extLst>
          </p:cNvPr>
          <p:cNvGrpSpPr/>
          <p:nvPr/>
        </p:nvGrpSpPr>
        <p:grpSpPr>
          <a:xfrm>
            <a:off x="9563686" y="3002673"/>
            <a:ext cx="501740" cy="330590"/>
            <a:chOff x="8393302" y="2359644"/>
            <a:chExt cx="501740" cy="33059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768E83E-DBAC-547E-AB3C-0DF9DEBF5B25}"/>
                </a:ext>
              </a:extLst>
            </p:cNvPr>
            <p:cNvSpPr/>
            <p:nvPr/>
          </p:nvSpPr>
          <p:spPr bwMode="auto">
            <a:xfrm>
              <a:off x="8751033" y="2359644"/>
              <a:ext cx="144009" cy="144109"/>
            </a:xfrm>
            <a:prstGeom prst="ellipse">
              <a:avLst/>
            </a:prstGeom>
            <a:solidFill>
              <a:srgbClr val="6699FF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lIns="18000" rIns="18000" anchor="ctr"/>
            <a:lstStyle/>
            <a:p>
              <a:pPr algn="r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endParaRPr lang="ko-KR" altLang="en-US" sz="11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10" name="Rectangle 115">
              <a:extLst>
                <a:ext uri="{FF2B5EF4-FFF2-40B4-BE49-F238E27FC236}">
                  <a16:creationId xmlns:a16="http://schemas.microsoft.com/office/drawing/2014/main" id="{A35AA84A-8ACA-D3F6-F0B5-31014D8E4C7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3302" y="2565584"/>
              <a:ext cx="501740" cy="124650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 defTabSz="911225" latinLnBrk="0">
                <a:lnSpc>
                  <a:spcPct val="90000"/>
                </a:lnSpc>
                <a:buFont typeface="Times New Roman" pitchFamily="18" charset="0"/>
                <a:buNone/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</a:rPr>
                <a:t>완료 보고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0A778286-529F-42EC-235E-87B834299E3A}"/>
              </a:ext>
            </a:extLst>
          </p:cNvPr>
          <p:cNvGrpSpPr/>
          <p:nvPr/>
        </p:nvGrpSpPr>
        <p:grpSpPr>
          <a:xfrm>
            <a:off x="6056998" y="2983938"/>
            <a:ext cx="501740" cy="324467"/>
            <a:chOff x="3896341" y="2359644"/>
            <a:chExt cx="501740" cy="324467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3B7253A5-667B-3445-3BAE-C5C43DC8B893}"/>
                </a:ext>
              </a:extLst>
            </p:cNvPr>
            <p:cNvSpPr/>
            <p:nvPr/>
          </p:nvSpPr>
          <p:spPr bwMode="auto">
            <a:xfrm>
              <a:off x="4057783" y="2359644"/>
              <a:ext cx="144009" cy="144109"/>
            </a:xfrm>
            <a:prstGeom prst="ellipse">
              <a:avLst/>
            </a:prstGeom>
            <a:solidFill>
              <a:srgbClr val="6699FF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lIns="18000" rIns="18000" anchor="ctr"/>
            <a:lstStyle/>
            <a:p>
              <a:pPr algn="r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endParaRPr lang="ko-KR" altLang="en-US" sz="11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13" name="Rectangle 115">
              <a:extLst>
                <a:ext uri="{FF2B5EF4-FFF2-40B4-BE49-F238E27FC236}">
                  <a16:creationId xmlns:a16="http://schemas.microsoft.com/office/drawing/2014/main" id="{536EFB3A-11A7-BAE7-783A-A41D4D79103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896341" y="2559461"/>
              <a:ext cx="501740" cy="124650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 defTabSz="911225" latinLnBrk="0">
                <a:lnSpc>
                  <a:spcPct val="90000"/>
                </a:lnSpc>
                <a:buFont typeface="Times New Roman" pitchFamily="18" charset="0"/>
                <a:buNone/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</a:rPr>
                <a:t>중간 보고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B862B17-EFCC-21D7-2497-0A3768DF3D0A}"/>
              </a:ext>
            </a:extLst>
          </p:cNvPr>
          <p:cNvGrpSpPr/>
          <p:nvPr/>
        </p:nvGrpSpPr>
        <p:grpSpPr>
          <a:xfrm>
            <a:off x="5485030" y="3836113"/>
            <a:ext cx="1260686" cy="521381"/>
            <a:chOff x="4428721" y="2946847"/>
            <a:chExt cx="1260686" cy="5213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BD89AE7-2A37-F8C0-4664-753B1CCFE50A}"/>
                </a:ext>
              </a:extLst>
            </p:cNvPr>
            <p:cNvSpPr txBox="1"/>
            <p:nvPr/>
          </p:nvSpPr>
          <p:spPr>
            <a:xfrm>
              <a:off x="4428721" y="3098896"/>
              <a:ext cx="9573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자동 처리 기능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개발</a:t>
              </a: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7CD1881-7053-02C0-A4C2-E62ABB22CC83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F004ED11-BC8B-57B5-19F5-033F82E8786D}"/>
                </a:ext>
              </a:extLst>
            </p:cNvPr>
            <p:cNvCxnSpPr>
              <a:cxnSpLocks/>
              <a:stCxn id="16" idx="6"/>
            </p:cNvCxnSpPr>
            <p:nvPr/>
          </p:nvCxnSpPr>
          <p:spPr>
            <a:xfrm>
              <a:off x="4632633" y="3018855"/>
              <a:ext cx="105677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6BA343D5-6EA7-CB03-12FB-E1586CC1E27A}"/>
              </a:ext>
            </a:extLst>
          </p:cNvPr>
          <p:cNvGrpSpPr/>
          <p:nvPr/>
        </p:nvGrpSpPr>
        <p:grpSpPr>
          <a:xfrm>
            <a:off x="7597904" y="3875960"/>
            <a:ext cx="738925" cy="471047"/>
            <a:chOff x="4982253" y="3429000"/>
            <a:chExt cx="738925" cy="4710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FD1375F-259E-2488-3B79-D0D55041C1A4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단위 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테스트</a:t>
              </a:r>
            </a:p>
          </p:txBody>
        </p: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8700C13D-5E80-AFF8-C46E-8673CC524019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8579BB29-87CF-9370-CAE7-2C1E38206AD6}"/>
                </a:ext>
              </a:extLst>
            </p:cNvPr>
            <p:cNvCxnSpPr>
              <a:cxnSpLocks/>
              <a:stCxn id="20" idx="6"/>
            </p:cNvCxnSpPr>
            <p:nvPr/>
          </p:nvCxnSpPr>
          <p:spPr>
            <a:xfrm>
              <a:off x="5126269" y="3501008"/>
              <a:ext cx="594909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9F32944-F0D3-C4EF-B0AF-4BE6F6D6C64C}"/>
              </a:ext>
            </a:extLst>
          </p:cNvPr>
          <p:cNvGrpSpPr/>
          <p:nvPr/>
        </p:nvGrpSpPr>
        <p:grpSpPr>
          <a:xfrm>
            <a:off x="5570578" y="5034836"/>
            <a:ext cx="1234753" cy="471047"/>
            <a:chOff x="5545391" y="4149000"/>
            <a:chExt cx="1234753" cy="471047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4B6355F-B660-B3E1-7C11-0C4996F94D84}"/>
                </a:ext>
              </a:extLst>
            </p:cNvPr>
            <p:cNvSpPr txBox="1"/>
            <p:nvPr/>
          </p:nvSpPr>
          <p:spPr>
            <a:xfrm>
              <a:off x="5648281" y="4250715"/>
              <a:ext cx="784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Data Parser</a:t>
              </a: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개발</a:t>
              </a:r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098144F7-766F-7C2E-DF33-0C6733D197BF}"/>
                </a:ext>
              </a:extLst>
            </p:cNvPr>
            <p:cNvSpPr/>
            <p:nvPr/>
          </p:nvSpPr>
          <p:spPr>
            <a:xfrm>
              <a:off x="5545391" y="414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500823C7-7244-FCC1-94EE-9B45750A366D}"/>
                </a:ext>
              </a:extLst>
            </p:cNvPr>
            <p:cNvCxnSpPr>
              <a:cxnSpLocks/>
              <a:stCxn id="24" idx="6"/>
            </p:cNvCxnSpPr>
            <p:nvPr/>
          </p:nvCxnSpPr>
          <p:spPr>
            <a:xfrm>
              <a:off x="5689407" y="4221008"/>
              <a:ext cx="109073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1F13A93-2F79-47A5-D5DC-61A26A366476}"/>
              </a:ext>
            </a:extLst>
          </p:cNvPr>
          <p:cNvGrpSpPr/>
          <p:nvPr/>
        </p:nvGrpSpPr>
        <p:grpSpPr>
          <a:xfrm>
            <a:off x="3617006" y="3558989"/>
            <a:ext cx="646331" cy="567802"/>
            <a:chOff x="2267097" y="2951874"/>
            <a:chExt cx="646331" cy="56780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F8DBDAEF-EB00-AA1F-10B7-C7B82BD309C1}"/>
                </a:ext>
              </a:extLst>
            </p:cNvPr>
            <p:cNvSpPr/>
            <p:nvPr/>
          </p:nvSpPr>
          <p:spPr>
            <a:xfrm>
              <a:off x="2347625" y="2951874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41638F8-ED3B-AA2C-A65E-A7574B2470D8}"/>
                </a:ext>
              </a:extLst>
            </p:cNvPr>
            <p:cNvSpPr txBox="1"/>
            <p:nvPr/>
          </p:nvSpPr>
          <p:spPr>
            <a:xfrm>
              <a:off x="2267097" y="3150344"/>
              <a:ext cx="6463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기준정보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분석</a:t>
              </a:r>
            </a:p>
          </p:txBody>
        </p: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EFC9D8B4-DD9C-FDE7-BA59-F1F91C9E71CA}"/>
                </a:ext>
              </a:extLst>
            </p:cNvPr>
            <p:cNvCxnSpPr>
              <a:cxnSpLocks/>
              <a:stCxn id="27" idx="6"/>
            </p:cNvCxnSpPr>
            <p:nvPr/>
          </p:nvCxnSpPr>
          <p:spPr>
            <a:xfrm>
              <a:off x="2491641" y="3023882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F1C4D5F-D58C-3B61-A940-9CA04B064AEF}"/>
              </a:ext>
            </a:extLst>
          </p:cNvPr>
          <p:cNvGrpSpPr/>
          <p:nvPr/>
        </p:nvGrpSpPr>
        <p:grpSpPr>
          <a:xfrm>
            <a:off x="3605812" y="4782989"/>
            <a:ext cx="801823" cy="567802"/>
            <a:chOff x="2267097" y="2951874"/>
            <a:chExt cx="801823" cy="567802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39ADB60C-EE4D-2566-50AE-001E9EABA4CB}"/>
                </a:ext>
              </a:extLst>
            </p:cNvPr>
            <p:cNvSpPr/>
            <p:nvPr/>
          </p:nvSpPr>
          <p:spPr>
            <a:xfrm>
              <a:off x="2347625" y="2951874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754BEC6D-3DFA-8099-F6C0-938B3BAACAA8}"/>
                </a:ext>
              </a:extLst>
            </p:cNvPr>
            <p:cNvSpPr txBox="1"/>
            <p:nvPr/>
          </p:nvSpPr>
          <p:spPr>
            <a:xfrm>
              <a:off x="2267097" y="3150344"/>
              <a:ext cx="8018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데이터 파일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분석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E64F4FA4-86F1-00D2-33B7-04EE60E3CE12}"/>
                </a:ext>
              </a:extLst>
            </p:cNvPr>
            <p:cNvCxnSpPr>
              <a:cxnSpLocks/>
              <a:stCxn id="31" idx="6"/>
            </p:cNvCxnSpPr>
            <p:nvPr/>
          </p:nvCxnSpPr>
          <p:spPr>
            <a:xfrm>
              <a:off x="2491641" y="3023882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032B504-08D8-C043-8D11-7611438DF594}"/>
              </a:ext>
            </a:extLst>
          </p:cNvPr>
          <p:cNvGrpSpPr/>
          <p:nvPr/>
        </p:nvGrpSpPr>
        <p:grpSpPr>
          <a:xfrm>
            <a:off x="4275477" y="5070989"/>
            <a:ext cx="784189" cy="567802"/>
            <a:chOff x="2267097" y="2951874"/>
            <a:chExt cx="784189" cy="567802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9DE388A-3125-7C21-CAED-D05527C53558}"/>
                </a:ext>
              </a:extLst>
            </p:cNvPr>
            <p:cNvSpPr/>
            <p:nvPr/>
          </p:nvSpPr>
          <p:spPr>
            <a:xfrm>
              <a:off x="2347625" y="2951874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E66604E-7CB0-B7C3-3F90-BA2D7446FAC7}"/>
                </a:ext>
              </a:extLst>
            </p:cNvPr>
            <p:cNvSpPr txBox="1"/>
            <p:nvPr/>
          </p:nvSpPr>
          <p:spPr>
            <a:xfrm>
              <a:off x="2267097" y="3150344"/>
              <a:ext cx="784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Data</a:t>
              </a: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 </a:t>
              </a: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Parser</a:t>
              </a: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설계</a:t>
              </a:r>
            </a:p>
          </p:txBody>
        </p:sp>
        <p:cxnSp>
          <p:nvCxnSpPr>
            <p:cNvPr id="37" name="직선 화살표 연결선 36">
              <a:extLst>
                <a:ext uri="{FF2B5EF4-FFF2-40B4-BE49-F238E27FC236}">
                  <a16:creationId xmlns:a16="http://schemas.microsoft.com/office/drawing/2014/main" id="{24563F87-4CCB-0804-F979-84263CF9AF6F}"/>
                </a:ext>
              </a:extLst>
            </p:cNvPr>
            <p:cNvCxnSpPr>
              <a:cxnSpLocks/>
              <a:stCxn id="35" idx="6"/>
            </p:cNvCxnSpPr>
            <p:nvPr/>
          </p:nvCxnSpPr>
          <p:spPr>
            <a:xfrm>
              <a:off x="2491641" y="3023882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471D895E-28A5-E87C-FF6B-DE43F0979596}"/>
              </a:ext>
            </a:extLst>
          </p:cNvPr>
          <p:cNvGrpSpPr/>
          <p:nvPr/>
        </p:nvGrpSpPr>
        <p:grpSpPr>
          <a:xfrm>
            <a:off x="4253569" y="3851096"/>
            <a:ext cx="803425" cy="691611"/>
            <a:chOff x="2504757" y="3217107"/>
            <a:chExt cx="803425" cy="691611"/>
          </a:xfrm>
        </p:grpSpPr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07594F3-160F-8A35-85B7-FE4D8011F0B5}"/>
                </a:ext>
              </a:extLst>
            </p:cNvPr>
            <p:cNvSpPr/>
            <p:nvPr/>
          </p:nvSpPr>
          <p:spPr>
            <a:xfrm>
              <a:off x="2616548" y="321710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617E58F-D977-6238-657F-9DFBFBBFAF1F}"/>
                </a:ext>
              </a:extLst>
            </p:cNvPr>
            <p:cNvSpPr txBox="1"/>
            <p:nvPr/>
          </p:nvSpPr>
          <p:spPr>
            <a:xfrm>
              <a:off x="2504757" y="3400887"/>
              <a:ext cx="803425" cy="5078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CAD </a:t>
              </a: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데이터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관리 기능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설계</a:t>
              </a:r>
            </a:p>
          </p:txBody>
        </p:sp>
        <p:cxnSp>
          <p:nvCxnSpPr>
            <p:cNvPr id="41" name="직선 화살표 연결선 40">
              <a:extLst>
                <a:ext uri="{FF2B5EF4-FFF2-40B4-BE49-F238E27FC236}">
                  <a16:creationId xmlns:a16="http://schemas.microsoft.com/office/drawing/2014/main" id="{8C9E9029-6792-031A-439B-D81A98F0FE90}"/>
                </a:ext>
              </a:extLst>
            </p:cNvPr>
            <p:cNvCxnSpPr>
              <a:cxnSpLocks/>
              <a:stCxn id="39" idx="6"/>
            </p:cNvCxnSpPr>
            <p:nvPr/>
          </p:nvCxnSpPr>
          <p:spPr>
            <a:xfrm>
              <a:off x="2760564" y="3289115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6A7B4711-4351-C6AB-36CC-D5F9484C9BEE}"/>
              </a:ext>
            </a:extLst>
          </p:cNvPr>
          <p:cNvGrpSpPr/>
          <p:nvPr/>
        </p:nvGrpSpPr>
        <p:grpSpPr>
          <a:xfrm>
            <a:off x="4863866" y="4286959"/>
            <a:ext cx="922047" cy="567802"/>
            <a:chOff x="2267097" y="2951874"/>
            <a:chExt cx="922047" cy="567802"/>
          </a:xfrm>
        </p:grpSpPr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CBE8272-BE1F-50B3-282D-93BDE2C6710E}"/>
                </a:ext>
              </a:extLst>
            </p:cNvPr>
            <p:cNvSpPr/>
            <p:nvPr/>
          </p:nvSpPr>
          <p:spPr>
            <a:xfrm>
              <a:off x="2347625" y="2951874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6D58A00-1A75-7326-D52C-5601D531FC3D}"/>
                </a:ext>
              </a:extLst>
            </p:cNvPr>
            <p:cNvSpPr txBox="1"/>
            <p:nvPr/>
          </p:nvSpPr>
          <p:spPr>
            <a:xfrm>
              <a:off x="2267097" y="3150344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사용자 </a:t>
              </a: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Report</a:t>
              </a: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설계</a:t>
              </a:r>
            </a:p>
          </p:txBody>
        </p:sp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457D2A6C-153C-3266-0B72-219F394F92E4}"/>
                </a:ext>
              </a:extLst>
            </p:cNvPr>
            <p:cNvCxnSpPr>
              <a:cxnSpLocks/>
              <a:stCxn id="43" idx="6"/>
            </p:cNvCxnSpPr>
            <p:nvPr/>
          </p:nvCxnSpPr>
          <p:spPr>
            <a:xfrm>
              <a:off x="2491641" y="3023882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C39312B7-C5B3-54EB-C7ED-C4F999A4523A}"/>
              </a:ext>
            </a:extLst>
          </p:cNvPr>
          <p:cNvGrpSpPr/>
          <p:nvPr/>
        </p:nvGrpSpPr>
        <p:grpSpPr>
          <a:xfrm>
            <a:off x="4863866" y="5469602"/>
            <a:ext cx="917239" cy="429302"/>
            <a:chOff x="2267097" y="2951874"/>
            <a:chExt cx="917239" cy="429302"/>
          </a:xfrm>
        </p:grpSpPr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330F1950-C76E-168D-2306-5EF28BC98748}"/>
                </a:ext>
              </a:extLst>
            </p:cNvPr>
            <p:cNvSpPr/>
            <p:nvPr/>
          </p:nvSpPr>
          <p:spPr>
            <a:xfrm>
              <a:off x="2347625" y="2951874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7558B91-0EB1-09B0-F33A-63350F9DD3CD}"/>
                </a:ext>
              </a:extLst>
            </p:cNvPr>
            <p:cNvSpPr txBox="1"/>
            <p:nvPr/>
          </p:nvSpPr>
          <p:spPr>
            <a:xfrm>
              <a:off x="2267097" y="3150344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분석기능 설계</a:t>
              </a:r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15CC9727-9C45-81F1-3E30-22A9D17B17D6}"/>
                </a:ext>
              </a:extLst>
            </p:cNvPr>
            <p:cNvCxnSpPr>
              <a:cxnSpLocks/>
              <a:stCxn id="47" idx="6"/>
            </p:cNvCxnSpPr>
            <p:nvPr/>
          </p:nvCxnSpPr>
          <p:spPr>
            <a:xfrm>
              <a:off x="2491641" y="3023882"/>
              <a:ext cx="42178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4D6D868-368E-BD33-FF00-087FA58CE4AE}"/>
              </a:ext>
            </a:extLst>
          </p:cNvPr>
          <p:cNvGrpSpPr/>
          <p:nvPr/>
        </p:nvGrpSpPr>
        <p:grpSpPr>
          <a:xfrm>
            <a:off x="6711054" y="4286959"/>
            <a:ext cx="1260686" cy="521381"/>
            <a:chOff x="4428721" y="2946847"/>
            <a:chExt cx="1260686" cy="52138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0308E9-3995-99E6-8DE7-3A654D1122FF}"/>
                </a:ext>
              </a:extLst>
            </p:cNvPr>
            <p:cNvSpPr txBox="1"/>
            <p:nvPr/>
          </p:nvSpPr>
          <p:spPr>
            <a:xfrm>
              <a:off x="4428721" y="3098896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사용자 </a:t>
              </a: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Report</a:t>
              </a: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개발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30CA3E3-8349-6A7A-5668-FC2F7965F181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EB3C98E1-53BD-7430-00B3-A83504252DF6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>
              <a:off x="4632633" y="3018855"/>
              <a:ext cx="105677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B479A390-A5E0-C7B2-2004-861C4B9DFB55}"/>
              </a:ext>
            </a:extLst>
          </p:cNvPr>
          <p:cNvGrpSpPr/>
          <p:nvPr/>
        </p:nvGrpSpPr>
        <p:grpSpPr>
          <a:xfrm>
            <a:off x="6753032" y="5027918"/>
            <a:ext cx="1260686" cy="382881"/>
            <a:chOff x="4428721" y="2946847"/>
            <a:chExt cx="1260686" cy="382881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B287AC5-718E-9AE7-9E76-8C067CD05686}"/>
                </a:ext>
              </a:extLst>
            </p:cNvPr>
            <p:cNvSpPr txBox="1"/>
            <p:nvPr/>
          </p:nvSpPr>
          <p:spPr>
            <a:xfrm>
              <a:off x="4428721" y="3098896"/>
              <a:ext cx="118814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모니터링 기능 개발</a:t>
              </a:r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11205A27-945E-3653-593B-65AFFCC2CDC3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7" name="직선 화살표 연결선 56">
              <a:extLst>
                <a:ext uri="{FF2B5EF4-FFF2-40B4-BE49-F238E27FC236}">
                  <a16:creationId xmlns:a16="http://schemas.microsoft.com/office/drawing/2014/main" id="{47E48176-E88A-AD06-2D3A-817D6A47F21A}"/>
                </a:ext>
              </a:extLst>
            </p:cNvPr>
            <p:cNvCxnSpPr>
              <a:cxnSpLocks/>
              <a:stCxn id="56" idx="6"/>
            </p:cNvCxnSpPr>
            <p:nvPr/>
          </p:nvCxnSpPr>
          <p:spPr>
            <a:xfrm>
              <a:off x="4632633" y="3018855"/>
              <a:ext cx="105677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F4343AD-A569-AFF8-2C94-4328AF8D7792}"/>
              </a:ext>
            </a:extLst>
          </p:cNvPr>
          <p:cNvGrpSpPr/>
          <p:nvPr/>
        </p:nvGrpSpPr>
        <p:grpSpPr>
          <a:xfrm>
            <a:off x="8353607" y="3875960"/>
            <a:ext cx="633805" cy="471047"/>
            <a:chOff x="4982253" y="3429000"/>
            <a:chExt cx="633805" cy="47104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A6ADB3-5243-7D5B-32A1-8F8235ABD51A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통합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테스트</a:t>
              </a: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5507555-EA6D-D96D-F6F2-1885A4AD1AE3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6DEA9E00-31E8-2EAB-7B05-BFDC9479A458}"/>
                </a:ext>
              </a:extLst>
            </p:cNvPr>
            <p:cNvCxnSpPr>
              <a:cxnSpLocks/>
              <a:stCxn id="60" idx="6"/>
            </p:cNvCxnSpPr>
            <p:nvPr/>
          </p:nvCxnSpPr>
          <p:spPr>
            <a:xfrm>
              <a:off x="5126269" y="3501008"/>
              <a:ext cx="489789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1375EA8-7145-EAEF-6646-F7A402B3CD6D}"/>
              </a:ext>
            </a:extLst>
          </p:cNvPr>
          <p:cNvGrpSpPr/>
          <p:nvPr/>
        </p:nvGrpSpPr>
        <p:grpSpPr>
          <a:xfrm>
            <a:off x="8251152" y="4782989"/>
            <a:ext cx="1101124" cy="332547"/>
            <a:chOff x="4982253" y="3429000"/>
            <a:chExt cx="1101124" cy="33254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E36C8B3-163D-381D-127D-55EEA87DEBD2}"/>
                </a:ext>
              </a:extLst>
            </p:cNvPr>
            <p:cNvSpPr txBox="1"/>
            <p:nvPr/>
          </p:nvSpPr>
          <p:spPr>
            <a:xfrm>
              <a:off x="5085143" y="3530715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기능 개선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A3E56814-1C9A-AB6D-4108-1096C1CD0BA3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13" name="직선 화살표 연결선 512">
              <a:extLst>
                <a:ext uri="{FF2B5EF4-FFF2-40B4-BE49-F238E27FC236}">
                  <a16:creationId xmlns:a16="http://schemas.microsoft.com/office/drawing/2014/main" id="{855ED148-9589-CD42-4A6D-27BDC5D0C9D2}"/>
                </a:ext>
              </a:extLst>
            </p:cNvPr>
            <p:cNvCxnSpPr>
              <a:cxnSpLocks/>
              <a:stCxn id="512" idx="6"/>
            </p:cNvCxnSpPr>
            <p:nvPr/>
          </p:nvCxnSpPr>
          <p:spPr>
            <a:xfrm>
              <a:off x="5126269" y="3501008"/>
              <a:ext cx="957108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903AF772-3BF7-766A-A8F1-609D678EC432}"/>
              </a:ext>
            </a:extLst>
          </p:cNvPr>
          <p:cNvGrpSpPr/>
          <p:nvPr/>
        </p:nvGrpSpPr>
        <p:grpSpPr>
          <a:xfrm>
            <a:off x="9020922" y="3882563"/>
            <a:ext cx="1110649" cy="332547"/>
            <a:chOff x="4982253" y="3429000"/>
            <a:chExt cx="1110649" cy="332547"/>
          </a:xfrm>
        </p:grpSpPr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9E9D4533-6C87-0A92-A093-7CB62630F763}"/>
                </a:ext>
              </a:extLst>
            </p:cNvPr>
            <p:cNvSpPr txBox="1"/>
            <p:nvPr/>
          </p:nvSpPr>
          <p:spPr>
            <a:xfrm>
              <a:off x="5100383" y="3530715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시스템 안정화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B13CB8DD-5850-2B6F-25B0-36240D670AC6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17" name="직선 화살표 연결선 516">
              <a:extLst>
                <a:ext uri="{FF2B5EF4-FFF2-40B4-BE49-F238E27FC236}">
                  <a16:creationId xmlns:a16="http://schemas.microsoft.com/office/drawing/2014/main" id="{3B6BDDA5-97B1-5E46-5B99-CA22A8BED081}"/>
                </a:ext>
              </a:extLst>
            </p:cNvPr>
            <p:cNvCxnSpPr>
              <a:cxnSpLocks/>
              <a:stCxn id="516" idx="6"/>
            </p:cNvCxnSpPr>
            <p:nvPr/>
          </p:nvCxnSpPr>
          <p:spPr>
            <a:xfrm>
              <a:off x="5126269" y="3501008"/>
              <a:ext cx="966633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21F40230-A531-6128-0206-5BF58B0A3B37}"/>
              </a:ext>
            </a:extLst>
          </p:cNvPr>
          <p:cNvGrpSpPr/>
          <p:nvPr/>
        </p:nvGrpSpPr>
        <p:grpSpPr>
          <a:xfrm>
            <a:off x="8718471" y="5309084"/>
            <a:ext cx="633805" cy="471047"/>
            <a:chOff x="4982253" y="3429000"/>
            <a:chExt cx="633805" cy="471047"/>
          </a:xfrm>
        </p:grpSpPr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2C7326E4-3C4C-2E33-E363-BD237F0DF779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사용자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교육</a:t>
              </a:r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E7079A89-4209-15F0-C9A1-0A1C8E03C650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21" name="직선 화살표 연결선 520">
              <a:extLst>
                <a:ext uri="{FF2B5EF4-FFF2-40B4-BE49-F238E27FC236}">
                  <a16:creationId xmlns:a16="http://schemas.microsoft.com/office/drawing/2014/main" id="{D5333B8A-BDD0-E9FE-1EAE-7E39274D807F}"/>
                </a:ext>
              </a:extLst>
            </p:cNvPr>
            <p:cNvCxnSpPr>
              <a:cxnSpLocks/>
              <a:stCxn id="520" idx="6"/>
            </p:cNvCxnSpPr>
            <p:nvPr/>
          </p:nvCxnSpPr>
          <p:spPr>
            <a:xfrm>
              <a:off x="5126269" y="3501008"/>
              <a:ext cx="48126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26" name="그룹 525">
            <a:extLst>
              <a:ext uri="{FF2B5EF4-FFF2-40B4-BE49-F238E27FC236}">
                <a16:creationId xmlns:a16="http://schemas.microsoft.com/office/drawing/2014/main" id="{F1206E1A-FB77-A588-C5C9-D9FA9C90941C}"/>
              </a:ext>
            </a:extLst>
          </p:cNvPr>
          <p:cNvGrpSpPr/>
          <p:nvPr/>
        </p:nvGrpSpPr>
        <p:grpSpPr>
          <a:xfrm>
            <a:off x="9446209" y="5309084"/>
            <a:ext cx="699320" cy="471047"/>
            <a:chOff x="4982253" y="3429000"/>
            <a:chExt cx="699320" cy="471047"/>
          </a:xfrm>
        </p:grpSpPr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F922F03D-003F-3446-E9CE-BEF813EBEC16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산출물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정리</a:t>
              </a:r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A58F24E8-61CE-0054-CBC1-08272F89A1A8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29" name="직선 화살표 연결선 528">
              <a:extLst>
                <a:ext uri="{FF2B5EF4-FFF2-40B4-BE49-F238E27FC236}">
                  <a16:creationId xmlns:a16="http://schemas.microsoft.com/office/drawing/2014/main" id="{9A4C99B8-310F-722C-4C6F-919D384BDB97}"/>
                </a:ext>
              </a:extLst>
            </p:cNvPr>
            <p:cNvCxnSpPr>
              <a:cxnSpLocks/>
              <a:stCxn id="528" idx="6"/>
            </p:cNvCxnSpPr>
            <p:nvPr/>
          </p:nvCxnSpPr>
          <p:spPr>
            <a:xfrm>
              <a:off x="5126269" y="3501008"/>
              <a:ext cx="55530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31" name="그룹 530">
            <a:extLst>
              <a:ext uri="{FF2B5EF4-FFF2-40B4-BE49-F238E27FC236}">
                <a16:creationId xmlns:a16="http://schemas.microsoft.com/office/drawing/2014/main" id="{C6011705-3A4E-E737-D8ED-C4336056417C}"/>
              </a:ext>
            </a:extLst>
          </p:cNvPr>
          <p:cNvGrpSpPr/>
          <p:nvPr/>
        </p:nvGrpSpPr>
        <p:grpSpPr>
          <a:xfrm>
            <a:off x="8569972" y="2986980"/>
            <a:ext cx="728061" cy="338316"/>
            <a:chOff x="7329000" y="2359644"/>
            <a:chExt cx="728061" cy="338316"/>
          </a:xfrm>
        </p:grpSpPr>
        <p:sp>
          <p:nvSpPr>
            <p:cNvPr id="532" name="Rectangle 115">
              <a:extLst>
                <a:ext uri="{FF2B5EF4-FFF2-40B4-BE49-F238E27FC236}">
                  <a16:creationId xmlns:a16="http://schemas.microsoft.com/office/drawing/2014/main" id="{E01641FA-9A5F-5990-ACC4-1F984C595B0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7329000" y="2559461"/>
              <a:ext cx="728061" cy="138499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square" lIns="0" tIns="0" rIns="0" bIns="0" anchor="ctr">
              <a:spAutoFit/>
            </a:bodyPr>
            <a:lstStyle/>
            <a:p>
              <a:pPr algn="ctr" defTabSz="911225" latinLnBrk="0">
                <a:lnSpc>
                  <a:spcPct val="90000"/>
                </a:lnSpc>
                <a:buFont typeface="Times New Roman" pitchFamily="18" charset="0"/>
                <a:buNone/>
                <a:defRPr/>
              </a:pPr>
              <a:r>
                <a:rPr lang="en-US" altLang="ko-KR" sz="1000" b="1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rgbClr val="0000FF"/>
                  </a:solidFill>
                  <a:latin typeface="맑은 고딕"/>
                </a:rPr>
                <a:t>Open</a:t>
              </a:r>
            </a:p>
          </p:txBody>
        </p:sp>
        <p:sp>
          <p:nvSpPr>
            <p:cNvPr id="533" name="타원 532">
              <a:extLst>
                <a:ext uri="{FF2B5EF4-FFF2-40B4-BE49-F238E27FC236}">
                  <a16:creationId xmlns:a16="http://schemas.microsoft.com/office/drawing/2014/main" id="{0DC3CAC4-50C4-36F8-1133-45034B54C052}"/>
                </a:ext>
              </a:extLst>
            </p:cNvPr>
            <p:cNvSpPr/>
            <p:nvPr/>
          </p:nvSpPr>
          <p:spPr bwMode="auto">
            <a:xfrm>
              <a:off x="7631582" y="2359644"/>
              <a:ext cx="144009" cy="144109"/>
            </a:xfrm>
            <a:prstGeom prst="ellipse">
              <a:avLst/>
            </a:prstGeom>
            <a:solidFill>
              <a:srgbClr val="6699FF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lIns="18000" rIns="18000" anchor="ctr"/>
            <a:lstStyle/>
            <a:p>
              <a:pPr algn="r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endParaRPr lang="ko-KR" altLang="en-US" sz="11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</p:grpSp>
      <p:grpSp>
        <p:nvGrpSpPr>
          <p:cNvPr id="534" name="그룹 533">
            <a:extLst>
              <a:ext uri="{FF2B5EF4-FFF2-40B4-BE49-F238E27FC236}">
                <a16:creationId xmlns:a16="http://schemas.microsoft.com/office/drawing/2014/main" id="{E3E27717-29B1-934B-E8C0-B22E4A980FFD}"/>
              </a:ext>
            </a:extLst>
          </p:cNvPr>
          <p:cNvGrpSpPr/>
          <p:nvPr/>
        </p:nvGrpSpPr>
        <p:grpSpPr>
          <a:xfrm>
            <a:off x="6719929" y="3536139"/>
            <a:ext cx="957313" cy="382881"/>
            <a:chOff x="4428721" y="2946847"/>
            <a:chExt cx="957313" cy="382881"/>
          </a:xfrm>
        </p:grpSpPr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1DD0FBBD-9657-12C6-0EF4-D7AEAC57382F}"/>
                </a:ext>
              </a:extLst>
            </p:cNvPr>
            <p:cNvSpPr txBox="1"/>
            <p:nvPr/>
          </p:nvSpPr>
          <p:spPr>
            <a:xfrm>
              <a:off x="4428721" y="3098896"/>
              <a:ext cx="95731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기준 정보 등록</a:t>
              </a:r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503ABD65-0924-2A88-1580-69B398709C2F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37" name="직선 화살표 연결선 536">
              <a:extLst>
                <a:ext uri="{FF2B5EF4-FFF2-40B4-BE49-F238E27FC236}">
                  <a16:creationId xmlns:a16="http://schemas.microsoft.com/office/drawing/2014/main" id="{59722FC2-06B2-5E5A-9C74-CC790A8BB928}"/>
                </a:ext>
              </a:extLst>
            </p:cNvPr>
            <p:cNvCxnSpPr>
              <a:cxnSpLocks/>
              <a:stCxn id="536" idx="6"/>
            </p:cNvCxnSpPr>
            <p:nvPr/>
          </p:nvCxnSpPr>
          <p:spPr>
            <a:xfrm>
              <a:off x="4632633" y="3018855"/>
              <a:ext cx="511123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152031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AA03F-629D-E563-9A15-FFA639F58C4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(Phase1)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EDA4-E92D-11C2-FDC9-1F9D7E2928F1}"/>
              </a:ext>
            </a:extLst>
          </p:cNvPr>
          <p:cNvSpPr txBox="1"/>
          <p:nvPr/>
        </p:nvSpPr>
        <p:spPr>
          <a:xfrm>
            <a:off x="272999" y="974719"/>
            <a:ext cx="110952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Phase 1</a:t>
            </a:r>
            <a:r>
              <a:rPr lang="ko-KR" altLang="en-US" sz="2000" dirty="0"/>
              <a:t>은 총 </a:t>
            </a:r>
            <a:r>
              <a:rPr lang="en-US" altLang="ko-KR" sz="2000" dirty="0"/>
              <a:t>6</a:t>
            </a:r>
            <a:r>
              <a:rPr lang="ko-KR" altLang="en-US" sz="2000" dirty="0"/>
              <a:t>개월의 수행 기간으로 계획하였으며</a:t>
            </a:r>
            <a:r>
              <a:rPr lang="en-US" altLang="ko-KR" sz="2000" dirty="0"/>
              <a:t>, </a:t>
            </a:r>
            <a:r>
              <a:rPr lang="ko-KR" altLang="en-US" sz="2000" dirty="0"/>
              <a:t>총 </a:t>
            </a:r>
            <a:r>
              <a:rPr lang="en-US" altLang="ko-KR" sz="2000" dirty="0"/>
              <a:t>8M/M</a:t>
            </a:r>
            <a:r>
              <a:rPr lang="ko-KR" altLang="en-US" sz="2000" dirty="0"/>
              <a:t>의 인력을 투입하여 프로젝트 일정 관리와 품질 확보를 체계적으로 수행할 예정입니다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이를 통해 계획된 일정 내에 안정적인 시스템 구축 및 성공적인 프로젝트 완료를 달성하겠습니다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530" name="표 529">
            <a:extLst>
              <a:ext uri="{FF2B5EF4-FFF2-40B4-BE49-F238E27FC236}">
                <a16:creationId xmlns:a16="http://schemas.microsoft.com/office/drawing/2014/main" id="{0CE575E2-AE0A-114D-385C-4A4B2931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8929208"/>
              </p:ext>
            </p:extLst>
          </p:nvPr>
        </p:nvGraphicFramePr>
        <p:xfrm>
          <a:off x="1683046" y="2396496"/>
          <a:ext cx="8275122" cy="2535232"/>
        </p:xfrm>
        <a:graphic>
          <a:graphicData uri="http://schemas.openxmlformats.org/drawingml/2006/table">
            <a:tbl>
              <a:tblPr lastRow="1"/>
              <a:tblGrid>
                <a:gridCol w="1823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1740678160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1805752044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97696955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4223033223"/>
                    </a:ext>
                  </a:extLst>
                </a:gridCol>
                <a:gridCol w="809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투입 인력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M1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M2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M3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M4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M5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M6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분석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특급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0.5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고급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62449"/>
                  </a:ext>
                </a:extLst>
              </a:tr>
              <a:tr h="55083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</a:t>
                      </a:r>
                      <a:r>
                        <a:rPr lang="en-US" altLang="ko-KR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(M/M)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1.5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4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8310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AA03F-629D-E563-9A15-FFA639F58C4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(Phase2)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EDA4-E92D-11C2-FDC9-1F9D7E2928F1}"/>
              </a:ext>
            </a:extLst>
          </p:cNvPr>
          <p:cNvSpPr txBox="1"/>
          <p:nvPr/>
        </p:nvSpPr>
        <p:spPr>
          <a:xfrm>
            <a:off x="272999" y="974719"/>
            <a:ext cx="115851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Phase 2 </a:t>
            </a:r>
            <a:r>
              <a:rPr lang="ko-KR" altLang="en-US" sz="2000" dirty="0"/>
              <a:t>프로젝트는 총 </a:t>
            </a:r>
            <a:r>
              <a:rPr lang="en-US" altLang="ko-KR" sz="2000" dirty="0"/>
              <a:t>3</a:t>
            </a:r>
            <a:r>
              <a:rPr lang="ko-KR" altLang="en-US" sz="2000" dirty="0"/>
              <a:t>개월간 수행되며</a:t>
            </a:r>
            <a:r>
              <a:rPr lang="en-US" altLang="ko-KR" sz="2000" dirty="0"/>
              <a:t>, </a:t>
            </a:r>
            <a:r>
              <a:rPr lang="ko-KR" altLang="en-US" sz="2000" dirty="0"/>
              <a:t>테스트 및 기능 보완 단계를 거쳐 시스템의 안정성을 확보할 예정입니다</a:t>
            </a:r>
            <a:r>
              <a:rPr lang="en-US" altLang="ko-KR" sz="2000" dirty="0"/>
              <a:t>. </a:t>
            </a:r>
            <a:r>
              <a:rPr lang="ko-KR" altLang="en-US" sz="2000" dirty="0"/>
              <a:t>또한</a:t>
            </a:r>
            <a:r>
              <a:rPr lang="en-US" altLang="ko-KR" sz="2000" dirty="0"/>
              <a:t>, 1</a:t>
            </a:r>
            <a:r>
              <a:rPr lang="ko-KR" altLang="en-US" sz="2000" dirty="0"/>
              <a:t>개월의 안정화 기간과 인수인계 수행을 통해 향후 운영 과정에서 차질 없이 시스템이 운영될 수 있도록 지원하겠습니다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0E99F1-4648-4A29-5B1E-3C53286FE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3263055"/>
              </p:ext>
            </p:extLst>
          </p:nvPr>
        </p:nvGraphicFramePr>
        <p:xfrm>
          <a:off x="3725907" y="2317804"/>
          <a:ext cx="4747789" cy="3977185"/>
        </p:xfrm>
        <a:graphic>
          <a:graphicData uri="http://schemas.openxmlformats.org/drawingml/2006/table">
            <a:tbl>
              <a:tblPr/>
              <a:tblGrid>
                <a:gridCol w="14291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06197">
                  <a:extLst>
                    <a:ext uri="{9D8B030D-6E8A-4147-A177-3AD203B41FA5}">
                      <a16:colId xmlns:a16="http://schemas.microsoft.com/office/drawing/2014/main" val="3099753027"/>
                    </a:ext>
                  </a:extLst>
                </a:gridCol>
              </a:tblGrid>
              <a:tr h="317841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790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r>
                        <a:rPr lang="en-US" altLang="ko-KR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보완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안정화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74177"/>
                  </a:ext>
                </a:extLst>
              </a:tr>
              <a:tr h="5195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Milestone</a:t>
                      </a:r>
                    </a:p>
                    <a:p>
                      <a:pPr algn="ctr" rtl="0" fontAlgn="ctr"/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보고 및 일정</a:t>
                      </a:r>
                      <a:r>
                        <a:rPr lang="en-US" altLang="ko-K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997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YMS+</a:t>
                      </a: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DMS</a:t>
                      </a:r>
                      <a:endParaRPr kumimoji="0" lang="en-US" altLang="ko-KR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algn="ctr" rtl="0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36" marR="5836" marT="5836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4662D32D-DC73-86CB-654A-4262B9971622}"/>
              </a:ext>
            </a:extLst>
          </p:cNvPr>
          <p:cNvGrpSpPr/>
          <p:nvPr/>
        </p:nvGrpSpPr>
        <p:grpSpPr>
          <a:xfrm>
            <a:off x="7918704" y="3039645"/>
            <a:ext cx="501740" cy="330590"/>
            <a:chOff x="8393302" y="2359644"/>
            <a:chExt cx="501740" cy="330590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5768E83E-DBAC-547E-AB3C-0DF9DEBF5B25}"/>
                </a:ext>
              </a:extLst>
            </p:cNvPr>
            <p:cNvSpPr/>
            <p:nvPr/>
          </p:nvSpPr>
          <p:spPr bwMode="auto">
            <a:xfrm>
              <a:off x="8751033" y="2359644"/>
              <a:ext cx="144009" cy="144109"/>
            </a:xfrm>
            <a:prstGeom prst="ellipse">
              <a:avLst/>
            </a:prstGeom>
            <a:solidFill>
              <a:srgbClr val="6699FF"/>
            </a:solidFill>
            <a:ln w="9525" cap="flat" cmpd="sng" algn="ctr">
              <a:solidFill>
                <a:srgbClr val="FFCC00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txBody>
            <a:bodyPr wrap="none" lIns="18000" rIns="18000" anchor="ctr"/>
            <a:lstStyle/>
            <a:p>
              <a:pPr algn="r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endParaRPr lang="ko-KR" altLang="en-US" sz="1100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10" name="Rectangle 115">
              <a:extLst>
                <a:ext uri="{FF2B5EF4-FFF2-40B4-BE49-F238E27FC236}">
                  <a16:creationId xmlns:a16="http://schemas.microsoft.com/office/drawing/2014/main" id="{A35AA84A-8ACA-D3F6-F0B5-31014D8E4C7B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393302" y="2565584"/>
              <a:ext cx="501740" cy="124650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 defTabSz="911225" latinLnBrk="0">
                <a:lnSpc>
                  <a:spcPct val="90000"/>
                </a:lnSpc>
                <a:buFont typeface="Times New Roman" pitchFamily="18" charset="0"/>
                <a:buNone/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맑은 고딕"/>
                </a:rPr>
                <a:t>완료 보고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B4D6D868-368E-BD33-FF00-087FA58CE4AE}"/>
              </a:ext>
            </a:extLst>
          </p:cNvPr>
          <p:cNvGrpSpPr/>
          <p:nvPr/>
        </p:nvGrpSpPr>
        <p:grpSpPr>
          <a:xfrm>
            <a:off x="5545082" y="5699317"/>
            <a:ext cx="1686570" cy="521381"/>
            <a:chOff x="4428721" y="2946847"/>
            <a:chExt cx="1686570" cy="52138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C0308E9-3995-99E6-8DE7-3A654D1122FF}"/>
                </a:ext>
              </a:extLst>
            </p:cNvPr>
            <p:cNvSpPr txBox="1"/>
            <p:nvPr/>
          </p:nvSpPr>
          <p:spPr>
            <a:xfrm>
              <a:off x="4428721" y="3098896"/>
              <a:ext cx="9220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사용자 </a:t>
              </a:r>
              <a:r>
                <a:rPr lang="en-US" altLang="ko-KR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Report</a:t>
              </a: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개발</a:t>
              </a:r>
            </a:p>
          </p:txBody>
        </p:sp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130CA3E3-8349-6A7A-5668-FC2F7965F181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3" name="직선 화살표 연결선 52">
              <a:extLst>
                <a:ext uri="{FF2B5EF4-FFF2-40B4-BE49-F238E27FC236}">
                  <a16:creationId xmlns:a16="http://schemas.microsoft.com/office/drawing/2014/main" id="{EB3C98E1-53BD-7430-00B3-A83504252DF6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>
              <a:off x="4632633" y="3018855"/>
              <a:ext cx="1482658" cy="15327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8F4343AD-A569-AFF8-2C94-4328AF8D7792}"/>
              </a:ext>
            </a:extLst>
          </p:cNvPr>
          <p:cNvGrpSpPr/>
          <p:nvPr/>
        </p:nvGrpSpPr>
        <p:grpSpPr>
          <a:xfrm>
            <a:off x="5525183" y="4303349"/>
            <a:ext cx="1085825" cy="471047"/>
            <a:chOff x="4982253" y="3429000"/>
            <a:chExt cx="1085825" cy="471047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6A6ADB3-5243-7D5B-32A1-8F8235ABD51A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통합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테스트</a:t>
              </a:r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15507555-EA6D-D96D-F6F2-1885A4AD1AE3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61" name="직선 화살표 연결선 60">
              <a:extLst>
                <a:ext uri="{FF2B5EF4-FFF2-40B4-BE49-F238E27FC236}">
                  <a16:creationId xmlns:a16="http://schemas.microsoft.com/office/drawing/2014/main" id="{6DEA9E00-31E8-2EAB-7B05-BFDC9479A458}"/>
                </a:ext>
              </a:extLst>
            </p:cNvPr>
            <p:cNvCxnSpPr>
              <a:cxnSpLocks/>
              <a:stCxn id="60" idx="6"/>
            </p:cNvCxnSpPr>
            <p:nvPr/>
          </p:nvCxnSpPr>
          <p:spPr>
            <a:xfrm>
              <a:off x="5126269" y="3501008"/>
              <a:ext cx="941809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81375EA8-7145-EAEF-6646-F7A402B3CD6D}"/>
              </a:ext>
            </a:extLst>
          </p:cNvPr>
          <p:cNvGrpSpPr/>
          <p:nvPr/>
        </p:nvGrpSpPr>
        <p:grpSpPr>
          <a:xfrm>
            <a:off x="5881177" y="3710619"/>
            <a:ext cx="922579" cy="332547"/>
            <a:chOff x="4982253" y="3429000"/>
            <a:chExt cx="922579" cy="332547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0E36C8B3-163D-381D-127D-55EEA87DEBD2}"/>
                </a:ext>
              </a:extLst>
            </p:cNvPr>
            <p:cNvSpPr txBox="1"/>
            <p:nvPr/>
          </p:nvSpPr>
          <p:spPr>
            <a:xfrm>
              <a:off x="5085143" y="3530715"/>
              <a:ext cx="686406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기능 개선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512" name="타원 511">
              <a:extLst>
                <a:ext uri="{FF2B5EF4-FFF2-40B4-BE49-F238E27FC236}">
                  <a16:creationId xmlns:a16="http://schemas.microsoft.com/office/drawing/2014/main" id="{A3E56814-1C9A-AB6D-4108-1096C1CD0BA3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13" name="직선 화살표 연결선 512">
              <a:extLst>
                <a:ext uri="{FF2B5EF4-FFF2-40B4-BE49-F238E27FC236}">
                  <a16:creationId xmlns:a16="http://schemas.microsoft.com/office/drawing/2014/main" id="{855ED148-9589-CD42-4A6D-27BDC5D0C9D2}"/>
                </a:ext>
              </a:extLst>
            </p:cNvPr>
            <p:cNvCxnSpPr>
              <a:cxnSpLocks/>
              <a:stCxn id="512" idx="6"/>
            </p:cNvCxnSpPr>
            <p:nvPr/>
          </p:nvCxnSpPr>
          <p:spPr>
            <a:xfrm>
              <a:off x="5126269" y="3501008"/>
              <a:ext cx="778563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14" name="그룹 513">
            <a:extLst>
              <a:ext uri="{FF2B5EF4-FFF2-40B4-BE49-F238E27FC236}">
                <a16:creationId xmlns:a16="http://schemas.microsoft.com/office/drawing/2014/main" id="{903AF772-3BF7-766A-A8F1-609D678EC432}"/>
              </a:ext>
            </a:extLst>
          </p:cNvPr>
          <p:cNvGrpSpPr/>
          <p:nvPr/>
        </p:nvGrpSpPr>
        <p:grpSpPr>
          <a:xfrm>
            <a:off x="7293169" y="4075885"/>
            <a:ext cx="1092288" cy="332547"/>
            <a:chOff x="4982253" y="3429000"/>
            <a:chExt cx="1092288" cy="332547"/>
          </a:xfrm>
        </p:grpSpPr>
        <p:sp>
          <p:nvSpPr>
            <p:cNvPr id="515" name="TextBox 514">
              <a:extLst>
                <a:ext uri="{FF2B5EF4-FFF2-40B4-BE49-F238E27FC236}">
                  <a16:creationId xmlns:a16="http://schemas.microsoft.com/office/drawing/2014/main" id="{9E9D4533-6C87-0A92-A093-7CB62630F763}"/>
                </a:ext>
              </a:extLst>
            </p:cNvPr>
            <p:cNvSpPr txBox="1"/>
            <p:nvPr/>
          </p:nvSpPr>
          <p:spPr>
            <a:xfrm>
              <a:off x="5100383" y="3530715"/>
              <a:ext cx="91723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시스템 안정화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516" name="타원 515">
              <a:extLst>
                <a:ext uri="{FF2B5EF4-FFF2-40B4-BE49-F238E27FC236}">
                  <a16:creationId xmlns:a16="http://schemas.microsoft.com/office/drawing/2014/main" id="{B13CB8DD-5850-2B6F-25B0-36240D670AC6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17" name="직선 화살표 연결선 516">
              <a:extLst>
                <a:ext uri="{FF2B5EF4-FFF2-40B4-BE49-F238E27FC236}">
                  <a16:creationId xmlns:a16="http://schemas.microsoft.com/office/drawing/2014/main" id="{3B6BDDA5-97B1-5E46-5B99-CA22A8BED081}"/>
                </a:ext>
              </a:extLst>
            </p:cNvPr>
            <p:cNvCxnSpPr>
              <a:cxnSpLocks/>
              <a:stCxn id="516" idx="6"/>
            </p:cNvCxnSpPr>
            <p:nvPr/>
          </p:nvCxnSpPr>
          <p:spPr>
            <a:xfrm>
              <a:off x="5126269" y="3501008"/>
              <a:ext cx="948272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18" name="그룹 517">
            <a:extLst>
              <a:ext uri="{FF2B5EF4-FFF2-40B4-BE49-F238E27FC236}">
                <a16:creationId xmlns:a16="http://schemas.microsoft.com/office/drawing/2014/main" id="{21F40230-A531-6128-0206-5BF58B0A3B37}"/>
              </a:ext>
            </a:extLst>
          </p:cNvPr>
          <p:cNvGrpSpPr/>
          <p:nvPr/>
        </p:nvGrpSpPr>
        <p:grpSpPr>
          <a:xfrm>
            <a:off x="6740532" y="4899599"/>
            <a:ext cx="633805" cy="471047"/>
            <a:chOff x="4982253" y="3429000"/>
            <a:chExt cx="633805" cy="471047"/>
          </a:xfrm>
        </p:grpSpPr>
        <p:sp>
          <p:nvSpPr>
            <p:cNvPr id="519" name="TextBox 518">
              <a:extLst>
                <a:ext uri="{FF2B5EF4-FFF2-40B4-BE49-F238E27FC236}">
                  <a16:creationId xmlns:a16="http://schemas.microsoft.com/office/drawing/2014/main" id="{2C7326E4-3C4C-2E33-E363-BD237F0DF779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사용자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교육</a:t>
              </a:r>
            </a:p>
          </p:txBody>
        </p:sp>
        <p:sp>
          <p:nvSpPr>
            <p:cNvPr id="520" name="타원 519">
              <a:extLst>
                <a:ext uri="{FF2B5EF4-FFF2-40B4-BE49-F238E27FC236}">
                  <a16:creationId xmlns:a16="http://schemas.microsoft.com/office/drawing/2014/main" id="{E7079A89-4209-15F0-C9A1-0A1C8E03C650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21" name="직선 화살표 연결선 520">
              <a:extLst>
                <a:ext uri="{FF2B5EF4-FFF2-40B4-BE49-F238E27FC236}">
                  <a16:creationId xmlns:a16="http://schemas.microsoft.com/office/drawing/2014/main" id="{D5333B8A-BDD0-E9FE-1EAE-7E39274D807F}"/>
                </a:ext>
              </a:extLst>
            </p:cNvPr>
            <p:cNvCxnSpPr>
              <a:cxnSpLocks/>
              <a:stCxn id="520" idx="6"/>
            </p:cNvCxnSpPr>
            <p:nvPr/>
          </p:nvCxnSpPr>
          <p:spPr>
            <a:xfrm>
              <a:off x="5126269" y="3501008"/>
              <a:ext cx="48126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22" name="그룹 521">
            <a:extLst>
              <a:ext uri="{FF2B5EF4-FFF2-40B4-BE49-F238E27FC236}">
                <a16:creationId xmlns:a16="http://schemas.microsoft.com/office/drawing/2014/main" id="{6CC76CAB-5C03-BBF7-4B68-E6696925D217}"/>
              </a:ext>
            </a:extLst>
          </p:cNvPr>
          <p:cNvGrpSpPr/>
          <p:nvPr/>
        </p:nvGrpSpPr>
        <p:grpSpPr>
          <a:xfrm>
            <a:off x="7655253" y="5700982"/>
            <a:ext cx="818443" cy="364597"/>
            <a:chOff x="4982253" y="3429000"/>
            <a:chExt cx="818443" cy="364597"/>
          </a:xfrm>
        </p:grpSpPr>
        <p:sp>
          <p:nvSpPr>
            <p:cNvPr id="523" name="TextBox 522">
              <a:extLst>
                <a:ext uri="{FF2B5EF4-FFF2-40B4-BE49-F238E27FC236}">
                  <a16:creationId xmlns:a16="http://schemas.microsoft.com/office/drawing/2014/main" id="{EF7E9A70-DCFE-C880-4F56-9DC221A142F0}"/>
                </a:ext>
              </a:extLst>
            </p:cNvPr>
            <p:cNvSpPr txBox="1"/>
            <p:nvPr/>
          </p:nvSpPr>
          <p:spPr>
            <a:xfrm>
              <a:off x="5085143" y="3562765"/>
              <a:ext cx="6463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인수인계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</p:txBody>
        </p:sp>
        <p:sp>
          <p:nvSpPr>
            <p:cNvPr id="524" name="타원 523">
              <a:extLst>
                <a:ext uri="{FF2B5EF4-FFF2-40B4-BE49-F238E27FC236}">
                  <a16:creationId xmlns:a16="http://schemas.microsoft.com/office/drawing/2014/main" id="{8FA931F6-B22B-2907-08E0-E661D4BA4D9B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25" name="직선 화살표 연결선 524">
              <a:extLst>
                <a:ext uri="{FF2B5EF4-FFF2-40B4-BE49-F238E27FC236}">
                  <a16:creationId xmlns:a16="http://schemas.microsoft.com/office/drawing/2014/main" id="{E86F7174-5A13-859F-EB17-9D31841E2A75}"/>
                </a:ext>
              </a:extLst>
            </p:cNvPr>
            <p:cNvCxnSpPr>
              <a:cxnSpLocks/>
              <a:stCxn id="524" idx="6"/>
            </p:cNvCxnSpPr>
            <p:nvPr/>
          </p:nvCxnSpPr>
          <p:spPr>
            <a:xfrm>
              <a:off x="5126269" y="3501008"/>
              <a:ext cx="674427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26" name="그룹 525">
            <a:extLst>
              <a:ext uri="{FF2B5EF4-FFF2-40B4-BE49-F238E27FC236}">
                <a16:creationId xmlns:a16="http://schemas.microsoft.com/office/drawing/2014/main" id="{F1206E1A-FB77-A588-C5C9-D9FA9C90941C}"/>
              </a:ext>
            </a:extLst>
          </p:cNvPr>
          <p:cNvGrpSpPr/>
          <p:nvPr/>
        </p:nvGrpSpPr>
        <p:grpSpPr>
          <a:xfrm>
            <a:off x="7293169" y="5240187"/>
            <a:ext cx="699320" cy="471047"/>
            <a:chOff x="4982253" y="3429000"/>
            <a:chExt cx="699320" cy="471047"/>
          </a:xfrm>
        </p:grpSpPr>
        <p:sp>
          <p:nvSpPr>
            <p:cNvPr id="527" name="TextBox 526">
              <a:extLst>
                <a:ext uri="{FF2B5EF4-FFF2-40B4-BE49-F238E27FC236}">
                  <a16:creationId xmlns:a16="http://schemas.microsoft.com/office/drawing/2014/main" id="{F922F03D-003F-3446-E9CE-BEF813EBEC16}"/>
                </a:ext>
              </a:extLst>
            </p:cNvPr>
            <p:cNvSpPr txBox="1"/>
            <p:nvPr/>
          </p:nvSpPr>
          <p:spPr>
            <a:xfrm>
              <a:off x="5085143" y="3530715"/>
              <a:ext cx="5309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산출물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정리</a:t>
              </a:r>
            </a:p>
          </p:txBody>
        </p:sp>
        <p:sp>
          <p:nvSpPr>
            <p:cNvPr id="528" name="타원 527">
              <a:extLst>
                <a:ext uri="{FF2B5EF4-FFF2-40B4-BE49-F238E27FC236}">
                  <a16:creationId xmlns:a16="http://schemas.microsoft.com/office/drawing/2014/main" id="{A58F24E8-61CE-0054-CBC1-08272F89A1A8}"/>
                </a:ext>
              </a:extLst>
            </p:cNvPr>
            <p:cNvSpPr/>
            <p:nvPr/>
          </p:nvSpPr>
          <p:spPr>
            <a:xfrm>
              <a:off x="4982253" y="3429000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29" name="직선 화살표 연결선 528">
              <a:extLst>
                <a:ext uri="{FF2B5EF4-FFF2-40B4-BE49-F238E27FC236}">
                  <a16:creationId xmlns:a16="http://schemas.microsoft.com/office/drawing/2014/main" id="{9A4C99B8-310F-722C-4C6F-919D384BDB97}"/>
                </a:ext>
              </a:extLst>
            </p:cNvPr>
            <p:cNvCxnSpPr>
              <a:cxnSpLocks/>
              <a:stCxn id="528" idx="6"/>
            </p:cNvCxnSpPr>
            <p:nvPr/>
          </p:nvCxnSpPr>
          <p:spPr>
            <a:xfrm>
              <a:off x="5126269" y="3501008"/>
              <a:ext cx="555304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  <p:grpSp>
        <p:nvGrpSpPr>
          <p:cNvPr id="534" name="그룹 533">
            <a:extLst>
              <a:ext uri="{FF2B5EF4-FFF2-40B4-BE49-F238E27FC236}">
                <a16:creationId xmlns:a16="http://schemas.microsoft.com/office/drawing/2014/main" id="{E3E27717-29B1-934B-E8C0-B22E4A980FFD}"/>
              </a:ext>
            </a:extLst>
          </p:cNvPr>
          <p:cNvGrpSpPr/>
          <p:nvPr/>
        </p:nvGrpSpPr>
        <p:grpSpPr>
          <a:xfrm>
            <a:off x="5106057" y="4919632"/>
            <a:ext cx="726481" cy="521381"/>
            <a:chOff x="4428721" y="2946847"/>
            <a:chExt cx="726481" cy="521381"/>
          </a:xfrm>
        </p:grpSpPr>
        <p:sp>
          <p:nvSpPr>
            <p:cNvPr id="535" name="TextBox 534">
              <a:extLst>
                <a:ext uri="{FF2B5EF4-FFF2-40B4-BE49-F238E27FC236}">
                  <a16:creationId xmlns:a16="http://schemas.microsoft.com/office/drawing/2014/main" id="{1DD0FBBD-9657-12C6-0EF4-D7AEAC57382F}"/>
                </a:ext>
              </a:extLst>
            </p:cNvPr>
            <p:cNvSpPr txBox="1"/>
            <p:nvPr/>
          </p:nvSpPr>
          <p:spPr>
            <a:xfrm>
              <a:off x="4428721" y="3098896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기준 정보 </a:t>
              </a:r>
              <a:endParaRPr lang="en-US" altLang="ko-KR" sz="900" i="1" kern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Text" lastClr="000000"/>
                </a:solidFill>
                <a:latin typeface="맑은 고딕"/>
              </a:endParaRPr>
            </a:p>
            <a:p>
              <a:pPr latinLnBrk="0">
                <a:defRPr/>
              </a:pPr>
              <a:r>
                <a:rPr lang="ko-KR" altLang="en-US" sz="900" i="1" kern="0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ysClr val="windowText" lastClr="000000"/>
                  </a:solidFill>
                  <a:latin typeface="맑은 고딕"/>
                </a:rPr>
                <a:t>추가 등록</a:t>
              </a:r>
            </a:p>
          </p:txBody>
        </p:sp>
        <p:sp>
          <p:nvSpPr>
            <p:cNvPr id="536" name="타원 535">
              <a:extLst>
                <a:ext uri="{FF2B5EF4-FFF2-40B4-BE49-F238E27FC236}">
                  <a16:creationId xmlns:a16="http://schemas.microsoft.com/office/drawing/2014/main" id="{503ABD65-0924-2A88-1580-69B398709C2F}"/>
                </a:ext>
              </a:extLst>
            </p:cNvPr>
            <p:cNvSpPr/>
            <p:nvPr/>
          </p:nvSpPr>
          <p:spPr>
            <a:xfrm>
              <a:off x="4488617" y="2946847"/>
              <a:ext cx="144016" cy="144016"/>
            </a:xfrm>
            <a:prstGeom prst="ellipse">
              <a:avLst/>
            </a:prstGeom>
            <a:solidFill>
              <a:srgbClr val="F5A200">
                <a:lumMod val="40000"/>
                <a:lumOff val="60000"/>
              </a:srgbClr>
            </a:solidFill>
            <a:ln w="2540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algn="ctr" latinLnBrk="0">
                <a:defRPr/>
              </a:pPr>
              <a:endParaRPr lang="ko-KR" altLang="en-US" sz="900" kern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ysClr val="window" lastClr="FFFFFF"/>
                </a:solidFill>
                <a:latin typeface="맑은 고딕"/>
              </a:endParaRPr>
            </a:p>
          </p:txBody>
        </p:sp>
        <p:cxnSp>
          <p:nvCxnSpPr>
            <p:cNvPr id="537" name="직선 화살표 연결선 536">
              <a:extLst>
                <a:ext uri="{FF2B5EF4-FFF2-40B4-BE49-F238E27FC236}">
                  <a16:creationId xmlns:a16="http://schemas.microsoft.com/office/drawing/2014/main" id="{59722FC2-06B2-5E5A-9C74-CC790A8BB928}"/>
                </a:ext>
              </a:extLst>
            </p:cNvPr>
            <p:cNvCxnSpPr>
              <a:cxnSpLocks/>
              <a:stCxn id="536" idx="6"/>
            </p:cNvCxnSpPr>
            <p:nvPr/>
          </p:nvCxnSpPr>
          <p:spPr>
            <a:xfrm>
              <a:off x="4632633" y="3018855"/>
              <a:ext cx="511123" cy="0"/>
            </a:xfrm>
            <a:prstGeom prst="straightConnector1">
              <a:avLst/>
            </a:prstGeom>
            <a:noFill/>
            <a:ln w="190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headEnd type="none" w="med" len="med"/>
              <a:tailEnd type="triangle" w="med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cxnSp>
      </p:grpSp>
    </p:spTree>
    <p:extLst>
      <p:ext uri="{BB962C8B-B14F-4D97-AF65-F5344CB8AC3E}">
        <p14:creationId xmlns:p14="http://schemas.microsoft.com/office/powerpoint/2010/main" val="36960056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AA03F-629D-E563-9A15-FFA639F58C46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 </a:t>
            </a:r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(Phase2)</a:t>
            </a:r>
            <a:endParaRPr lang="ko-KR" altLang="en-US" sz="2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E2EDA4-E92D-11C2-FDC9-1F9D7E2928F1}"/>
              </a:ext>
            </a:extLst>
          </p:cNvPr>
          <p:cNvSpPr txBox="1"/>
          <p:nvPr/>
        </p:nvSpPr>
        <p:spPr>
          <a:xfrm>
            <a:off x="272999" y="974719"/>
            <a:ext cx="1109521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dirty="0"/>
              <a:t>Phase 2</a:t>
            </a:r>
            <a:r>
              <a:rPr lang="ko-KR" altLang="en-US" sz="2000" dirty="0"/>
              <a:t>는 총 </a:t>
            </a:r>
            <a:r>
              <a:rPr lang="en-US" altLang="ko-KR" sz="2000" dirty="0"/>
              <a:t>3</a:t>
            </a:r>
            <a:r>
              <a:rPr lang="ko-KR" altLang="en-US" sz="2000" dirty="0"/>
              <a:t>개월의 수행 기간으로 계획하였으며</a:t>
            </a:r>
            <a:r>
              <a:rPr lang="en-US" altLang="ko-KR" sz="2000" dirty="0"/>
              <a:t>, </a:t>
            </a:r>
            <a:r>
              <a:rPr lang="ko-KR" altLang="en-US" sz="2000" dirty="0"/>
              <a:t>총 </a:t>
            </a:r>
            <a:r>
              <a:rPr lang="en-US" altLang="ko-KR" sz="2000" dirty="0"/>
              <a:t>3M/M</a:t>
            </a:r>
            <a:r>
              <a:rPr lang="ko-KR" altLang="en-US" sz="2000" dirty="0"/>
              <a:t>의 인력을 투입하여 시스템 품질을 확보하고</a:t>
            </a:r>
            <a:r>
              <a:rPr lang="en-US" altLang="ko-KR" sz="2000" dirty="0"/>
              <a:t>, </a:t>
            </a:r>
            <a:r>
              <a:rPr lang="ko-KR" altLang="en-US" sz="2000" dirty="0"/>
              <a:t>향후 안정적인 운영이 이루어질 수 있도록 지원하겠습니다</a:t>
            </a:r>
            <a:r>
              <a:rPr lang="en-US" altLang="ko-KR" sz="2000" dirty="0"/>
              <a:t>.</a:t>
            </a:r>
          </a:p>
        </p:txBody>
      </p:sp>
      <p:graphicFrame>
        <p:nvGraphicFramePr>
          <p:cNvPr id="530" name="표 529">
            <a:extLst>
              <a:ext uri="{FF2B5EF4-FFF2-40B4-BE49-F238E27FC236}">
                <a16:creationId xmlns:a16="http://schemas.microsoft.com/office/drawing/2014/main" id="{0CE575E2-AE0A-114D-385C-4A4B2931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306166"/>
              </p:ext>
            </p:extLst>
          </p:nvPr>
        </p:nvGraphicFramePr>
        <p:xfrm>
          <a:off x="2921232" y="2396496"/>
          <a:ext cx="6354297" cy="1832603"/>
        </p:xfrm>
        <a:graphic>
          <a:graphicData uri="http://schemas.openxmlformats.org/drawingml/2006/table">
            <a:tbl>
              <a:tblPr lastRow="1"/>
              <a:tblGrid>
                <a:gridCol w="1823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07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0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1740678160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1805752044"/>
                    </a:ext>
                  </a:extLst>
                </a:gridCol>
                <a:gridCol w="640275">
                  <a:extLst>
                    <a:ext uri="{9D8B030D-6E8A-4147-A177-3AD203B41FA5}">
                      <a16:colId xmlns:a16="http://schemas.microsoft.com/office/drawing/2014/main" val="297696955"/>
                    </a:ext>
                  </a:extLst>
                </a:gridCol>
                <a:gridCol w="8092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44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투입 인력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등급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M1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M2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M3</a:t>
                      </a:r>
                      <a:endParaRPr lang="ko-KR" alt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algn="ctr" fontAlgn="ctr">
                        <a:lnSpc>
                          <a:spcPct val="150000"/>
                        </a:lnSpc>
                      </a:pP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고급</a:t>
                      </a:r>
                      <a:endParaRPr lang="en-US" altLang="ko-KR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62449"/>
                  </a:ext>
                </a:extLst>
              </a:tr>
              <a:tr h="55083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</a:t>
                      </a: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(M/M)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713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5">
            <a:extLst>
              <a:ext uri="{FF2B5EF4-FFF2-40B4-BE49-F238E27FC236}">
                <a16:creationId xmlns:a16="http://schemas.microsoft.com/office/drawing/2014/main" id="{85ABF565-131D-E06E-4426-0BE64DEA7FC4}"/>
              </a:ext>
            </a:extLst>
          </p:cNvPr>
          <p:cNvSpPr txBox="1">
            <a:spLocks/>
          </p:cNvSpPr>
          <p:nvPr/>
        </p:nvSpPr>
        <p:spPr>
          <a:xfrm>
            <a:off x="1410807" y="788737"/>
            <a:ext cx="4607143" cy="130034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>
              <a:lnSpc>
                <a:spcPct val="90000"/>
              </a:lnSpc>
              <a:spcBef>
                <a:spcPct val="0"/>
              </a:spcBef>
              <a:buNone/>
              <a:defRPr sz="44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marL="914400" lvl="1" indent="-457200">
              <a:buFont typeface="+mj-lt"/>
              <a:buAutoNum type="arabicPeriod"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2pPr>
          </a:lstStyle>
          <a:p>
            <a:pPr marL="0" marR="0" lvl="0" indent="0" defTabSz="91440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Agenda</a:t>
            </a:r>
            <a:endParaRPr kumimoji="0" lang="ko-KR" altLang="en-US" sz="2400" b="1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sp>
        <p:nvSpPr>
          <p:cNvPr id="5" name="제목 5">
            <a:extLst>
              <a:ext uri="{FF2B5EF4-FFF2-40B4-BE49-F238E27FC236}">
                <a16:creationId xmlns:a16="http://schemas.microsoft.com/office/drawing/2014/main" id="{7419B261-E701-B58C-43F9-072C5CDEB1BA}"/>
              </a:ext>
            </a:extLst>
          </p:cNvPr>
          <p:cNvSpPr txBox="1">
            <a:spLocks/>
          </p:cNvSpPr>
          <p:nvPr/>
        </p:nvSpPr>
        <p:spPr>
          <a:xfrm>
            <a:off x="985077" y="1297224"/>
            <a:ext cx="5255950" cy="5097913"/>
          </a:xfrm>
          <a:prstGeom prst="rect">
            <a:avLst/>
          </a:prstGeom>
        </p:spPr>
        <p:txBody>
          <a:bodyPr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개요 및 시스템 구축 전략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제안 배경 및 목표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범위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중점 추진 항목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 구축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GDS/CAD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레이아웃 관리 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Correlation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분석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설비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특정 영역 </a:t>
            </a:r>
            <a:r>
              <a:rPr lang="en-US" altLang="ko-KR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 </a:t>
            </a: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914400" lvl="1" indent="-457200" defTabSz="914400" latinLnBrk="1">
              <a:lnSpc>
                <a:spcPct val="150000"/>
              </a:lnSpc>
              <a:buFont typeface="+mj-lt"/>
              <a:buAutoNum type="romanUcPeriod"/>
            </a:pPr>
            <a:r>
              <a:rPr lang="ko-KR" altLang="en-US" sz="16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프로젝트 수행 방안</a:t>
            </a:r>
            <a:endParaRPr lang="en-US" altLang="ko-KR" sz="16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추진 일정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ko-KR" altLang="en-US" sz="1200" b="1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인력 투입 계획</a:t>
            </a:r>
            <a:endParaRPr lang="en-US" altLang="ko-KR" sz="1200" b="1" dirty="0">
              <a:solidFill>
                <a:schemeClr val="bg1">
                  <a:lumMod val="7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57200" lvl="1" defTabSz="914400" latinLnBrk="1">
              <a:lnSpc>
                <a:spcPct val="150000"/>
              </a:lnSpc>
            </a:pP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기타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첨부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DMS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257300" lvl="2" indent="-342900" defTabSz="914400" latinLnBrk="1">
              <a:lnSpc>
                <a:spcPct val="150000"/>
              </a:lnSpc>
              <a:buFontTx/>
              <a:buAutoNum type="arabicPeriod"/>
            </a:pPr>
            <a:r>
              <a:rPr lang="en-US" altLang="ko-KR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YMS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주요 기능</a:t>
            </a:r>
            <a:endParaRPr lang="en-US" altLang="ko-KR" sz="14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9904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3">
            <a:extLst>
              <a:ext uri="{FF2B5EF4-FFF2-40B4-BE49-F238E27FC236}">
                <a16:creationId xmlns:a16="http://schemas.microsoft.com/office/drawing/2014/main" id="{F78B7DE3-2E67-A8F2-C8DE-C73713BCE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48" y="2714635"/>
            <a:ext cx="6540374" cy="841346"/>
          </a:xfrm>
        </p:spPr>
        <p:txBody>
          <a:bodyPr/>
          <a:lstStyle/>
          <a:p>
            <a:r>
              <a:rPr lang="ko-KR" altLang="en-US" dirty="0"/>
              <a:t>첨부</a:t>
            </a:r>
            <a:r>
              <a:rPr lang="en-US" altLang="ko-KR" dirty="0"/>
              <a:t>1. DMS </a:t>
            </a:r>
            <a:r>
              <a:rPr lang="ko-KR" altLang="en-US" dirty="0"/>
              <a:t>주요기능</a:t>
            </a:r>
          </a:p>
        </p:txBody>
      </p:sp>
    </p:spTree>
    <p:extLst>
      <p:ext uri="{BB962C8B-B14F-4D97-AF65-F5344CB8AC3E}">
        <p14:creationId xmlns:p14="http://schemas.microsoft.com/office/powerpoint/2010/main" val="2675045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F5CEE-7140-526A-B062-E2585CFF6988}"/>
              </a:ext>
            </a:extLst>
          </p:cNvPr>
          <p:cNvSpPr txBox="1"/>
          <p:nvPr/>
        </p:nvSpPr>
        <p:spPr>
          <a:xfrm>
            <a:off x="391688" y="987894"/>
            <a:ext cx="1167699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수집한 데이터를 기반으로 결함에 대한 분석을 통해 이전 공정의 문제점을 찾고 개선하여 품질 및 수율 향상 기대 </a:t>
            </a:r>
          </a:p>
        </p:txBody>
      </p:sp>
      <p:cxnSp>
        <p:nvCxnSpPr>
          <p:cNvPr id="7" name="슬라이드 5 형태 4">
            <a:extLst>
              <a:ext uri="{FF2B5EF4-FFF2-40B4-BE49-F238E27FC236}">
                <a16:creationId xmlns:a16="http://schemas.microsoft.com/office/drawing/2014/main" id="{AFF20CAF-F943-5D2B-0979-1D84148E4267}"/>
              </a:ext>
            </a:extLst>
          </p:cNvPr>
          <p:cNvCxnSpPr>
            <a:cxnSpLocks/>
          </p:cNvCxnSpPr>
          <p:nvPr/>
        </p:nvCxnSpPr>
        <p:spPr>
          <a:xfrm>
            <a:off x="2878598" y="3905033"/>
            <a:ext cx="6434803" cy="0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</p:cxnSp>
      <p:cxnSp>
        <p:nvCxnSpPr>
          <p:cNvPr id="9" name="슬라이드 5 형태 5">
            <a:extLst>
              <a:ext uri="{FF2B5EF4-FFF2-40B4-BE49-F238E27FC236}">
                <a16:creationId xmlns:a16="http://schemas.microsoft.com/office/drawing/2014/main" id="{243E5F84-6A74-9DFA-143C-CF5E5289E9ED}"/>
              </a:ext>
            </a:extLst>
          </p:cNvPr>
          <p:cNvCxnSpPr>
            <a:cxnSpLocks/>
          </p:cNvCxnSpPr>
          <p:nvPr/>
        </p:nvCxnSpPr>
        <p:spPr>
          <a:xfrm flipV="1">
            <a:off x="6111255" y="1581297"/>
            <a:ext cx="0" cy="4747767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</p:cxnSp>
      <p:sp>
        <p:nvSpPr>
          <p:cNvPr id="10" name="슬라이드 5 형태 11">
            <a:extLst>
              <a:ext uri="{FF2B5EF4-FFF2-40B4-BE49-F238E27FC236}">
                <a16:creationId xmlns:a16="http://schemas.microsoft.com/office/drawing/2014/main" id="{EBAC810A-4B4D-0AAC-351F-373CE574FB3A}"/>
              </a:ext>
            </a:extLst>
          </p:cNvPr>
          <p:cNvSpPr txBox="1">
            <a:spLocks/>
          </p:cNvSpPr>
          <p:nvPr/>
        </p:nvSpPr>
        <p:spPr bwMode="auto">
          <a:xfrm>
            <a:off x="6781868" y="2103608"/>
            <a:ext cx="21717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F1CC4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RDA</a:t>
            </a:r>
          </a:p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F1CC4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(Repeated Defect Analysis)</a:t>
            </a:r>
          </a:p>
        </p:txBody>
      </p:sp>
      <p:sp>
        <p:nvSpPr>
          <p:cNvPr id="13" name="슬라이드 5 형태 12">
            <a:extLst>
              <a:ext uri="{FF2B5EF4-FFF2-40B4-BE49-F238E27FC236}">
                <a16:creationId xmlns:a16="http://schemas.microsoft.com/office/drawing/2014/main" id="{C16FB471-FF80-5EC5-4E1B-B281025EFD38}"/>
              </a:ext>
            </a:extLst>
          </p:cNvPr>
          <p:cNvSpPr txBox="1"/>
          <p:nvPr/>
        </p:nvSpPr>
        <p:spPr>
          <a:xfrm>
            <a:off x="7454667" y="1581297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F1CC4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4000" dirty="0">
              <a:solidFill>
                <a:srgbClr val="F1CC4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슬라이드 5 형태 14">
            <a:extLst>
              <a:ext uri="{FF2B5EF4-FFF2-40B4-BE49-F238E27FC236}">
                <a16:creationId xmlns:a16="http://schemas.microsoft.com/office/drawing/2014/main" id="{8922CC7C-1306-EBEB-79B1-E284583EE35B}"/>
              </a:ext>
            </a:extLst>
          </p:cNvPr>
          <p:cNvSpPr txBox="1">
            <a:spLocks/>
          </p:cNvSpPr>
          <p:nvPr/>
        </p:nvSpPr>
        <p:spPr bwMode="auto">
          <a:xfrm>
            <a:off x="3135178" y="4488946"/>
            <a:ext cx="2171761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DSA</a:t>
            </a:r>
          </a:p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(Defect Source Analysis)</a:t>
            </a:r>
          </a:p>
        </p:txBody>
      </p:sp>
      <p:sp>
        <p:nvSpPr>
          <p:cNvPr id="15" name="슬라이드 5 형태 15">
            <a:extLst>
              <a:ext uri="{FF2B5EF4-FFF2-40B4-BE49-F238E27FC236}">
                <a16:creationId xmlns:a16="http://schemas.microsoft.com/office/drawing/2014/main" id="{85BCF0E6-9DC1-7115-D3D8-E61DFA9EBDD9}"/>
              </a:ext>
            </a:extLst>
          </p:cNvPr>
          <p:cNvSpPr txBox="1"/>
          <p:nvPr/>
        </p:nvSpPr>
        <p:spPr>
          <a:xfrm>
            <a:off x="3807977" y="3966636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4000" dirty="0">
              <a:solidFill>
                <a:srgbClr val="0F449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슬라이드 5 형태 7">
            <a:extLst>
              <a:ext uri="{FF2B5EF4-FFF2-40B4-BE49-F238E27FC236}">
                <a16:creationId xmlns:a16="http://schemas.microsoft.com/office/drawing/2014/main" id="{92C30961-9177-EADC-BC9B-99AFAA4CA541}"/>
              </a:ext>
            </a:extLst>
          </p:cNvPr>
          <p:cNvSpPr txBox="1">
            <a:spLocks/>
          </p:cNvSpPr>
          <p:nvPr/>
        </p:nvSpPr>
        <p:spPr bwMode="auto">
          <a:xfrm>
            <a:off x="6657257" y="2946634"/>
            <a:ext cx="2420982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Die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또는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Shot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단위로 중첩하여 </a:t>
            </a:r>
            <a:b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반복된 결함을 시각적으로 검출</a:t>
            </a:r>
          </a:p>
        </p:txBody>
      </p:sp>
      <p:sp>
        <p:nvSpPr>
          <p:cNvPr id="17" name="슬라이드 5 형태 11">
            <a:extLst>
              <a:ext uri="{FF2B5EF4-FFF2-40B4-BE49-F238E27FC236}">
                <a16:creationId xmlns:a16="http://schemas.microsoft.com/office/drawing/2014/main" id="{3AF246B7-05F3-4966-CC24-8ED2AA3E81FA}"/>
              </a:ext>
            </a:extLst>
          </p:cNvPr>
          <p:cNvSpPr txBox="1">
            <a:spLocks/>
          </p:cNvSpPr>
          <p:nvPr/>
        </p:nvSpPr>
        <p:spPr bwMode="auto">
          <a:xfrm>
            <a:off x="6875005" y="4798947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Yield Loss Analysis</a:t>
            </a:r>
          </a:p>
        </p:txBody>
      </p:sp>
      <p:sp>
        <p:nvSpPr>
          <p:cNvPr id="18" name="슬라이드 5 형태 12">
            <a:extLst>
              <a:ext uri="{FF2B5EF4-FFF2-40B4-BE49-F238E27FC236}">
                <a16:creationId xmlns:a16="http://schemas.microsoft.com/office/drawing/2014/main" id="{BEEF185B-C6FF-768C-5CCA-EB2D8F521D23}"/>
              </a:ext>
            </a:extLst>
          </p:cNvPr>
          <p:cNvSpPr txBox="1"/>
          <p:nvPr/>
        </p:nvSpPr>
        <p:spPr>
          <a:xfrm>
            <a:off x="7547804" y="3988853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400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9" name="슬라이드 5 형태 7">
            <a:extLst>
              <a:ext uri="{FF2B5EF4-FFF2-40B4-BE49-F238E27FC236}">
                <a16:creationId xmlns:a16="http://schemas.microsoft.com/office/drawing/2014/main" id="{C301C228-746E-8348-9B26-B02CF72DC01D}"/>
              </a:ext>
            </a:extLst>
          </p:cNvPr>
          <p:cNvSpPr txBox="1">
            <a:spLocks/>
          </p:cNvSpPr>
          <p:nvPr/>
        </p:nvSpPr>
        <p:spPr bwMode="auto">
          <a:xfrm>
            <a:off x="6781868" y="5290876"/>
            <a:ext cx="2622481" cy="94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Defect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과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Bin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데이터를 매칭하여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Defect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실제 불량에 어느 정도 </a:t>
            </a:r>
            <a:b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영향을 미치는지 분석</a:t>
            </a:r>
          </a:p>
        </p:txBody>
      </p:sp>
      <p:sp>
        <p:nvSpPr>
          <p:cNvPr id="20" name="슬라이드 5 형태 7">
            <a:extLst>
              <a:ext uri="{FF2B5EF4-FFF2-40B4-BE49-F238E27FC236}">
                <a16:creationId xmlns:a16="http://schemas.microsoft.com/office/drawing/2014/main" id="{B396A543-4E87-E018-7044-5B61F64EC2F0}"/>
              </a:ext>
            </a:extLst>
          </p:cNvPr>
          <p:cNvSpPr txBox="1">
            <a:spLocks/>
          </p:cNvSpPr>
          <p:nvPr/>
        </p:nvSpPr>
        <p:spPr bwMode="auto">
          <a:xfrm>
            <a:off x="3040592" y="5331973"/>
            <a:ext cx="2858555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발생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Source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Layer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구분</a:t>
            </a:r>
            <a:b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하여 반복적으로 발생하는 결함 분석</a:t>
            </a:r>
          </a:p>
        </p:txBody>
      </p:sp>
      <p:sp>
        <p:nvSpPr>
          <p:cNvPr id="21" name="슬라이드 5 형태 8">
            <a:extLst>
              <a:ext uri="{FF2B5EF4-FFF2-40B4-BE49-F238E27FC236}">
                <a16:creationId xmlns:a16="http://schemas.microsoft.com/office/drawing/2014/main" id="{738484E9-A82E-42DE-B3FE-4C8C36FA586D}"/>
              </a:ext>
            </a:extLst>
          </p:cNvPr>
          <p:cNvSpPr txBox="1">
            <a:spLocks/>
          </p:cNvSpPr>
          <p:nvPr/>
        </p:nvSpPr>
        <p:spPr bwMode="auto">
          <a:xfrm>
            <a:off x="3069173" y="2378181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Map</a:t>
            </a:r>
            <a:r>
              <a:rPr lang="ko-KR" altLang="en-US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을</a:t>
            </a:r>
            <a:r>
              <a:rPr lang="en-US" altLang="ko-KR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ko-KR" altLang="en-US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통한</a:t>
            </a:r>
            <a:r>
              <a:rPr lang="en-US" altLang="ko-KR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 </a:t>
            </a:r>
            <a:r>
              <a:rPr lang="ko-KR" altLang="en-US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분석</a:t>
            </a:r>
            <a:endParaRPr lang="en-US" altLang="ko-KR" sz="1600" b="1" dirty="0">
              <a:solidFill>
                <a:srgbClr val="9CD2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2" name="슬라이드 5 형태 9">
            <a:extLst>
              <a:ext uri="{FF2B5EF4-FFF2-40B4-BE49-F238E27FC236}">
                <a16:creationId xmlns:a16="http://schemas.microsoft.com/office/drawing/2014/main" id="{4CF3EB74-04B6-472A-1812-4B803E5BD502}"/>
              </a:ext>
            </a:extLst>
          </p:cNvPr>
          <p:cNvSpPr txBox="1"/>
          <p:nvPr/>
        </p:nvSpPr>
        <p:spPr>
          <a:xfrm>
            <a:off x="3741972" y="1581297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4000" dirty="0">
              <a:solidFill>
                <a:srgbClr val="9CD2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3" name="슬라이드 5 형태 7">
            <a:extLst>
              <a:ext uri="{FF2B5EF4-FFF2-40B4-BE49-F238E27FC236}">
                <a16:creationId xmlns:a16="http://schemas.microsoft.com/office/drawing/2014/main" id="{C5979076-0398-3B84-2071-FDE03F60DF86}"/>
              </a:ext>
            </a:extLst>
          </p:cNvPr>
          <p:cNvSpPr txBox="1">
            <a:spLocks/>
          </p:cNvSpPr>
          <p:nvPr/>
        </p:nvSpPr>
        <p:spPr bwMode="auto">
          <a:xfrm>
            <a:off x="3078206" y="2985152"/>
            <a:ext cx="2820937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결함 분석을 위한 맵 컨트롤 및 결함 이미지  표시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다양한 차트 표시</a:t>
            </a:r>
          </a:p>
        </p:txBody>
      </p:sp>
    </p:spTree>
    <p:extLst>
      <p:ext uri="{BB962C8B-B14F-4D97-AF65-F5344CB8AC3E}">
        <p14:creationId xmlns:p14="http://schemas.microsoft.com/office/powerpoint/2010/main" val="31193163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09AEBBB-2451-5A9F-B500-671E45C9C1C3}"/>
              </a:ext>
            </a:extLst>
          </p:cNvPr>
          <p:cNvSpPr/>
          <p:nvPr/>
        </p:nvSpPr>
        <p:spPr>
          <a:xfrm>
            <a:off x="435332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FD97F-FF08-CE08-C2E0-D39FBF18B513}"/>
              </a:ext>
            </a:extLst>
          </p:cNvPr>
          <p:cNvSpPr txBox="1"/>
          <p:nvPr/>
        </p:nvSpPr>
        <p:spPr>
          <a:xfrm>
            <a:off x="435332" y="1706257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Wafer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View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6E18D08-D2DB-F71A-8044-86B01C2A1B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/>
        </p:blipFill>
        <p:spPr>
          <a:xfrm>
            <a:off x="1435562" y="2788990"/>
            <a:ext cx="5651016" cy="3081116"/>
          </a:xfrm>
          <a:prstGeom prst="rect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4" name="말풍선: 사각형 21">
            <a:extLst>
              <a:ext uri="{FF2B5EF4-FFF2-40B4-BE49-F238E27FC236}">
                <a16:creationId xmlns:a16="http://schemas.microsoft.com/office/drawing/2014/main" id="{8BDF4228-909C-93C3-DF58-E393CB30BE78}"/>
              </a:ext>
            </a:extLst>
          </p:cNvPr>
          <p:cNvSpPr/>
          <p:nvPr/>
        </p:nvSpPr>
        <p:spPr>
          <a:xfrm>
            <a:off x="8264046" y="4046882"/>
            <a:ext cx="3177265" cy="2290420"/>
          </a:xfrm>
          <a:prstGeom prst="wedgeRectCallout">
            <a:avLst>
              <a:gd name="adj1" fmla="val -85420"/>
              <a:gd name="adj2" fmla="val 138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30733DF3-875D-6105-853A-5ABC0967B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8494" y="4284943"/>
            <a:ext cx="991091" cy="199719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75C59B17-1F82-A95B-A825-5567FA3231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688" y="4284943"/>
            <a:ext cx="989629" cy="1997199"/>
          </a:xfrm>
          <a:prstGeom prst="rect">
            <a:avLst/>
          </a:prstGeom>
        </p:spPr>
      </p:pic>
      <p:sp>
        <p:nvSpPr>
          <p:cNvPr id="27" name="object 46">
            <a:extLst>
              <a:ext uri="{FF2B5EF4-FFF2-40B4-BE49-F238E27FC236}">
                <a16:creationId xmlns:a16="http://schemas.microsoft.com/office/drawing/2014/main" id="{B0AA8017-0FCE-2FF4-70F5-75C93811332C}"/>
              </a:ext>
            </a:extLst>
          </p:cNvPr>
          <p:cNvSpPr>
            <a:spLocks/>
          </p:cNvSpPr>
          <p:nvPr/>
        </p:nvSpPr>
        <p:spPr>
          <a:xfrm>
            <a:off x="8228494" y="3988923"/>
            <a:ext cx="991091" cy="276968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Defect Image Viewer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8" name="object 46">
            <a:extLst>
              <a:ext uri="{FF2B5EF4-FFF2-40B4-BE49-F238E27FC236}">
                <a16:creationId xmlns:a16="http://schemas.microsoft.com/office/drawing/2014/main" id="{83A6F449-B7F6-FBD2-06A0-2A9B86121EE6}"/>
              </a:ext>
            </a:extLst>
          </p:cNvPr>
          <p:cNvSpPr>
            <a:spLocks/>
          </p:cNvSpPr>
          <p:nvPr/>
        </p:nvSpPr>
        <p:spPr>
          <a:xfrm>
            <a:off x="9304688" y="3988923"/>
            <a:ext cx="991091" cy="276968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Defect Raw Data</a:t>
            </a:r>
            <a:endParaRPr lang="ko-KR" altLang="en-US" sz="9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object 46">
            <a:extLst>
              <a:ext uri="{FF2B5EF4-FFF2-40B4-BE49-F238E27FC236}">
                <a16:creationId xmlns:a16="http://schemas.microsoft.com/office/drawing/2014/main" id="{5164B56D-ADD5-6376-6170-4C457E746DC0}"/>
              </a:ext>
            </a:extLst>
          </p:cNvPr>
          <p:cNvSpPr>
            <a:spLocks/>
          </p:cNvSpPr>
          <p:nvPr/>
        </p:nvSpPr>
        <p:spPr>
          <a:xfrm>
            <a:off x="10377266" y="3988923"/>
            <a:ext cx="991091" cy="276968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Repeated Defect </a:t>
            </a:r>
            <a:r>
              <a: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분석</a:t>
            </a:r>
          </a:p>
        </p:txBody>
      </p:sp>
      <p:sp>
        <p:nvSpPr>
          <p:cNvPr id="30" name="말풍선: 사각형 21">
            <a:extLst>
              <a:ext uri="{FF2B5EF4-FFF2-40B4-BE49-F238E27FC236}">
                <a16:creationId xmlns:a16="http://schemas.microsoft.com/office/drawing/2014/main" id="{AAEBB850-F988-C0E2-BBC6-0A32B22D07A3}"/>
              </a:ext>
            </a:extLst>
          </p:cNvPr>
          <p:cNvSpPr/>
          <p:nvPr/>
        </p:nvSpPr>
        <p:spPr>
          <a:xfrm>
            <a:off x="8248969" y="2137167"/>
            <a:ext cx="3177265" cy="1791054"/>
          </a:xfrm>
          <a:prstGeom prst="wedgeRectCallout">
            <a:avLst>
              <a:gd name="adj1" fmla="val -84755"/>
              <a:gd name="adj2" fmla="val 72186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A72CCB66-A08E-BF75-9F86-6453A8372B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6913" y="2387017"/>
            <a:ext cx="835745" cy="1474368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CACF9DA-E09E-5E54-BF48-9FD77242C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2517" y="2389539"/>
            <a:ext cx="833092" cy="1463736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2402755D-B2DA-1147-C2C1-C0943AE31B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85468" y="2387017"/>
            <a:ext cx="838398" cy="147436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9E3AC4F-A9BA-80E9-4C2A-D59D071AEAD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33724" y="2388699"/>
            <a:ext cx="835746" cy="1467280"/>
          </a:xfrm>
          <a:prstGeom prst="rect">
            <a:avLst/>
          </a:prstGeom>
        </p:spPr>
      </p:pic>
      <p:sp>
        <p:nvSpPr>
          <p:cNvPr id="35" name="object 46">
            <a:extLst>
              <a:ext uri="{FF2B5EF4-FFF2-40B4-BE49-F238E27FC236}">
                <a16:creationId xmlns:a16="http://schemas.microsoft.com/office/drawing/2014/main" id="{A5A8E1F2-EE85-5A70-ABD1-2C1CC7886584}"/>
              </a:ext>
            </a:extLst>
          </p:cNvPr>
          <p:cNvSpPr>
            <a:spLocks/>
          </p:cNvSpPr>
          <p:nvPr/>
        </p:nvSpPr>
        <p:spPr>
          <a:xfrm>
            <a:off x="8296913" y="2197869"/>
            <a:ext cx="3071443" cy="170096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다양한 </a:t>
            </a:r>
            <a:r>
              <a:rPr lang="en-US" altLang="ko-KR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Chart </a:t>
            </a:r>
            <a:r>
              <a: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형식 지원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898B5C7E-811F-D05D-96D8-129E92565926}"/>
              </a:ext>
            </a:extLst>
          </p:cNvPr>
          <p:cNvSpPr/>
          <p:nvPr/>
        </p:nvSpPr>
        <p:spPr bwMode="gray">
          <a:xfrm>
            <a:off x="2255043" y="1818767"/>
            <a:ext cx="2271611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E5C45079-AC0D-59BE-114A-973CE37C6984}"/>
              </a:ext>
            </a:extLst>
          </p:cNvPr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393680" y="4308820"/>
            <a:ext cx="974676" cy="185556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A4272A91-8982-232D-A80F-8538C1093D88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defTabSz="121914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결함 분석을 위한 다양한 맵 컨트롤 기능을 제공하며 결함 이미지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반복 결함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Raw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 등을 제공 </a:t>
            </a:r>
            <a:endParaRPr kumimoji="1" lang="en-US" altLang="ko-KR" sz="1600" b="0" i="0" u="none" strike="noStrike" kern="0" cap="none" normalizeH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2469800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3411D50-DFB2-6CA6-CDE5-082ECF160360}"/>
              </a:ext>
            </a:extLst>
          </p:cNvPr>
          <p:cNvSpPr/>
          <p:nvPr/>
        </p:nvSpPr>
        <p:spPr>
          <a:xfrm>
            <a:off x="435332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E55CDB-4812-ADD3-43B7-27EB3A46409C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Wafer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Gallery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90F206C-FA14-E8E8-7C1E-198380A969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642"/>
          <a:stretch/>
        </p:blipFill>
        <p:spPr>
          <a:xfrm>
            <a:off x="877018" y="3104363"/>
            <a:ext cx="4849365" cy="322470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7989D-FB47-962A-3113-D146BC98CD3E}"/>
              </a:ext>
            </a:extLst>
          </p:cNvPr>
          <p:cNvSpPr/>
          <p:nvPr/>
        </p:nvSpPr>
        <p:spPr>
          <a:xfrm>
            <a:off x="830850" y="3009387"/>
            <a:ext cx="2044110" cy="30882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213B08-90F0-96D1-BC6F-353996C1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" y="2054501"/>
            <a:ext cx="952305" cy="60861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226BB8-4AA4-2BE1-0905-013E1E82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985" y="2184465"/>
            <a:ext cx="980946" cy="400971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DD5E8E-412D-A7EF-8D11-1E8E1D05AE34}"/>
              </a:ext>
            </a:extLst>
          </p:cNvPr>
          <p:cNvSpPr/>
          <p:nvPr/>
        </p:nvSpPr>
        <p:spPr>
          <a:xfrm>
            <a:off x="1173480" y="2054500"/>
            <a:ext cx="952305" cy="6086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49080C-4C8B-77F8-4204-31CE42E6731F}"/>
              </a:ext>
            </a:extLst>
          </p:cNvPr>
          <p:cNvSpPr/>
          <p:nvPr/>
        </p:nvSpPr>
        <p:spPr>
          <a:xfrm>
            <a:off x="2555985" y="2184464"/>
            <a:ext cx="980946" cy="4009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A80E2CC-8625-042D-A2A3-73C088161A51}"/>
              </a:ext>
            </a:extLst>
          </p:cNvPr>
          <p:cNvCxnSpPr>
            <a:cxnSpLocks/>
          </p:cNvCxnSpPr>
          <p:nvPr/>
        </p:nvCxnSpPr>
        <p:spPr>
          <a:xfrm flipV="1">
            <a:off x="1432296" y="2677149"/>
            <a:ext cx="146664" cy="36222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123E7DC-BFA8-2F8E-59EB-AFDB22FCF498}"/>
              </a:ext>
            </a:extLst>
          </p:cNvPr>
          <p:cNvCxnSpPr>
            <a:cxnSpLocks/>
          </p:cNvCxnSpPr>
          <p:nvPr/>
        </p:nvCxnSpPr>
        <p:spPr>
          <a:xfrm flipV="1">
            <a:off x="2555985" y="2663117"/>
            <a:ext cx="171246" cy="376254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C8AF98F0-41E8-A895-4147-BB8A656865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96000" y="4464499"/>
            <a:ext cx="3022999" cy="18645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C53EDC-6005-82BA-4521-B45CB4AED8F4}"/>
              </a:ext>
            </a:extLst>
          </p:cNvPr>
          <p:cNvSpPr/>
          <p:nvPr/>
        </p:nvSpPr>
        <p:spPr>
          <a:xfrm>
            <a:off x="5903420" y="4165478"/>
            <a:ext cx="222930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ko-KR" sz="1200" b="1" dirty="0">
                <a:solidFill>
                  <a:prstClr val="black"/>
                </a:solidFill>
                <a:latin typeface="+mn-ea"/>
                <a:cs typeface="Arial"/>
              </a:rPr>
              <a:t>Die </a:t>
            </a:r>
            <a:r>
              <a:rPr lang="ko-KR" altLang="en-US" sz="1200" b="1" dirty="0">
                <a:solidFill>
                  <a:prstClr val="black"/>
                </a:solidFill>
                <a:latin typeface="+mn-ea"/>
                <a:cs typeface="Arial"/>
              </a:rPr>
              <a:t>그리기를 제외한 분석</a:t>
            </a:r>
            <a:endParaRPr lang="en-US" altLang="ko-KR" sz="1200" b="1" dirty="0">
              <a:solidFill>
                <a:prstClr val="black"/>
              </a:solidFill>
              <a:latin typeface="+mn-ea"/>
              <a:cs typeface="Arial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779C630-F4B6-91DE-0F13-3E6E836E5C03}"/>
              </a:ext>
            </a:extLst>
          </p:cNvPr>
          <p:cNvSpPr/>
          <p:nvPr/>
        </p:nvSpPr>
        <p:spPr bwMode="gray">
          <a:xfrm>
            <a:off x="2452688" y="1771281"/>
            <a:ext cx="2224264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8A6A502-12F1-E53D-A200-A97D5114D5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536" y="2310926"/>
            <a:ext cx="3098665" cy="2241289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DCFE97-1FDC-70BA-9E09-F587146802FE}"/>
              </a:ext>
            </a:extLst>
          </p:cNvPr>
          <p:cNvSpPr/>
          <p:nvPr/>
        </p:nvSpPr>
        <p:spPr>
          <a:xfrm>
            <a:off x="8302956" y="2232089"/>
            <a:ext cx="2044110" cy="31133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96BDBD-EF07-6F4B-55D5-40B82066EF0D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Defect Map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Gallery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형식으로 보여주며 선택한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Column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및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Row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에 따라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Gallery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표현 방식이 달라짐 </a:t>
            </a:r>
            <a:endParaRPr kumimoji="1" lang="en-US" altLang="ko-KR" sz="1600" b="0" i="0" u="none" strike="noStrike" kern="0" cap="none" normalizeH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94850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29764C-BE7D-2D61-9D4E-2A1FD9421C37}"/>
              </a:ext>
            </a:extLst>
          </p:cNvPr>
          <p:cNvSpPr/>
          <p:nvPr/>
        </p:nvSpPr>
        <p:spPr>
          <a:xfrm>
            <a:off x="435332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5EB1F6-7877-657F-7FE9-A7855B8724D3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Defect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Image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Gallery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8209161-73E8-5AB0-4B50-7C606EE67610}"/>
              </a:ext>
            </a:extLst>
          </p:cNvPr>
          <p:cNvSpPr/>
          <p:nvPr/>
        </p:nvSpPr>
        <p:spPr bwMode="gray">
          <a:xfrm>
            <a:off x="2774155" y="1771281"/>
            <a:ext cx="2117823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D66A36A-6197-A08D-C930-D07C18136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3050" y="2350053"/>
            <a:ext cx="6120000" cy="39247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36CB4E6-74A8-0E1F-A8D0-23A606F00F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61914" y="2350053"/>
            <a:ext cx="1731766" cy="3924782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90412BF-257B-8BC1-843F-FFB1EC1AAC53}"/>
              </a:ext>
            </a:extLst>
          </p:cNvPr>
          <p:cNvSpPr/>
          <p:nvPr/>
        </p:nvSpPr>
        <p:spPr>
          <a:xfrm>
            <a:off x="6293621" y="4011663"/>
            <a:ext cx="216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ko-KR" altLang="en-US" sz="1200" dirty="0">
                <a:solidFill>
                  <a:prstClr val="black"/>
                </a:solidFill>
                <a:latin typeface="+mn-ea"/>
                <a:cs typeface="Arial"/>
              </a:rPr>
              <a:t>선택된 </a:t>
            </a:r>
            <a:r>
              <a:rPr lang="en-US" altLang="ko-KR" sz="1200" dirty="0">
                <a:solidFill>
                  <a:prstClr val="black"/>
                </a:solidFill>
                <a:latin typeface="+mn-ea"/>
                <a:cs typeface="Arial"/>
              </a:rPr>
              <a:t>Defect </a:t>
            </a:r>
            <a:br>
              <a:rPr lang="en-US" altLang="ko-KR" sz="1200" dirty="0">
                <a:solidFill>
                  <a:prstClr val="black"/>
                </a:solidFill>
                <a:latin typeface="+mn-ea"/>
                <a:cs typeface="Arial"/>
              </a:rPr>
            </a:br>
            <a:r>
              <a:rPr lang="ko-KR" altLang="en-US" sz="1200" dirty="0">
                <a:solidFill>
                  <a:prstClr val="black"/>
                </a:solidFill>
                <a:latin typeface="+mn-ea"/>
                <a:cs typeface="Arial"/>
              </a:rPr>
              <a:t>상세 정보 표시</a:t>
            </a:r>
            <a:endParaRPr lang="en-US" altLang="ko-KR" sz="1200" dirty="0">
              <a:solidFill>
                <a:prstClr val="black"/>
              </a:solidFill>
              <a:latin typeface="+mn-ea"/>
              <a:cs typeface="Arial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213A57-5ABC-B78B-8800-76EEF1BECA7A}"/>
              </a:ext>
            </a:extLst>
          </p:cNvPr>
          <p:cNvSpPr/>
          <p:nvPr/>
        </p:nvSpPr>
        <p:spPr>
          <a:xfrm>
            <a:off x="8985393" y="4011662"/>
            <a:ext cx="216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ko-KR" sz="1200" dirty="0">
                <a:solidFill>
                  <a:prstClr val="black"/>
                </a:solidFill>
                <a:latin typeface="+mn-ea"/>
                <a:cs typeface="Arial"/>
              </a:rPr>
              <a:t>Class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cs typeface="Arial"/>
              </a:rPr>
              <a:t> 정보</a:t>
            </a:r>
            <a:br>
              <a:rPr lang="en-US" altLang="ko-KR" sz="1200" dirty="0">
                <a:solidFill>
                  <a:prstClr val="black"/>
                </a:solidFill>
                <a:latin typeface="+mn-ea"/>
                <a:cs typeface="Arial"/>
              </a:rPr>
            </a:br>
            <a:r>
              <a:rPr lang="ko-KR" altLang="en-US" sz="1200" dirty="0">
                <a:solidFill>
                  <a:prstClr val="black"/>
                </a:solidFill>
                <a:latin typeface="+mn-ea"/>
                <a:cs typeface="Arial"/>
              </a:rPr>
              <a:t> 수정 기능</a:t>
            </a:r>
            <a:endParaRPr lang="en-US" altLang="ko-KR" sz="1200" dirty="0">
              <a:solidFill>
                <a:prstClr val="black"/>
              </a:solidFill>
              <a:latin typeface="+mn-ea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A7798A-C1DE-6430-4306-3A2D0FE3F075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선택한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에 대한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Defect Image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Class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별로 나눠서 보여주며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Reclassify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기능도 제공</a:t>
            </a:r>
          </a:p>
        </p:txBody>
      </p:sp>
    </p:spTree>
    <p:extLst>
      <p:ext uri="{BB962C8B-B14F-4D97-AF65-F5344CB8AC3E}">
        <p14:creationId xmlns:p14="http://schemas.microsoft.com/office/powerpoint/2010/main" val="31186432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16A5427-E56C-E207-FB83-0CD8BAB74ED5}"/>
              </a:ext>
            </a:extLst>
          </p:cNvPr>
          <p:cNvSpPr/>
          <p:nvPr/>
        </p:nvSpPr>
        <p:spPr>
          <a:xfrm>
            <a:off x="415610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C7C2DE-6066-63E3-8187-E72FD03BCEEB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Chart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Analysis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CF6A707-CB6E-3FCF-EB67-3CAFE8264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061" y="2178637"/>
            <a:ext cx="5146122" cy="41504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1DE60FD-6C62-1A27-6C4A-777CB004143F}"/>
              </a:ext>
            </a:extLst>
          </p:cNvPr>
          <p:cNvSpPr txBox="1"/>
          <p:nvPr/>
        </p:nvSpPr>
        <p:spPr>
          <a:xfrm>
            <a:off x="1467300" y="2604573"/>
            <a:ext cx="1182749" cy="1169551"/>
          </a:xfrm>
          <a:prstGeom prst="rect">
            <a:avLst/>
          </a:prstGeom>
          <a:noFill/>
          <a:ln>
            <a:solidFill>
              <a:srgbClr val="A6A6A6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Step ID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Wafer ID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Inspection Time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Inspection Wafer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Inspector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 Size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 Class 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41D126-60D9-B7BF-8653-49D01ED5F476}"/>
              </a:ext>
            </a:extLst>
          </p:cNvPr>
          <p:cNvSpPr txBox="1"/>
          <p:nvPr/>
        </p:nvSpPr>
        <p:spPr>
          <a:xfrm>
            <a:off x="1471728" y="4104529"/>
            <a:ext cx="1355351" cy="861774"/>
          </a:xfrm>
          <a:prstGeom prst="rect">
            <a:avLst/>
          </a:prstGeom>
          <a:noFill/>
          <a:ln>
            <a:solidFill>
              <a:srgbClr val="A6A6A6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 Count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 Density Defective Die Count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Defective Die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Percentages</a:t>
            </a:r>
            <a:endParaRPr lang="ko-KR" altLang="en-US" sz="10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D4CBA56E-4F9F-5510-3CF8-89D22BAAFF96}"/>
              </a:ext>
            </a:extLst>
          </p:cNvPr>
          <p:cNvCxnSpPr>
            <a:cxnSpLocks/>
          </p:cNvCxnSpPr>
          <p:nvPr/>
        </p:nvCxnSpPr>
        <p:spPr>
          <a:xfrm flipV="1">
            <a:off x="2639698" y="2753471"/>
            <a:ext cx="1322702" cy="542005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347F9D3-94EF-89B7-E5BD-DEB2CE51C145}"/>
              </a:ext>
            </a:extLst>
          </p:cNvPr>
          <p:cNvCxnSpPr>
            <a:cxnSpLocks/>
          </p:cNvCxnSpPr>
          <p:nvPr/>
        </p:nvCxnSpPr>
        <p:spPr>
          <a:xfrm flipV="1">
            <a:off x="2827079" y="2901950"/>
            <a:ext cx="1135321" cy="1612889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6C1A7985-750C-AA88-320E-DEF2D8B0421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642195" y="3024654"/>
            <a:ext cx="1595678" cy="3304410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2CBBA9-828B-7E86-A81C-0543ACA623B7}"/>
              </a:ext>
            </a:extLst>
          </p:cNvPr>
          <p:cNvSpPr/>
          <p:nvPr/>
        </p:nvSpPr>
        <p:spPr>
          <a:xfrm>
            <a:off x="8473177" y="2669317"/>
            <a:ext cx="178348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ko-KR" sz="1050" dirty="0">
                <a:solidFill>
                  <a:prstClr val="black"/>
                </a:solidFill>
                <a:latin typeface="+mn-ea"/>
                <a:cs typeface="Arial"/>
              </a:rPr>
              <a:t>Class </a:t>
            </a:r>
            <a:r>
              <a:rPr lang="ko-KR" altLang="en-US" sz="1050" dirty="0">
                <a:solidFill>
                  <a:prstClr val="black"/>
                </a:solidFill>
                <a:latin typeface="+mn-ea"/>
                <a:cs typeface="Arial"/>
              </a:rPr>
              <a:t>정보</a:t>
            </a:r>
            <a:r>
              <a:rPr lang="en-US" altLang="ko-KR" sz="1050" dirty="0">
                <a:solidFill>
                  <a:prstClr val="black"/>
                </a:solidFill>
                <a:latin typeface="+mn-ea"/>
                <a:cs typeface="Arial"/>
              </a:rPr>
              <a:t> </a:t>
            </a:r>
            <a:r>
              <a:rPr lang="ko-KR" altLang="en-US" sz="1050" dirty="0">
                <a:solidFill>
                  <a:prstClr val="black"/>
                </a:solidFill>
                <a:latin typeface="+mn-ea"/>
                <a:cs typeface="Arial"/>
              </a:rPr>
              <a:t>수정 기능</a:t>
            </a:r>
            <a:endParaRPr lang="en-US" altLang="ko-KR" sz="1050" dirty="0">
              <a:solidFill>
                <a:prstClr val="black"/>
              </a:solidFill>
              <a:latin typeface="+mn-ea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358FC5-C965-1002-7DDC-26C1F62775B3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수집된 여러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Defect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Chart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통한 분석 기능을 제공</a:t>
            </a:r>
            <a:endParaRPr kumimoji="1" lang="ko-KR" altLang="en-US" sz="1600" b="0" i="0" u="none" strike="noStrike" kern="0" cap="none" normalizeH="0" noProof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555DCCB-D16A-6B16-92B1-5F803B0CFF03}"/>
              </a:ext>
            </a:extLst>
          </p:cNvPr>
          <p:cNvSpPr/>
          <p:nvPr/>
        </p:nvSpPr>
        <p:spPr bwMode="gray">
          <a:xfrm>
            <a:off x="2042655" y="1785186"/>
            <a:ext cx="2271611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35221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F328C62-CBC6-5D83-FB26-F65B04F500FC}"/>
              </a:ext>
            </a:extLst>
          </p:cNvPr>
          <p:cNvSpPr/>
          <p:nvPr/>
        </p:nvSpPr>
        <p:spPr>
          <a:xfrm>
            <a:off x="435332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29566-1C86-7C7F-1B85-B514ED1F7A4F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Die Stack Analysis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5A9C957-6CCD-B3B1-83A3-48C283639EF6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15EF86-BBE0-9FCD-F5DF-3E3B4F471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500" y="2105653"/>
            <a:ext cx="5676900" cy="427368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1D45BF-3C02-E56B-989E-8958258812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929" y="3429000"/>
            <a:ext cx="1944000" cy="184408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0771BD-9522-F7EA-73A6-6BCAE62F0B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18214" y="3429000"/>
            <a:ext cx="1668816" cy="71036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028935-A7C4-E9EC-FF77-ABD5D88074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74951" y="4456570"/>
            <a:ext cx="1955341" cy="95885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439469-8783-DD02-A95B-B3436BDA14C0}"/>
              </a:ext>
            </a:extLst>
          </p:cNvPr>
          <p:cNvSpPr txBox="1"/>
          <p:nvPr/>
        </p:nvSpPr>
        <p:spPr>
          <a:xfrm>
            <a:off x="8195324" y="3322667"/>
            <a:ext cx="50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+mn-ea"/>
                <a:cs typeface="Arial"/>
              </a:rPr>
              <a:t>3 X 5</a:t>
            </a:r>
            <a:endParaRPr lang="ko-KR" altLang="en-US" sz="1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2A5C9-D0C6-18DA-442D-A87B6B0523B5}"/>
              </a:ext>
            </a:extLst>
          </p:cNvPr>
          <p:cNvSpPr txBox="1"/>
          <p:nvPr/>
        </p:nvSpPr>
        <p:spPr>
          <a:xfrm>
            <a:off x="10200621" y="3250719"/>
            <a:ext cx="50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+mn-ea"/>
                <a:cs typeface="Arial"/>
              </a:rPr>
              <a:t>2 X 1</a:t>
            </a:r>
            <a:endParaRPr lang="ko-KR" alt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F08C8-9E8A-477A-2C41-6F87D0990CD8}"/>
              </a:ext>
            </a:extLst>
          </p:cNvPr>
          <p:cNvSpPr txBox="1"/>
          <p:nvPr/>
        </p:nvSpPr>
        <p:spPr>
          <a:xfrm>
            <a:off x="10200621" y="4270575"/>
            <a:ext cx="50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+mn-ea"/>
                <a:cs typeface="Arial"/>
              </a:rPr>
              <a:t>5 X 3</a:t>
            </a:r>
            <a:endParaRPr lang="ko-KR" altLang="en-US" sz="10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FC9118-B1DC-A73E-531F-8CC6B2E588BD}"/>
              </a:ext>
            </a:extLst>
          </p:cNvPr>
          <p:cNvSpPr/>
          <p:nvPr/>
        </p:nvSpPr>
        <p:spPr>
          <a:xfrm>
            <a:off x="7932554" y="2728459"/>
            <a:ext cx="195534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  <a:defRPr/>
            </a:pPr>
            <a:r>
              <a:rPr lang="en-US" altLang="ko-KR" sz="1200" dirty="0">
                <a:solidFill>
                  <a:prstClr val="black"/>
                </a:solidFill>
                <a:latin typeface="+mn-ea"/>
                <a:cs typeface="Arial"/>
              </a:rPr>
              <a:t>Shot </a:t>
            </a:r>
            <a:r>
              <a:rPr lang="en-US" altLang="ko-KR" sz="1200">
                <a:solidFill>
                  <a:prstClr val="black"/>
                </a:solidFill>
                <a:latin typeface="+mn-ea"/>
                <a:cs typeface="Arial"/>
              </a:rPr>
              <a:t>Size </a:t>
            </a:r>
            <a:r>
              <a:rPr lang="ko-KR" altLang="en-US" sz="1200" dirty="0">
                <a:solidFill>
                  <a:prstClr val="black"/>
                </a:solidFill>
                <a:latin typeface="+mn-ea"/>
                <a:cs typeface="Arial"/>
              </a:rPr>
              <a:t>변경</a:t>
            </a:r>
            <a:endParaRPr lang="en-US" altLang="ko-KR" sz="1200" dirty="0">
              <a:solidFill>
                <a:prstClr val="black"/>
              </a:solidFill>
              <a:latin typeface="+mn-ea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9AA30D-9DF4-1E94-920B-8BF8F4E1AD2C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Defect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Die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 혹은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Shot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단위로 중첩 시켜 분석하는 기능이며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반복적으로 발생하는 결함을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쉽게 찾을 수 있다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073830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1BA60A5-F28C-BF11-CFCF-7EC92B046BD7}"/>
              </a:ext>
            </a:extLst>
          </p:cNvPr>
          <p:cNvSpPr/>
          <p:nvPr/>
        </p:nvSpPr>
        <p:spPr>
          <a:xfrm>
            <a:off x="435332" y="19954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CA4C5A-AC6A-0101-62F6-0D30A80B053F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Die Stack Gallery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BC4F522-7C0B-C440-E367-557CDA7D5454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AF3263-1B3C-2124-05B6-5357A48C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268" y="2145716"/>
            <a:ext cx="5961618" cy="419356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FF13C5-33B2-9FE6-EA52-E0C4B0A4B8A0}"/>
              </a:ext>
            </a:extLst>
          </p:cNvPr>
          <p:cNvSpPr txBox="1"/>
          <p:nvPr/>
        </p:nvSpPr>
        <p:spPr>
          <a:xfrm>
            <a:off x="1927571" y="2595098"/>
            <a:ext cx="792000" cy="861774"/>
          </a:xfrm>
          <a:prstGeom prst="rect">
            <a:avLst/>
          </a:prstGeom>
          <a:noFill/>
          <a:ln>
            <a:solidFill>
              <a:srgbClr val="A6A6A6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None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Lot Id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Wafer ID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Device ID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Inspector </a:t>
            </a:r>
            <a:endParaRPr lang="ko-KR" altLang="en-US" sz="1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F63049-F95D-4596-CA4D-5C07E376F695}"/>
              </a:ext>
            </a:extLst>
          </p:cNvPr>
          <p:cNvSpPr txBox="1"/>
          <p:nvPr/>
        </p:nvSpPr>
        <p:spPr>
          <a:xfrm>
            <a:off x="1855571" y="4056563"/>
            <a:ext cx="936000" cy="553998"/>
          </a:xfrm>
          <a:prstGeom prst="rect">
            <a:avLst/>
          </a:prstGeom>
          <a:noFill/>
          <a:ln>
            <a:solidFill>
              <a:srgbClr val="A6A6A6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None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Defect Class</a:t>
            </a:r>
          </a:p>
          <a:p>
            <a:r>
              <a:rPr kumimoji="1" lang="en-US" altLang="ko-KR" sz="1000" b="0" i="0" u="none" strike="noStrike" kern="1200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ea typeface="굴림" panose="020B0600000101010101" pitchFamily="50" charset="-127"/>
                <a:cs typeface="+mn-cs"/>
                <a:sym typeface="Wingdings" panose="05000000000000000000" pitchFamily="2" charset="2"/>
              </a:rPr>
              <a:t>Step ID</a:t>
            </a:r>
            <a:endParaRPr lang="ko-KR" altLang="en-US" sz="100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C6BDD67-EED6-1728-6FCA-DF5F4D9EE3B3}"/>
              </a:ext>
            </a:extLst>
          </p:cNvPr>
          <p:cNvCxnSpPr>
            <a:cxnSpLocks/>
          </p:cNvCxnSpPr>
          <p:nvPr/>
        </p:nvCxnSpPr>
        <p:spPr>
          <a:xfrm flipV="1">
            <a:off x="2719571" y="2336258"/>
            <a:ext cx="1111239" cy="606016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370300D-5D89-4A90-718B-479B2DC7321A}"/>
              </a:ext>
            </a:extLst>
          </p:cNvPr>
          <p:cNvCxnSpPr>
            <a:cxnSpLocks/>
          </p:cNvCxnSpPr>
          <p:nvPr/>
        </p:nvCxnSpPr>
        <p:spPr>
          <a:xfrm flipV="1">
            <a:off x="2788979" y="2303981"/>
            <a:ext cx="2278321" cy="1939602"/>
          </a:xfrm>
          <a:prstGeom prst="straightConnector1">
            <a:avLst/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B7CA41E-094D-959C-35BB-72AFAE58DCE0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통한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defTabSz="1219140" latinLnBrk="0">
              <a:spcBef>
                <a:spcPts val="400"/>
              </a:spcBef>
              <a:defRPr/>
            </a:pP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Defect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Die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 혹은 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Shot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단위로 중첩 시켜 분석하는 기능이며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, Gallery </a:t>
            </a:r>
            <a:r>
              <a:rPr kumimoji="1" lang="ko-KR" altLang="en-US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형식으로 조회가 가능하다</a:t>
            </a:r>
            <a:r>
              <a:rPr kumimoji="1" lang="en-US" altLang="ko-KR" sz="1600" b="0" i="0" u="none" strike="noStrike" kern="0" cap="none" normalizeH="0" noProof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62123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593576F-30FF-4566-2C62-1ECE69F4AD51}"/>
              </a:ext>
            </a:extLst>
          </p:cNvPr>
          <p:cNvSpPr/>
          <p:nvPr/>
        </p:nvSpPr>
        <p:spPr>
          <a:xfrm>
            <a:off x="435332" y="1484314"/>
            <a:ext cx="11179490" cy="500527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CB085C-5D7F-261D-ED22-26CCA7DB2778}"/>
              </a:ext>
            </a:extLst>
          </p:cNvPr>
          <p:cNvSpPr/>
          <p:nvPr/>
        </p:nvSpPr>
        <p:spPr bwMode="auto">
          <a:xfrm>
            <a:off x="646506" y="1847471"/>
            <a:ext cx="5712734" cy="434555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ko-KR" altLang="en-US" sz="3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6FFE52-C106-DD63-AC4B-62F2DE8553F9}"/>
              </a:ext>
            </a:extLst>
          </p:cNvPr>
          <p:cNvSpPr/>
          <p:nvPr/>
        </p:nvSpPr>
        <p:spPr bwMode="auto">
          <a:xfrm>
            <a:off x="646506" y="1847471"/>
            <a:ext cx="2371014" cy="231013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반복적인 결함 관리의 중요성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4AA084C-223D-D057-FA58-E5096CA40D52}"/>
              </a:ext>
            </a:extLst>
          </p:cNvPr>
          <p:cNvGrpSpPr/>
          <p:nvPr/>
        </p:nvGrpSpPr>
        <p:grpSpPr>
          <a:xfrm>
            <a:off x="756074" y="3411361"/>
            <a:ext cx="5452496" cy="2652872"/>
            <a:chOff x="776536" y="1341439"/>
            <a:chExt cx="8209377" cy="2303462"/>
          </a:xfrm>
        </p:grpSpPr>
        <p:grpSp>
          <p:nvGrpSpPr>
            <p:cNvPr id="10" name="Group 3">
              <a:extLst>
                <a:ext uri="{FF2B5EF4-FFF2-40B4-BE49-F238E27FC236}">
                  <a16:creationId xmlns:a16="http://schemas.microsoft.com/office/drawing/2014/main" id="{4B4F0A77-6021-DD93-B520-1BC21FC46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072" y="1341439"/>
              <a:ext cx="2027634" cy="358775"/>
              <a:chOff x="3515" y="890"/>
              <a:chExt cx="1179" cy="226"/>
            </a:xfrm>
          </p:grpSpPr>
          <p:sp>
            <p:nvSpPr>
              <p:cNvPr id="64" name="AutoShape 4">
                <a:extLst>
                  <a:ext uri="{FF2B5EF4-FFF2-40B4-BE49-F238E27FC236}">
                    <a16:creationId xmlns:a16="http://schemas.microsoft.com/office/drawing/2014/main" id="{53F43956-3B74-21DD-1D58-3A955A8F4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5" y="89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rgbClr val="FF9900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5" name="Line 5">
                <a:extLst>
                  <a:ext uri="{FF2B5EF4-FFF2-40B4-BE49-F238E27FC236}">
                    <a16:creationId xmlns:a16="http://schemas.microsoft.com/office/drawing/2014/main" id="{09008D73-2AA1-81CF-E0DA-465AF1A37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935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6" name="Line 6">
                <a:extLst>
                  <a:ext uri="{FF2B5EF4-FFF2-40B4-BE49-F238E27FC236}">
                    <a16:creationId xmlns:a16="http://schemas.microsoft.com/office/drawing/2014/main" id="{7E9F7AB7-8A01-B5DA-E2A5-30E390B99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7" name="Line 7">
                <a:extLst>
                  <a:ext uri="{FF2B5EF4-FFF2-40B4-BE49-F238E27FC236}">
                    <a16:creationId xmlns:a16="http://schemas.microsoft.com/office/drawing/2014/main" id="{7F3CF880-BC90-BCC2-605C-181AB4393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935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8" name="Line 8">
                <a:extLst>
                  <a:ext uri="{FF2B5EF4-FFF2-40B4-BE49-F238E27FC236}">
                    <a16:creationId xmlns:a16="http://schemas.microsoft.com/office/drawing/2014/main" id="{6CCDAB41-5ECE-0F06-2EB1-DD436DC8C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935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1" name="Group 9">
              <a:extLst>
                <a:ext uri="{FF2B5EF4-FFF2-40B4-BE49-F238E27FC236}">
                  <a16:creationId xmlns:a16="http://schemas.microsoft.com/office/drawing/2014/main" id="{39340E25-1673-9823-1D8E-C349CFD65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073" y="1989139"/>
              <a:ext cx="5616840" cy="358775"/>
              <a:chOff x="2290" y="1570"/>
              <a:chExt cx="3266" cy="226"/>
            </a:xfrm>
          </p:grpSpPr>
          <p:sp>
            <p:nvSpPr>
              <p:cNvPr id="61" name="AutoShape 10">
                <a:extLst>
                  <a:ext uri="{FF2B5EF4-FFF2-40B4-BE49-F238E27FC236}">
                    <a16:creationId xmlns:a16="http://schemas.microsoft.com/office/drawing/2014/main" id="{3C8B4039-923D-669C-2425-8820F65A5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2" name="AutoShape 11">
                <a:extLst>
                  <a:ext uri="{FF2B5EF4-FFF2-40B4-BE49-F238E27FC236}">
                    <a16:creationId xmlns:a16="http://schemas.microsoft.com/office/drawing/2014/main" id="{A538DB3F-AB08-6F07-3A48-37B4A5F69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3" name="AutoShape 12">
                <a:extLst>
                  <a:ext uri="{FF2B5EF4-FFF2-40B4-BE49-F238E27FC236}">
                    <a16:creationId xmlns:a16="http://schemas.microsoft.com/office/drawing/2014/main" id="{00BEFBE8-60DB-731C-2046-B15176F45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" name="Group 13">
              <a:extLst>
                <a:ext uri="{FF2B5EF4-FFF2-40B4-BE49-F238E27FC236}">
                  <a16:creationId xmlns:a16="http://schemas.microsoft.com/office/drawing/2014/main" id="{CD099299-90A4-9344-AD22-3297D51D8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5" y="2062163"/>
              <a:ext cx="1014677" cy="239712"/>
              <a:chOff x="3742" y="1344"/>
              <a:chExt cx="590" cy="151"/>
            </a:xfrm>
          </p:grpSpPr>
          <p:sp>
            <p:nvSpPr>
              <p:cNvPr id="57" name="Line 14">
                <a:extLst>
                  <a:ext uri="{FF2B5EF4-FFF2-40B4-BE49-F238E27FC236}">
                    <a16:creationId xmlns:a16="http://schemas.microsoft.com/office/drawing/2014/main" id="{E740063E-3A80-B974-ECB8-38B32F43B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1344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8" name="Line 15">
                <a:extLst>
                  <a:ext uri="{FF2B5EF4-FFF2-40B4-BE49-F238E27FC236}">
                    <a16:creationId xmlns:a16="http://schemas.microsoft.com/office/drawing/2014/main" id="{991F98EE-DD18-0489-8FC4-960AFE966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344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9" name="Line 16">
                <a:extLst>
                  <a:ext uri="{FF2B5EF4-FFF2-40B4-BE49-F238E27FC236}">
                    <a16:creationId xmlns:a16="http://schemas.microsoft.com/office/drawing/2014/main" id="{C408CDDD-D8B7-4E9A-2761-67D936BDF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1344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60" name="Line 17">
                <a:extLst>
                  <a:ext uri="{FF2B5EF4-FFF2-40B4-BE49-F238E27FC236}">
                    <a16:creationId xmlns:a16="http://schemas.microsoft.com/office/drawing/2014/main" id="{F1A98B4B-D739-7638-A598-76A275571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1344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" name="Group 18">
              <a:extLst>
                <a:ext uri="{FF2B5EF4-FFF2-40B4-BE49-F238E27FC236}">
                  <a16:creationId xmlns:a16="http://schemas.microsoft.com/office/drawing/2014/main" id="{57EF89E1-635E-AD41-4E76-8C029B2A4B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6" y="1412875"/>
              <a:ext cx="1049073" cy="865188"/>
              <a:chOff x="3742" y="935"/>
              <a:chExt cx="610" cy="545"/>
            </a:xfrm>
          </p:grpSpPr>
          <p:sp>
            <p:nvSpPr>
              <p:cNvPr id="52" name="Line 19">
                <a:extLst>
                  <a:ext uri="{FF2B5EF4-FFF2-40B4-BE49-F238E27FC236}">
                    <a16:creationId xmlns:a16="http://schemas.microsoft.com/office/drawing/2014/main" id="{0623C1BA-14FA-4EEA-EBAA-D190F3461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3" name="Line 20">
                <a:extLst>
                  <a:ext uri="{FF2B5EF4-FFF2-40B4-BE49-F238E27FC236}">
                    <a16:creationId xmlns:a16="http://schemas.microsoft.com/office/drawing/2014/main" id="{AFB3F41A-EEB5-F0F5-1801-E6B682054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4" name="Line 21">
                <a:extLst>
                  <a:ext uri="{FF2B5EF4-FFF2-40B4-BE49-F238E27FC236}">
                    <a16:creationId xmlns:a16="http://schemas.microsoft.com/office/drawing/2014/main" id="{D039289E-A6AA-BBB3-9CCE-EB740314E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5" name="Line 22">
                <a:extLst>
                  <a:ext uri="{FF2B5EF4-FFF2-40B4-BE49-F238E27FC236}">
                    <a16:creationId xmlns:a16="http://schemas.microsoft.com/office/drawing/2014/main" id="{0F1DF1E8-44C8-287C-1016-5A97F2795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32" y="948"/>
                <a:ext cx="20" cy="396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6" name="Line 23">
                <a:extLst>
                  <a:ext uri="{FF2B5EF4-FFF2-40B4-BE49-F238E27FC236}">
                    <a16:creationId xmlns:a16="http://schemas.microsoft.com/office/drawing/2014/main" id="{095E3E36-8693-7DC9-31D4-8BBFEC1AD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4" name="Group 24">
              <a:extLst>
                <a:ext uri="{FF2B5EF4-FFF2-40B4-BE49-F238E27FC236}">
                  <a16:creationId xmlns:a16="http://schemas.microsoft.com/office/drawing/2014/main" id="{103662BD-8E48-630B-C5ED-7B333AC56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5" y="2062163"/>
              <a:ext cx="1014677" cy="239712"/>
              <a:chOff x="3742" y="1344"/>
              <a:chExt cx="590" cy="151"/>
            </a:xfrm>
          </p:grpSpPr>
          <p:sp>
            <p:nvSpPr>
              <p:cNvPr id="48" name="Line 25">
                <a:extLst>
                  <a:ext uri="{FF2B5EF4-FFF2-40B4-BE49-F238E27FC236}">
                    <a16:creationId xmlns:a16="http://schemas.microsoft.com/office/drawing/2014/main" id="{1B83C4EA-516D-DBF8-EFB3-BF7A5AFAC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1344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9" name="Line 26">
                <a:extLst>
                  <a:ext uri="{FF2B5EF4-FFF2-40B4-BE49-F238E27FC236}">
                    <a16:creationId xmlns:a16="http://schemas.microsoft.com/office/drawing/2014/main" id="{41593124-FA67-2443-9F95-7AF3ABE30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344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0" name="Line 27">
                <a:extLst>
                  <a:ext uri="{FF2B5EF4-FFF2-40B4-BE49-F238E27FC236}">
                    <a16:creationId xmlns:a16="http://schemas.microsoft.com/office/drawing/2014/main" id="{06F931BF-4B91-47C4-126F-7C2A75045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1344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51" name="Line 28">
                <a:extLst>
                  <a:ext uri="{FF2B5EF4-FFF2-40B4-BE49-F238E27FC236}">
                    <a16:creationId xmlns:a16="http://schemas.microsoft.com/office/drawing/2014/main" id="{49B1C9B8-7967-0CC8-9763-19C181C7E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1344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5" name="Group 29">
              <a:extLst>
                <a:ext uri="{FF2B5EF4-FFF2-40B4-BE49-F238E27FC236}">
                  <a16:creationId xmlns:a16="http://schemas.microsoft.com/office/drawing/2014/main" id="{A8EFAC4B-377B-ECDD-670F-EEEAFB708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072" y="2638426"/>
              <a:ext cx="2027634" cy="358775"/>
              <a:chOff x="3515" y="890"/>
              <a:chExt cx="1179" cy="226"/>
            </a:xfrm>
          </p:grpSpPr>
          <p:sp>
            <p:nvSpPr>
              <p:cNvPr id="43" name="AutoShape 30">
                <a:extLst>
                  <a:ext uri="{FF2B5EF4-FFF2-40B4-BE49-F238E27FC236}">
                    <a16:creationId xmlns:a16="http://schemas.microsoft.com/office/drawing/2014/main" id="{B670E8C3-743E-8E35-38FD-327021AA6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5" y="89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rgbClr val="FF9900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4" name="Line 31">
                <a:extLst>
                  <a:ext uri="{FF2B5EF4-FFF2-40B4-BE49-F238E27FC236}">
                    <a16:creationId xmlns:a16="http://schemas.microsoft.com/office/drawing/2014/main" id="{8B4F6C0B-5EB5-09B2-F3FF-A47CEA943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935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5" name="Line 32">
                <a:extLst>
                  <a:ext uri="{FF2B5EF4-FFF2-40B4-BE49-F238E27FC236}">
                    <a16:creationId xmlns:a16="http://schemas.microsoft.com/office/drawing/2014/main" id="{82FDEF36-7E09-BBB1-8CD8-40171F864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6" name="Line 33">
                <a:extLst>
                  <a:ext uri="{FF2B5EF4-FFF2-40B4-BE49-F238E27FC236}">
                    <a16:creationId xmlns:a16="http://schemas.microsoft.com/office/drawing/2014/main" id="{78BC3956-210D-2226-D9DB-8BD20DA03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935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7" name="Line 34">
                <a:extLst>
                  <a:ext uri="{FF2B5EF4-FFF2-40B4-BE49-F238E27FC236}">
                    <a16:creationId xmlns:a16="http://schemas.microsoft.com/office/drawing/2014/main" id="{9360954E-BD57-F11A-C31F-A10CD8DBC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935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6" name="Group 35">
              <a:extLst>
                <a:ext uri="{FF2B5EF4-FFF2-40B4-BE49-F238E27FC236}">
                  <a16:creationId xmlns:a16="http://schemas.microsoft.com/office/drawing/2014/main" id="{15394866-3006-7E31-E3C4-D388C6C01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69073" y="3286126"/>
              <a:ext cx="5616840" cy="358775"/>
              <a:chOff x="2290" y="1570"/>
              <a:chExt cx="3266" cy="226"/>
            </a:xfrm>
          </p:grpSpPr>
          <p:sp>
            <p:nvSpPr>
              <p:cNvPr id="40" name="AutoShape 36">
                <a:extLst>
                  <a:ext uri="{FF2B5EF4-FFF2-40B4-BE49-F238E27FC236}">
                    <a16:creationId xmlns:a16="http://schemas.microsoft.com/office/drawing/2014/main" id="{750DF584-E76A-1D2E-21B4-133C73C8F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1" name="AutoShape 37">
                <a:extLst>
                  <a:ext uri="{FF2B5EF4-FFF2-40B4-BE49-F238E27FC236}">
                    <a16:creationId xmlns:a16="http://schemas.microsoft.com/office/drawing/2014/main" id="{06FF02E3-D9DD-767D-C5D3-D6A3E0547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42" name="AutoShape 38">
                <a:extLst>
                  <a:ext uri="{FF2B5EF4-FFF2-40B4-BE49-F238E27FC236}">
                    <a16:creationId xmlns:a16="http://schemas.microsoft.com/office/drawing/2014/main" id="{AEC5D434-5AED-4FA2-42D0-18360AD18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1"/>
              </a:solidFill>
              <a:ln w="9525">
                <a:solidFill>
                  <a:srgbClr val="33CCCC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7" name="Group 39">
              <a:extLst>
                <a:ext uri="{FF2B5EF4-FFF2-40B4-BE49-F238E27FC236}">
                  <a16:creationId xmlns:a16="http://schemas.microsoft.com/office/drawing/2014/main" id="{AF4E247B-7409-B008-49CA-1355E127C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5" y="2709864"/>
              <a:ext cx="1014677" cy="865187"/>
              <a:chOff x="3742" y="935"/>
              <a:chExt cx="590" cy="545"/>
            </a:xfrm>
          </p:grpSpPr>
          <p:sp>
            <p:nvSpPr>
              <p:cNvPr id="35" name="Line 40">
                <a:extLst>
                  <a:ext uri="{FF2B5EF4-FFF2-40B4-BE49-F238E27FC236}">
                    <a16:creationId xmlns:a16="http://schemas.microsoft.com/office/drawing/2014/main" id="{33F5AF53-25DC-34ED-5051-07CE3C392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6" name="Line 41">
                <a:extLst>
                  <a:ext uri="{FF2B5EF4-FFF2-40B4-BE49-F238E27FC236}">
                    <a16:creationId xmlns:a16="http://schemas.microsoft.com/office/drawing/2014/main" id="{C54B0692-072D-0590-247E-FE765C7B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7" name="Line 42">
                <a:extLst>
                  <a:ext uri="{FF2B5EF4-FFF2-40B4-BE49-F238E27FC236}">
                    <a16:creationId xmlns:a16="http://schemas.microsoft.com/office/drawing/2014/main" id="{DF76F065-AB4C-80B0-1ABD-18DF0264A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8" name="Line 43">
                <a:extLst>
                  <a:ext uri="{FF2B5EF4-FFF2-40B4-BE49-F238E27FC236}">
                    <a16:creationId xmlns:a16="http://schemas.microsoft.com/office/drawing/2014/main" id="{3448B6F7-384E-775A-6F80-E1D46B01E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39" name="Line 44">
                <a:extLst>
                  <a:ext uri="{FF2B5EF4-FFF2-40B4-BE49-F238E27FC236}">
                    <a16:creationId xmlns:a16="http://schemas.microsoft.com/office/drawing/2014/main" id="{03499E89-B85D-22EC-8CF6-813F4F6CB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8" name="AutoShape 45">
              <a:extLst>
                <a:ext uri="{FF2B5EF4-FFF2-40B4-BE49-F238E27FC236}">
                  <a16:creationId xmlns:a16="http://schemas.microsoft.com/office/drawing/2014/main" id="{785A15ED-3053-7957-5008-831264232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0250" y="2708275"/>
              <a:ext cx="233892" cy="215900"/>
            </a:xfrm>
            <a:prstGeom prst="irregularSeal1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9" name="Group 46">
              <a:extLst>
                <a:ext uri="{FF2B5EF4-FFF2-40B4-BE49-F238E27FC236}">
                  <a16:creationId xmlns:a16="http://schemas.microsoft.com/office/drawing/2014/main" id="{E3D9FBCD-B3D9-6373-F81E-D72A3F7C6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5" y="3355976"/>
              <a:ext cx="1014677" cy="239713"/>
              <a:chOff x="2517" y="2599"/>
              <a:chExt cx="590" cy="151"/>
            </a:xfrm>
          </p:grpSpPr>
          <p:grpSp>
            <p:nvGrpSpPr>
              <p:cNvPr id="29" name="Group 47">
                <a:extLst>
                  <a:ext uri="{FF2B5EF4-FFF2-40B4-BE49-F238E27FC236}">
                    <a16:creationId xmlns:a16="http://schemas.microsoft.com/office/drawing/2014/main" id="{4F6D9552-8D8F-609B-21B3-CA2628B158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599"/>
                <a:ext cx="590" cy="151"/>
                <a:chOff x="2517" y="2599"/>
                <a:chExt cx="590" cy="151"/>
              </a:xfrm>
            </p:grpSpPr>
            <p:sp>
              <p:nvSpPr>
                <p:cNvPr id="31" name="Line 48">
                  <a:extLst>
                    <a:ext uri="{FF2B5EF4-FFF2-40B4-BE49-F238E27FC236}">
                      <a16:creationId xmlns:a16="http://schemas.microsoft.com/office/drawing/2014/main" id="{C4420B31-D132-8388-6948-4D5CF33DB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2599"/>
                  <a:ext cx="181" cy="151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2" name="Line 49">
                  <a:extLst>
                    <a:ext uri="{FF2B5EF4-FFF2-40B4-BE49-F238E27FC236}">
                      <a16:creationId xmlns:a16="http://schemas.microsoft.com/office/drawing/2014/main" id="{ACA3CE30-A853-2653-A70A-F0D4C3AE75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8" y="2599"/>
                  <a:ext cx="409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3" name="Line 50">
                  <a:extLst>
                    <a:ext uri="{FF2B5EF4-FFF2-40B4-BE49-F238E27FC236}">
                      <a16:creationId xmlns:a16="http://schemas.microsoft.com/office/drawing/2014/main" id="{EA4D6E3C-669B-09B7-F486-2CC8EDB710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0" y="2599"/>
                  <a:ext cx="137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34" name="Line 51">
                  <a:extLst>
                    <a:ext uri="{FF2B5EF4-FFF2-40B4-BE49-F238E27FC236}">
                      <a16:creationId xmlns:a16="http://schemas.microsoft.com/office/drawing/2014/main" id="{B199BDB0-00E9-0BDB-C6FD-7B3F367AA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4" y="2599"/>
                  <a:ext cx="136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30" name="AutoShape 52">
                <a:extLst>
                  <a:ext uri="{FF2B5EF4-FFF2-40B4-BE49-F238E27FC236}">
                    <a16:creationId xmlns:a16="http://schemas.microsoft.com/office/drawing/2014/main" id="{0D74C9FB-F27A-F077-EA42-97B3A5ADF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614"/>
                <a:ext cx="136" cy="136"/>
              </a:xfrm>
              <a:prstGeom prst="irregularSeal1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20" name="Group 53">
              <a:extLst>
                <a:ext uri="{FF2B5EF4-FFF2-40B4-BE49-F238E27FC236}">
                  <a16:creationId xmlns:a16="http://schemas.microsoft.com/office/drawing/2014/main" id="{96203860-5B25-6CED-FD9F-E6E0DD9B5F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9465" y="3355976"/>
              <a:ext cx="1014677" cy="239713"/>
              <a:chOff x="2517" y="2599"/>
              <a:chExt cx="590" cy="151"/>
            </a:xfrm>
          </p:grpSpPr>
          <p:grpSp>
            <p:nvGrpSpPr>
              <p:cNvPr id="23" name="Group 54">
                <a:extLst>
                  <a:ext uri="{FF2B5EF4-FFF2-40B4-BE49-F238E27FC236}">
                    <a16:creationId xmlns:a16="http://schemas.microsoft.com/office/drawing/2014/main" id="{7E5C5319-90F5-2F17-02B8-C6AEBDADF0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599"/>
                <a:ext cx="590" cy="151"/>
                <a:chOff x="2517" y="2599"/>
                <a:chExt cx="590" cy="151"/>
              </a:xfrm>
            </p:grpSpPr>
            <p:sp>
              <p:nvSpPr>
                <p:cNvPr id="25" name="Line 55">
                  <a:extLst>
                    <a:ext uri="{FF2B5EF4-FFF2-40B4-BE49-F238E27FC236}">
                      <a16:creationId xmlns:a16="http://schemas.microsoft.com/office/drawing/2014/main" id="{6F6185A6-E7B8-6300-7F28-78BFDAEF5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2599"/>
                  <a:ext cx="181" cy="151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6" name="Line 56">
                  <a:extLst>
                    <a:ext uri="{FF2B5EF4-FFF2-40B4-BE49-F238E27FC236}">
                      <a16:creationId xmlns:a16="http://schemas.microsoft.com/office/drawing/2014/main" id="{4829EF1B-9C5D-7AF7-D6FE-5C105CFF6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8" y="2599"/>
                  <a:ext cx="409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7" name="Line 57">
                  <a:extLst>
                    <a:ext uri="{FF2B5EF4-FFF2-40B4-BE49-F238E27FC236}">
                      <a16:creationId xmlns:a16="http://schemas.microsoft.com/office/drawing/2014/main" id="{0E54AC4A-FDC5-4FE9-B4DB-EB9EE50B36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0" y="2599"/>
                  <a:ext cx="137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8" name="Line 58">
                  <a:extLst>
                    <a:ext uri="{FF2B5EF4-FFF2-40B4-BE49-F238E27FC236}">
                      <a16:creationId xmlns:a16="http://schemas.microsoft.com/office/drawing/2014/main" id="{74B0D8C0-E6B4-41CE-E5ED-5DF5BD99A4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4" y="2599"/>
                  <a:ext cx="136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24" name="AutoShape 59">
                <a:extLst>
                  <a:ext uri="{FF2B5EF4-FFF2-40B4-BE49-F238E27FC236}">
                    <a16:creationId xmlns:a16="http://schemas.microsoft.com/office/drawing/2014/main" id="{85062D13-E803-CBF5-DF3A-DDF72DBE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614"/>
                <a:ext cx="136" cy="136"/>
              </a:xfrm>
              <a:prstGeom prst="irregularSeal1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1" name="Rectangle 27">
              <a:extLst>
                <a:ext uri="{FF2B5EF4-FFF2-40B4-BE49-F238E27FC236}">
                  <a16:creationId xmlns:a16="http://schemas.microsoft.com/office/drawing/2014/main" id="{A75DF24D-59C8-F279-A6A0-8534709520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536" y="1588490"/>
              <a:ext cx="2236539" cy="463096"/>
            </a:xfrm>
            <a:prstGeom prst="roundRect">
              <a:avLst/>
            </a:prstGeom>
            <a:solidFill>
              <a:srgbClr val="2E74A4"/>
            </a:solidFill>
            <a:ln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  <a:sp3d prstMaterial="plastic">
              <a:bevelT w="184150" h="3175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auto" latinLnBrk="0" hangingPunc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50" b="1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정상적인</a:t>
              </a:r>
              <a:br>
                <a:rPr kumimoji="0" lang="en-US" altLang="ko-KR" sz="1050" b="1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050" b="1" i="0" u="none" strike="noStrike" kern="1200" cap="none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포토마스크</a:t>
              </a:r>
            </a:p>
          </p:txBody>
        </p:sp>
        <p:sp>
          <p:nvSpPr>
            <p:cNvPr id="22" name="Rectangle 27">
              <a:extLst>
                <a:ext uri="{FF2B5EF4-FFF2-40B4-BE49-F238E27FC236}">
                  <a16:creationId xmlns:a16="http://schemas.microsoft.com/office/drawing/2014/main" id="{735C7B2A-6052-5928-0C00-99C479157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4911" y="2692627"/>
              <a:ext cx="2236539" cy="463096"/>
            </a:xfrm>
            <a:prstGeom prst="roundRect">
              <a:avLst/>
            </a:prstGeom>
            <a:solidFill>
              <a:srgbClr val="2E74A4"/>
            </a:solidFill>
            <a:ln>
              <a:headEnd type="none" w="med" len="med"/>
              <a:tailEnd type="none" w="med" len="med"/>
            </a:ln>
            <a:scene3d>
              <a:camera prst="orthographicFront">
                <a:rot lat="0" lon="0" rev="0"/>
              </a:camera>
              <a:lightRig rig="threePt" dir="t"/>
            </a:scene3d>
            <a:sp3d prstMaterial="plastic">
              <a:bevelT w="184150" h="31750"/>
            </a:sp3d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0" fontAlgn="auto" latinLnBrk="0" hangingPunc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050" b="1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포토마스크에 </a:t>
              </a:r>
              <a:br>
                <a:rPr lang="en-US" altLang="ko-KR" sz="1050" b="1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ko-KR" altLang="en-US" sz="1050" b="1" dirty="0">
                  <a:solidFill>
                    <a:prstClr val="white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결함이 있는 경우</a:t>
              </a:r>
              <a:endParaRPr kumimoji="0" lang="ko-KR" altLang="en-US" sz="1050" b="1" i="0" u="none" strike="noStrike" kern="1200" cap="none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352C503-0701-2BF6-52B9-FBC4EB434DE8}"/>
              </a:ext>
            </a:extLst>
          </p:cNvPr>
          <p:cNvSpPr txBox="1"/>
          <p:nvPr/>
        </p:nvSpPr>
        <p:spPr>
          <a:xfrm>
            <a:off x="771522" y="2176998"/>
            <a:ext cx="5657318" cy="8058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Reticle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이나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Design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인한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Defect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양산 제품에 반복적으로 적용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/>
            </a:pP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Repeat Defect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발생시 짧은 기간에 많은 양의 </a:t>
            </a:r>
            <a:r>
              <a:rPr lang="ko-KR" altLang="en-US" sz="11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저품질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제품을 양산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지속적으로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Monitoring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불가능하고 원인 발견 전까지 대량의 </a:t>
            </a:r>
            <a:r>
              <a:rPr lang="ko-KR" altLang="en-US" sz="1100" b="1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저품질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제품을 양산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A936E19E-C1A3-7DCF-B949-113919410595}"/>
              </a:ext>
            </a:extLst>
          </p:cNvPr>
          <p:cNvSpPr/>
          <p:nvPr/>
        </p:nvSpPr>
        <p:spPr bwMode="auto">
          <a:xfrm>
            <a:off x="6497771" y="1847471"/>
            <a:ext cx="4906829" cy="434555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endParaRPr lang="ko-KR" altLang="en-US" sz="3600" dirty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FE5CF212-0E31-35EB-B93F-30E93EFD50DB}"/>
              </a:ext>
            </a:extLst>
          </p:cNvPr>
          <p:cNvSpPr/>
          <p:nvPr/>
        </p:nvSpPr>
        <p:spPr bwMode="auto">
          <a:xfrm>
            <a:off x="6497770" y="1847471"/>
            <a:ext cx="2646229" cy="231013"/>
          </a:xfrm>
          <a:prstGeom prst="rect">
            <a:avLst/>
          </a:prstGeom>
          <a:solidFill>
            <a:schemeClr val="tx2"/>
          </a:solidFill>
          <a:ln w="9525" algn="ctr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Tolerance</a:t>
            </a:r>
            <a:r>
              <a:rPr lang="ko-KR" altLang="en-US" sz="1200" b="1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이용한 실측 오차 보정</a:t>
            </a:r>
          </a:p>
        </p:txBody>
      </p:sp>
      <p:sp>
        <p:nvSpPr>
          <p:cNvPr id="72" name="Text Box 13">
            <a:extLst>
              <a:ext uri="{FF2B5EF4-FFF2-40B4-BE49-F238E27FC236}">
                <a16:creationId xmlns:a16="http://schemas.microsoft.com/office/drawing/2014/main" id="{2B9B9E34-4039-C972-F221-1D7E80B3B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95686" y="3940765"/>
            <a:ext cx="4720014" cy="253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Defect 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위치가 실제 같으나 수치상 차이로 동일</a:t>
            </a:r>
            <a:r>
              <a:rPr kumimoji="0" lang="ko-KR" altLang="en-US" sz="1050" b="0" i="0" u="none" strike="noStrike" kern="1200" cap="none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Defect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으로 인식 못함</a:t>
            </a:r>
          </a:p>
        </p:txBody>
      </p:sp>
      <p:sp>
        <p:nvSpPr>
          <p:cNvPr id="73" name="Text Box 31">
            <a:extLst>
              <a:ext uri="{FF2B5EF4-FFF2-40B4-BE49-F238E27FC236}">
                <a16:creationId xmlns:a16="http://schemas.microsoft.com/office/drawing/2014/main" id="{0A110B8B-895E-C536-71CA-AE5CF1591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5266" y="5750533"/>
            <a:ext cx="4906829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Tolerance 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적용으로 수치상 차이가 발생한 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Defect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을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동일 </a:t>
            </a: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Defect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인식하여</a:t>
            </a:r>
            <a:b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  Repeat Defect </a:t>
            </a:r>
            <a:r>
              <a:rPr kumimoji="0" lang="ko-KR" altLang="en-US" sz="105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검출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F3540736-DDCE-CFD9-2CFD-8B846DF33FA7}"/>
              </a:ext>
            </a:extLst>
          </p:cNvPr>
          <p:cNvGrpSpPr/>
          <p:nvPr/>
        </p:nvGrpSpPr>
        <p:grpSpPr>
          <a:xfrm>
            <a:off x="7308778" y="2984501"/>
            <a:ext cx="3284814" cy="874190"/>
            <a:chOff x="406600" y="2635251"/>
            <a:chExt cx="3571279" cy="1081781"/>
          </a:xfrm>
        </p:grpSpPr>
        <p:sp>
          <p:nvSpPr>
            <p:cNvPr id="75" name="AutoShape 2">
              <a:extLst>
                <a:ext uri="{FF2B5EF4-FFF2-40B4-BE49-F238E27FC236}">
                  <a16:creationId xmlns:a16="http://schemas.microsoft.com/office/drawing/2014/main" id="{6D05EB09-8184-24AD-0B50-B342CC637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00" y="2635251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6" name="AutoShape 3">
              <a:extLst>
                <a:ext uri="{FF2B5EF4-FFF2-40B4-BE49-F238E27FC236}">
                  <a16:creationId xmlns:a16="http://schemas.microsoft.com/office/drawing/2014/main" id="{BE99EE0C-FC71-7D4C-24FC-146F5F540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557" y="2635251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7" name="AutoShape 4">
              <a:extLst>
                <a:ext uri="{FF2B5EF4-FFF2-40B4-BE49-F238E27FC236}">
                  <a16:creationId xmlns:a16="http://schemas.microsoft.com/office/drawing/2014/main" id="{4F4863F4-8AA1-D27E-743C-CDB887F84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906" y="2692145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8" name="AutoShape 5">
              <a:extLst>
                <a:ext uri="{FF2B5EF4-FFF2-40B4-BE49-F238E27FC236}">
                  <a16:creationId xmlns:a16="http://schemas.microsoft.com/office/drawing/2014/main" id="{288B9C82-C3DA-104A-402A-E3F8EA05D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383" y="2692145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9" name="Line 6">
              <a:extLst>
                <a:ext uri="{FF2B5EF4-FFF2-40B4-BE49-F238E27FC236}">
                  <a16:creationId xmlns:a16="http://schemas.microsoft.com/office/drawing/2014/main" id="{A91A5160-E6B6-3001-ED2B-DE287DD48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863" y="2783176"/>
              <a:ext cx="16367" cy="81674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80" name="Group 7">
              <a:extLst>
                <a:ext uri="{FF2B5EF4-FFF2-40B4-BE49-F238E27FC236}">
                  <a16:creationId xmlns:a16="http://schemas.microsoft.com/office/drawing/2014/main" id="{E3AB041F-836E-A0DB-2C38-FC2374F40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6367" y="2805934"/>
              <a:ext cx="1644438" cy="911098"/>
              <a:chOff x="793" y="1207"/>
              <a:chExt cx="1316" cy="1089"/>
            </a:xfrm>
          </p:grpSpPr>
          <p:sp>
            <p:nvSpPr>
              <p:cNvPr id="83" name="Line 8">
                <a:extLst>
                  <a:ext uri="{FF2B5EF4-FFF2-40B4-BE49-F238E27FC236}">
                    <a16:creationId xmlns:a16="http://schemas.microsoft.com/office/drawing/2014/main" id="{2D509500-BC61-6A07-EBA2-2386E95EC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1207"/>
                <a:ext cx="0" cy="1089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4" name="Line 9">
                <a:extLst>
                  <a:ext uri="{FF2B5EF4-FFF2-40B4-BE49-F238E27FC236}">
                    <a16:creationId xmlns:a16="http://schemas.microsoft.com/office/drawing/2014/main" id="{E97252A8-72CE-95ED-52CB-0C2F6876E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1207"/>
                <a:ext cx="0" cy="1089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5" name="Line 10">
                <a:extLst>
                  <a:ext uri="{FF2B5EF4-FFF2-40B4-BE49-F238E27FC236}">
                    <a16:creationId xmlns:a16="http://schemas.microsoft.com/office/drawing/2014/main" id="{BE36A800-62E0-8D81-DA6B-9319DE04A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316" cy="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81" name="Line 11">
              <a:extLst>
                <a:ext uri="{FF2B5EF4-FFF2-40B4-BE49-F238E27FC236}">
                  <a16:creationId xmlns:a16="http://schemas.microsoft.com/office/drawing/2014/main" id="{04E8E5CB-E8F0-2CE8-5374-77791EC69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7152" y="3212976"/>
              <a:ext cx="113712" cy="0"/>
            </a:xfrm>
            <a:prstGeom prst="lin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2" name="Line 12">
              <a:extLst>
                <a:ext uri="{FF2B5EF4-FFF2-40B4-BE49-F238E27FC236}">
                  <a16:creationId xmlns:a16="http://schemas.microsoft.com/office/drawing/2014/main" id="{497ABE49-C428-91CA-5397-9B20DB393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0805" y="3212976"/>
              <a:ext cx="113711" cy="0"/>
            </a:xfrm>
            <a:prstGeom prst="lin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grpSp>
        <p:nvGrpSpPr>
          <p:cNvPr id="86" name="그룹 85">
            <a:extLst>
              <a:ext uri="{FF2B5EF4-FFF2-40B4-BE49-F238E27FC236}">
                <a16:creationId xmlns:a16="http://schemas.microsoft.com/office/drawing/2014/main" id="{F798EA63-5C20-E4B5-2194-A721DB6F5285}"/>
              </a:ext>
            </a:extLst>
          </p:cNvPr>
          <p:cNvGrpSpPr/>
          <p:nvPr/>
        </p:nvGrpSpPr>
        <p:grpSpPr>
          <a:xfrm>
            <a:off x="7308778" y="4835679"/>
            <a:ext cx="3284814" cy="843248"/>
            <a:chOff x="373608" y="4689765"/>
            <a:chExt cx="3571280" cy="1043491"/>
          </a:xfrm>
        </p:grpSpPr>
        <p:sp>
          <p:nvSpPr>
            <p:cNvPr id="87" name="AutoShape 14">
              <a:extLst>
                <a:ext uri="{FF2B5EF4-FFF2-40B4-BE49-F238E27FC236}">
                  <a16:creationId xmlns:a16="http://schemas.microsoft.com/office/drawing/2014/main" id="{D216BEDA-731B-BC6C-FDD4-B27794699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08" y="4689765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8" name="AutoShape 15">
              <a:extLst>
                <a:ext uri="{FF2B5EF4-FFF2-40B4-BE49-F238E27FC236}">
                  <a16:creationId xmlns:a16="http://schemas.microsoft.com/office/drawing/2014/main" id="{FADCEE38-9C1D-48B3-974E-A0BE58C12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566" y="4689765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9" name="AutoShape 16">
              <a:extLst>
                <a:ext uri="{FF2B5EF4-FFF2-40B4-BE49-F238E27FC236}">
                  <a16:creationId xmlns:a16="http://schemas.microsoft.com/office/drawing/2014/main" id="{6B3C1810-67A5-CB1D-ADEC-D30688E9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915" y="4746659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0" name="AutoShape 17">
              <a:extLst>
                <a:ext uri="{FF2B5EF4-FFF2-40B4-BE49-F238E27FC236}">
                  <a16:creationId xmlns:a16="http://schemas.microsoft.com/office/drawing/2014/main" id="{3D76AE47-6C15-025E-092E-27D53299D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392" y="4746659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1" name="Line 18">
              <a:extLst>
                <a:ext uri="{FF2B5EF4-FFF2-40B4-BE49-F238E27FC236}">
                  <a16:creationId xmlns:a16="http://schemas.microsoft.com/office/drawing/2014/main" id="{435E8A03-A036-0BAB-91FB-0B8DAB712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872" y="4837690"/>
              <a:ext cx="0" cy="823559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92" name="Group 19">
              <a:extLst>
                <a:ext uri="{FF2B5EF4-FFF2-40B4-BE49-F238E27FC236}">
                  <a16:creationId xmlns:a16="http://schemas.microsoft.com/office/drawing/2014/main" id="{4C3AFDE1-743C-DF33-31CD-9423C5395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376" y="4860447"/>
              <a:ext cx="1644438" cy="872809"/>
              <a:chOff x="793" y="1207"/>
              <a:chExt cx="1316" cy="1089"/>
            </a:xfrm>
          </p:grpSpPr>
          <p:sp>
            <p:nvSpPr>
              <p:cNvPr id="101" name="Line 20">
                <a:extLst>
                  <a:ext uri="{FF2B5EF4-FFF2-40B4-BE49-F238E27FC236}">
                    <a16:creationId xmlns:a16="http://schemas.microsoft.com/office/drawing/2014/main" id="{BF2435CF-2715-092D-2880-CEEEA19B5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1207"/>
                <a:ext cx="0" cy="1089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2" name="Line 21">
                <a:extLst>
                  <a:ext uri="{FF2B5EF4-FFF2-40B4-BE49-F238E27FC236}">
                    <a16:creationId xmlns:a16="http://schemas.microsoft.com/office/drawing/2014/main" id="{ADB16B06-1B11-FF3A-4399-980BBB4BC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1207"/>
                <a:ext cx="0" cy="1089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3" name="Line 22">
                <a:extLst>
                  <a:ext uri="{FF2B5EF4-FFF2-40B4-BE49-F238E27FC236}">
                    <a16:creationId xmlns:a16="http://schemas.microsoft.com/office/drawing/2014/main" id="{5A61E09A-7410-8E5F-A3B7-C8B6CE754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316" cy="0"/>
              </a:xfrm>
              <a:prstGeom prst="line">
                <a:avLst/>
              </a:prstGeom>
              <a:noFill/>
              <a:ln w="254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93" name="Line 23">
              <a:extLst>
                <a:ext uri="{FF2B5EF4-FFF2-40B4-BE49-F238E27FC236}">
                  <a16:creationId xmlns:a16="http://schemas.microsoft.com/office/drawing/2014/main" id="{92297AA9-42B4-40A9-3B87-B4F7FAD41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7813" y="5589240"/>
              <a:ext cx="113711" cy="0"/>
            </a:xfrm>
            <a:prstGeom prst="lin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4" name="Oval 24">
              <a:extLst>
                <a:ext uri="{FF2B5EF4-FFF2-40B4-BE49-F238E27FC236}">
                  <a16:creationId xmlns:a16="http://schemas.microsoft.com/office/drawing/2014/main" id="{4F7B8418-4AEF-5BB1-0472-4EFBE815F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931" y="4689765"/>
              <a:ext cx="339884" cy="28699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5" name="Oval 25">
              <a:extLst>
                <a:ext uri="{FF2B5EF4-FFF2-40B4-BE49-F238E27FC236}">
                  <a16:creationId xmlns:a16="http://schemas.microsoft.com/office/drawing/2014/main" id="{3C4E157C-3617-F281-D499-8A607119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684" y="4689765"/>
              <a:ext cx="339884" cy="28699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6" name="Oval 26">
              <a:extLst>
                <a:ext uri="{FF2B5EF4-FFF2-40B4-BE49-F238E27FC236}">
                  <a16:creationId xmlns:a16="http://schemas.microsoft.com/office/drawing/2014/main" id="{04753710-3360-4EA1-EE2F-904AC04B8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872" y="4689765"/>
              <a:ext cx="339884" cy="286999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7" name="Line 27">
              <a:extLst>
                <a:ext uri="{FF2B5EF4-FFF2-40B4-BE49-F238E27FC236}">
                  <a16:creationId xmlns:a16="http://schemas.microsoft.com/office/drawing/2014/main" id="{04EEF165-3213-2A34-E13E-FEAD6F9EF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930" y="4804819"/>
              <a:ext cx="0" cy="856430"/>
            </a:xfrm>
            <a:prstGeom prst="line">
              <a:avLst/>
            </a:prstGeom>
            <a:noFill/>
            <a:ln w="25400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8" name="Line 28">
              <a:extLst>
                <a:ext uri="{FF2B5EF4-FFF2-40B4-BE49-F238E27FC236}">
                  <a16:creationId xmlns:a16="http://schemas.microsoft.com/office/drawing/2014/main" id="{FAE46E21-7A0B-3801-BCFE-74908C423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756" y="4861713"/>
              <a:ext cx="0" cy="79953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9" name="Rectangle 29">
              <a:extLst>
                <a:ext uri="{FF2B5EF4-FFF2-40B4-BE49-F238E27FC236}">
                  <a16:creationId xmlns:a16="http://schemas.microsoft.com/office/drawing/2014/main" id="{0C68AD3C-DE5F-B007-CD0D-823D52828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872" y="4976764"/>
              <a:ext cx="112751" cy="684485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0" name="Line 30">
              <a:extLst>
                <a:ext uri="{FF2B5EF4-FFF2-40B4-BE49-F238E27FC236}">
                  <a16:creationId xmlns:a16="http://schemas.microsoft.com/office/drawing/2014/main" id="{4C7D96BC-3F9E-495E-4A81-06E677E5A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161" y="5589240"/>
              <a:ext cx="113712" cy="0"/>
            </a:xfrm>
            <a:prstGeom prst="line">
              <a:avLst/>
            </a:prstGeom>
            <a:noFill/>
            <a:ln w="15875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04" name="AutoShape 32">
            <a:extLst>
              <a:ext uri="{FF2B5EF4-FFF2-40B4-BE49-F238E27FC236}">
                <a16:creationId xmlns:a16="http://schemas.microsoft.com/office/drawing/2014/main" id="{07FCCA48-B229-0D24-82A8-7AE1594A9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08114" y="4303356"/>
            <a:ext cx="886142" cy="417362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6">
              <a:lumMod val="75000"/>
              <a:alpha val="32001"/>
            </a:schemeClr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T prst="angle"/>
          </a:sp3d>
        </p:spPr>
        <p:txBody>
          <a:bodyPr vert="eaVert" wrap="none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F1C0F1E-D5D2-DACE-D99D-26A6E771B197}"/>
              </a:ext>
            </a:extLst>
          </p:cNvPr>
          <p:cNvSpPr txBox="1"/>
          <p:nvPr/>
        </p:nvSpPr>
        <p:spPr>
          <a:xfrm>
            <a:off x="6627881" y="2176998"/>
            <a:ext cx="4854214" cy="677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Defect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으로 인지할 수 있는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Tolerance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적용으로 실측 오차 보정</a:t>
            </a:r>
            <a:endParaRPr lang="en-US" altLang="ko-KR" sz="1100" b="1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lvl="0" indent="-171450">
              <a:lnSpc>
                <a:spcPct val="90000"/>
              </a:lnSpc>
              <a:spcBef>
                <a:spcPts val="1000"/>
              </a:spcBef>
              <a:buFont typeface="Wingdings" panose="05000000000000000000" pitchFamily="2" charset="2"/>
              <a:buChar char="v"/>
              <a:defRPr/>
            </a:pP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Glass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에서의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Repeat Defect 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뿐만 아니라 서로 다른 </a:t>
            </a: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Glass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에서의 </a:t>
            </a:r>
            <a:b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</a:br>
            <a:r>
              <a:rPr lang="en-US" altLang="ko-KR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Repeat Defect</a:t>
            </a:r>
            <a:r>
              <a:rPr lang="ko-KR" altLang="en-US" sz="1100" b="1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도 검출</a:t>
            </a:r>
            <a:endParaRPr lang="ko-KR" altLang="en-US" sz="11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CE5DAC-201C-2D1C-810C-70676FBB6B25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2) RDA (Repeated Defect Analysis)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반복적인 결함을 관리하고 분석하여 불량 발생의 원천적인 원인을 찾고 개선하여 품질 향상 기대</a:t>
            </a:r>
          </a:p>
        </p:txBody>
      </p:sp>
    </p:spTree>
    <p:extLst>
      <p:ext uri="{BB962C8B-B14F-4D97-AF65-F5344CB8AC3E}">
        <p14:creationId xmlns:p14="http://schemas.microsoft.com/office/powerpoint/2010/main" val="26669213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313C13A-9389-B359-C269-AB373B898856}"/>
              </a:ext>
            </a:extLst>
          </p:cNvPr>
          <p:cNvSpPr/>
          <p:nvPr/>
        </p:nvSpPr>
        <p:spPr>
          <a:xfrm>
            <a:off x="435332" y="1484313"/>
            <a:ext cx="11179490" cy="500527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B389760-C176-6C2B-6358-EA92D774BF77}"/>
              </a:ext>
            </a:extLst>
          </p:cNvPr>
          <p:cNvGrpSpPr/>
          <p:nvPr/>
        </p:nvGrpSpPr>
        <p:grpSpPr>
          <a:xfrm>
            <a:off x="609600" y="1911068"/>
            <a:ext cx="10852150" cy="4261132"/>
            <a:chOff x="2847547" y="2459255"/>
            <a:chExt cx="8567468" cy="3933218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96B9776-8629-F5FF-B198-52F23BB0C7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914931" y="3447410"/>
              <a:ext cx="2797343" cy="2682043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오른쪽 화살표 160">
              <a:extLst>
                <a:ext uri="{FF2B5EF4-FFF2-40B4-BE49-F238E27FC236}">
                  <a16:creationId xmlns:a16="http://schemas.microsoft.com/office/drawing/2014/main" id="{D59212FC-D948-D56D-C902-FD9E48D6ED43}"/>
                </a:ext>
              </a:extLst>
            </p:cNvPr>
            <p:cNvSpPr/>
            <p:nvPr/>
          </p:nvSpPr>
          <p:spPr bwMode="auto">
            <a:xfrm rot="16200000">
              <a:off x="3790971" y="3468835"/>
              <a:ext cx="495351" cy="277339"/>
            </a:xfrm>
            <a:prstGeom prst="rightArrow">
              <a:avLst>
                <a:gd name="adj1" fmla="val 52010"/>
                <a:gd name="adj2" fmla="val 156754"/>
              </a:avLst>
            </a:prstGeom>
            <a:gradFill flip="none" rotWithShape="1">
              <a:gsLst>
                <a:gs pos="0">
                  <a:srgbClr val="FFFF99"/>
                </a:gs>
                <a:gs pos="100000">
                  <a:srgbClr val="FFFFCC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ko-KR" altLang="en-US" b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Freeform 1368">
              <a:extLst>
                <a:ext uri="{FF2B5EF4-FFF2-40B4-BE49-F238E27FC236}">
                  <a16:creationId xmlns:a16="http://schemas.microsoft.com/office/drawing/2014/main" id="{4A976556-1CE0-7AC1-A074-534C24F2D4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4015787" y="3195921"/>
              <a:ext cx="45719" cy="277338"/>
            </a:xfrm>
            <a:custGeom>
              <a:avLst/>
              <a:gdLst>
                <a:gd name="T0" fmla="*/ 0 w 81"/>
                <a:gd name="T1" fmla="*/ 0 h 225"/>
                <a:gd name="T2" fmla="*/ 0 w 81"/>
                <a:gd name="T3" fmla="*/ 225 h 225"/>
                <a:gd name="T4" fmla="*/ 81 w 81"/>
                <a:gd name="T5" fmla="*/ 220 h 225"/>
                <a:gd name="T6" fmla="*/ 81 w 81"/>
                <a:gd name="T7" fmla="*/ 0 h 225"/>
                <a:gd name="T8" fmla="*/ 0 w 81"/>
                <a:gd name="T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225">
                  <a:moveTo>
                    <a:pt x="0" y="0"/>
                  </a:moveTo>
                  <a:lnTo>
                    <a:pt x="0" y="225"/>
                  </a:lnTo>
                  <a:lnTo>
                    <a:pt x="81" y="220"/>
                  </a:lnTo>
                  <a:lnTo>
                    <a:pt x="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37588E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E391C486-E61D-5043-5206-38B4E1DC9B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3825514" y="3051704"/>
              <a:ext cx="426262" cy="248748"/>
            </a:xfrm>
            <a:prstGeom prst="triangle">
              <a:avLst>
                <a:gd name="adj" fmla="val 49912"/>
              </a:avLst>
            </a:prstGeom>
            <a:gradFill rotWithShape="1">
              <a:gsLst>
                <a:gs pos="1000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90488" tIns="44450" rIns="90488" bIns="44450" anchor="ctr"/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DA48BF1-75D8-403E-66AB-81A3616AE064}"/>
                </a:ext>
              </a:extLst>
            </p:cNvPr>
            <p:cNvGrpSpPr/>
            <p:nvPr/>
          </p:nvGrpSpPr>
          <p:grpSpPr>
            <a:xfrm rot="5400000">
              <a:off x="3909802" y="2755392"/>
              <a:ext cx="257687" cy="426260"/>
              <a:chOff x="12293600" y="1933576"/>
              <a:chExt cx="341313" cy="379413"/>
            </a:xfrm>
          </p:grpSpPr>
          <p:sp>
            <p:nvSpPr>
              <p:cNvPr id="30" name="Freeform 1363">
                <a:extLst>
                  <a:ext uri="{FF2B5EF4-FFF2-40B4-BE49-F238E27FC236}">
                    <a16:creationId xmlns:a16="http://schemas.microsoft.com/office/drawing/2014/main" id="{A3E71A33-DF05-1CDD-83D5-0CFD4BDCCF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593638" y="2049463"/>
                <a:ext cx="41275" cy="150813"/>
              </a:xfrm>
              <a:custGeom>
                <a:avLst/>
                <a:gdLst>
                  <a:gd name="T0" fmla="*/ 0 w 53"/>
                  <a:gd name="T1" fmla="*/ 0 h 192"/>
                  <a:gd name="T2" fmla="*/ 0 w 53"/>
                  <a:gd name="T3" fmla="*/ 0 h 192"/>
                  <a:gd name="T4" fmla="*/ 5 w 53"/>
                  <a:gd name="T5" fmla="*/ 3 h 192"/>
                  <a:gd name="T6" fmla="*/ 16 w 53"/>
                  <a:gd name="T7" fmla="*/ 15 h 192"/>
                  <a:gd name="T8" fmla="*/ 31 w 53"/>
                  <a:gd name="T9" fmla="*/ 31 h 192"/>
                  <a:gd name="T10" fmla="*/ 38 w 53"/>
                  <a:gd name="T11" fmla="*/ 41 h 192"/>
                  <a:gd name="T12" fmla="*/ 45 w 53"/>
                  <a:gd name="T13" fmla="*/ 53 h 192"/>
                  <a:gd name="T14" fmla="*/ 50 w 53"/>
                  <a:gd name="T15" fmla="*/ 66 h 192"/>
                  <a:gd name="T16" fmla="*/ 53 w 53"/>
                  <a:gd name="T17" fmla="*/ 81 h 192"/>
                  <a:gd name="T18" fmla="*/ 53 w 53"/>
                  <a:gd name="T19" fmla="*/ 97 h 192"/>
                  <a:gd name="T20" fmla="*/ 51 w 53"/>
                  <a:gd name="T21" fmla="*/ 114 h 192"/>
                  <a:gd name="T22" fmla="*/ 45 w 53"/>
                  <a:gd name="T23" fmla="*/ 132 h 192"/>
                  <a:gd name="T24" fmla="*/ 36 w 53"/>
                  <a:gd name="T25" fmla="*/ 150 h 192"/>
                  <a:gd name="T26" fmla="*/ 21 w 53"/>
                  <a:gd name="T27" fmla="*/ 170 h 192"/>
                  <a:gd name="T28" fmla="*/ 2 w 53"/>
                  <a:gd name="T29" fmla="*/ 192 h 192"/>
                  <a:gd name="T30" fmla="*/ 0 w 53"/>
                  <a:gd name="T31" fmla="*/ 0 h 192"/>
                  <a:gd name="T32" fmla="*/ 0 w 53"/>
                  <a:gd name="T33" fmla="*/ 0 h 192"/>
                  <a:gd name="T34" fmla="*/ 0 w 53"/>
                  <a:gd name="T3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3" h="192">
                    <a:moveTo>
                      <a:pt x="0" y="0"/>
                    </a:moveTo>
                    <a:lnTo>
                      <a:pt x="0" y="0"/>
                    </a:lnTo>
                    <a:lnTo>
                      <a:pt x="5" y="3"/>
                    </a:lnTo>
                    <a:lnTo>
                      <a:pt x="16" y="15"/>
                    </a:lnTo>
                    <a:lnTo>
                      <a:pt x="31" y="31"/>
                    </a:lnTo>
                    <a:lnTo>
                      <a:pt x="38" y="41"/>
                    </a:lnTo>
                    <a:lnTo>
                      <a:pt x="45" y="53"/>
                    </a:lnTo>
                    <a:lnTo>
                      <a:pt x="50" y="66"/>
                    </a:lnTo>
                    <a:lnTo>
                      <a:pt x="53" y="81"/>
                    </a:lnTo>
                    <a:lnTo>
                      <a:pt x="53" y="97"/>
                    </a:lnTo>
                    <a:lnTo>
                      <a:pt x="51" y="114"/>
                    </a:lnTo>
                    <a:lnTo>
                      <a:pt x="45" y="132"/>
                    </a:lnTo>
                    <a:lnTo>
                      <a:pt x="36" y="150"/>
                    </a:lnTo>
                    <a:lnTo>
                      <a:pt x="21" y="170"/>
                    </a:lnTo>
                    <a:lnTo>
                      <a:pt x="2" y="192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1" name="Line 1365">
                <a:extLst>
                  <a:ext uri="{FF2B5EF4-FFF2-40B4-BE49-F238E27FC236}">
                    <a16:creationId xmlns:a16="http://schemas.microsoft.com/office/drawing/2014/main" id="{426CC599-DAEC-935F-40EB-E05D73EC9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93638" y="2049463"/>
                <a:ext cx="0" cy="0"/>
              </a:xfrm>
              <a:prstGeom prst="line">
                <a:avLst/>
              </a:prstGeom>
              <a:noFill/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2" name="Line 1367">
                <a:extLst>
                  <a:ext uri="{FF2B5EF4-FFF2-40B4-BE49-F238E27FC236}">
                    <a16:creationId xmlns:a16="http://schemas.microsoft.com/office/drawing/2014/main" id="{1E479209-99E7-4000-26F4-08434B777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22213" y="2009776"/>
                <a:ext cx="0" cy="0"/>
              </a:xfrm>
              <a:prstGeom prst="line">
                <a:avLst/>
              </a:prstGeom>
              <a:noFill/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" name="Freeform 1368">
                <a:extLst>
                  <a:ext uri="{FF2B5EF4-FFF2-40B4-BE49-F238E27FC236}">
                    <a16:creationId xmlns:a16="http://schemas.microsoft.com/office/drawing/2014/main" id="{E1BD1CC3-D6BF-8B1F-98AC-FE642AC8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3600" y="2043113"/>
                <a:ext cx="63500" cy="179388"/>
              </a:xfrm>
              <a:custGeom>
                <a:avLst/>
                <a:gdLst>
                  <a:gd name="T0" fmla="*/ 0 w 81"/>
                  <a:gd name="T1" fmla="*/ 0 h 225"/>
                  <a:gd name="T2" fmla="*/ 0 w 81"/>
                  <a:gd name="T3" fmla="*/ 225 h 225"/>
                  <a:gd name="T4" fmla="*/ 81 w 81"/>
                  <a:gd name="T5" fmla="*/ 220 h 225"/>
                  <a:gd name="T6" fmla="*/ 81 w 81"/>
                  <a:gd name="T7" fmla="*/ 0 h 225"/>
                  <a:gd name="T8" fmla="*/ 0 w 81"/>
                  <a:gd name="T9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25">
                    <a:moveTo>
                      <a:pt x="0" y="0"/>
                    </a:moveTo>
                    <a:lnTo>
                      <a:pt x="0" y="225"/>
                    </a:lnTo>
                    <a:lnTo>
                      <a:pt x="81" y="220"/>
                    </a:lnTo>
                    <a:lnTo>
                      <a:pt x="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4" name="Freeform 1369">
                <a:extLst>
                  <a:ext uri="{FF2B5EF4-FFF2-40B4-BE49-F238E27FC236}">
                    <a16:creationId xmlns:a16="http://schemas.microsoft.com/office/drawing/2014/main" id="{7DDA58F3-07FB-7854-33B7-041E09C91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7100" y="1933576"/>
                <a:ext cx="206375" cy="379413"/>
              </a:xfrm>
              <a:custGeom>
                <a:avLst/>
                <a:gdLst>
                  <a:gd name="T0" fmla="*/ 42 w 260"/>
                  <a:gd name="T1" fmla="*/ 138 h 479"/>
                  <a:gd name="T2" fmla="*/ 0 w 260"/>
                  <a:gd name="T3" fmla="*/ 138 h 479"/>
                  <a:gd name="T4" fmla="*/ 0 w 260"/>
                  <a:gd name="T5" fmla="*/ 358 h 479"/>
                  <a:gd name="T6" fmla="*/ 50 w 260"/>
                  <a:gd name="T7" fmla="*/ 356 h 479"/>
                  <a:gd name="T8" fmla="*/ 260 w 260"/>
                  <a:gd name="T9" fmla="*/ 479 h 479"/>
                  <a:gd name="T10" fmla="*/ 260 w 260"/>
                  <a:gd name="T11" fmla="*/ 0 h 479"/>
                  <a:gd name="T12" fmla="*/ 42 w 260"/>
                  <a:gd name="T13" fmla="*/ 138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0" h="479">
                    <a:moveTo>
                      <a:pt x="42" y="138"/>
                    </a:moveTo>
                    <a:lnTo>
                      <a:pt x="0" y="138"/>
                    </a:lnTo>
                    <a:lnTo>
                      <a:pt x="0" y="358"/>
                    </a:lnTo>
                    <a:lnTo>
                      <a:pt x="50" y="356"/>
                    </a:lnTo>
                    <a:lnTo>
                      <a:pt x="260" y="479"/>
                    </a:lnTo>
                    <a:lnTo>
                      <a:pt x="260" y="0"/>
                    </a:lnTo>
                    <a:lnTo>
                      <a:pt x="42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655059E-C867-E379-14C9-AFB1CC7A6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2382" y="3097365"/>
              <a:ext cx="781051" cy="695325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628A0D3-3681-0A08-84C4-B47D67106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2382" y="3880982"/>
              <a:ext cx="781051" cy="695325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8851260-EE79-B291-766A-DBE6AB974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2382" y="4664599"/>
              <a:ext cx="781051" cy="695325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EEF28E1-94FB-1CA4-8AB6-813DC4FD92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242382" y="5448217"/>
              <a:ext cx="781051" cy="695325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1FFE11A-E7E8-85CB-3C00-3C0D202EFF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807456" y="4438506"/>
              <a:ext cx="1377617" cy="1913021"/>
            </a:xfrm>
            <a:prstGeom prst="rect">
              <a:avLst/>
            </a:prstGeom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8CAC70CE-5E96-C3AF-73C8-967D77C924F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788939" y="3574501"/>
              <a:ext cx="1414650" cy="602172"/>
            </a:xfrm>
            <a:prstGeom prst="rect">
              <a:avLst/>
            </a:prstGeom>
          </p:spPr>
        </p:pic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8161E68-40BD-F256-8F33-4652309027C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55860" y="2722923"/>
              <a:ext cx="680808" cy="589746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20" name="도형 4">
              <a:extLst>
                <a:ext uri="{FF2B5EF4-FFF2-40B4-BE49-F238E27FC236}">
                  <a16:creationId xmlns:a16="http://schemas.microsoft.com/office/drawing/2014/main" id="{76538F8A-3A50-01A1-804C-EAAB4EF1A5D7}"/>
                </a:ext>
              </a:extLst>
            </p:cNvPr>
            <p:cNvSpPr/>
            <p:nvPr/>
          </p:nvSpPr>
          <p:spPr>
            <a:xfrm rot="21295439">
              <a:off x="5234226" y="4394887"/>
              <a:ext cx="970067" cy="575589"/>
            </a:xfrm>
            <a:prstGeom prst="swooshArrow">
              <a:avLst>
                <a:gd name="adj1" fmla="val 25000"/>
                <a:gd name="adj2" fmla="val 25000"/>
              </a:avLst>
            </a:prstGeom>
            <a:gradFill>
              <a:gsLst>
                <a:gs pos="75300">
                  <a:srgbClr val="F5F6F9"/>
                </a:gs>
                <a:gs pos="0">
                  <a:schemeClr val="tx2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8EFB700-82F5-26BD-DD50-4D859C25621F}"/>
                </a:ext>
              </a:extLst>
            </p:cNvPr>
            <p:cNvSpPr txBox="1"/>
            <p:nvPr/>
          </p:nvSpPr>
          <p:spPr>
            <a:xfrm>
              <a:off x="8244264" y="4235258"/>
              <a:ext cx="504000" cy="22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rPr>
                <a:t>3 X 5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0D84B7-3D95-CB74-8925-9E4CC7E055DB}"/>
                </a:ext>
              </a:extLst>
            </p:cNvPr>
            <p:cNvSpPr txBox="1"/>
            <p:nvPr/>
          </p:nvSpPr>
          <p:spPr>
            <a:xfrm>
              <a:off x="8244264" y="3365552"/>
              <a:ext cx="504000" cy="22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prstClr val="black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/>
                </a:rPr>
                <a:t>2 X 1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58FAAB5-1F34-EE67-3B43-576AEA61A1A2}"/>
                </a:ext>
              </a:extLst>
            </p:cNvPr>
            <p:cNvSpPr txBox="1"/>
            <p:nvPr/>
          </p:nvSpPr>
          <p:spPr>
            <a:xfrm>
              <a:off x="8244264" y="2459255"/>
              <a:ext cx="504000" cy="22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Die</a:t>
              </a:r>
              <a:endPara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858009-4B40-C157-A9EF-C70779F4E75C}"/>
                </a:ext>
              </a:extLst>
            </p:cNvPr>
            <p:cNvSpPr txBox="1"/>
            <p:nvPr/>
          </p:nvSpPr>
          <p:spPr>
            <a:xfrm>
              <a:off x="2847547" y="2519216"/>
              <a:ext cx="4353347" cy="2272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※ </a:t>
              </a:r>
              <a:r>
                <a:rPr lang="ko-KR" altLang="en-US" sz="1000" dirty="0" err="1">
                  <a:latin typeface="맑은 고딕" panose="020B0503020000020004" pitchFamily="50" charset="-127"/>
                  <a:ea typeface="맑은 고딕" panose="020B0503020000020004" pitchFamily="50" charset="-127"/>
                </a:rPr>
                <a:t>노광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Shot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또는 외곽 </a:t>
              </a:r>
              <a:r>
                <a:rPr lang="en-US" altLang="ko-KR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Die </a:t>
              </a:r>
              <a:r>
                <a:rPr lang="ko-KR" altLang="en-US" sz="10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별로 중첩하여 반복적으로 나타나는 결함 분석</a:t>
              </a:r>
            </a:p>
          </p:txBody>
        </p:sp>
        <p:sp>
          <p:nvSpPr>
            <p:cNvPr id="25" name="자유형 107">
              <a:extLst>
                <a:ext uri="{FF2B5EF4-FFF2-40B4-BE49-F238E27FC236}">
                  <a16:creationId xmlns:a16="http://schemas.microsoft.com/office/drawing/2014/main" id="{7E805D42-C6CE-CEC5-30A0-B248A886947C}"/>
                </a:ext>
              </a:extLst>
            </p:cNvPr>
            <p:cNvSpPr/>
            <p:nvPr/>
          </p:nvSpPr>
          <p:spPr>
            <a:xfrm flipV="1">
              <a:off x="6957452" y="2839677"/>
              <a:ext cx="967668" cy="3552796"/>
            </a:xfrm>
            <a:custGeom>
              <a:avLst/>
              <a:gdLst>
                <a:gd name="connsiteX0" fmla="*/ 3339209 w 3985993"/>
                <a:gd name="connsiteY0" fmla="*/ 4659980 h 4659980"/>
                <a:gd name="connsiteX1" fmla="*/ 3985993 w 3985993"/>
                <a:gd name="connsiteY1" fmla="*/ 4659980 h 4659980"/>
                <a:gd name="connsiteX2" fmla="*/ 3985993 w 3985993"/>
                <a:gd name="connsiteY2" fmla="*/ 0 h 4659980"/>
                <a:gd name="connsiteX3" fmla="*/ 3339209 w 3985993"/>
                <a:gd name="connsiteY3" fmla="*/ 0 h 4659980"/>
                <a:gd name="connsiteX4" fmla="*/ 2743252 w 3985993"/>
                <a:gd name="connsiteY4" fmla="*/ 395027 h 4659980"/>
                <a:gd name="connsiteX5" fmla="*/ 2742614 w 3985993"/>
                <a:gd name="connsiteY5" fmla="*/ 397082 h 4659980"/>
                <a:gd name="connsiteX6" fmla="*/ 2697355 w 3985993"/>
                <a:gd name="connsiteY6" fmla="*/ 456122 h 4659980"/>
                <a:gd name="connsiteX7" fmla="*/ 2350442 w 3985993"/>
                <a:gd name="connsiteY7" fmla="*/ 663963 h 4659980"/>
                <a:gd name="connsiteX8" fmla="*/ 2271352 w 3985993"/>
                <a:gd name="connsiteY8" fmla="*/ 672682 h 4659980"/>
                <a:gd name="connsiteX9" fmla="*/ 0 w 3985993"/>
                <a:gd name="connsiteY9" fmla="*/ 672682 h 4659980"/>
                <a:gd name="connsiteX10" fmla="*/ 0 w 3985993"/>
                <a:gd name="connsiteY10" fmla="*/ 3987298 h 4659980"/>
                <a:gd name="connsiteX11" fmla="*/ 2171142 w 3985993"/>
                <a:gd name="connsiteY11" fmla="*/ 3987298 h 4659980"/>
                <a:gd name="connsiteX12" fmla="*/ 2171142 w 3985993"/>
                <a:gd name="connsiteY12" fmla="*/ 3989999 h 4659980"/>
                <a:gd name="connsiteX13" fmla="*/ 2208291 w 3985993"/>
                <a:gd name="connsiteY13" fmla="*/ 3989999 h 4659980"/>
                <a:gd name="connsiteX14" fmla="*/ 2744614 w 3985993"/>
                <a:gd name="connsiteY14" fmla="*/ 4275160 h 4659980"/>
                <a:gd name="connsiteX15" fmla="*/ 2758857 w 3985993"/>
                <a:gd name="connsiteY15" fmla="*/ 4301400 h 4659980"/>
                <a:gd name="connsiteX16" fmla="*/ 2763035 w 3985993"/>
                <a:gd name="connsiteY16" fmla="*/ 4301400 h 4659980"/>
                <a:gd name="connsiteX17" fmla="*/ 2802885 w 3985993"/>
                <a:gd name="connsiteY17" fmla="*/ 4374819 h 4659980"/>
                <a:gd name="connsiteX18" fmla="*/ 3339209 w 3985993"/>
                <a:gd name="connsiteY18" fmla="*/ 4659980 h 4659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985993" h="4659980">
                  <a:moveTo>
                    <a:pt x="3339209" y="4659980"/>
                  </a:moveTo>
                  <a:lnTo>
                    <a:pt x="3985993" y="4659980"/>
                  </a:lnTo>
                  <a:lnTo>
                    <a:pt x="3985993" y="0"/>
                  </a:lnTo>
                  <a:lnTo>
                    <a:pt x="3339209" y="0"/>
                  </a:lnTo>
                  <a:cubicBezTo>
                    <a:pt x="3071302" y="0"/>
                    <a:pt x="2841439" y="162886"/>
                    <a:pt x="2743252" y="395027"/>
                  </a:cubicBezTo>
                  <a:lnTo>
                    <a:pt x="2742614" y="397082"/>
                  </a:lnTo>
                  <a:lnTo>
                    <a:pt x="2697355" y="456122"/>
                  </a:lnTo>
                  <a:cubicBezTo>
                    <a:pt x="2608409" y="558803"/>
                    <a:pt x="2487667" y="633188"/>
                    <a:pt x="2350442" y="663963"/>
                  </a:cubicBezTo>
                  <a:lnTo>
                    <a:pt x="2271352" y="672682"/>
                  </a:lnTo>
                  <a:lnTo>
                    <a:pt x="0" y="672682"/>
                  </a:lnTo>
                  <a:lnTo>
                    <a:pt x="0" y="3987298"/>
                  </a:lnTo>
                  <a:lnTo>
                    <a:pt x="2171142" y="3987298"/>
                  </a:lnTo>
                  <a:lnTo>
                    <a:pt x="2171142" y="3989999"/>
                  </a:lnTo>
                  <a:lnTo>
                    <a:pt x="2208291" y="3989999"/>
                  </a:lnTo>
                  <a:cubicBezTo>
                    <a:pt x="2431546" y="3989999"/>
                    <a:pt x="2628382" y="4103115"/>
                    <a:pt x="2744614" y="4275160"/>
                  </a:cubicBezTo>
                  <a:lnTo>
                    <a:pt x="2758857" y="4301400"/>
                  </a:lnTo>
                  <a:lnTo>
                    <a:pt x="2763035" y="4301400"/>
                  </a:lnTo>
                  <a:lnTo>
                    <a:pt x="2802885" y="4374819"/>
                  </a:lnTo>
                  <a:cubicBezTo>
                    <a:pt x="2919117" y="4546864"/>
                    <a:pt x="3115953" y="4659980"/>
                    <a:pt x="3339209" y="4659980"/>
                  </a:cubicBezTo>
                  <a:close/>
                </a:path>
              </a:pathLst>
            </a:custGeom>
            <a:gradFill>
              <a:gsLst>
                <a:gs pos="100000">
                  <a:schemeClr val="bg1">
                    <a:alpha val="0"/>
                  </a:schemeClr>
                </a:gs>
                <a:gs pos="76000">
                  <a:schemeClr val="bg1">
                    <a:lumMod val="95000"/>
                  </a:schemeClr>
                </a:gs>
                <a:gs pos="65000">
                  <a:schemeClr val="bg1">
                    <a:lumMod val="75000"/>
                    <a:alpha val="34000"/>
                  </a:schemeClr>
                </a:gs>
                <a:gs pos="23000">
                  <a:schemeClr val="bg1">
                    <a:alpha val="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4423" latinLnBrk="1">
                <a:defRPr/>
              </a:pPr>
              <a:endParaRPr lang="ko-KR" altLang="en-US" dirty="0">
                <a:ln>
                  <a:solidFill>
                    <a:srgbClr val="5F5F5F">
                      <a:alpha val="0"/>
                    </a:srgbClr>
                  </a:solidFill>
                </a:ln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203D14DA-9E98-987D-CE5B-9BD6D66F9E7A}"/>
                </a:ext>
              </a:extLst>
            </p:cNvPr>
            <p:cNvPicPr preferRelativeResize="0">
              <a:picLocks/>
            </p:cNvPicPr>
            <p:nvPr/>
          </p:nvPicPr>
          <p:blipFill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2761" y="4730325"/>
              <a:ext cx="2001600" cy="1508400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0E6C037A-335C-B7AA-029C-68C9E63EDC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412761" y="2786939"/>
              <a:ext cx="2002254" cy="1507338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28" name="object 46">
              <a:extLst>
                <a:ext uri="{FF2B5EF4-FFF2-40B4-BE49-F238E27FC236}">
                  <a16:creationId xmlns:a16="http://schemas.microsoft.com/office/drawing/2014/main" id="{1D07DD0B-E72A-35A9-2877-6417096D0692}"/>
                </a:ext>
              </a:extLst>
            </p:cNvPr>
            <p:cNvSpPr>
              <a:spLocks/>
            </p:cNvSpPr>
            <p:nvPr/>
          </p:nvSpPr>
          <p:spPr>
            <a:xfrm>
              <a:off x="9412761" y="2602356"/>
              <a:ext cx="2001599" cy="170096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rgbClr val="44546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Die Stack Analysis</a:t>
              </a:r>
              <a:endPara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29" name="object 46">
              <a:extLst>
                <a:ext uri="{FF2B5EF4-FFF2-40B4-BE49-F238E27FC236}">
                  <a16:creationId xmlns:a16="http://schemas.microsoft.com/office/drawing/2014/main" id="{8043B744-1710-E7F0-6E7E-0028877775FB}"/>
                </a:ext>
              </a:extLst>
            </p:cNvPr>
            <p:cNvSpPr>
              <a:spLocks/>
            </p:cNvSpPr>
            <p:nvPr/>
          </p:nvSpPr>
          <p:spPr>
            <a:xfrm>
              <a:off x="9412761" y="4554002"/>
              <a:ext cx="2001599" cy="170096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rgbClr val="44546A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9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Die Stack Gallery</a:t>
              </a:r>
              <a:endParaRPr lang="ko-KR" altLang="en-US" sz="9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C8B976FC-32C2-5FAE-52FF-7E80BE7B6CE4}"/>
              </a:ext>
            </a:extLst>
          </p:cNvPr>
          <p:cNvSpPr/>
          <p:nvPr/>
        </p:nvSpPr>
        <p:spPr>
          <a:xfrm>
            <a:off x="541053" y="5639602"/>
            <a:ext cx="830547" cy="4953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F053818-AF50-7FEF-A2AF-83829FD43D71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2) RDA (Repeated Defect Analysis)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Die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또는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Shot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단위로 중첩하여 반복된 결함을 찾아 이전 공정의 문제점을 도출</a:t>
            </a:r>
          </a:p>
        </p:txBody>
      </p:sp>
    </p:spTree>
    <p:extLst>
      <p:ext uri="{BB962C8B-B14F-4D97-AF65-F5344CB8AC3E}">
        <p14:creationId xmlns:p14="http://schemas.microsoft.com/office/powerpoint/2010/main" val="3322850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511AA2-D1D3-DE0B-0F16-86AB6925EFCA}"/>
              </a:ext>
            </a:extLst>
          </p:cNvPr>
          <p:cNvSpPr/>
          <p:nvPr/>
        </p:nvSpPr>
        <p:spPr>
          <a:xfrm>
            <a:off x="435332" y="1538207"/>
            <a:ext cx="11179490" cy="4494178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3B024AF-B1C2-59F4-F577-A24D9B73D6AB}"/>
              </a:ext>
            </a:extLst>
          </p:cNvPr>
          <p:cNvGrpSpPr/>
          <p:nvPr/>
        </p:nvGrpSpPr>
        <p:grpSpPr>
          <a:xfrm>
            <a:off x="717780" y="1720850"/>
            <a:ext cx="4223947" cy="4207510"/>
            <a:chOff x="7481239" y="2349674"/>
            <a:chExt cx="1972127" cy="4262076"/>
          </a:xfrm>
        </p:grpSpPr>
        <p:sp>
          <p:nvSpPr>
            <p:cNvPr id="8" name="AutoShape 26">
              <a:extLst>
                <a:ext uri="{FF2B5EF4-FFF2-40B4-BE49-F238E27FC236}">
                  <a16:creationId xmlns:a16="http://schemas.microsoft.com/office/drawing/2014/main" id="{BB7CEA28-62A0-C121-1AF0-EAF706C62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1239" y="2349674"/>
              <a:ext cx="1972127" cy="4262076"/>
            </a:xfrm>
            <a:prstGeom prst="roundRect">
              <a:avLst>
                <a:gd name="adj" fmla="val 3690"/>
              </a:avLst>
            </a:prstGeom>
            <a:solidFill>
              <a:srgbClr val="EAEAEA"/>
            </a:solidFill>
            <a:ln w="12700" cap="rnd" algn="ctr">
              <a:solidFill>
                <a:schemeClr val="tx2">
                  <a:lumMod val="60000"/>
                  <a:lumOff val="40000"/>
                </a:schemeClr>
              </a:solidFill>
              <a:prstDash val="sysDash"/>
              <a:round/>
              <a:headEnd/>
              <a:tailEnd/>
            </a:ln>
            <a:effectLst/>
          </p:spPr>
          <p:txBody>
            <a:bodyPr lIns="0" tIns="36000" rIns="0" bIns="0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0" i="0" u="none" strike="noStrike" kern="1200" cap="none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AutoShape 55">
              <a:extLst>
                <a:ext uri="{FF2B5EF4-FFF2-40B4-BE49-F238E27FC236}">
                  <a16:creationId xmlns:a16="http://schemas.microsoft.com/office/drawing/2014/main" id="{5EC82385-D6B8-5D2B-FD2A-CE2DF0897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3644" y="2854448"/>
              <a:ext cx="1789973" cy="504825"/>
            </a:xfrm>
            <a:prstGeom prst="parallelogram">
              <a:avLst>
                <a:gd name="adj" fmla="val 85692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AutoShape 56">
              <a:extLst>
                <a:ext uri="{FF2B5EF4-FFF2-40B4-BE49-F238E27FC236}">
                  <a16:creationId xmlns:a16="http://schemas.microsoft.com/office/drawing/2014/main" id="{79BEEF86-757D-CEEE-7817-1B97FCFD6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3644" y="3862511"/>
              <a:ext cx="1789973" cy="504825"/>
            </a:xfrm>
            <a:prstGeom prst="parallelogram">
              <a:avLst>
                <a:gd name="adj" fmla="val 85692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AutoShape 57">
              <a:extLst>
                <a:ext uri="{FF2B5EF4-FFF2-40B4-BE49-F238E27FC236}">
                  <a16:creationId xmlns:a16="http://schemas.microsoft.com/office/drawing/2014/main" id="{65CC11C7-B43A-A672-69B0-A0BE15E7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3644" y="4870574"/>
              <a:ext cx="1789973" cy="504825"/>
            </a:xfrm>
            <a:prstGeom prst="parallelogram">
              <a:avLst>
                <a:gd name="adj" fmla="val 85692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Oval 58">
              <a:extLst>
                <a:ext uri="{FF2B5EF4-FFF2-40B4-BE49-F238E27FC236}">
                  <a16:creationId xmlns:a16="http://schemas.microsoft.com/office/drawing/2014/main" id="{0F0B4737-9E17-F298-487A-DB615E3A4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5757" y="3143373"/>
              <a:ext cx="79110" cy="7143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AutoShape 59">
              <a:extLst>
                <a:ext uri="{FF2B5EF4-FFF2-40B4-BE49-F238E27FC236}">
                  <a16:creationId xmlns:a16="http://schemas.microsoft.com/office/drawing/2014/main" id="{CD4F2416-83C9-5AFF-5CC2-3948B7452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039" y="2998910"/>
              <a:ext cx="156501" cy="71438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Rectangle 60">
              <a:extLst>
                <a:ext uri="{FF2B5EF4-FFF2-40B4-BE49-F238E27FC236}">
                  <a16:creationId xmlns:a16="http://schemas.microsoft.com/office/drawing/2014/main" id="{BB64E7C4-A6EA-BAF8-DBE6-12246E136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7432" y="4006974"/>
              <a:ext cx="79110" cy="71437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AutoShape 61">
              <a:extLst>
                <a:ext uri="{FF2B5EF4-FFF2-40B4-BE49-F238E27FC236}">
                  <a16:creationId xmlns:a16="http://schemas.microsoft.com/office/drawing/2014/main" id="{33C8CB6C-B54E-FD77-F60F-A1B9C569E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67039" y="4006974"/>
              <a:ext cx="156501" cy="71437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Rectangle 62">
              <a:extLst>
                <a:ext uri="{FF2B5EF4-FFF2-40B4-BE49-F238E27FC236}">
                  <a16:creationId xmlns:a16="http://schemas.microsoft.com/office/drawing/2014/main" id="{3ECE8416-9280-EF00-BE16-21CED11C3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7432" y="5015035"/>
              <a:ext cx="79110" cy="71438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AutoShape 63">
              <a:extLst>
                <a:ext uri="{FF2B5EF4-FFF2-40B4-BE49-F238E27FC236}">
                  <a16:creationId xmlns:a16="http://schemas.microsoft.com/office/drawing/2014/main" id="{6EC21754-A672-0939-858B-FFA9E6EE0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68714" y="4943599"/>
              <a:ext cx="156501" cy="142875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Line 64">
              <a:extLst>
                <a:ext uri="{FF2B5EF4-FFF2-40B4-BE49-F238E27FC236}">
                  <a16:creationId xmlns:a16="http://schemas.microsoft.com/office/drawing/2014/main" id="{577BD888-27E2-A7AC-A1F6-322086809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46150" y="3070350"/>
              <a:ext cx="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Line 65">
              <a:extLst>
                <a:ext uri="{FF2B5EF4-FFF2-40B4-BE49-F238E27FC236}">
                  <a16:creationId xmlns:a16="http://schemas.microsoft.com/office/drawing/2014/main" id="{57ED8BCE-07ED-C0FB-7E3E-5090FB785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02191" y="3214811"/>
              <a:ext cx="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Line 66">
              <a:extLst>
                <a:ext uri="{FF2B5EF4-FFF2-40B4-BE49-F238E27FC236}">
                  <a16:creationId xmlns:a16="http://schemas.microsoft.com/office/drawing/2014/main" id="{B7A5E02E-0513-38D4-26FC-841ED1934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98706" y="4078411"/>
              <a:ext cx="0" cy="936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 Box 67">
              <a:extLst>
                <a:ext uri="{FF2B5EF4-FFF2-40B4-BE49-F238E27FC236}">
                  <a16:creationId xmlns:a16="http://schemas.microsoft.com/office/drawing/2014/main" id="{3143D8E5-7A85-A03F-A2C7-EB4E481E2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9878" y="3077120"/>
              <a:ext cx="261352" cy="24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Step 1</a:t>
              </a:r>
            </a:p>
          </p:txBody>
        </p:sp>
        <p:sp>
          <p:nvSpPr>
            <p:cNvPr id="22" name="Text Box 68">
              <a:extLst>
                <a:ext uri="{FF2B5EF4-FFF2-40B4-BE49-F238E27FC236}">
                  <a16:creationId xmlns:a16="http://schemas.microsoft.com/office/drawing/2014/main" id="{5FC62AEE-AF6F-7871-F7F5-09F97A84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1035" y="4078411"/>
              <a:ext cx="261352" cy="24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ea"/>
                </a:defRPr>
              </a:lvl1pPr>
              <a:lvl2pPr marL="742950" indent="-28575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9pPr>
            </a:lstStyle>
            <a:p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Step 2</a:t>
              </a:r>
            </a:p>
          </p:txBody>
        </p:sp>
        <p:sp>
          <p:nvSpPr>
            <p:cNvPr id="23" name="Text Box 69">
              <a:extLst>
                <a:ext uri="{FF2B5EF4-FFF2-40B4-BE49-F238E27FC236}">
                  <a16:creationId xmlns:a16="http://schemas.microsoft.com/office/drawing/2014/main" id="{50FAA86A-D3E0-890B-4029-433B14B4D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41035" y="5086473"/>
              <a:ext cx="261352" cy="249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ea"/>
                </a:defRPr>
              </a:lvl1pPr>
              <a:lvl2pPr marL="742950" indent="-28575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9pPr>
            </a:lstStyle>
            <a:p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Step 3</a:t>
              </a:r>
            </a:p>
          </p:txBody>
        </p:sp>
        <p:sp>
          <p:nvSpPr>
            <p:cNvPr id="24" name="AutoShape 70">
              <a:extLst>
                <a:ext uri="{FF2B5EF4-FFF2-40B4-BE49-F238E27FC236}">
                  <a16:creationId xmlns:a16="http://schemas.microsoft.com/office/drawing/2014/main" id="{02A14679-979A-B983-78D3-7D48B75F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3766" y="2600295"/>
              <a:ext cx="339773" cy="300346"/>
            </a:xfrm>
            <a:prstGeom prst="wedgeRoundRectCallout">
              <a:avLst>
                <a:gd name="adj1" fmla="val 10174"/>
                <a:gd name="adj2" fmla="val 117280"/>
                <a:gd name="adj3" fmla="val 16667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Missing</a:t>
              </a:r>
            </a:p>
          </p:txBody>
        </p:sp>
        <p:sp>
          <p:nvSpPr>
            <p:cNvPr id="25" name="AutoShape 71">
              <a:extLst>
                <a:ext uri="{FF2B5EF4-FFF2-40B4-BE49-F238E27FC236}">
                  <a16:creationId xmlns:a16="http://schemas.microsoft.com/office/drawing/2014/main" id="{1DB0BE14-03CB-648A-EFCD-F9DC07068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04207" y="3525938"/>
              <a:ext cx="431553" cy="272892"/>
            </a:xfrm>
            <a:prstGeom prst="wedgeRoundRectCallout">
              <a:avLst>
                <a:gd name="adj1" fmla="val -50600"/>
                <a:gd name="adj2" fmla="val 124646"/>
                <a:gd name="adj3" fmla="val 16667"/>
              </a:avLst>
            </a:prstGeom>
            <a:solidFill>
              <a:srgbClr val="00206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Carryover</a:t>
              </a:r>
              <a:endParaRPr kumimoji="0" lang="en-US" altLang="ko-KR" sz="8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AutoShape 72">
              <a:extLst>
                <a:ext uri="{FF2B5EF4-FFF2-40B4-BE49-F238E27FC236}">
                  <a16:creationId xmlns:a16="http://schemas.microsoft.com/office/drawing/2014/main" id="{9F975616-EF95-3DED-14B7-34B19C1EF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95795" y="4098116"/>
              <a:ext cx="333947" cy="266626"/>
            </a:xfrm>
            <a:prstGeom prst="wedgeRoundRectCallout">
              <a:avLst>
                <a:gd name="adj1" fmla="val -66251"/>
                <a:gd name="adj2" fmla="val -48968"/>
                <a:gd name="adj3" fmla="val 16667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Adder</a:t>
              </a:r>
            </a:p>
          </p:txBody>
        </p:sp>
        <p:sp>
          <p:nvSpPr>
            <p:cNvPr id="27" name="AutoShape 73">
              <a:extLst>
                <a:ext uri="{FF2B5EF4-FFF2-40B4-BE49-F238E27FC236}">
                  <a16:creationId xmlns:a16="http://schemas.microsoft.com/office/drawing/2014/main" id="{D10360C0-3040-6B09-134E-CBEDE2E9F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28233" y="4613847"/>
              <a:ext cx="324240" cy="252736"/>
            </a:xfrm>
            <a:prstGeom prst="wedgeRoundRectCallout">
              <a:avLst>
                <a:gd name="adj1" fmla="val 4258"/>
                <a:gd name="adj2" fmla="val 80257"/>
                <a:gd name="adj3" fmla="val 16667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Adder</a:t>
              </a:r>
            </a:p>
          </p:txBody>
        </p:sp>
        <p:sp>
          <p:nvSpPr>
            <p:cNvPr id="28" name="AutoShape 74">
              <a:extLst>
                <a:ext uri="{FF2B5EF4-FFF2-40B4-BE49-F238E27FC236}">
                  <a16:creationId xmlns:a16="http://schemas.microsoft.com/office/drawing/2014/main" id="{0C380E03-3464-59B4-06E3-B15BB65F6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0212" y="5463948"/>
              <a:ext cx="431968" cy="273502"/>
            </a:xfrm>
            <a:prstGeom prst="wedgeRoundRectCallout">
              <a:avLst>
                <a:gd name="adj1" fmla="val 37030"/>
                <a:gd name="adj2" fmla="val -178589"/>
                <a:gd name="adj3" fmla="val 16667"/>
              </a:avLst>
            </a:prstGeom>
            <a:solidFill>
              <a:srgbClr val="00206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Carryover</a:t>
              </a:r>
              <a:endParaRPr kumimoji="0" lang="en-US" altLang="ko-KR" sz="8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object 46">
            <a:extLst>
              <a:ext uri="{FF2B5EF4-FFF2-40B4-BE49-F238E27FC236}">
                <a16:creationId xmlns:a16="http://schemas.microsoft.com/office/drawing/2014/main" id="{14CB621B-0C56-FB7A-9033-8B39AF57F4C9}"/>
              </a:ext>
            </a:extLst>
          </p:cNvPr>
          <p:cNvSpPr>
            <a:spLocks/>
          </p:cNvSpPr>
          <p:nvPr/>
        </p:nvSpPr>
        <p:spPr>
          <a:xfrm>
            <a:off x="5388938" y="1623688"/>
            <a:ext cx="5772226" cy="296439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lvl="0" algn="ctr"/>
            <a:r>
              <a:rPr lang="en-US" altLang="ko-KR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Defect Source Analysis</a:t>
            </a:r>
            <a:endParaRPr lang="ko-KR" altLang="en-US" sz="13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E97E1C-2714-15BE-BC6F-C6E9459B5457}"/>
              </a:ext>
            </a:extLst>
          </p:cNvPr>
          <p:cNvSpPr txBox="1"/>
          <p:nvPr/>
        </p:nvSpPr>
        <p:spPr>
          <a:xfrm>
            <a:off x="1057557" y="5184445"/>
            <a:ext cx="3664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Missing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 결함이 다시 검출되지 않은 경우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Carryover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 결함이 다시 검출되는 경우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Adder(New)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이전에 없던 결함이 검출되는 경우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AEC254A-5BBC-FB03-2E0A-59D2EADCD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8938" y="2013586"/>
            <a:ext cx="5772226" cy="392534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103226-3166-E7B9-2006-787140AACA83}"/>
              </a:ext>
            </a:extLst>
          </p:cNvPr>
          <p:cNvSpPr/>
          <p:nvPr/>
        </p:nvSpPr>
        <p:spPr>
          <a:xfrm>
            <a:off x="9684386" y="3894817"/>
            <a:ext cx="1066319" cy="369332"/>
          </a:xfrm>
          <a:prstGeom prst="rect">
            <a:avLst/>
          </a:prstGeom>
          <a:solidFill>
            <a:srgbClr val="FFFF66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900" dirty="0">
                <a:solidFill>
                  <a:prstClr val="black"/>
                </a:solidFill>
                <a:latin typeface="+mj-ea"/>
                <a:cs typeface="Arial"/>
              </a:rPr>
              <a:t>New/Carryover</a:t>
            </a:r>
          </a:p>
          <a:p>
            <a:pPr algn="ctr"/>
            <a:r>
              <a:rPr lang="en-US" altLang="ko-KR" sz="900" dirty="0">
                <a:solidFill>
                  <a:prstClr val="black"/>
                </a:solidFill>
                <a:latin typeface="+mj-ea"/>
                <a:cs typeface="Arial"/>
              </a:rPr>
              <a:t>Defect </a:t>
            </a:r>
            <a:r>
              <a:rPr lang="ko-KR" altLang="en-US" sz="900" dirty="0">
                <a:solidFill>
                  <a:prstClr val="black"/>
                </a:solidFill>
                <a:latin typeface="+mj-ea"/>
                <a:cs typeface="Arial"/>
              </a:rPr>
              <a:t>확인 가능</a:t>
            </a:r>
            <a:endParaRPr lang="en-US" altLang="ko-KR" sz="900" dirty="0">
              <a:solidFill>
                <a:prstClr val="black"/>
              </a:solidFill>
              <a:latin typeface="+mj-ea"/>
              <a:cs typeface="Arial"/>
            </a:endParaRPr>
          </a:p>
        </p:txBody>
      </p:sp>
      <p:sp>
        <p:nvSpPr>
          <p:cNvPr id="33" name="사각형 설명선 19">
            <a:extLst>
              <a:ext uri="{FF2B5EF4-FFF2-40B4-BE49-F238E27FC236}">
                <a16:creationId xmlns:a16="http://schemas.microsoft.com/office/drawing/2014/main" id="{DC25DC63-B753-3D83-C998-81C04B9CB297}"/>
              </a:ext>
            </a:extLst>
          </p:cNvPr>
          <p:cNvSpPr/>
          <p:nvPr/>
        </p:nvSpPr>
        <p:spPr>
          <a:xfrm>
            <a:off x="8785164" y="4680148"/>
            <a:ext cx="864859" cy="216393"/>
          </a:xfrm>
          <a:prstGeom prst="wedgeRectCallout">
            <a:avLst>
              <a:gd name="adj1" fmla="val -46609"/>
              <a:gd name="adj2" fmla="val 116586"/>
            </a:avLst>
          </a:prstGeom>
          <a:solidFill>
            <a:srgbClr val="FFFF66"/>
          </a:solidFill>
          <a:ln>
            <a:solidFill>
              <a:schemeClr val="bg1">
                <a:lumMod val="65000"/>
                <a:alpha val="45098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New Defect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4" name="사각형 설명선 20">
            <a:extLst>
              <a:ext uri="{FF2B5EF4-FFF2-40B4-BE49-F238E27FC236}">
                <a16:creationId xmlns:a16="http://schemas.microsoft.com/office/drawing/2014/main" id="{97D5BBB4-8733-0ACC-AC18-60CB7D7C699C}"/>
              </a:ext>
            </a:extLst>
          </p:cNvPr>
          <p:cNvSpPr/>
          <p:nvPr/>
        </p:nvSpPr>
        <p:spPr>
          <a:xfrm>
            <a:off x="10393213" y="4848807"/>
            <a:ext cx="767951" cy="320795"/>
          </a:xfrm>
          <a:prstGeom prst="wedgeRectCallout">
            <a:avLst>
              <a:gd name="adj1" fmla="val -72390"/>
              <a:gd name="adj2" fmla="val 124108"/>
            </a:avLst>
          </a:prstGeom>
          <a:solidFill>
            <a:srgbClr val="FFFF66"/>
          </a:solidFill>
          <a:ln>
            <a:solidFill>
              <a:schemeClr val="bg1">
                <a:lumMod val="65000"/>
                <a:alpha val="45098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900">
                <a:solidFill>
                  <a:schemeClr val="tx1"/>
                </a:solidFill>
              </a:rPr>
              <a:t>Carryover Defect</a:t>
            </a:r>
            <a:endParaRPr lang="ko-KR" altLang="en-US" sz="90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B45729F-D809-020D-FEFC-EC36B7EB0FFA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3) DSA (Defect Source Analysis)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결함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발생을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Source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와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Layer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로 구분하여 반복적으로 발생하는 결함에 대한 분석 용이</a:t>
            </a:r>
          </a:p>
        </p:txBody>
      </p:sp>
    </p:spTree>
    <p:extLst>
      <p:ext uri="{BB962C8B-B14F-4D97-AF65-F5344CB8AC3E}">
        <p14:creationId xmlns:p14="http://schemas.microsoft.com/office/powerpoint/2010/main" val="2301611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 DMS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C469D72-47AF-C0F2-9946-C88E602CCEB0}"/>
              </a:ext>
            </a:extLst>
          </p:cNvPr>
          <p:cNvSpPr/>
          <p:nvPr/>
        </p:nvSpPr>
        <p:spPr>
          <a:xfrm>
            <a:off x="435332" y="1484313"/>
            <a:ext cx="11179490" cy="5005272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47A1B8-3F61-6A93-FFC0-02ABF3A460FD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Yield Loss Analysis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Fail 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데이터와 결함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분석하여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Kill Rate, Yield Loss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등을 분석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0924243-B86C-37C7-C585-23C2EB2BE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89" y="2146937"/>
            <a:ext cx="5355457" cy="395541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40" name="object 46">
            <a:extLst>
              <a:ext uri="{FF2B5EF4-FFF2-40B4-BE49-F238E27FC236}">
                <a16:creationId xmlns:a16="http://schemas.microsoft.com/office/drawing/2014/main" id="{AC37B960-4715-EAC8-F8F9-2BBA2CF65C0B}"/>
              </a:ext>
            </a:extLst>
          </p:cNvPr>
          <p:cNvSpPr/>
          <p:nvPr/>
        </p:nvSpPr>
        <p:spPr>
          <a:xfrm>
            <a:off x="6095870" y="1850497"/>
            <a:ext cx="5355457" cy="296439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Kill Rate Report</a:t>
            </a:r>
            <a:endParaRPr lang="ko-KR" altLang="en-US" sz="13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41" name="object 46">
            <a:extLst>
              <a:ext uri="{FF2B5EF4-FFF2-40B4-BE49-F238E27FC236}">
                <a16:creationId xmlns:a16="http://schemas.microsoft.com/office/drawing/2014/main" id="{7915712A-B221-A0F9-746B-F16649D48739}"/>
              </a:ext>
            </a:extLst>
          </p:cNvPr>
          <p:cNvSpPr>
            <a:spLocks/>
          </p:cNvSpPr>
          <p:nvPr/>
        </p:nvSpPr>
        <p:spPr>
          <a:xfrm>
            <a:off x="603689" y="1850497"/>
            <a:ext cx="5355457" cy="296439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rgbClr val="44546A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Wafer Matching Analysis</a:t>
            </a:r>
            <a:endParaRPr lang="ko-KR" altLang="en-US" sz="13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27323784-970E-DB9B-04BA-02518B4DE22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75" r="1"/>
          <a:stretch/>
        </p:blipFill>
        <p:spPr>
          <a:xfrm>
            <a:off x="6095870" y="2166813"/>
            <a:ext cx="5355457" cy="395541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82120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부제목 3">
            <a:extLst>
              <a:ext uri="{FF2B5EF4-FFF2-40B4-BE49-F238E27FC236}">
                <a16:creationId xmlns:a16="http://schemas.microsoft.com/office/drawing/2014/main" id="{F78B7DE3-2E67-A8F2-C8DE-C73713BCE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48" y="2714635"/>
            <a:ext cx="6540374" cy="841346"/>
          </a:xfrm>
        </p:spPr>
        <p:txBody>
          <a:bodyPr/>
          <a:lstStyle/>
          <a:p>
            <a:r>
              <a:rPr lang="ko-KR" altLang="en-US" dirty="0"/>
              <a:t>첨부</a:t>
            </a:r>
            <a:r>
              <a:rPr lang="en-US" altLang="ko-KR" dirty="0"/>
              <a:t>2. YMS </a:t>
            </a:r>
            <a:r>
              <a:rPr lang="ko-KR" altLang="en-US" dirty="0"/>
              <a:t>주요기능</a:t>
            </a:r>
          </a:p>
        </p:txBody>
      </p:sp>
    </p:spTree>
    <p:extLst>
      <p:ext uri="{BB962C8B-B14F-4D97-AF65-F5344CB8AC3E}">
        <p14:creationId xmlns:p14="http://schemas.microsoft.com/office/powerpoint/2010/main" val="3202078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F5CEE-7140-526A-B062-E2585CFF6988}"/>
              </a:ext>
            </a:extLst>
          </p:cNvPr>
          <p:cNvSpPr txBox="1"/>
          <p:nvPr/>
        </p:nvSpPr>
        <p:spPr>
          <a:xfrm>
            <a:off x="391688" y="987894"/>
            <a:ext cx="1167699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수집한 데이터를 기반으로 전기적 테스트에 대한 분석을 통해 이전 공정의 문제점을 찾고 개선하여 품질 및 수율 향상 기대 </a:t>
            </a:r>
          </a:p>
        </p:txBody>
      </p:sp>
      <p:cxnSp>
        <p:nvCxnSpPr>
          <p:cNvPr id="7" name="슬라이드 5 형태 4">
            <a:extLst>
              <a:ext uri="{FF2B5EF4-FFF2-40B4-BE49-F238E27FC236}">
                <a16:creationId xmlns:a16="http://schemas.microsoft.com/office/drawing/2014/main" id="{AFF20CAF-F943-5D2B-0979-1D84148E4267}"/>
              </a:ext>
            </a:extLst>
          </p:cNvPr>
          <p:cNvCxnSpPr>
            <a:cxnSpLocks/>
          </p:cNvCxnSpPr>
          <p:nvPr/>
        </p:nvCxnSpPr>
        <p:spPr>
          <a:xfrm>
            <a:off x="2878598" y="3905033"/>
            <a:ext cx="6434803" cy="0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</p:cxnSp>
      <p:cxnSp>
        <p:nvCxnSpPr>
          <p:cNvPr id="9" name="슬라이드 5 형태 5">
            <a:extLst>
              <a:ext uri="{FF2B5EF4-FFF2-40B4-BE49-F238E27FC236}">
                <a16:creationId xmlns:a16="http://schemas.microsoft.com/office/drawing/2014/main" id="{243E5F84-6A74-9DFA-143C-CF5E5289E9ED}"/>
              </a:ext>
            </a:extLst>
          </p:cNvPr>
          <p:cNvCxnSpPr>
            <a:cxnSpLocks/>
          </p:cNvCxnSpPr>
          <p:nvPr/>
        </p:nvCxnSpPr>
        <p:spPr>
          <a:xfrm flipV="1">
            <a:off x="6111255" y="1581297"/>
            <a:ext cx="0" cy="4747767"/>
          </a:xfrm>
          <a:prstGeom prst="line">
            <a:avLst/>
          </a:prstGeom>
          <a:noFill/>
          <a:ln w="6350" cap="flat" cmpd="sng" algn="ctr">
            <a:solidFill>
              <a:srgbClr val="E7E6E6">
                <a:lumMod val="90000"/>
              </a:srgbClr>
            </a:solidFill>
            <a:prstDash val="solid"/>
            <a:miter lim="800000"/>
          </a:ln>
          <a:effectLst/>
        </p:spPr>
      </p:cxnSp>
      <p:sp>
        <p:nvSpPr>
          <p:cNvPr id="10" name="슬라이드 5 형태 11">
            <a:extLst>
              <a:ext uri="{FF2B5EF4-FFF2-40B4-BE49-F238E27FC236}">
                <a16:creationId xmlns:a16="http://schemas.microsoft.com/office/drawing/2014/main" id="{EBAC810A-4B4D-0AAC-351F-373CE574FB3A}"/>
              </a:ext>
            </a:extLst>
          </p:cNvPr>
          <p:cNvSpPr txBox="1">
            <a:spLocks/>
          </p:cNvSpPr>
          <p:nvPr/>
        </p:nvSpPr>
        <p:spPr bwMode="auto">
          <a:xfrm>
            <a:off x="6781868" y="2349829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F1CC4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Bin Report</a:t>
            </a:r>
          </a:p>
        </p:txBody>
      </p:sp>
      <p:sp>
        <p:nvSpPr>
          <p:cNvPr id="13" name="슬라이드 5 형태 12">
            <a:extLst>
              <a:ext uri="{FF2B5EF4-FFF2-40B4-BE49-F238E27FC236}">
                <a16:creationId xmlns:a16="http://schemas.microsoft.com/office/drawing/2014/main" id="{C16FB471-FF80-5EC5-4E1B-B281025EFD38}"/>
              </a:ext>
            </a:extLst>
          </p:cNvPr>
          <p:cNvSpPr txBox="1"/>
          <p:nvPr/>
        </p:nvSpPr>
        <p:spPr>
          <a:xfrm>
            <a:off x="7454667" y="1581297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F1CC4B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02</a:t>
            </a:r>
            <a:endParaRPr lang="zh-CN" altLang="en-US" sz="4000" dirty="0">
              <a:solidFill>
                <a:srgbClr val="F1CC4B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4" name="슬라이드 5 형태 14">
            <a:extLst>
              <a:ext uri="{FF2B5EF4-FFF2-40B4-BE49-F238E27FC236}">
                <a16:creationId xmlns:a16="http://schemas.microsoft.com/office/drawing/2014/main" id="{8922CC7C-1306-EBEB-79B1-E284583EE35B}"/>
              </a:ext>
            </a:extLst>
          </p:cNvPr>
          <p:cNvSpPr txBox="1">
            <a:spLocks/>
          </p:cNvSpPr>
          <p:nvPr/>
        </p:nvSpPr>
        <p:spPr bwMode="auto">
          <a:xfrm>
            <a:off x="3135178" y="4735167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Test Map </a:t>
            </a:r>
            <a:r>
              <a:rPr lang="ko-KR" altLang="en-US" sz="1600" b="1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분석</a:t>
            </a:r>
            <a:endParaRPr lang="en-US" altLang="ko-KR" sz="1600" b="1" dirty="0">
              <a:solidFill>
                <a:srgbClr val="0F449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5" name="슬라이드 5 형태 15">
            <a:extLst>
              <a:ext uri="{FF2B5EF4-FFF2-40B4-BE49-F238E27FC236}">
                <a16:creationId xmlns:a16="http://schemas.microsoft.com/office/drawing/2014/main" id="{85BCF0E6-9DC1-7115-D3D8-E61DFA9EBDD9}"/>
              </a:ext>
            </a:extLst>
          </p:cNvPr>
          <p:cNvSpPr txBox="1"/>
          <p:nvPr/>
        </p:nvSpPr>
        <p:spPr>
          <a:xfrm>
            <a:off x="3807977" y="3966636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0F449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03</a:t>
            </a:r>
            <a:endParaRPr lang="zh-CN" altLang="en-US" sz="4000" dirty="0">
              <a:solidFill>
                <a:srgbClr val="0F4493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6" name="슬라이드 5 형태 7">
            <a:extLst>
              <a:ext uri="{FF2B5EF4-FFF2-40B4-BE49-F238E27FC236}">
                <a16:creationId xmlns:a16="http://schemas.microsoft.com/office/drawing/2014/main" id="{92C30961-9177-EADC-BC9B-99AFAA4CA541}"/>
              </a:ext>
            </a:extLst>
          </p:cNvPr>
          <p:cNvSpPr txBox="1">
            <a:spLocks/>
          </p:cNvSpPr>
          <p:nvPr/>
        </p:nvSpPr>
        <p:spPr bwMode="auto">
          <a:xfrm>
            <a:off x="6657257" y="2946634"/>
            <a:ext cx="2420982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각종 분석 기법을 활용한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Bin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Report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제공</a:t>
            </a:r>
          </a:p>
        </p:txBody>
      </p:sp>
      <p:sp>
        <p:nvSpPr>
          <p:cNvPr id="17" name="슬라이드 5 형태 11">
            <a:extLst>
              <a:ext uri="{FF2B5EF4-FFF2-40B4-BE49-F238E27FC236}">
                <a16:creationId xmlns:a16="http://schemas.microsoft.com/office/drawing/2014/main" id="{3AF246B7-05F3-4966-CC24-8ED2AA3E81FA}"/>
              </a:ext>
            </a:extLst>
          </p:cNvPr>
          <p:cNvSpPr txBox="1">
            <a:spLocks/>
          </p:cNvSpPr>
          <p:nvPr/>
        </p:nvSpPr>
        <p:spPr bwMode="auto">
          <a:xfrm>
            <a:off x="6875005" y="4798947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Test Report</a:t>
            </a:r>
          </a:p>
        </p:txBody>
      </p:sp>
      <p:sp>
        <p:nvSpPr>
          <p:cNvPr id="18" name="슬라이드 5 형태 12">
            <a:extLst>
              <a:ext uri="{FF2B5EF4-FFF2-40B4-BE49-F238E27FC236}">
                <a16:creationId xmlns:a16="http://schemas.microsoft.com/office/drawing/2014/main" id="{BEEF185B-C6FF-768C-5CCA-EB2D8F521D23}"/>
              </a:ext>
            </a:extLst>
          </p:cNvPr>
          <p:cNvSpPr txBox="1"/>
          <p:nvPr/>
        </p:nvSpPr>
        <p:spPr>
          <a:xfrm>
            <a:off x="7547804" y="3988853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7030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04</a:t>
            </a:r>
            <a:endParaRPr lang="zh-CN" altLang="en-US" sz="4000" dirty="0">
              <a:solidFill>
                <a:srgbClr val="7030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19" name="슬라이드 5 형태 7">
            <a:extLst>
              <a:ext uri="{FF2B5EF4-FFF2-40B4-BE49-F238E27FC236}">
                <a16:creationId xmlns:a16="http://schemas.microsoft.com/office/drawing/2014/main" id="{C301C228-746E-8348-9B26-B02CF72DC01D}"/>
              </a:ext>
            </a:extLst>
          </p:cNvPr>
          <p:cNvSpPr txBox="1">
            <a:spLocks/>
          </p:cNvSpPr>
          <p:nvPr/>
        </p:nvSpPr>
        <p:spPr bwMode="auto">
          <a:xfrm>
            <a:off x="6781868" y="5290876"/>
            <a:ext cx="2622481" cy="946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각종 분석 기법을 활용한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Test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데이터 </a:t>
            </a: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Report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제공</a:t>
            </a:r>
          </a:p>
        </p:txBody>
      </p:sp>
      <p:sp>
        <p:nvSpPr>
          <p:cNvPr id="20" name="슬라이드 5 형태 7">
            <a:extLst>
              <a:ext uri="{FF2B5EF4-FFF2-40B4-BE49-F238E27FC236}">
                <a16:creationId xmlns:a16="http://schemas.microsoft.com/office/drawing/2014/main" id="{B396A543-4E87-E018-7044-5B61F64EC2F0}"/>
              </a:ext>
            </a:extLst>
          </p:cNvPr>
          <p:cNvSpPr txBox="1">
            <a:spLocks/>
          </p:cNvSpPr>
          <p:nvPr/>
        </p:nvSpPr>
        <p:spPr bwMode="auto">
          <a:xfrm>
            <a:off x="3040592" y="5331973"/>
            <a:ext cx="2858555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분석을 위한 맵 컨트롤 및 다양한 차트 표시</a:t>
            </a:r>
          </a:p>
        </p:txBody>
      </p:sp>
      <p:sp>
        <p:nvSpPr>
          <p:cNvPr id="21" name="슬라이드 5 형태 8">
            <a:extLst>
              <a:ext uri="{FF2B5EF4-FFF2-40B4-BE49-F238E27FC236}">
                <a16:creationId xmlns:a16="http://schemas.microsoft.com/office/drawing/2014/main" id="{738484E9-A82E-42DE-B3FE-4C8C36FA586D}"/>
              </a:ext>
            </a:extLst>
          </p:cNvPr>
          <p:cNvSpPr txBox="1">
            <a:spLocks/>
          </p:cNvSpPr>
          <p:nvPr/>
        </p:nvSpPr>
        <p:spPr bwMode="auto">
          <a:xfrm>
            <a:off x="3069173" y="2378181"/>
            <a:ext cx="21717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latinLnBrk="0" hangingPunct="1">
              <a:defRPr/>
            </a:pPr>
            <a:r>
              <a:rPr lang="en-US" altLang="ko-KR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Bin Map </a:t>
            </a:r>
            <a:r>
              <a:rPr lang="ko-KR" altLang="en-US" sz="1600" b="1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분석</a:t>
            </a:r>
            <a:endParaRPr lang="en-US" altLang="ko-KR" sz="1600" b="1" dirty="0">
              <a:solidFill>
                <a:srgbClr val="9CD2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2" name="슬라이드 5 형태 9">
            <a:extLst>
              <a:ext uri="{FF2B5EF4-FFF2-40B4-BE49-F238E27FC236}">
                <a16:creationId xmlns:a16="http://schemas.microsoft.com/office/drawing/2014/main" id="{4CF3EB74-04B6-472A-1812-4B803E5BD502}"/>
              </a:ext>
            </a:extLst>
          </p:cNvPr>
          <p:cNvSpPr txBox="1"/>
          <p:nvPr/>
        </p:nvSpPr>
        <p:spPr>
          <a:xfrm>
            <a:off x="3741972" y="1581297"/>
            <a:ext cx="8261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>
              <a:defRPr/>
            </a:pPr>
            <a:r>
              <a:rPr lang="en-US" altLang="zh-CN" sz="4000" dirty="0">
                <a:solidFill>
                  <a:srgbClr val="9CD25C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  <a:sym typeface="Arial" panose="020B0604020202020204" pitchFamily="34" charset="0"/>
              </a:rPr>
              <a:t>01</a:t>
            </a:r>
            <a:endParaRPr lang="zh-CN" altLang="en-US" sz="4000" dirty="0">
              <a:solidFill>
                <a:srgbClr val="9CD25C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23" name="슬라이드 5 형태 7">
            <a:extLst>
              <a:ext uri="{FF2B5EF4-FFF2-40B4-BE49-F238E27FC236}">
                <a16:creationId xmlns:a16="http://schemas.microsoft.com/office/drawing/2014/main" id="{C5979076-0398-3B84-2071-FDE03F60DF86}"/>
              </a:ext>
            </a:extLst>
          </p:cNvPr>
          <p:cNvSpPr txBox="1">
            <a:spLocks/>
          </p:cNvSpPr>
          <p:nvPr/>
        </p:nvSpPr>
        <p:spPr bwMode="auto">
          <a:xfrm>
            <a:off x="3078206" y="2985152"/>
            <a:ext cx="2820937" cy="8646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Bin </a:t>
            </a:r>
            <a:r>
              <a:rPr lang="ko-KR" altLang="en-US" sz="1150" kern="0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분석을 위한 맵 컨트롤 및 다양한 차트 표시</a:t>
            </a:r>
          </a:p>
        </p:txBody>
      </p:sp>
    </p:spTree>
    <p:extLst>
      <p:ext uri="{BB962C8B-B14F-4D97-AF65-F5344CB8AC3E}">
        <p14:creationId xmlns:p14="http://schemas.microsoft.com/office/powerpoint/2010/main" val="2672363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분석하는 기능을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Bin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View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B59D45F-BC53-436B-877C-EEE03DCA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2655" y="2046353"/>
            <a:ext cx="5290274" cy="41756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3A32B9D-617F-E514-6A8E-A400F72C7E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3276" y="2046353"/>
            <a:ext cx="2105112" cy="41756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369699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정보를 갤러리 형식으로 표현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Bin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Gallery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05979C7-88B9-B0BD-8D16-D20C4B7AF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7193" y="2074741"/>
            <a:ext cx="6726815" cy="411241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C4140D-FB17-9E97-278F-8D85FBF994C1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926246" y="4077887"/>
            <a:ext cx="2417813" cy="190349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EF7E04-6C22-0794-EC43-C27D3DB3FA93}"/>
              </a:ext>
            </a:extLst>
          </p:cNvPr>
          <p:cNvSpPr/>
          <p:nvPr/>
        </p:nvSpPr>
        <p:spPr>
          <a:xfrm>
            <a:off x="8866102" y="3801865"/>
            <a:ext cx="25380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rgbClr val="009CE1"/>
                </a:solidFill>
              </a:rPr>
              <a:t>특정 </a:t>
            </a:r>
            <a:r>
              <a:rPr lang="en-US" altLang="ko-KR" sz="1200" b="1" dirty="0">
                <a:solidFill>
                  <a:srgbClr val="009CE1"/>
                </a:solidFill>
              </a:rPr>
              <a:t>Bin No</a:t>
            </a:r>
            <a:r>
              <a:rPr lang="ko-KR" altLang="en-US" sz="1200" b="1" dirty="0">
                <a:solidFill>
                  <a:srgbClr val="009CE1"/>
                </a:solidFill>
              </a:rPr>
              <a:t>만 필터링 적용 시</a:t>
            </a:r>
          </a:p>
        </p:txBody>
      </p:sp>
    </p:spTree>
    <p:extLst>
      <p:ext uri="{BB962C8B-B14F-4D97-AF65-F5344CB8AC3E}">
        <p14:creationId xmlns:p14="http://schemas.microsoft.com/office/powerpoint/2010/main" val="41319313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불량을 누적 시켜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Wafer Cumulative Analysis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3541077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2D51F3-CF0B-8469-46B1-ED1790514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030" y="2186946"/>
            <a:ext cx="6377608" cy="389443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735ABE-EB90-A435-8731-692D08B2B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7455" y="4139349"/>
            <a:ext cx="2120443" cy="20131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A9C801D-E08F-76D8-1217-C8E158AF0FC0}"/>
              </a:ext>
            </a:extLst>
          </p:cNvPr>
          <p:cNvSpPr/>
          <p:nvPr/>
        </p:nvSpPr>
        <p:spPr>
          <a:xfrm>
            <a:off x="9190063" y="3838039"/>
            <a:ext cx="18552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rgbClr val="009CE1"/>
                </a:solidFill>
              </a:rPr>
              <a:t>누적 수량 확인 시</a:t>
            </a:r>
          </a:p>
        </p:txBody>
      </p:sp>
    </p:spTree>
    <p:extLst>
      <p:ext uri="{BB962C8B-B14F-4D97-AF65-F5344CB8AC3E}">
        <p14:creationId xmlns:p14="http://schemas.microsoft.com/office/powerpoint/2010/main" val="758550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불량을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Shot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단위로 누적 시켜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Shot Cumulative Analysis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3202738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BF3FA59-C3DE-7D3F-BD71-94EF3432A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3140" y="2017502"/>
            <a:ext cx="6910481" cy="42458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377279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Stacked Chart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로 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Bin Stack Report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7311EF7-46F7-A1B9-C3E5-AE19FB114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4511" y="2017501"/>
            <a:ext cx="6927740" cy="423166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00183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특정 위치에서 많이 불량이 발생하는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쉽게 찾을 수 있는 기능을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Wafer Fail Pattern Search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3313833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2153F45-9083-9C8B-519B-56B49981B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53" y="2245615"/>
            <a:ext cx="5138980" cy="315475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15CF29C-6A0B-D951-0F47-1AA326605195}"/>
              </a:ext>
            </a:extLst>
          </p:cNvPr>
          <p:cNvSpPr/>
          <p:nvPr/>
        </p:nvSpPr>
        <p:spPr>
          <a:xfrm>
            <a:off x="581941" y="1977765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9CE1"/>
                </a:solidFill>
              </a:rPr>
              <a:t>1) Source Wafer </a:t>
            </a:r>
            <a:r>
              <a:rPr lang="ko-KR" altLang="en-US" sz="1200" b="1" dirty="0">
                <a:solidFill>
                  <a:srgbClr val="009CE1"/>
                </a:solidFill>
              </a:rPr>
              <a:t>선택</a:t>
            </a:r>
            <a:endParaRPr lang="en-US" altLang="ko-KR" sz="1200" b="1" dirty="0">
              <a:solidFill>
                <a:srgbClr val="009CE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45C2B-FFED-D189-3B82-0566F03CBED7}"/>
              </a:ext>
            </a:extLst>
          </p:cNvPr>
          <p:cNvSpPr/>
          <p:nvPr/>
        </p:nvSpPr>
        <p:spPr>
          <a:xfrm>
            <a:off x="6231076" y="2672903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9CE1"/>
                </a:solidFill>
              </a:rPr>
              <a:t>2) Target</a:t>
            </a:r>
            <a:r>
              <a:rPr lang="ko-KR" altLang="en-US" sz="1200" b="1" dirty="0">
                <a:solidFill>
                  <a:srgbClr val="009CE1"/>
                </a:solidFill>
              </a:rPr>
              <a:t>이 될 </a:t>
            </a:r>
            <a:r>
              <a:rPr lang="en-US" altLang="ko-KR" sz="1200" b="1" dirty="0">
                <a:solidFill>
                  <a:srgbClr val="009CE1"/>
                </a:solidFill>
              </a:rPr>
              <a:t>Wafer </a:t>
            </a:r>
            <a:r>
              <a:rPr lang="ko-KR" altLang="en-US" sz="1200" b="1" dirty="0">
                <a:solidFill>
                  <a:srgbClr val="009CE1"/>
                </a:solidFill>
              </a:rPr>
              <a:t>리스트 선택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17AE0E-8EF0-7D3B-982A-A1A54CC17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516" y="2994590"/>
            <a:ext cx="5106695" cy="311142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526066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특정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Shot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위치에서 불량이 많이 발생하는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쉽게 찾을 수 있는 기능을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Shot Fail Pattern Search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3313833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1B325E6-B8A1-1368-4579-0FB65AD38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64" y="2279543"/>
            <a:ext cx="5484417" cy="334358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6966E747-BBA6-7B23-7431-BBD302981A45}"/>
              </a:ext>
            </a:extLst>
          </p:cNvPr>
          <p:cNvSpPr/>
          <p:nvPr/>
        </p:nvSpPr>
        <p:spPr>
          <a:xfrm>
            <a:off x="581941" y="1977765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9CE1"/>
                </a:solidFill>
              </a:rPr>
              <a:t>1) Source Wafer </a:t>
            </a:r>
            <a:r>
              <a:rPr lang="ko-KR" altLang="en-US" sz="1200" b="1" dirty="0">
                <a:solidFill>
                  <a:srgbClr val="009CE1"/>
                </a:solidFill>
              </a:rPr>
              <a:t>선택</a:t>
            </a:r>
            <a:endParaRPr lang="en-US" altLang="ko-KR" sz="1200" b="1" dirty="0">
              <a:solidFill>
                <a:srgbClr val="009CE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7C631D1-DBB7-DE26-CFC0-2CF146BAD451}"/>
              </a:ext>
            </a:extLst>
          </p:cNvPr>
          <p:cNvSpPr/>
          <p:nvPr/>
        </p:nvSpPr>
        <p:spPr>
          <a:xfrm>
            <a:off x="6231076" y="2672903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rgbClr val="009CE1"/>
                </a:solidFill>
              </a:rPr>
              <a:t>2) Target</a:t>
            </a:r>
            <a:r>
              <a:rPr lang="ko-KR" altLang="en-US" sz="1200" b="1" dirty="0">
                <a:solidFill>
                  <a:srgbClr val="009CE1"/>
                </a:solidFill>
              </a:rPr>
              <a:t>이 될 </a:t>
            </a:r>
            <a:r>
              <a:rPr lang="en-US" altLang="ko-KR" sz="1200" b="1" dirty="0">
                <a:solidFill>
                  <a:srgbClr val="009CE1"/>
                </a:solidFill>
              </a:rPr>
              <a:t>Wafer </a:t>
            </a:r>
            <a:r>
              <a:rPr lang="ko-KR" altLang="en-US" sz="1200" b="1" dirty="0">
                <a:solidFill>
                  <a:srgbClr val="009CE1"/>
                </a:solidFill>
              </a:rPr>
              <a:t>리스트 선택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3D9E27B-7BA9-A255-7818-4E55B7970A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7013" y="2952574"/>
            <a:ext cx="5133695" cy="308021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14337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5"/>
            <a:ext cx="11179490" cy="4362357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2) Bin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Lot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에 대한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Yield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를 조회할 수 있는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Yield Report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157291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FA2DFE-001F-6ACE-0547-576B5792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131" y="2102237"/>
            <a:ext cx="6889784" cy="410201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98611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7402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3)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분석하는 기능을 제공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BE5C87F-0A9E-A2E3-91B8-F5C16C746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503" y="2050991"/>
            <a:ext cx="5729526" cy="41679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Test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View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FFB5FA43-5244-48DB-6B58-AEEBEAF75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615" y="2050991"/>
            <a:ext cx="3581770" cy="416798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1975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8799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sz="1600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Wafer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의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Bin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데이터를 분석하는 기능을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Test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Map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Gallery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6E131B6-82A5-FB78-6545-8164F6334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941" y="2111506"/>
            <a:ext cx="5681785" cy="413465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5CAF3F-CFBE-1A11-BE5E-F912AC66F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962" y="2897486"/>
            <a:ext cx="3407101" cy="31453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40FBEE-C89F-0E41-ACD6-07CF18587F83}"/>
              </a:ext>
            </a:extLst>
          </p:cNvPr>
          <p:cNvSpPr/>
          <p:nvPr/>
        </p:nvSpPr>
        <p:spPr>
          <a:xfrm>
            <a:off x="7203316" y="2594609"/>
            <a:ext cx="37267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200" b="1" dirty="0">
                <a:solidFill>
                  <a:srgbClr val="009CE1"/>
                </a:solidFill>
              </a:rPr>
              <a:t>Wafer</a:t>
            </a:r>
            <a:r>
              <a:rPr lang="ko-KR" altLang="en-US" sz="1200" b="1" dirty="0">
                <a:solidFill>
                  <a:srgbClr val="009CE1"/>
                </a:solidFill>
              </a:rPr>
              <a:t> </a:t>
            </a:r>
            <a:r>
              <a:rPr lang="en-US" altLang="ko-KR" sz="1200" b="1" dirty="0">
                <a:solidFill>
                  <a:srgbClr val="009CE1"/>
                </a:solidFill>
              </a:rPr>
              <a:t>1</a:t>
            </a:r>
            <a:r>
              <a:rPr lang="ko-KR" altLang="en-US" sz="1200" b="1" dirty="0">
                <a:solidFill>
                  <a:srgbClr val="009CE1"/>
                </a:solidFill>
              </a:rPr>
              <a:t>장 선택 시 모든 </a:t>
            </a:r>
            <a:r>
              <a:rPr lang="en-US" altLang="ko-KR" sz="1200" b="1" dirty="0">
                <a:solidFill>
                  <a:srgbClr val="009CE1"/>
                </a:solidFill>
              </a:rPr>
              <a:t>Parameter </a:t>
            </a:r>
            <a:r>
              <a:rPr lang="ko-KR" altLang="en-US" sz="1200" b="1" dirty="0">
                <a:solidFill>
                  <a:srgbClr val="009CE1"/>
                </a:solidFill>
              </a:rPr>
              <a:t>데이터 표시</a:t>
            </a:r>
          </a:p>
        </p:txBody>
      </p:sp>
    </p:spTree>
    <p:extLst>
      <p:ext uri="{BB962C8B-B14F-4D97-AF65-F5344CB8AC3E}">
        <p14:creationId xmlns:p14="http://schemas.microsoft.com/office/powerpoint/2010/main" val="22109084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7402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테스트 항목들에 대한 통계 데이터와 함께 간단한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Box Plot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을 이미지로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Test</a:t>
            </a:r>
            <a:r>
              <a:rPr lang="ko-KR" altLang="en-US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Standard View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808E96F-21A3-2A89-788E-0EDF7480E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2999" y="2051686"/>
            <a:ext cx="5730764" cy="418912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8705296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7402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테스트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결과 데이터를 조회하고 각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Parameter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별 데이터 추이를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Measure Data Report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980725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BD5A623-67D1-069A-27E4-88C0CB45F4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596" y="2048031"/>
            <a:ext cx="5491569" cy="418928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547483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7402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lvl="0" defTabSz="1219140" latinLnBrk="0">
              <a:spcBef>
                <a:spcPts val="400"/>
              </a:spcBef>
              <a:defRPr/>
            </a:pP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선택한 데이터에 대한 데이터 추이를 </a:t>
            </a:r>
            <a:r>
              <a:rPr kumimoji="1" lang="en-US" altLang="ko-KR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Box Plot</a:t>
            </a:r>
            <a:r>
              <a:rPr kumimoji="1" lang="ko-KR" altLang="en-US" sz="1600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으로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Box Plot Report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407979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DC8A41F-CBBF-1DB5-F53A-E47AFEC7A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0807" y="2037128"/>
            <a:ext cx="5495147" cy="420124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991458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>
            <a:extLst>
              <a:ext uri="{FF2B5EF4-FFF2-40B4-BE49-F238E27FC236}">
                <a16:creationId xmlns:a16="http://schemas.microsoft.com/office/drawing/2014/main" id="{90E3AD7C-7FD4-E9B7-A622-9E4A31E72D12}"/>
              </a:ext>
            </a:extLst>
          </p:cNvPr>
          <p:cNvSpPr txBox="1">
            <a:spLocks/>
          </p:cNvSpPr>
          <p:nvPr/>
        </p:nvSpPr>
        <p:spPr>
          <a:xfrm>
            <a:off x="273000" y="241171"/>
            <a:ext cx="7899450" cy="679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YMS </a:t>
            </a:r>
            <a:r>
              <a:rPr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기능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88466EE-AF8C-8A77-E8A3-28485D1F834C}"/>
              </a:ext>
            </a:extLst>
          </p:cNvPr>
          <p:cNvSpPr/>
          <p:nvPr/>
        </p:nvSpPr>
        <p:spPr>
          <a:xfrm>
            <a:off x="435332" y="1952986"/>
            <a:ext cx="11179490" cy="4374024"/>
          </a:xfrm>
          <a:prstGeom prst="rect">
            <a:avLst/>
          </a:prstGeom>
          <a:solidFill>
            <a:schemeClr val="bg1"/>
          </a:solidFill>
          <a:ln w="3175" cap="flat" cmpd="sng" algn="ctr">
            <a:solidFill>
              <a:schemeClr val="accent1"/>
            </a:solidFill>
            <a:prstDash val="solid"/>
          </a:ln>
          <a:effectLst/>
        </p:spPr>
        <p:txBody>
          <a:bodyPr lIns="108000" tIns="29218" rIns="108000" bIns="29218" rtlCol="0" anchor="t"/>
          <a:lstStyle/>
          <a:p>
            <a:endParaRPr lang="en-US" altLang="ko-KR" sz="14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28E9C-C4DB-B028-62B3-713E0B9A3A69}"/>
              </a:ext>
            </a:extLst>
          </p:cNvPr>
          <p:cNvSpPr txBox="1"/>
          <p:nvPr/>
        </p:nvSpPr>
        <p:spPr>
          <a:xfrm>
            <a:off x="391688" y="825209"/>
            <a:ext cx="11676996" cy="54373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 defTabSz="1219140" latinLnBrk="0">
              <a:spcBef>
                <a:spcPts val="400"/>
              </a:spcBef>
              <a:defRPr/>
            </a:pP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sz="1600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87313" marR="0" lvl="0" indent="-87313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</a:rPr>
              <a:t>선택한 데이터에 대한 데이터 추이를 </a:t>
            </a:r>
            <a:r>
              <a:rPr kumimoji="1" lang="ko-KR" altLang="en-US" sz="1600" dirty="0"/>
              <a:t>다중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</a:rPr>
              <a:t> </a:t>
            </a:r>
            <a:r>
              <a:rPr kumimoji="1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</a:rPr>
              <a:t>Box Plot</a:t>
            </a:r>
            <a:r>
              <a:rPr kumimoji="1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</a:rPr>
              <a:t>으로 분석</a:t>
            </a:r>
            <a:endParaRPr kumimoji="1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ea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0751D7-3757-A063-BE88-7918E7EBF170}"/>
              </a:ext>
            </a:extLst>
          </p:cNvPr>
          <p:cNvSpPr txBox="1"/>
          <p:nvPr/>
        </p:nvSpPr>
        <p:spPr>
          <a:xfrm>
            <a:off x="435332" y="1662076"/>
            <a:ext cx="3214647" cy="2462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ctr">
            <a:spAutoFit/>
          </a:bodyPr>
          <a:lstStyle/>
          <a:p>
            <a:pPr lvl="0" latinLnBrk="0">
              <a:defRPr/>
            </a:pPr>
            <a:r>
              <a:rPr lang="en-US" altLang="ko-KR" sz="16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Multi Box Plot Report</a:t>
            </a:r>
            <a:endParaRPr lang="en-US" altLang="ko-KR" sz="1600" b="1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6AB8DF-8763-1CB4-6863-B10BB6ACF181}"/>
              </a:ext>
            </a:extLst>
          </p:cNvPr>
          <p:cNvSpPr/>
          <p:nvPr/>
        </p:nvSpPr>
        <p:spPr bwMode="gray">
          <a:xfrm>
            <a:off x="2912181" y="1771281"/>
            <a:ext cx="2484000" cy="72000"/>
          </a:xfrm>
          <a:prstGeom prst="rect">
            <a:avLst/>
          </a:prstGeom>
          <a:pattFill prst="dkDnDiag">
            <a:fgClr>
              <a:srgbClr val="DDDDDE"/>
            </a:fgClr>
            <a:bgClr>
              <a:schemeClr val="bg1">
                <a:lumMod val="95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8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00" b="1" i="0" u="none" strike="noStrike" kern="1200" cap="none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7B6E7A8-80D9-6C9D-298C-8F049BD3A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9987" y="2088471"/>
            <a:ext cx="6036788" cy="415223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433661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6091D2E-E154-40AD-8304-D51760DB4B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7720308"/>
      </p:ext>
    </p:extLst>
  </p:cSld>
  <p:clrMapOvr>
    <a:masterClrMapping/>
  </p:clrMapOvr>
</p:sld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TS ChipPAC - Dark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7B69ECED8A7C4C8E6B9EA1866C5F3A" ma:contentTypeVersion="17" ma:contentTypeDescription="Create a new document." ma:contentTypeScope="" ma:versionID="41f8dfe619af236a3b09c82d049a5169">
  <xsd:schema xmlns:xsd="http://www.w3.org/2001/XMLSchema" xmlns:xs="http://www.w3.org/2001/XMLSchema" xmlns:p="http://schemas.microsoft.com/office/2006/metadata/properties" xmlns:ns3="97389cb9-5bc0-4b0c-a4c8-faf6c0ed0a65" xmlns:ns4="cbef9c31-bf91-4fc5-b28d-1ac5d704e1de" targetNamespace="http://schemas.microsoft.com/office/2006/metadata/properties" ma:root="true" ma:fieldsID="3264ef840c4e04a95b67010dee772284" ns3:_="" ns4:_="">
    <xsd:import namespace="97389cb9-5bc0-4b0c-a4c8-faf6c0ed0a65"/>
    <xsd:import namespace="cbef9c31-bf91-4fc5-b28d-1ac5d704e1d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89cb9-5bc0-4b0c-a4c8-faf6c0ed0a6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f9c31-bf91-4fc5-b28d-1ac5d704e1de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389cb9-5bc0-4b0c-a4c8-faf6c0ed0a65" xsi:nil="true"/>
  </documentManagement>
</p:properties>
</file>

<file path=customXml/itemProps1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1044B55-73CB-40D3-A720-757283F85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389cb9-5bc0-4b0c-a4c8-faf6c0ed0a65"/>
    <ds:schemaRef ds:uri="cbef9c31-bf91-4fc5-b28d-1ac5d704e1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0A0475A-01DE-45B6-A0A3-55B789B83525}">
  <ds:schemaRefs>
    <ds:schemaRef ds:uri="97389cb9-5bc0-4b0c-a4c8-faf6c0ed0a65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cbef9c31-bf91-4fc5-b28d-1ac5d704e1d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35414</TotalTime>
  <Words>2636</Words>
  <Application>Microsoft Office PowerPoint</Application>
  <PresentationFormat>사용자 지정</PresentationFormat>
  <Paragraphs>564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46</vt:i4>
      </vt:variant>
    </vt:vector>
  </HeadingPairs>
  <TitlesOfParts>
    <vt:vector size="55" baseType="lpstr">
      <vt:lpstr>굴림</vt:lpstr>
      <vt:lpstr>나눔고딕</vt:lpstr>
      <vt:lpstr>맑은 고딕</vt:lpstr>
      <vt:lpstr>Arial</vt:lpstr>
      <vt:lpstr>Calibri</vt:lpstr>
      <vt:lpstr>Times New Roman</vt:lpstr>
      <vt:lpstr>Wingdings</vt:lpstr>
      <vt:lpstr>STATS ChipPAC - Light</vt:lpstr>
      <vt:lpstr>STATS ChipPAC - Dark</vt:lpstr>
      <vt:lpstr>Defect/E-Test 자동 분석 시스템 구축 제안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taihikim</cp:lastModifiedBy>
  <cp:revision>1621</cp:revision>
  <dcterms:created xsi:type="dcterms:W3CDTF">2018-11-29T10:16:29Z</dcterms:created>
  <dcterms:modified xsi:type="dcterms:W3CDTF">2026-07-28T23:33:23Z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0x010100EE7B69ECED8A7C4C8E6B9EA1866C5F3A</vt:lpwstr>
  </property>
</Properties>
</file>