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86" r:id="rId4"/>
    <p:sldMasterId id="2147484601" r:id="rId5"/>
  </p:sldMasterIdLst>
  <p:notesMasterIdLst>
    <p:notesMasterId r:id="rId53"/>
  </p:notesMasterIdLst>
  <p:handoutMasterIdLst>
    <p:handoutMasterId r:id="rId54"/>
  </p:handoutMasterIdLst>
  <p:sldIdLst>
    <p:sldId id="460" r:id="rId6"/>
    <p:sldId id="640" r:id="rId7"/>
    <p:sldId id="638" r:id="rId8"/>
    <p:sldId id="577" r:id="rId9"/>
    <p:sldId id="578" r:id="rId10"/>
    <p:sldId id="646" r:id="rId11"/>
    <p:sldId id="641" r:id="rId12"/>
    <p:sldId id="582" r:id="rId13"/>
    <p:sldId id="581" r:id="rId14"/>
    <p:sldId id="580" r:id="rId15"/>
    <p:sldId id="583" r:id="rId16"/>
    <p:sldId id="585" r:id="rId17"/>
    <p:sldId id="642" r:id="rId18"/>
    <p:sldId id="631" r:id="rId19"/>
    <p:sldId id="632" r:id="rId20"/>
    <p:sldId id="636" r:id="rId21"/>
    <p:sldId id="637" r:id="rId22"/>
    <p:sldId id="643" r:id="rId23"/>
    <p:sldId id="644" r:id="rId24"/>
    <p:sldId id="586" r:id="rId25"/>
    <p:sldId id="587" r:id="rId26"/>
    <p:sldId id="588" r:id="rId27"/>
    <p:sldId id="589" r:id="rId28"/>
    <p:sldId id="590" r:id="rId29"/>
    <p:sldId id="591" r:id="rId30"/>
    <p:sldId id="592" r:id="rId31"/>
    <p:sldId id="593" r:id="rId32"/>
    <p:sldId id="594" r:id="rId33"/>
    <p:sldId id="595" r:id="rId34"/>
    <p:sldId id="597" r:id="rId35"/>
    <p:sldId id="645" r:id="rId36"/>
    <p:sldId id="614" r:id="rId37"/>
    <p:sldId id="616" r:id="rId38"/>
    <p:sldId id="617" r:id="rId39"/>
    <p:sldId id="618" r:id="rId40"/>
    <p:sldId id="619" r:id="rId41"/>
    <p:sldId id="620" r:id="rId42"/>
    <p:sldId id="621" r:id="rId43"/>
    <p:sldId id="622" r:id="rId44"/>
    <p:sldId id="623" r:id="rId45"/>
    <p:sldId id="600" r:id="rId46"/>
    <p:sldId id="615" r:id="rId47"/>
    <p:sldId id="624" r:id="rId48"/>
    <p:sldId id="625" r:id="rId49"/>
    <p:sldId id="626" r:id="rId50"/>
    <p:sldId id="627" r:id="rId51"/>
    <p:sldId id="473" r:id="rId52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6" orient="horz" pos="731" userDrawn="1">
          <p15:clr>
            <a:srgbClr val="A4A3A4"/>
          </p15:clr>
        </p15:guide>
        <p15:guide id="9" pos="939" userDrawn="1">
          <p15:clr>
            <a:srgbClr val="A4A3A4"/>
          </p15:clr>
        </p15:guide>
        <p15:guide id="10" pos="6745" userDrawn="1">
          <p15:clr>
            <a:srgbClr val="A4A3A4"/>
          </p15:clr>
        </p15:guide>
        <p15:guide id="11" orient="horz" pos="1548" userDrawn="1">
          <p15:clr>
            <a:srgbClr val="A4A3A4"/>
          </p15:clr>
        </p15:guide>
        <p15:guide id="12" orient="horz" pos="390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UM JaeYeon (SCK Bump Eng'g-Process Engineering)" initials="KJ(BEE" lastIdx="1" clrIdx="0">
    <p:extLst>
      <p:ext uri="{19B8F6BF-5375-455C-9EA6-DF929625EA0E}">
        <p15:presenceInfo xmlns:p15="http://schemas.microsoft.com/office/powerpoint/2012/main" userId="S-1-5-21-431975993-854741942-556304927-1197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0000A0"/>
    <a:srgbClr val="2F3A49"/>
    <a:srgbClr val="006CFF"/>
    <a:srgbClr val="00D7FF"/>
    <a:srgbClr val="0000FF"/>
    <a:srgbClr val="004BFF"/>
    <a:srgbClr val="FFFFCC"/>
    <a:srgbClr val="BFBFB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84E427A-3D55-4303-BF80-6455036E1DE7}" styleName="主题样式 1 - 强调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272" autoAdjust="0"/>
    <p:restoredTop sz="94333" autoAdjust="0"/>
  </p:normalViewPr>
  <p:slideViewPr>
    <p:cSldViewPr snapToGrid="0" snapToObjects="1">
      <p:cViewPr>
        <p:scale>
          <a:sx n="75" d="100"/>
          <a:sy n="75" d="100"/>
        </p:scale>
        <p:origin x="1494" y="705"/>
      </p:cViewPr>
      <p:guideLst>
        <p:guide orient="horz" pos="731"/>
        <p:guide pos="939"/>
        <p:guide pos="6745"/>
        <p:guide orient="horz" pos="1548"/>
        <p:guide orient="horz" pos="390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6" d="100"/>
        <a:sy n="116" d="100"/>
      </p:scale>
      <p:origin x="0" y="0"/>
    </p:cViewPr>
  </p:sorterViewPr>
  <p:notesViewPr>
    <p:cSldViewPr snapToGrid="0" snapToObjects="1">
      <p:cViewPr varScale="1">
        <p:scale>
          <a:sx n="120" d="100"/>
          <a:sy n="120" d="100"/>
        </p:scale>
        <p:origin x="418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slide" Target="slides/slide45.xml"/><Relationship Id="rId55" Type="http://schemas.openxmlformats.org/officeDocument/2006/relationships/commentAuthors" Target="commentAuthors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notesMaster" Target="notesMasters/notesMaster1.xml"/><Relationship Id="rId58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tableStyles" Target="tableStyle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viewProps" Target="viewProps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>
                <a:latin typeface="Arial" panose="020B0604020202020204" pitchFamily="34" charset="0"/>
              </a:rPr>
              <a:t>7/30/2026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0DD60A27-BF12-6744-9E93-932A0E34D8BB}" type="datetimeFigureOut">
              <a:rPr lang="en-US" smtClean="0"/>
              <a:pPr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F07326F3-4732-B74B-9C70-D0992466E49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609651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1219304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828957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2438609" algn="l" defTabSz="1219304" rtl="0" eaLnBrk="1" latinLnBrk="0" hangingPunct="1">
      <a:defRPr sz="16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79375FBF-55F8-EA40-A7EA-1FE0290C4C9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-27970"/>
            <a:ext cx="12196762" cy="6894309"/>
          </a:xfrm>
          <a:prstGeom prst="rect">
            <a:avLst/>
          </a:prstGeom>
        </p:spPr>
      </p:pic>
      <p:sp>
        <p:nvSpPr>
          <p:cNvPr id="21" name="TextBox 3">
            <a:extLst>
              <a:ext uri="{FF2B5EF4-FFF2-40B4-BE49-F238E27FC236}">
                <a16:creationId xmlns:a16="http://schemas.microsoft.com/office/drawing/2014/main" id="{400071E0-813A-4C9E-81CF-5584FF73E301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F20943B3-7161-4252-BCE5-2664C0B3C6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2601" y="1414463"/>
            <a:ext cx="5118100" cy="1354137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120000"/>
              </a:lnSpc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 altLang="zh-CN" dirty="0" smtClean="0"/>
              <a:t>TEXT</a:t>
            </a:r>
            <a:endParaRPr lang="zh-CN" altLang="en-US" dirty="0"/>
          </a:p>
        </p:txBody>
      </p:sp>
      <p:sp>
        <p:nvSpPr>
          <p:cNvPr id="23" name="副标题 2">
            <a:extLst>
              <a:ext uri="{FF2B5EF4-FFF2-40B4-BE49-F238E27FC236}">
                <a16:creationId xmlns:a16="http://schemas.microsoft.com/office/drawing/2014/main" id="{C0B9BDD2-289B-4F7C-AC8A-7DCAAE68680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600" y="3571876"/>
            <a:ext cx="5118101" cy="165576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 dirty="0" smtClean="0"/>
              <a:t>TEXT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65922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AEA1A39-4449-E147-955E-23CBF455C6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duotone>
              <a:schemeClr val="accent1">
                <a:shade val="45000"/>
                <a:satMod val="135000"/>
              </a:schemeClr>
              <a:prstClr val="white"/>
            </a:duotone>
            <a:alphaModFix amt="9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821382"/>
            <a:ext cx="12196763" cy="203661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2281ACAB-5B76-F644-A180-9E8E7059D36B}"/>
              </a:ext>
            </a:extLst>
          </p:cNvPr>
          <p:cNvSpPr/>
          <p:nvPr userDrawn="1"/>
        </p:nvSpPr>
        <p:spPr>
          <a:xfrm rot="10800000">
            <a:off x="0" y="-2"/>
            <a:ext cx="12196762" cy="6857999"/>
          </a:xfrm>
          <a:prstGeom prst="rect">
            <a:avLst/>
          </a:prstGeom>
          <a:gradFill>
            <a:gsLst>
              <a:gs pos="22000">
                <a:srgbClr val="FFFFFF">
                  <a:alpha val="99235"/>
                </a:srgbClr>
              </a:gs>
              <a:gs pos="0">
                <a:schemeClr val="bg1">
                  <a:lumMod val="0"/>
                  <a:lumOff val="100000"/>
                  <a:alpha val="4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32351F-0F5B-4F45-9771-8F278912819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421A985D-3125-6548-A336-A599FE2EA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800598" cy="114565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265112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542925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808037" indent="0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F542CB-CBAE-B342-A99F-9FC17E415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5" y="604988"/>
            <a:ext cx="9047467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1570F7-B0F7-87F0-4A6E-1C3CCBFDDC4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4871" y="6439216"/>
            <a:ext cx="1375856" cy="2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67999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440" userDrawn="1">
          <p15:clr>
            <a:srgbClr val="FBAE40"/>
          </p15:clr>
        </p15:guide>
        <p15:guide id="2" pos="7243" userDrawn="1">
          <p15:clr>
            <a:srgbClr val="FBAE40"/>
          </p15:clr>
        </p15:guide>
        <p15:guide id="3" orient="horz" pos="391" userDrawn="1">
          <p15:clr>
            <a:srgbClr val="FBAE40"/>
          </p15:clr>
        </p15:guide>
        <p15:guide id="4" orient="horz" pos="913" userDrawn="1">
          <p15:clr>
            <a:srgbClr val="FBAE40"/>
          </p15:clr>
        </p15:guide>
        <p15:guide id="5" orient="horz" pos="3997" userDrawn="1">
          <p15:clr>
            <a:srgbClr val="FBAE40"/>
          </p15:clr>
        </p15:guide>
        <p15:guide id="6" orient="horz" pos="1638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>
          <a:xfrm>
            <a:off x="-5107" y="0"/>
            <a:ext cx="1220187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6132351F-0F5B-4F45-9771-8F27891281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3" name="内容占位符 11">
            <a:extLst>
              <a:ext uri="{FF2B5EF4-FFF2-40B4-BE49-F238E27FC236}">
                <a16:creationId xmlns:a16="http://schemas.microsoft.com/office/drawing/2014/main" id="{421A985D-3125-6548-A336-A599FE2EAD5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800598" cy="4792304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1pPr>
            <a:lvl2pPr marL="265112"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2pPr>
            <a:lvl3pPr marL="542925"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3pPr>
            <a:lvl4pPr marL="808037" indent="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BF542CB-CBAE-B342-A99F-9FC17E415190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5" y="604988"/>
            <a:ext cx="9047467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601570F7-B0F7-87F0-4A6E-1C3CCBFDDC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4871" y="6439216"/>
            <a:ext cx="1375856" cy="2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122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0">
          <p15:clr>
            <a:srgbClr val="FBAE40"/>
          </p15:clr>
        </p15:guide>
        <p15:guide id="2" pos="7243">
          <p15:clr>
            <a:srgbClr val="FBAE40"/>
          </p15:clr>
        </p15:guide>
        <p15:guide id="3" orient="horz" pos="391">
          <p15:clr>
            <a:srgbClr val="FBAE40"/>
          </p15:clr>
        </p15:guide>
        <p15:guide id="4" orient="horz" pos="913">
          <p15:clr>
            <a:srgbClr val="FBAE40"/>
          </p15:clr>
        </p15:guide>
        <p15:guide id="5" orient="horz" pos="392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G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8AEF109-E82F-459A-B438-DA3C16201EA7}"/>
              </a:ext>
            </a:extLst>
          </p:cNvPr>
          <p:cNvSpPr/>
          <p:nvPr userDrawn="1"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5C433D-B595-4D2D-827D-14B7E626F7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45133" y="182881"/>
            <a:ext cx="2152227" cy="660772"/>
          </a:xfrm>
          <a:prstGeom prst="rect">
            <a:avLst/>
          </a:prstGeom>
        </p:spPr>
      </p:pic>
      <p:sp>
        <p:nvSpPr>
          <p:cNvPr id="12" name="内容占位符 11">
            <a:extLst>
              <a:ext uri="{FF2B5EF4-FFF2-40B4-BE49-F238E27FC236}">
                <a16:creationId xmlns:a16="http://schemas.microsoft.com/office/drawing/2014/main" id="{FC0BA1D8-D6E2-42CD-BA3F-ED7BAA08E891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97665" y="1463646"/>
            <a:ext cx="10801430" cy="4760402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10000"/>
              </a:lnSpc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1pPr>
            <a:lvl2pPr marL="542925" indent="-277813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2pPr>
            <a:lvl3pPr marL="808038" indent="-265113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3pPr>
            <a:lvl4pPr marL="1073150" indent="-265113">
              <a:lnSpc>
                <a:spcPct val="11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85B7AFF-5434-490E-B8BB-0714210727F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97666" y="611022"/>
            <a:ext cx="9047467" cy="5400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2800" b="1" baseline="0">
                <a:solidFill>
                  <a:schemeClr val="tx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A311E74-1417-761D-2E76-67C8218B46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4871" y="6439216"/>
            <a:ext cx="1375856" cy="224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0242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0" userDrawn="1">
          <p15:clr>
            <a:srgbClr val="FBAE40"/>
          </p15:clr>
        </p15:guide>
        <p15:guide id="2" pos="7243" userDrawn="1">
          <p15:clr>
            <a:srgbClr val="FBAE40"/>
          </p15:clr>
        </p15:guide>
        <p15:guide id="3" orient="horz" pos="913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1761CD61-ED57-8B45-9798-ACD6C146CA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6768" cy="68580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373DA87-BC25-5741-B3F9-5408E22A96DF}"/>
              </a:ext>
            </a:extLst>
          </p:cNvPr>
          <p:cNvSpPr/>
          <p:nvPr userDrawn="1"/>
        </p:nvSpPr>
        <p:spPr>
          <a:xfrm rot="5400000">
            <a:off x="494579" y="-494580"/>
            <a:ext cx="6874679" cy="7863840"/>
          </a:xfrm>
          <a:prstGeom prst="rect">
            <a:avLst/>
          </a:prstGeom>
          <a:gradFill>
            <a:gsLst>
              <a:gs pos="55000">
                <a:srgbClr val="FFFFFF">
                  <a:alpha val="70000"/>
                </a:srgbClr>
              </a:gs>
              <a:gs pos="0">
                <a:schemeClr val="bg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内容占位符 11">
            <a:extLst>
              <a:ext uri="{FF2B5EF4-FFF2-40B4-BE49-F238E27FC236}">
                <a16:creationId xmlns:a16="http://schemas.microsoft.com/office/drawing/2014/main" id="{151DC1BE-83F7-4C31-B2AF-99957861D71B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21352" y="2727882"/>
            <a:ext cx="9881886" cy="3257365"/>
          </a:xfrm>
          <a:prstGeom prst="rect">
            <a:avLst/>
          </a:prstGeom>
        </p:spPr>
        <p:txBody>
          <a:bodyPr/>
          <a:lstStyle>
            <a:lvl1pPr marL="265113" indent="-265113">
              <a:lnSpc>
                <a:spcPct val="130000"/>
              </a:lnSpc>
              <a:buFont typeface="Arial" panose="020B0604020202020204" pitchFamily="34" charset="0"/>
              <a:buChar char="•"/>
              <a:defRPr sz="2000">
                <a:solidFill>
                  <a:srgbClr val="152C10"/>
                </a:solidFill>
                <a:latin typeface="+mj-lt"/>
              </a:defRPr>
            </a:lvl1pPr>
            <a:lvl2pPr marL="542925" indent="-2778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800">
                <a:solidFill>
                  <a:srgbClr val="152C10"/>
                </a:solidFill>
                <a:latin typeface="+mj-lt"/>
              </a:defRPr>
            </a:lvl2pPr>
            <a:lvl3pPr marL="808038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>
                <a:solidFill>
                  <a:srgbClr val="152C10"/>
                </a:solidFill>
                <a:latin typeface="+mj-lt"/>
              </a:defRPr>
            </a:lvl3pPr>
            <a:lvl4pPr marL="1073150" indent="-265113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400">
                <a:solidFill>
                  <a:srgbClr val="152C10"/>
                </a:solidFill>
                <a:latin typeface="+mj-lt"/>
              </a:defRPr>
            </a:lvl4pPr>
            <a:lvl5pPr marL="2000250" indent="-17145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97481AF-67D1-45C5-8C30-6B2BD5E61A0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30968" y="-381000"/>
            <a:ext cx="3180672" cy="1792224"/>
          </a:xfrm>
          <a:prstGeom prst="rect">
            <a:avLst/>
          </a:prstGeom>
        </p:spPr>
      </p:pic>
      <p:sp>
        <p:nvSpPr>
          <p:cNvPr id="18" name="TextBox 3">
            <a:extLst>
              <a:ext uri="{FF2B5EF4-FFF2-40B4-BE49-F238E27FC236}">
                <a16:creationId xmlns:a16="http://schemas.microsoft.com/office/drawing/2014/main" id="{43296190-FE15-4194-B369-BFE5E5552A94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Box 2">
            <a:extLst>
              <a:ext uri="{FF2B5EF4-FFF2-40B4-BE49-F238E27FC236}">
                <a16:creationId xmlns:a16="http://schemas.microsoft.com/office/drawing/2014/main" id="{BBBC88C2-6583-4D85-8644-1A85EF55279F}"/>
              </a:ext>
            </a:extLst>
          </p:cNvPr>
          <p:cNvSpPr txBox="1"/>
          <p:nvPr userDrawn="1"/>
        </p:nvSpPr>
        <p:spPr>
          <a:xfrm>
            <a:off x="10016332" y="6315190"/>
            <a:ext cx="186671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STATS ChipPAC Confidential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A3BCA29-70DE-48E0-82B4-215C42C880E3}"/>
              </a:ext>
            </a:extLst>
          </p:cNvPr>
          <p:cNvSpPr txBox="1"/>
          <p:nvPr userDrawn="1"/>
        </p:nvSpPr>
        <p:spPr>
          <a:xfrm>
            <a:off x="9775744" y="6363152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946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6793E07D-6FE3-4D48-BFD5-B42EFC93CD27}"/>
              </a:ext>
            </a:extLst>
          </p:cNvPr>
          <p:cNvSpPr/>
          <p:nvPr userDrawn="1"/>
        </p:nvSpPr>
        <p:spPr>
          <a:xfrm>
            <a:off x="0" y="1915969"/>
            <a:ext cx="12196763" cy="4942031"/>
          </a:xfrm>
          <a:prstGeom prst="rect">
            <a:avLst/>
          </a:prstGeom>
          <a:gradFill>
            <a:gsLst>
              <a:gs pos="100000">
                <a:schemeClr val="tx1">
                  <a:lumMod val="0"/>
                </a:schemeClr>
              </a:gs>
              <a:gs pos="26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842EB43F-CE83-B342-B545-BCD11FD55BF6}"/>
              </a:ext>
            </a:extLst>
          </p:cNvPr>
          <p:cNvSpPr txBox="1"/>
          <p:nvPr userDrawn="1"/>
        </p:nvSpPr>
        <p:spPr>
          <a:xfrm>
            <a:off x="11251505" y="6363152"/>
            <a:ext cx="499729" cy="184666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r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120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r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2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9A3B1516-D590-994D-AA0B-A8328E07466F}"/>
              </a:ext>
            </a:extLst>
          </p:cNvPr>
          <p:cNvSpPr/>
          <p:nvPr userDrawn="1"/>
        </p:nvSpPr>
        <p:spPr>
          <a:xfrm>
            <a:off x="0" y="0"/>
            <a:ext cx="3083170" cy="685800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平行四边形 9">
            <a:extLst>
              <a:ext uri="{FF2B5EF4-FFF2-40B4-BE49-F238E27FC236}">
                <a16:creationId xmlns:a16="http://schemas.microsoft.com/office/drawing/2014/main" id="{82312C41-B052-2B4B-B15D-A9EC4DB87ABE}"/>
              </a:ext>
            </a:extLst>
          </p:cNvPr>
          <p:cNvSpPr/>
          <p:nvPr userDrawn="1"/>
        </p:nvSpPr>
        <p:spPr>
          <a:xfrm>
            <a:off x="1921668" y="3774831"/>
            <a:ext cx="1386109" cy="3083170"/>
          </a:xfrm>
          <a:prstGeom prst="parallelogram">
            <a:avLst/>
          </a:prstGeom>
          <a:gradFill>
            <a:gsLst>
              <a:gs pos="0">
                <a:srgbClr val="002060"/>
              </a:gs>
              <a:gs pos="100000">
                <a:schemeClr val="accent1">
                  <a:alpha val="0"/>
                  <a:lumMod val="44898"/>
                </a:schemeClr>
              </a:gs>
            </a:gsLst>
            <a:lin ang="189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D4EE2194-0145-7545-97D3-C137944502C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130871" y="4475069"/>
            <a:ext cx="9705369" cy="841346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4000" baseline="0">
                <a:solidFill>
                  <a:schemeClr val="bg1"/>
                </a:solidFill>
                <a:latin typeface="+mj-lt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007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AA9B1FE-4507-3E4F-9F4C-FE673F12A0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4"/>
          <a:stretch/>
        </p:blipFill>
        <p:spPr>
          <a:xfrm>
            <a:off x="-1" y="-19631"/>
            <a:ext cx="12196764" cy="6877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060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0" r:id="rId1"/>
    <p:sldLayoutId id="2147484596" r:id="rId2"/>
    <p:sldLayoutId id="2147484617" r:id="rId3"/>
    <p:sldLayoutId id="2147484614" r:id="rId4"/>
    <p:sldLayoutId id="2147484616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0DC6A9F-FCB7-B841-9D8C-99A7202B756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40"/>
          <a:stretch/>
        </p:blipFill>
        <p:spPr>
          <a:xfrm>
            <a:off x="0" y="0"/>
            <a:ext cx="121967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8637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602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.jpeg"/><Relationship Id="rId5" Type="http://schemas.microsoft.com/office/2007/relationships/hdphoto" Target="../media/hdphoto1.wdp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5" Type="http://schemas.openxmlformats.org/officeDocument/2006/relationships/image" Target="../media/image57.png"/><Relationship Id="rId10" Type="http://schemas.openxmlformats.org/officeDocument/2006/relationships/image" Target="../media/image62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A1819-D36C-4FC7-8FA7-B17AD4538D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1989" y="2572618"/>
            <a:ext cx="8164512" cy="1664297"/>
          </a:xfrm>
        </p:spPr>
        <p:txBody>
          <a:bodyPr/>
          <a:lstStyle/>
          <a:p>
            <a:r>
              <a:rPr lang="en-US" altLang="ko-KR" b="1" spc="-200" dirty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/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Defect/E-Test </a:t>
            </a:r>
            <a:r>
              <a:rPr lang="en-US" altLang="ko-KR" b="1" spc="-200" dirty="0" smtClean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altLang="ko-KR" b="1" spc="-200" dirty="0" smtClean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ko-KR" altLang="en-US" b="1" spc="-200" dirty="0" smtClean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자동 </a:t>
            </a:r>
            <a:r>
              <a:rPr lang="ko-KR" altLang="en-US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Arial" panose="020B0604020202020204" pitchFamily="34" charset="0"/>
                <a:cs typeface="Arial" panose="020B0604020202020204" pitchFamily="34" charset="0"/>
              </a:rPr>
              <a:t>분석 시스템 구축 제안</a:t>
            </a:r>
            <a:endParaRPr lang="en-US" sz="28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13F40652-8105-D165-6E4A-691EAD3D750D}"/>
              </a:ext>
            </a:extLst>
          </p:cNvPr>
          <p:cNvSpPr txBox="1">
            <a:spLocks/>
          </p:cNvSpPr>
          <p:nvPr/>
        </p:nvSpPr>
        <p:spPr>
          <a:xfrm>
            <a:off x="661989" y="4236915"/>
            <a:ext cx="2609850" cy="900188"/>
          </a:xfrm>
          <a:prstGeom prst="rect">
            <a:avLst/>
          </a:prstGeom>
        </p:spPr>
        <p:txBody>
          <a:bodyPr anchor="t"/>
          <a:lstStyle>
            <a:lvl1pPr algn="l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1600" b="1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2026.07.29</a:t>
            </a:r>
          </a:p>
          <a:p>
            <a:r>
              <a:rPr lang="en-US" altLang="ko-KR" sz="1600" b="1" dirty="0" smtClean="0"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MIRACOM</a:t>
            </a:r>
            <a:endParaRPr lang="en-US" altLang="ko-KR" sz="1600" b="1" dirty="0"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" name="Text Box 9"/>
          <p:cNvSpPr txBox="1">
            <a:spLocks noChangeArrowheads="1"/>
          </p:cNvSpPr>
          <p:nvPr/>
        </p:nvSpPr>
        <p:spPr bwMode="auto">
          <a:xfrm>
            <a:off x="1903517" y="6037898"/>
            <a:ext cx="326708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spAutoFit/>
          </a:bodyPr>
          <a:lstStyle/>
          <a:p>
            <a:pPr defTabSz="957474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DS 산스  Regular" panose="020B0600000101010101" pitchFamily="50" charset="-127"/>
                <a:ea typeface="SDS 산스  Regular" panose="020B0600000101010101" pitchFamily="50" charset="-127"/>
                <a:cs typeface="Segoe UI" panose="020B0502040204020203" pitchFamily="34" charset="0"/>
              </a:rPr>
              <a:t>Copyright © </a:t>
            </a:r>
            <a:r>
              <a:rPr kumimoji="1" lang="en-US" altLang="ko-KR" sz="100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ea typeface="SDS 산스  Regular" panose="020B0600000101010101" pitchFamily="50" charset="-127"/>
                <a:cs typeface="Segoe UI" panose="020B0502040204020203" pitchFamily="34" charset="0"/>
              </a:rPr>
              <a:t>Miracom,Inc</a:t>
            </a:r>
            <a:r>
              <a:rPr kumimoji="1" lang="en-US" altLang="ko-KR" sz="100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SDS 산스  Regular" panose="020B0600000101010101" pitchFamily="50" charset="-127"/>
                <a:ea typeface="SDS 산스  Regular" panose="020B0600000101010101" pitchFamily="50" charset="-127"/>
                <a:cs typeface="Segoe UI" panose="020B0502040204020203" pitchFamily="34" charset="0"/>
              </a:rPr>
              <a:t>. All rights reserved.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4A10B646-CCDA-840A-D122-87F588FC95A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2729" y="6035694"/>
            <a:ext cx="958241" cy="156092"/>
          </a:xfrm>
          <a:prstGeom prst="rect">
            <a:avLst/>
          </a:prstGeom>
        </p:spPr>
      </p:pic>
      <p:pic>
        <p:nvPicPr>
          <p:cNvPr id="11" name="图片 9">
            <a:extLst>
              <a:ext uri="{FF2B5EF4-FFF2-40B4-BE49-F238E27FC236}">
                <a16:creationId xmlns:a16="http://schemas.microsoft.com/office/drawing/2014/main" id="{6132351F-0F5B-4F45-9771-8F278912819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1988" y="1110576"/>
            <a:ext cx="3059280" cy="754976"/>
          </a:xfrm>
          <a:prstGeom prst="rect">
            <a:avLst/>
          </a:prstGeom>
        </p:spPr>
      </p:pic>
      <p:cxnSp>
        <p:nvCxnSpPr>
          <p:cNvPr id="13" name="직선 연결선 12"/>
          <p:cNvCxnSpPr/>
          <p:nvPr/>
        </p:nvCxnSpPr>
        <p:spPr>
          <a:xfrm>
            <a:off x="661988" y="1995279"/>
            <a:ext cx="6628447" cy="0"/>
          </a:xfrm>
          <a:prstGeom prst="line">
            <a:avLst/>
          </a:prstGeom>
          <a:ln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679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부제목 20"/>
          <p:cNvSpPr>
            <a:spLocks noGrp="1"/>
          </p:cNvSpPr>
          <p:nvPr>
            <p:ph type="subTitle" idx="1"/>
          </p:nvPr>
        </p:nvSpPr>
        <p:spPr>
          <a:xfrm>
            <a:off x="697665" y="1096281"/>
            <a:ext cx="9047467" cy="629393"/>
          </a:xfrm>
        </p:spPr>
        <p:txBody>
          <a:bodyPr>
            <a:normAutofit/>
          </a:bodyPr>
          <a:lstStyle/>
          <a:p>
            <a:r>
              <a:rPr lang="en-US" altLang="ko-KR" b="1" dirty="0" smtClean="0">
                <a:solidFill>
                  <a:schemeClr val="tx2"/>
                </a:solidFill>
              </a:rPr>
              <a:t>CONTENTS</a:t>
            </a:r>
            <a:endParaRPr lang="en-US" altLang="ko-KR" b="1" dirty="0">
              <a:solidFill>
                <a:schemeClr val="tx2"/>
              </a:solidFill>
            </a:endParaRPr>
          </a:p>
        </p:txBody>
      </p: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E01AE3C7-A293-8627-6080-CE1D2FCB1CE4}"/>
              </a:ext>
            </a:extLst>
          </p:cNvPr>
          <p:cNvCxnSpPr/>
          <p:nvPr/>
        </p:nvCxnSpPr>
        <p:spPr>
          <a:xfrm>
            <a:off x="704233" y="1711255"/>
            <a:ext cx="432000" cy="0"/>
          </a:xfrm>
          <a:prstGeom prst="line">
            <a:avLst/>
          </a:prstGeom>
          <a:ln w="254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/>
          <p:cNvSpPr/>
          <p:nvPr/>
        </p:nvSpPr>
        <p:spPr>
          <a:xfrm>
            <a:off x="599662" y="1841275"/>
            <a:ext cx="3840218" cy="292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3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2026</a:t>
            </a:r>
            <a:r>
              <a:rPr lang="ko-KR" altLang="en-US" sz="13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년</a:t>
            </a:r>
            <a:r>
              <a:rPr lang="ko-KR" altLang="en-US" sz="13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Light" panose="02000403000000020004" pitchFamily="50" charset="-127"/>
              </a:rPr>
              <a:t> </a:t>
            </a:r>
            <a:r>
              <a:rPr lang="en-US" altLang="ko-KR" sz="13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 Light" panose="02000403000000020004" pitchFamily="50" charset="-127"/>
              </a:rPr>
              <a:t>| </a:t>
            </a:r>
            <a:r>
              <a:rPr lang="en-US" altLang="ko-KR" sz="13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Defect/E-Test  </a:t>
            </a:r>
            <a:r>
              <a:rPr lang="ko-KR" altLang="en-US" sz="1300" spc="-5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자동 </a:t>
            </a:r>
            <a:r>
              <a:rPr lang="ko-KR" altLang="en-US" sz="1300" spc="-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Arial" panose="020B0604020202020204" pitchFamily="34" charset="0"/>
              </a:rPr>
              <a:t>분석 시스템 구축 제안</a:t>
            </a:r>
            <a:endParaRPr lang="ko-KR" altLang="en-US" sz="1300" spc="-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747606" y="2897584"/>
            <a:ext cx="10298311" cy="2718081"/>
            <a:chOff x="747606" y="3104964"/>
            <a:chExt cx="10298311" cy="2718081"/>
          </a:xfrm>
        </p:grpSpPr>
        <p:grpSp>
          <p:nvGrpSpPr>
            <p:cNvPr id="8" name="그룹 7"/>
            <p:cNvGrpSpPr/>
            <p:nvPr/>
          </p:nvGrpSpPr>
          <p:grpSpPr>
            <a:xfrm>
              <a:off x="6350358" y="3104964"/>
              <a:ext cx="2139614" cy="2212158"/>
              <a:chOff x="6519135" y="3104964"/>
              <a:chExt cx="2139614" cy="2212158"/>
            </a:xfrm>
          </p:grpSpPr>
          <p:sp>
            <p:nvSpPr>
              <p:cNvPr id="16" name="Text Placeholder 12">
                <a:extLst>
                  <a:ext uri="{FF2B5EF4-FFF2-40B4-BE49-F238E27FC236}">
                    <a16:creationId xmlns:a16="http://schemas.microsoft.com/office/drawing/2014/main" id="{5B85FC36-399B-9B46-6B64-D6A6CA30713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135" y="4199893"/>
                <a:ext cx="2139614" cy="1117229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indent="0" algn="ctr" defTabSz="45738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/>
                  <a:buNone/>
                  <a:defRPr sz="13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cs typeface="KoPubWorld돋움체 Medium" panose="00000600000000000000" pitchFamily="2" charset="-127"/>
                  </a:defRPr>
                </a:lvl1pPr>
                <a:lvl2pPr marL="743247" indent="-285864" defTabSz="457383">
                  <a:spcBef>
                    <a:spcPct val="20000"/>
                  </a:spcBef>
                  <a:buFont typeface="Arial"/>
                  <a:buChar char="–"/>
                  <a:defRPr sz="2801"/>
                </a:lvl2pPr>
                <a:lvl3pPr marL="1143457" indent="-228691" defTabSz="457383">
                  <a:spcBef>
                    <a:spcPct val="20000"/>
                  </a:spcBef>
                  <a:buFont typeface="Arial"/>
                  <a:buChar char="•"/>
                  <a:defRPr sz="2401"/>
                </a:lvl3pPr>
                <a:lvl4pPr marL="1600840" indent="-228691" defTabSz="457383">
                  <a:spcBef>
                    <a:spcPct val="20000"/>
                  </a:spcBef>
                  <a:buFont typeface="Arial"/>
                  <a:buChar char="–"/>
                  <a:defRPr sz="2001"/>
                </a:lvl4pPr>
                <a:lvl5pPr marL="2058223" indent="-228691" defTabSz="457383">
                  <a:spcBef>
                    <a:spcPct val="20000"/>
                  </a:spcBef>
                  <a:buFont typeface="Arial"/>
                  <a:buChar char="»"/>
                  <a:defRPr sz="2001"/>
                </a:lvl5pPr>
                <a:lvl6pPr marL="2515606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6pPr>
                <a:lvl7pPr marL="2972989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7pPr>
                <a:lvl8pPr marL="3430372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8pPr>
                <a:lvl9pPr marL="3887754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9pPr>
              </a:lstStyle>
              <a:p>
                <a:pPr marL="228600" indent="-228600" algn="l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추진 일정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(Phase 1)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인력 투입 계획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(Phase 1)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추진 일정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(Phase 2)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인력 투입 계획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(Phase 2)</a:t>
                </a:r>
                <a:endParaRPr lang="ko-KR" altLang="en-US" sz="1200" spc="-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j-ea"/>
                  <a:ea typeface="+mj-ea"/>
                  <a:cs typeface="Pretendard Light" panose="02000403000000020004" pitchFamily="50" charset="-127"/>
                </a:endParaRPr>
              </a:p>
            </p:txBody>
          </p:sp>
          <p:sp>
            <p:nvSpPr>
              <p:cNvPr id="18" name="Title 1">
                <a:extLst>
                  <a:ext uri="{FF2B5EF4-FFF2-40B4-BE49-F238E27FC236}">
                    <a16:creationId xmlns:a16="http://schemas.microsoft.com/office/drawing/2014/main" id="{77B4051C-B989-490D-1F03-7DE6EEEFE15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135" y="3738228"/>
                <a:ext cx="1828831" cy="23083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algn="ctr" defTabSz="457383" rtl="0" eaLnBrk="1" latinLnBrk="0" hangingPunct="1">
                  <a:spcBef>
                    <a:spcPct val="0"/>
                  </a:spcBef>
                  <a:buNone/>
                  <a:defRPr sz="4402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lvl="1" defTabSz="457383">
                  <a:lnSpc>
                    <a:spcPts val="1800"/>
                  </a:lnSpc>
                  <a:spcBef>
                    <a:spcPct val="0"/>
                  </a:spcBef>
                </a:pPr>
                <a:r>
                  <a:rPr lang="ko-KR" altLang="en-US" sz="1600" b="1" spc="-200" dirty="0">
                    <a:latin typeface="+mj-ea"/>
                    <a:cs typeface="Pretendard SemiBold" panose="02000703000000020004" pitchFamily="50" charset="-127"/>
                  </a:rPr>
                  <a:t>프로젝트 수행 방안</a:t>
                </a:r>
                <a:endParaRPr lang="en-US" altLang="ko-KR" sz="1600" b="1" spc="-200" dirty="0">
                  <a:latin typeface="+mj-ea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19" name="Title 1">
                <a:extLst>
                  <a:ext uri="{FF2B5EF4-FFF2-40B4-BE49-F238E27FC236}">
                    <a16:creationId xmlns:a16="http://schemas.microsoft.com/office/drawing/2014/main" id="{0950C455-CA23-6E5D-173E-02DD2B25F8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519135" y="3104964"/>
                <a:ext cx="1828831" cy="492443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defTabSz="457383">
                  <a:spcBef>
                    <a:spcPct val="0"/>
                  </a:spcBef>
                  <a:buNone/>
                  <a:defRPr sz="3200" b="1" spc="-200">
                    <a:gradFill>
                      <a:gsLst>
                        <a:gs pos="0">
                          <a:srgbClr val="006CFF"/>
                        </a:gs>
                        <a:gs pos="100000">
                          <a:srgbClr val="0000A0"/>
                        </a:gs>
                      </a:gsLst>
                      <a:lin ang="5400000" scaled="1"/>
                    </a:gra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ko-KR" dirty="0"/>
                  <a:t>3</a:t>
                </a:r>
                <a:endParaRPr lang="en-US" dirty="0"/>
              </a:p>
            </p:txBody>
          </p:sp>
        </p:grpSp>
        <p:grpSp>
          <p:nvGrpSpPr>
            <p:cNvPr id="9" name="그룹 8"/>
            <p:cNvGrpSpPr/>
            <p:nvPr/>
          </p:nvGrpSpPr>
          <p:grpSpPr>
            <a:xfrm>
              <a:off x="9217086" y="3104964"/>
              <a:ext cx="1828831" cy="1615071"/>
              <a:chOff x="9160650" y="3104964"/>
              <a:chExt cx="1828831" cy="1615071"/>
            </a:xfrm>
          </p:grpSpPr>
          <p:sp>
            <p:nvSpPr>
              <p:cNvPr id="20" name="Text Placeholder 12">
                <a:extLst>
                  <a:ext uri="{FF2B5EF4-FFF2-40B4-BE49-F238E27FC236}">
                    <a16:creationId xmlns:a16="http://schemas.microsoft.com/office/drawing/2014/main" id="{147A880A-8F3D-0BD1-9253-D554DB42F0E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0650" y="4199893"/>
                <a:ext cx="1828831" cy="52014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indent="0" algn="ctr" defTabSz="45738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/>
                  <a:buNone/>
                  <a:defRPr sz="13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cs typeface="KoPubWorld돋움체 Medium" panose="00000600000000000000" pitchFamily="2" charset="-127"/>
                  </a:defRPr>
                </a:lvl1pPr>
                <a:lvl2pPr marL="743247" indent="-285864" defTabSz="457383">
                  <a:spcBef>
                    <a:spcPct val="20000"/>
                  </a:spcBef>
                  <a:buFont typeface="Arial"/>
                  <a:buChar char="–"/>
                  <a:defRPr sz="2801"/>
                </a:lvl2pPr>
                <a:lvl3pPr marL="1143457" indent="-228691" defTabSz="457383">
                  <a:spcBef>
                    <a:spcPct val="20000"/>
                  </a:spcBef>
                  <a:buFont typeface="Arial"/>
                  <a:buChar char="•"/>
                  <a:defRPr sz="2401"/>
                </a:lvl3pPr>
                <a:lvl4pPr marL="1600840" indent="-228691" defTabSz="457383">
                  <a:spcBef>
                    <a:spcPct val="20000"/>
                  </a:spcBef>
                  <a:buFont typeface="Arial"/>
                  <a:buChar char="–"/>
                  <a:defRPr sz="2001"/>
                </a:lvl4pPr>
                <a:lvl5pPr marL="2058223" indent="-228691" defTabSz="457383">
                  <a:spcBef>
                    <a:spcPct val="20000"/>
                  </a:spcBef>
                  <a:buFont typeface="Arial"/>
                  <a:buChar char="»"/>
                  <a:defRPr sz="2001"/>
                </a:lvl5pPr>
                <a:lvl6pPr marL="2515606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6pPr>
                <a:lvl7pPr marL="2972989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7pPr>
                <a:lvl8pPr marL="3430372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8pPr>
                <a:lvl9pPr marL="3887754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9pPr>
              </a:lstStyle>
              <a:p>
                <a:pPr marL="228600" indent="-228600" algn="l">
                  <a:buFont typeface="+mj-lt"/>
                  <a:buAutoNum type="arabicPeriod"/>
                </a:pP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DMS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주요 기능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YMS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주요 기능</a:t>
                </a:r>
              </a:p>
            </p:txBody>
          </p:sp>
          <p:sp>
            <p:nvSpPr>
              <p:cNvPr id="22" name="Title 1">
                <a:extLst>
                  <a:ext uri="{FF2B5EF4-FFF2-40B4-BE49-F238E27FC236}">
                    <a16:creationId xmlns:a16="http://schemas.microsoft.com/office/drawing/2014/main" id="{B6C9FA06-C60E-0850-EEA9-D6EFF56F010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0650" y="3738228"/>
                <a:ext cx="1828831" cy="23083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algn="ctr" defTabSz="457383" rtl="0" eaLnBrk="1" latinLnBrk="0" hangingPunct="1">
                  <a:spcBef>
                    <a:spcPct val="0"/>
                  </a:spcBef>
                  <a:buNone/>
                  <a:defRPr sz="4402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lvl="1" defTabSz="457383">
                  <a:lnSpc>
                    <a:spcPts val="1800"/>
                  </a:lnSpc>
                  <a:spcBef>
                    <a:spcPct val="0"/>
                  </a:spcBef>
                </a:pPr>
                <a:r>
                  <a:rPr lang="ko-KR" altLang="en-US" sz="1600" b="1" spc="-200" dirty="0">
                    <a:latin typeface="+mj-ea"/>
                    <a:cs typeface="Pretendard SemiBold" panose="02000703000000020004" pitchFamily="50" charset="-127"/>
                  </a:rPr>
                  <a:t>기타</a:t>
                </a:r>
                <a:r>
                  <a:rPr lang="en-US" altLang="ko-KR" sz="1600" b="1" spc="-200" dirty="0">
                    <a:latin typeface="+mj-ea"/>
                    <a:cs typeface="Pretendard SemiBold" panose="02000703000000020004" pitchFamily="50" charset="-127"/>
                  </a:rPr>
                  <a:t>. </a:t>
                </a:r>
                <a:r>
                  <a:rPr lang="ko-KR" altLang="en-US" sz="1600" b="1" spc="-200" dirty="0">
                    <a:latin typeface="+mj-ea"/>
                    <a:cs typeface="Pretendard SemiBold" panose="02000703000000020004" pitchFamily="50" charset="-127"/>
                  </a:rPr>
                  <a:t>첨부</a:t>
                </a:r>
                <a:endParaRPr lang="en-US" altLang="ko-KR" sz="1600" b="1" spc="-200" dirty="0">
                  <a:latin typeface="+mj-ea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3" name="Title 1">
                <a:extLst>
                  <a:ext uri="{FF2B5EF4-FFF2-40B4-BE49-F238E27FC236}">
                    <a16:creationId xmlns:a16="http://schemas.microsoft.com/office/drawing/2014/main" id="{0A5F2357-1333-4F66-16D6-F2C2A532109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160650" y="3104964"/>
                <a:ext cx="1828831" cy="492443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defTabSz="457383">
                  <a:spcBef>
                    <a:spcPct val="0"/>
                  </a:spcBef>
                  <a:buNone/>
                  <a:defRPr sz="3200" b="1" spc="-200">
                    <a:gradFill>
                      <a:gsLst>
                        <a:gs pos="0">
                          <a:srgbClr val="006CFF"/>
                        </a:gs>
                        <a:gs pos="100000">
                          <a:srgbClr val="0000A0"/>
                        </a:gs>
                      </a:gsLst>
                      <a:lin ang="5400000" scaled="1"/>
                    </a:gra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ko-KR" dirty="0"/>
                  <a:t>4</a:t>
                </a:r>
                <a:endParaRPr lang="en-US" dirty="0"/>
              </a:p>
            </p:txBody>
          </p:sp>
        </p:grpSp>
        <p:grpSp>
          <p:nvGrpSpPr>
            <p:cNvPr id="10" name="그룹 9"/>
            <p:cNvGrpSpPr/>
            <p:nvPr/>
          </p:nvGrpSpPr>
          <p:grpSpPr>
            <a:xfrm>
              <a:off x="3557570" y="3104964"/>
              <a:ext cx="2594152" cy="2510701"/>
              <a:chOff x="3520891" y="3104964"/>
              <a:chExt cx="2594152" cy="2510701"/>
            </a:xfrm>
          </p:grpSpPr>
          <p:sp>
            <p:nvSpPr>
              <p:cNvPr id="24" name="Text Placeholder 12">
                <a:extLst>
                  <a:ext uri="{FF2B5EF4-FFF2-40B4-BE49-F238E27FC236}">
                    <a16:creationId xmlns:a16="http://schemas.microsoft.com/office/drawing/2014/main" id="{B093BCEF-A6B0-6AE6-2D75-197E4AA010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0891" y="4199893"/>
                <a:ext cx="2594152" cy="141577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defPPr>
                  <a:defRPr lang="en-US"/>
                </a:defPPr>
                <a:lvl1pPr indent="0" algn="ctr" defTabSz="45738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/>
                  <a:buNone/>
                  <a:defRPr sz="13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ea"/>
                    <a:cs typeface="KoPubWorld돋움체 Medium" panose="00000600000000000000" pitchFamily="2" charset="-127"/>
                  </a:defRPr>
                </a:lvl1pPr>
                <a:lvl2pPr marL="743247" indent="-285864" defTabSz="457383">
                  <a:spcBef>
                    <a:spcPct val="20000"/>
                  </a:spcBef>
                  <a:buFont typeface="Arial"/>
                  <a:buChar char="–"/>
                  <a:defRPr sz="2801"/>
                </a:lvl2pPr>
                <a:lvl3pPr marL="1143457" indent="-228691" defTabSz="457383">
                  <a:spcBef>
                    <a:spcPct val="20000"/>
                  </a:spcBef>
                  <a:buFont typeface="Arial"/>
                  <a:buChar char="•"/>
                  <a:defRPr sz="2401"/>
                </a:lvl3pPr>
                <a:lvl4pPr marL="1600840" indent="-228691" defTabSz="457383">
                  <a:spcBef>
                    <a:spcPct val="20000"/>
                  </a:spcBef>
                  <a:buFont typeface="Arial"/>
                  <a:buChar char="–"/>
                  <a:defRPr sz="2001"/>
                </a:lvl4pPr>
                <a:lvl5pPr marL="2058223" indent="-228691" defTabSz="457383">
                  <a:spcBef>
                    <a:spcPct val="20000"/>
                  </a:spcBef>
                  <a:buFont typeface="Arial"/>
                  <a:buChar char="»"/>
                  <a:defRPr sz="2001"/>
                </a:lvl5pPr>
                <a:lvl6pPr marL="2515606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6pPr>
                <a:lvl7pPr marL="2972989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7pPr>
                <a:lvl8pPr marL="3430372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8pPr>
                <a:lvl9pPr marL="3887754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9pPr>
              </a:lstStyle>
              <a:p>
                <a:pPr marL="228600" indent="-228600" algn="l">
                  <a:buFont typeface="+mj-lt"/>
                  <a:buAutoNum type="arabicPeriod"/>
                </a:pP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GDS/CAD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데이터 관리 기능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Die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레이아웃 관리 기능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Die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단위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Correlation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분석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설비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Monitoring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기능</a:t>
                </a:r>
              </a:p>
              <a:p>
                <a:pPr marL="228600" indent="-228600" algn="l">
                  <a:buFont typeface="+mj-lt"/>
                  <a:buAutoNum type="arabicPeriod"/>
                </a:pP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Die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의 특정 영역 </a:t>
                </a:r>
                <a:r>
                  <a:rPr lang="en-US" altLang="ko-KR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Monitoring </a:t>
                </a: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기능</a:t>
                </a:r>
              </a:p>
            </p:txBody>
          </p:sp>
          <p:sp>
            <p:nvSpPr>
              <p:cNvPr id="25" name="Title 1">
                <a:extLst>
                  <a:ext uri="{FF2B5EF4-FFF2-40B4-BE49-F238E27FC236}">
                    <a16:creationId xmlns:a16="http://schemas.microsoft.com/office/drawing/2014/main" id="{311C700B-8A3A-EDD6-5BEB-24390C47E93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0891" y="3738228"/>
                <a:ext cx="1828831" cy="230832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algn="ctr" defTabSz="457383" rtl="0" eaLnBrk="1" latinLnBrk="0" hangingPunct="1">
                  <a:spcBef>
                    <a:spcPct val="0"/>
                  </a:spcBef>
                  <a:buNone/>
                  <a:defRPr sz="4402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marL="0" lvl="1" defTabSz="457383">
                  <a:lnSpc>
                    <a:spcPts val="1800"/>
                  </a:lnSpc>
                  <a:spcBef>
                    <a:spcPct val="0"/>
                  </a:spcBef>
                </a:pPr>
                <a:r>
                  <a:rPr lang="ko-KR" altLang="en-US" sz="1600" b="1" spc="-200" dirty="0">
                    <a:latin typeface="+mj-ea"/>
                    <a:cs typeface="Pretendard SemiBold" panose="02000703000000020004" pitchFamily="50" charset="-127"/>
                  </a:rPr>
                  <a:t>시스템 구축 방안</a:t>
                </a:r>
                <a:endParaRPr lang="en-US" altLang="ko-KR" sz="1600" b="1" spc="-200" dirty="0">
                  <a:latin typeface="+mj-ea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6" name="Title 1">
                <a:extLst>
                  <a:ext uri="{FF2B5EF4-FFF2-40B4-BE49-F238E27FC236}">
                    <a16:creationId xmlns:a16="http://schemas.microsoft.com/office/drawing/2014/main" id="{86971DF2-B6E6-243D-F74F-C321CF32B17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520891" y="3104964"/>
                <a:ext cx="1828831" cy="492443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defTabSz="457383">
                  <a:spcBef>
                    <a:spcPct val="0"/>
                  </a:spcBef>
                  <a:buNone/>
                  <a:defRPr sz="3200" b="1" spc="-200">
                    <a:gradFill>
                      <a:gsLst>
                        <a:gs pos="0">
                          <a:srgbClr val="006CFF"/>
                        </a:gs>
                        <a:gs pos="100000">
                          <a:srgbClr val="0000A0"/>
                        </a:gs>
                      </a:gsLst>
                      <a:lin ang="5400000" scaled="1"/>
                    </a:gradFill>
                    <a:latin typeface="Arial" panose="020B0604020202020204" pitchFamily="34" charset="0"/>
                    <a:ea typeface="+mj-ea"/>
                    <a:cs typeface="Arial" panose="020B0604020202020204" pitchFamily="34" charset="0"/>
                  </a:defRPr>
                </a:lvl1pPr>
              </a:lstStyle>
              <a:p>
                <a:r>
                  <a:rPr lang="en-US" altLang="ko-KR" dirty="0"/>
                  <a:t>2</a:t>
                </a:r>
                <a:endParaRPr lang="en-US" dirty="0"/>
              </a:p>
            </p:txBody>
          </p:sp>
        </p:grpSp>
        <p:grpSp>
          <p:nvGrpSpPr>
            <p:cNvPr id="11" name="그룹 10"/>
            <p:cNvGrpSpPr/>
            <p:nvPr/>
          </p:nvGrpSpPr>
          <p:grpSpPr>
            <a:xfrm>
              <a:off x="747606" y="3104964"/>
              <a:ext cx="2765756" cy="1913615"/>
              <a:chOff x="695391" y="3104964"/>
              <a:chExt cx="2765756" cy="1913615"/>
            </a:xfrm>
          </p:grpSpPr>
          <p:sp>
            <p:nvSpPr>
              <p:cNvPr id="27" name="Text Placeholder 12">
                <a:extLst>
                  <a:ext uri="{FF2B5EF4-FFF2-40B4-BE49-F238E27FC236}">
                    <a16:creationId xmlns:a16="http://schemas.microsoft.com/office/drawing/2014/main" id="{74947BF1-4FC2-AC64-C83E-829B4B6693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5391" y="4199893"/>
                <a:ext cx="1828831" cy="818686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defPPr>
                  <a:defRPr lang="en-US"/>
                </a:defPPr>
                <a:lvl1pPr marL="201240" indent="-201240" defTabSz="457383">
                  <a:lnSpc>
                    <a:spcPct val="120000"/>
                  </a:lnSpc>
                  <a:spcBef>
                    <a:spcPts val="0"/>
                  </a:spcBef>
                  <a:spcAft>
                    <a:spcPts val="600"/>
                  </a:spcAft>
                  <a:buFont typeface="Arial"/>
                  <a:buChar char="•"/>
                  <a:defRPr sz="13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Pretendard" panose="02000503000000020004" pitchFamily="2" charset="-127"/>
                    <a:ea typeface="Pretendard" panose="02000503000000020004" pitchFamily="2" charset="-127"/>
                    <a:cs typeface="Lato" charset="0"/>
                  </a:defRPr>
                </a:lvl1pPr>
                <a:lvl2pPr marL="743247" indent="-285864" defTabSz="457383">
                  <a:spcBef>
                    <a:spcPct val="20000"/>
                  </a:spcBef>
                  <a:buFont typeface="Arial"/>
                  <a:buChar char="–"/>
                  <a:defRPr sz="2801"/>
                </a:lvl2pPr>
                <a:lvl3pPr marL="1143457" indent="-228691" defTabSz="457383">
                  <a:spcBef>
                    <a:spcPct val="20000"/>
                  </a:spcBef>
                  <a:buFont typeface="Arial"/>
                  <a:buChar char="•"/>
                  <a:defRPr sz="2401"/>
                </a:lvl3pPr>
                <a:lvl4pPr marL="1600840" indent="-228691" defTabSz="457383">
                  <a:spcBef>
                    <a:spcPct val="20000"/>
                  </a:spcBef>
                  <a:buFont typeface="Arial"/>
                  <a:buChar char="–"/>
                  <a:defRPr sz="2001"/>
                </a:lvl4pPr>
                <a:lvl5pPr marL="2058223" indent="-228691" defTabSz="457383">
                  <a:spcBef>
                    <a:spcPct val="20000"/>
                  </a:spcBef>
                  <a:buFont typeface="Arial"/>
                  <a:buChar char="»"/>
                  <a:defRPr sz="2001"/>
                </a:lvl5pPr>
                <a:lvl6pPr marL="2515606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6pPr>
                <a:lvl7pPr marL="2972989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7pPr>
                <a:lvl8pPr marL="3430372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8pPr>
                <a:lvl9pPr marL="3887754" indent="-228691" defTabSz="457383">
                  <a:spcBef>
                    <a:spcPct val="20000"/>
                  </a:spcBef>
                  <a:buFont typeface="Arial"/>
                  <a:buChar char="•"/>
                  <a:defRPr sz="2001"/>
                </a:lvl9pPr>
              </a:lstStyle>
              <a:p>
                <a:pPr marL="228600" indent="-228600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제안 배경 및 목표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시스템 구축 범위</a:t>
                </a:r>
              </a:p>
              <a:p>
                <a:pPr marL="228600" indent="-228600">
                  <a:buFont typeface="+mj-lt"/>
                  <a:buAutoNum type="arabicPeriod"/>
                </a:pPr>
                <a:r>
                  <a:rPr lang="ko-KR" altLang="en-US" sz="1200" spc="-5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j-ea"/>
                    <a:ea typeface="+mj-ea"/>
                    <a:cs typeface="Pretendard Light" panose="02000403000000020004" pitchFamily="50" charset="-127"/>
                  </a:rPr>
                  <a:t>중점 추진 항목</a:t>
                </a:r>
              </a:p>
            </p:txBody>
          </p:sp>
          <p:sp>
            <p:nvSpPr>
              <p:cNvPr id="28" name="Title 1">
                <a:extLst>
                  <a:ext uri="{FF2B5EF4-FFF2-40B4-BE49-F238E27FC236}">
                    <a16:creationId xmlns:a16="http://schemas.microsoft.com/office/drawing/2014/main" id="{BF37146E-3C37-0DD9-F6CA-8538D1E8A77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5391" y="3738228"/>
                <a:ext cx="2765756" cy="230832"/>
              </a:xfrm>
              <a:prstGeom prst="rect">
                <a:avLst/>
              </a:prstGeom>
            </p:spPr>
            <p:txBody>
              <a:bodyPr wrap="square" lIns="0" tIns="0" rIns="0" bIns="0">
                <a:spAutoFit/>
              </a:bodyPr>
              <a:lstStyle>
                <a:lvl1pPr algn="ctr" defTabSz="457383" rtl="0" eaLnBrk="1" latinLnBrk="0" hangingPunct="1">
                  <a:spcBef>
                    <a:spcPct val="0"/>
                  </a:spcBef>
                  <a:buNone/>
                  <a:defRPr sz="4402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>
                  <a:lnSpc>
                    <a:spcPts val="1800"/>
                  </a:lnSpc>
                </a:pPr>
                <a:r>
                  <a:rPr lang="ko-KR" altLang="en-US" sz="1600" b="1" spc="-200" dirty="0" smtClean="0">
                    <a:latin typeface="+mj-ea"/>
                    <a:cs typeface="Pretendard SemiBold" panose="02000703000000020004" pitchFamily="50" charset="-127"/>
                  </a:rPr>
                  <a:t>제안 </a:t>
                </a:r>
                <a:r>
                  <a:rPr lang="ko-KR" altLang="en-US" sz="1600" b="1" spc="-200" dirty="0">
                    <a:latin typeface="+mj-ea"/>
                    <a:cs typeface="Pretendard SemiBold" panose="02000703000000020004" pitchFamily="50" charset="-127"/>
                  </a:rPr>
                  <a:t>개요 및 시스템 구축 </a:t>
                </a:r>
                <a:r>
                  <a:rPr lang="ko-KR" altLang="en-US" sz="1600" b="1" spc="-200" dirty="0" smtClean="0">
                    <a:latin typeface="+mj-ea"/>
                    <a:cs typeface="Pretendard SemiBold" panose="02000703000000020004" pitchFamily="50" charset="-127"/>
                  </a:rPr>
                  <a:t>전략</a:t>
                </a:r>
                <a:endParaRPr lang="en-US" altLang="ko-KR" sz="1600" b="1" spc="-200" dirty="0">
                  <a:latin typeface="+mj-ea"/>
                  <a:cs typeface="Pretendard SemiBold" panose="02000703000000020004" pitchFamily="50" charset="-127"/>
                </a:endParaRPr>
              </a:p>
            </p:txBody>
          </p:sp>
          <p:sp>
            <p:nvSpPr>
              <p:cNvPr id="29" name="Title 1">
                <a:extLst>
                  <a:ext uri="{FF2B5EF4-FFF2-40B4-BE49-F238E27FC236}">
                    <a16:creationId xmlns:a16="http://schemas.microsoft.com/office/drawing/2014/main" id="{E2CC4AAB-77A6-3AC6-5B41-0700FB7A179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5391" y="3104964"/>
                <a:ext cx="1828831" cy="492443"/>
              </a:xfrm>
              <a:prstGeom prst="rect">
                <a:avLst/>
              </a:prstGeom>
            </p:spPr>
            <p:txBody>
              <a:bodyPr lIns="0" tIns="0" rIns="0" bIns="0">
                <a:spAutoFit/>
              </a:bodyPr>
              <a:lstStyle>
                <a:lvl1pPr algn="ctr" defTabSz="457383" rtl="0" eaLnBrk="1" latinLnBrk="0" hangingPunct="1">
                  <a:spcBef>
                    <a:spcPct val="0"/>
                  </a:spcBef>
                  <a:buNone/>
                  <a:defRPr sz="4402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l"/>
                <a:r>
                  <a:rPr lang="en-US" altLang="ko-KR" sz="3200" b="1" spc="-200" dirty="0">
                    <a:gradFill>
                      <a:gsLst>
                        <a:gs pos="0">
                          <a:srgbClr val="006CFF"/>
                        </a:gs>
                        <a:gs pos="100000">
                          <a:srgbClr val="0000A0"/>
                        </a:gs>
                      </a:gsLst>
                      <a:lin ang="5400000" scaled="1"/>
                    </a:gra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endParaRPr lang="en-US" sz="3200" b="1" spc="-200" dirty="0">
                  <a:gradFill>
                    <a:gsLst>
                      <a:gs pos="0">
                        <a:srgbClr val="006CFF"/>
                      </a:gs>
                      <a:gs pos="100000">
                        <a:srgbClr val="0000A0"/>
                      </a:gs>
                    </a:gsLst>
                    <a:lin ang="5400000" scaled="1"/>
                  </a:gra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30" name="직선 연결선 29">
              <a:extLst>
                <a:ext uri="{FF2B5EF4-FFF2-40B4-BE49-F238E27FC236}">
                  <a16:creationId xmlns:a16="http://schemas.microsoft.com/office/drawing/2014/main" id="{BDA0FF19-D144-E372-F5A9-B0EE15A6B0B0}"/>
                </a:ext>
              </a:extLst>
            </p:cNvPr>
            <p:cNvCxnSpPr>
              <a:cxnSpLocks/>
            </p:cNvCxnSpPr>
            <p:nvPr/>
          </p:nvCxnSpPr>
          <p:spPr>
            <a:xfrm>
              <a:off x="3255731" y="3104964"/>
              <a:ext cx="0" cy="27180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20000"/>
                </a:sysClr>
              </a:solidFill>
              <a:prstDash val="solid"/>
            </a:ln>
            <a:effectLst/>
          </p:spPr>
        </p:cxnSp>
        <p:cxnSp>
          <p:nvCxnSpPr>
            <p:cNvPr id="31" name="직선 연결선 30">
              <a:extLst>
                <a:ext uri="{FF2B5EF4-FFF2-40B4-BE49-F238E27FC236}">
                  <a16:creationId xmlns:a16="http://schemas.microsoft.com/office/drawing/2014/main" id="{FB6D562A-5FD5-04C2-786E-E15C79B6ECE4}"/>
                </a:ext>
              </a:extLst>
            </p:cNvPr>
            <p:cNvCxnSpPr>
              <a:cxnSpLocks/>
            </p:cNvCxnSpPr>
            <p:nvPr/>
          </p:nvCxnSpPr>
          <p:spPr>
            <a:xfrm>
              <a:off x="6084705" y="3104964"/>
              <a:ext cx="0" cy="27180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20000"/>
                </a:sysClr>
              </a:solidFill>
              <a:prstDash val="solid"/>
            </a:ln>
            <a:effectLst/>
          </p:spPr>
        </p:cxnSp>
        <p:cxnSp>
          <p:nvCxnSpPr>
            <p:cNvPr id="32" name="직선 연결선 31">
              <a:extLst>
                <a:ext uri="{FF2B5EF4-FFF2-40B4-BE49-F238E27FC236}">
                  <a16:creationId xmlns:a16="http://schemas.microsoft.com/office/drawing/2014/main" id="{0C1BE0E2-8003-62B3-ADAD-0497E1FF7A58}"/>
                </a:ext>
              </a:extLst>
            </p:cNvPr>
            <p:cNvCxnSpPr>
              <a:cxnSpLocks/>
            </p:cNvCxnSpPr>
            <p:nvPr/>
          </p:nvCxnSpPr>
          <p:spPr>
            <a:xfrm>
              <a:off x="8915247" y="3104964"/>
              <a:ext cx="0" cy="2718081"/>
            </a:xfrm>
            <a:prstGeom prst="line">
              <a:avLst/>
            </a:prstGeom>
            <a:noFill/>
            <a:ln w="6350" cap="flat" cmpd="sng" algn="ctr">
              <a:solidFill>
                <a:sysClr val="windowText" lastClr="000000">
                  <a:alpha val="20000"/>
                </a:sysClr>
              </a:solidFill>
              <a:prstDash val="solid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09314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821352" y="2440868"/>
            <a:ext cx="8113382" cy="608436"/>
          </a:xfrm>
        </p:spPr>
        <p:txBody>
          <a:bodyPr wrap="square" lIns="0" tIns="0" rIns="0" bIns="0">
            <a:spAutoFit/>
          </a:bodyPr>
          <a:lstStyle/>
          <a:p>
            <a:pPr marL="0" indent="0" defTabSz="457383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ko-KR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1.</a:t>
            </a:r>
            <a:r>
              <a:rPr lang="en-US" altLang="ko-KR" sz="3600" b="1" spc="-200" dirty="0" smtClean="0">
                <a:gradFill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1">
                        <a:lumMod val="45000"/>
                        <a:lumOff val="55000"/>
                      </a:schemeClr>
                    </a:gs>
                    <a:gs pos="8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Pretendard Light" panose="02000403000000020004" pitchFamily="50" charset="-127"/>
              </a:rPr>
              <a:t> </a:t>
            </a: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+mj-ea"/>
                <a:cs typeface="Arial" panose="020B0604020202020204" pitchFamily="34" charset="0"/>
              </a:rPr>
              <a:t>제안 개요 및 시스템 구축 전략</a:t>
            </a:r>
            <a:endParaRPr lang="en-US" altLang="ko-KR" sz="32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4947BF1-4FC2-AC64-C83E-829B4B6693FF}"/>
              </a:ext>
            </a:extLst>
          </p:cNvPr>
          <p:cNvSpPr txBox="1">
            <a:spLocks/>
          </p:cNvSpPr>
          <p:nvPr/>
        </p:nvSpPr>
        <p:spPr>
          <a:xfrm>
            <a:off x="1323186" y="3327115"/>
            <a:ext cx="5687213" cy="13644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01240" indent="-201240" defTabSz="45738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Lato" charset="0"/>
              </a:defRPr>
            </a:lvl1pPr>
            <a:lvl2pPr marL="743247" indent="-285864" defTabSz="457383">
              <a:spcBef>
                <a:spcPct val="20000"/>
              </a:spcBef>
              <a:buFont typeface="Arial"/>
              <a:buChar char="–"/>
              <a:defRPr sz="2801"/>
            </a:lvl2pPr>
            <a:lvl3pPr marL="1143457" indent="-228691" defTabSz="457383">
              <a:spcBef>
                <a:spcPct val="20000"/>
              </a:spcBef>
              <a:buFont typeface="Arial"/>
              <a:buChar char="•"/>
              <a:defRPr sz="2401"/>
            </a:lvl3pPr>
            <a:lvl4pPr marL="1600840" indent="-228691" defTabSz="457383">
              <a:spcBef>
                <a:spcPct val="20000"/>
              </a:spcBef>
              <a:buFont typeface="Arial"/>
              <a:buChar char="–"/>
              <a:defRPr sz="2001"/>
            </a:lvl4pPr>
            <a:lvl5pPr marL="2058223" indent="-228691" defTabSz="457383">
              <a:spcBef>
                <a:spcPct val="20000"/>
              </a:spcBef>
              <a:buFont typeface="Arial"/>
              <a:buChar char="»"/>
              <a:defRPr sz="2001"/>
            </a:lvl5pPr>
            <a:lvl6pPr marL="2515606" indent="-228691" defTabSz="457383">
              <a:spcBef>
                <a:spcPct val="20000"/>
              </a:spcBef>
              <a:buFont typeface="Arial"/>
              <a:buChar char="•"/>
              <a:defRPr sz="2001"/>
            </a:lvl6pPr>
            <a:lvl7pPr marL="2972989" indent="-228691" defTabSz="457383">
              <a:spcBef>
                <a:spcPct val="20000"/>
              </a:spcBef>
              <a:buFont typeface="Arial"/>
              <a:buChar char="•"/>
              <a:defRPr sz="2001"/>
            </a:lvl7pPr>
            <a:lvl8pPr marL="3430372" indent="-228691" defTabSz="457383">
              <a:spcBef>
                <a:spcPct val="20000"/>
              </a:spcBef>
              <a:buFont typeface="Arial"/>
              <a:buChar char="•"/>
              <a:defRPr sz="2001"/>
            </a:lvl8pPr>
            <a:lvl9pPr marL="3887754" indent="-228691" defTabSz="457383">
              <a:spcBef>
                <a:spcPct val="20000"/>
              </a:spcBef>
              <a:buFont typeface="Arial"/>
              <a:buChar char="•"/>
              <a:defRPr sz="2001"/>
            </a:lvl9pPr>
          </a:lstStyle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제안 배경 및 목표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시스템 구축 범위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중점 추진 항목</a:t>
            </a:r>
          </a:p>
        </p:txBody>
      </p:sp>
    </p:spTree>
    <p:extLst>
      <p:ext uri="{BB962C8B-B14F-4D97-AF65-F5344CB8AC3E}">
        <p14:creationId xmlns:p14="http://schemas.microsoft.com/office/powerpoint/2010/main" val="3513899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378" descr="악세사리"/>
          <p:cNvPicPr preferRelativeResize="0"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6" r="16268" b="14047"/>
          <a:stretch/>
        </p:blipFill>
        <p:spPr bwMode="auto">
          <a:xfrm rot="10800000" flipH="1" flipV="1">
            <a:off x="2641228" y="2600325"/>
            <a:ext cx="232408" cy="425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" name="직사각형 58">
            <a:extLst>
              <a:ext uri="{FF2B5EF4-FFF2-40B4-BE49-F238E27FC236}">
                <a16:creationId xmlns:a16="http://schemas.microsoft.com/office/drawing/2014/main" id="{B75E466C-63D1-2DB9-05FC-3D31F22237C8}"/>
              </a:ext>
            </a:extLst>
          </p:cNvPr>
          <p:cNvSpPr/>
          <p:nvPr/>
        </p:nvSpPr>
        <p:spPr>
          <a:xfrm>
            <a:off x="693544" y="2600325"/>
            <a:ext cx="6048000" cy="37449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38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0" name="Picture 378" descr="악세사리"/>
          <p:cNvPicPr preferRelativeResize="0">
            <a:picLocks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006" r="16268" b="14047"/>
          <a:stretch/>
        </p:blipFill>
        <p:spPr bwMode="auto">
          <a:xfrm rot="10800000" flipH="1" flipV="1">
            <a:off x="6746460" y="2610338"/>
            <a:ext cx="317914" cy="3715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914478"/>
            <a:r>
              <a:rPr lang="en-US" altLang="ko-KR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Nexplant</a:t>
            </a:r>
            <a:r>
              <a:rPr lang="en-US" altLang="ko-KR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 QMS® YMS/DMS </a:t>
            </a:r>
            <a:r>
              <a:rPr lang="ko-KR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시스템을 통해 광학적으로 발견된 외관 결함</a:t>
            </a:r>
            <a:r>
              <a:rPr lang="en-US" altLang="ko-KR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(AOI Defect)</a:t>
            </a:r>
            <a:r>
              <a:rPr lang="ko-KR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이 실제 전기적 불량</a:t>
            </a:r>
            <a:r>
              <a:rPr lang="en-US" altLang="ko-KR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(E-Test Fail)</a:t>
            </a:r>
            <a:r>
              <a:rPr lang="ko-KR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을 일으킨 원인인지를 알고리즘을 통해 자동으로 분석하여 생산성과 품질을 향상할 수 있습니다</a:t>
            </a:r>
            <a:r>
              <a:rPr lang="en-US" altLang="ko-KR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lang="ko-KR" altLang="en-US" sz="1200" dirty="0">
              <a:latin typeface="+mn-ea"/>
            </a:endParaRPr>
          </a:p>
        </p:txBody>
      </p:sp>
      <p:sp>
        <p:nvSpPr>
          <p:cNvPr id="552" name="직사각형 551">
            <a:extLst>
              <a:ext uri="{FF2B5EF4-FFF2-40B4-BE49-F238E27FC236}">
                <a16:creationId xmlns:a16="http://schemas.microsoft.com/office/drawing/2014/main" id="{8D0EBA4A-A2A3-98E7-D359-364248A82D02}"/>
              </a:ext>
            </a:extLst>
          </p:cNvPr>
          <p:cNvSpPr/>
          <p:nvPr/>
        </p:nvSpPr>
        <p:spPr>
          <a:xfrm>
            <a:off x="698500" y="2740092"/>
            <a:ext cx="604796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반도체 </a:t>
            </a:r>
            <a:r>
              <a:rPr lang="en-US" altLang="ko-KR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Package </a:t>
            </a:r>
            <a:r>
              <a:rPr lang="ko-KR" altLang="en-US" sz="1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제조 품질 시스템 구축</a:t>
            </a:r>
            <a:endParaRPr lang="ko-KR" altLang="ko-KR" sz="16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61" name="AutoShape 12">
            <a:extLst>
              <a:ext uri="{FF2B5EF4-FFF2-40B4-BE49-F238E27FC236}">
                <a16:creationId xmlns:a16="http://schemas.microsoft.com/office/drawing/2014/main" id="{34D7501B-1113-211F-E31F-383DCE0E73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664" y="5168319"/>
            <a:ext cx="5671874" cy="360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0" tIns="0" rIns="0" bIns="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lang="en-US" altLang="ko-KR" sz="1400" b="1" kern="0" spc="-8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Defect </a:t>
            </a:r>
            <a:r>
              <a:rPr lang="ko-KR" altLang="en-US" sz="1400" b="1" kern="0" spc="-80" dirty="0">
                <a:latin typeface="Microsoft YaHei" panose="020B0503020204020204" pitchFamily="34" charset="-122"/>
                <a:cs typeface="Arial" pitchFamily="34" charset="0"/>
              </a:rPr>
              <a:t>및 </a:t>
            </a:r>
            <a:r>
              <a:rPr lang="en-US" altLang="ko-KR" sz="1400" b="1" kern="0" spc="-80" dirty="0">
                <a:latin typeface="Microsoft YaHei" panose="020B0503020204020204" pitchFamily="34" charset="-122"/>
                <a:ea typeface="Microsoft YaHei" panose="020B0503020204020204" pitchFamily="34" charset="-122"/>
                <a:cs typeface="Arial" pitchFamily="34" charset="0"/>
              </a:rPr>
              <a:t>E-Test </a:t>
            </a:r>
            <a:r>
              <a:rPr lang="ko-KR" altLang="en-US" sz="1400" b="1" kern="0" spc="-80" dirty="0">
                <a:latin typeface="Microsoft YaHei" panose="020B0503020204020204" pitchFamily="34" charset="-122"/>
                <a:cs typeface="Arial" pitchFamily="34" charset="0"/>
              </a:rPr>
              <a:t>데이터 분석 프로세스 정립</a:t>
            </a:r>
          </a:p>
        </p:txBody>
      </p:sp>
      <p:sp>
        <p:nvSpPr>
          <p:cNvPr id="562" name="Rectangle 16">
            <a:extLst>
              <a:ext uri="{FF2B5EF4-FFF2-40B4-BE49-F238E27FC236}">
                <a16:creationId xmlns:a16="http://schemas.microsoft.com/office/drawing/2014/main" id="{1DB9571F-0CBA-0795-6010-9DA5750D6788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889925" y="5513853"/>
            <a:ext cx="5670613" cy="76864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latinLnBrk="0">
              <a:buFont typeface="Wingdings" pitchFamily="2" charset="2"/>
              <a:buChar char="ü"/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 표준화된 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Defect 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E-Test 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데이터 분석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시스템 구축</a:t>
            </a:r>
            <a:endParaRPr lang="en-US" altLang="ko-KR" sz="1200" dirty="0">
              <a:solidFill>
                <a:schemeClr val="bg1"/>
              </a:solidFill>
              <a:latin typeface="+mn-ea"/>
              <a:sym typeface="Symbol"/>
            </a:endParaRPr>
          </a:p>
          <a:p>
            <a:pPr latinLnBrk="0">
              <a:buFont typeface="Wingdings" pitchFamily="2" charset="2"/>
              <a:buChar char="ü"/>
            </a:pPr>
            <a:r>
              <a:rPr lang="en-US" altLang="ko-KR" sz="1200" dirty="0">
                <a:solidFill>
                  <a:schemeClr val="bg1"/>
                </a:solidFill>
                <a:latin typeface="+mn-ea"/>
                <a:sym typeface="Symbol"/>
              </a:rPr>
              <a:t> </a:t>
            </a:r>
            <a:r>
              <a:rPr lang="ko-KR" altLang="en-US" sz="1200" dirty="0">
                <a:solidFill>
                  <a:schemeClr val="bg1"/>
                </a:solidFill>
                <a:latin typeface="+mn-ea"/>
                <a:sym typeface="Symbol"/>
              </a:rPr>
              <a:t>데이터 연계 분석 절차의 간소화로 조기에 프로세스 안정화</a:t>
            </a:r>
            <a:endParaRPr lang="en-US" altLang="ko-KR" sz="1200" dirty="0">
              <a:solidFill>
                <a:schemeClr val="bg1"/>
              </a:solidFill>
              <a:latin typeface="+mn-ea"/>
              <a:sym typeface="Symbol"/>
            </a:endParaRPr>
          </a:p>
          <a:p>
            <a:pPr latinLnBrk="0">
              <a:buFont typeface="Wingdings" pitchFamily="2" charset="2"/>
              <a:buChar char="ü"/>
            </a:pPr>
            <a:r>
              <a:rPr lang="en-US" altLang="ko-KR" sz="1200" dirty="0">
                <a:solidFill>
                  <a:schemeClr val="bg1"/>
                </a:solidFill>
                <a:latin typeface="+mn-ea"/>
                <a:sym typeface="Symbol"/>
              </a:rPr>
              <a:t> Defect </a:t>
            </a:r>
            <a:r>
              <a:rPr lang="ko-KR" altLang="en-US" sz="1200" dirty="0">
                <a:solidFill>
                  <a:schemeClr val="bg1"/>
                </a:solidFill>
                <a:latin typeface="+mn-ea"/>
                <a:sym typeface="Symbol"/>
              </a:rPr>
              <a:t>및 </a:t>
            </a:r>
            <a:r>
              <a:rPr lang="en-US" altLang="ko-KR" sz="1200" dirty="0">
                <a:solidFill>
                  <a:schemeClr val="bg1"/>
                </a:solidFill>
                <a:latin typeface="+mn-ea"/>
                <a:sym typeface="Symbol"/>
              </a:rPr>
              <a:t>E-Test </a:t>
            </a:r>
            <a:r>
              <a:rPr lang="ko-KR" altLang="en-US" sz="1200" dirty="0">
                <a:solidFill>
                  <a:schemeClr val="bg1"/>
                </a:solidFill>
                <a:latin typeface="+mn-ea"/>
                <a:sym typeface="Symbol"/>
              </a:rPr>
              <a:t>데이터 수집 및 판정 등의 업무 자동화</a:t>
            </a:r>
            <a:endParaRPr lang="en-US" altLang="ko-KR" sz="1200" dirty="0">
              <a:solidFill>
                <a:schemeClr val="bg1"/>
              </a:solidFill>
              <a:latin typeface="+mn-ea"/>
              <a:sym typeface="Symbol"/>
            </a:endParaRPr>
          </a:p>
        </p:txBody>
      </p:sp>
      <p:sp>
        <p:nvSpPr>
          <p:cNvPr id="746" name="Text Box 10">
            <a:extLst>
              <a:ext uri="{FF2B5EF4-FFF2-40B4-BE49-F238E27FC236}">
                <a16:creationId xmlns:a16="http://schemas.microsoft.com/office/drawing/2014/main" id="{A5D3D7CB-E15C-F63D-CE14-7E44CF0ED168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1610867" y="4079741"/>
            <a:ext cx="4213355" cy="514126"/>
          </a:xfrm>
          <a:prstGeom prst="rect">
            <a:avLst/>
          </a:prstGeom>
          <a:noFill/>
          <a:ln w="9525" algn="ctr">
            <a:noFill/>
            <a:round/>
            <a:headEnd/>
            <a:tailEnd/>
          </a:ln>
        </p:spPr>
        <p:txBody>
          <a:bodyPr wrap="none" lIns="0" tIns="36000" rIns="0" bIns="0" anchor="ctr"/>
          <a:lstStyle>
            <a:defPPr>
              <a:defRPr lang="ko-KR"/>
            </a:defPPr>
            <a:lvl1pPr algn="ctr" fontAlgn="base" latinLnBrk="0">
              <a:spcBef>
                <a:spcPct val="0"/>
              </a:spcBef>
              <a:spcAft>
                <a:spcPct val="0"/>
              </a:spcAft>
              <a:defRPr sz="1200" b="1" kern="0" spc="-80">
                <a:solidFill>
                  <a:prstClr val="white"/>
                </a:solidFill>
                <a:latin typeface="맑은 고딕"/>
                <a:cs typeface="Arial" pitchFamily="34" charset="0"/>
              </a:defRPr>
            </a:lvl1pPr>
          </a:lstStyle>
          <a:p>
            <a:r>
              <a:rPr lang="en-US" altLang="ko-KR" sz="1600" spc="0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Defect</a:t>
            </a:r>
            <a:r>
              <a:rPr lang="ko-KR" altLang="en-US" sz="1600" spc="0" dirty="0">
                <a:solidFill>
                  <a:schemeClr val="accent2"/>
                </a:solidFill>
                <a:latin typeface="Microsoft YaHei" panose="020B0503020204020204" pitchFamily="34" charset="-122"/>
              </a:rPr>
              <a:t> 데이터와 </a:t>
            </a:r>
            <a:r>
              <a:rPr lang="en-US" altLang="ko-KR" sz="1600" spc="0" dirty="0">
                <a:solidFill>
                  <a:schemeClr val="accent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E-Test </a:t>
            </a:r>
            <a:r>
              <a:rPr lang="ko-KR" altLang="en-US" sz="1600" spc="0" dirty="0">
                <a:solidFill>
                  <a:schemeClr val="accent2"/>
                </a:solidFill>
                <a:latin typeface="Microsoft YaHei" panose="020B0503020204020204" pitchFamily="34" charset="-122"/>
              </a:rPr>
              <a:t>결과 데이터</a:t>
            </a:r>
            <a:endParaRPr lang="en-US" altLang="ko-KR" sz="1600" spc="0" dirty="0">
              <a:solidFill>
                <a:schemeClr val="accent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r>
              <a:rPr lang="ko-KR" altLang="en-US" sz="1600" spc="0" dirty="0">
                <a:solidFill>
                  <a:schemeClr val="accent2"/>
                </a:solidFill>
                <a:latin typeface="Microsoft YaHei" panose="020B0503020204020204" pitchFamily="34" charset="-122"/>
              </a:rPr>
              <a:t>상관관계 자동 분석</a:t>
            </a:r>
            <a:endParaRPr lang="ko-KR" altLang="en-US" sz="1100" spc="0" dirty="0">
              <a:solidFill>
                <a:schemeClr val="accent2"/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741" name="그림 740">
            <a:extLst>
              <a:ext uri="{FF2B5EF4-FFF2-40B4-BE49-F238E27FC236}">
                <a16:creationId xmlns:a16="http://schemas.microsoft.com/office/drawing/2014/main" id="{CF4E2D45-DB19-32DA-E270-C328244AA2D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13772" y="2798109"/>
            <a:ext cx="1311836" cy="272403"/>
          </a:xfrm>
          <a:prstGeom prst="rect">
            <a:avLst/>
          </a:prstGeom>
        </p:spPr>
      </p:pic>
      <p:sp>
        <p:nvSpPr>
          <p:cNvPr id="748" name="TextBox 747">
            <a:extLst>
              <a:ext uri="{FF2B5EF4-FFF2-40B4-BE49-F238E27FC236}">
                <a16:creationId xmlns:a16="http://schemas.microsoft.com/office/drawing/2014/main" id="{15E6B769-09B0-9F7C-6B29-D2D61C1D6D22}"/>
              </a:ext>
            </a:extLst>
          </p:cNvPr>
          <p:cNvSpPr txBox="1"/>
          <p:nvPr/>
        </p:nvSpPr>
        <p:spPr>
          <a:xfrm>
            <a:off x="1520416" y="4653125"/>
            <a:ext cx="439425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“</a:t>
            </a:r>
            <a:r>
              <a:rPr lang="ko-KR" altLang="en-US" sz="1200" dirty="0" err="1">
                <a:solidFill>
                  <a:schemeClr val="bg1"/>
                </a:solidFill>
                <a:latin typeface="Microsoft YaHei" panose="020B0503020204020204" pitchFamily="34" charset="-122"/>
              </a:rPr>
              <a:t>AOI에서</a:t>
            </a:r>
            <a:r>
              <a:rPr lang="ko-KR" altLang="en-US" sz="1200" dirty="0">
                <a:solidFill>
                  <a:schemeClr val="bg1"/>
                </a:solidFill>
                <a:latin typeface="Microsoft YaHei" panose="020B0503020204020204" pitchFamily="34" charset="-122"/>
              </a:rPr>
              <a:t> 검출된 결함(</a:t>
            </a:r>
            <a:r>
              <a:rPr lang="ko-KR" altLang="en-US" sz="1200" dirty="0" err="1">
                <a:solidFill>
                  <a:schemeClr val="bg1"/>
                </a:solidFill>
                <a:latin typeface="Microsoft YaHei" panose="020B0503020204020204" pitchFamily="34" charset="-122"/>
              </a:rPr>
              <a:t>Defect</a:t>
            </a:r>
            <a:r>
              <a:rPr lang="ko-KR" altLang="en-US" sz="1200" dirty="0">
                <a:solidFill>
                  <a:schemeClr val="bg1"/>
                </a:solidFill>
                <a:latin typeface="Microsoft YaHei" panose="020B0503020204020204" pitchFamily="34" charset="-122"/>
              </a:rPr>
              <a:t>) 좌표와 </a:t>
            </a:r>
            <a:r>
              <a:rPr lang="ko-KR" altLang="en-US" sz="1200" dirty="0" err="1">
                <a:solidFill>
                  <a:schemeClr val="bg1"/>
                </a:solidFill>
                <a:latin typeface="Microsoft YaHei" panose="020B0503020204020204" pitchFamily="34" charset="-122"/>
              </a:rPr>
              <a:t>E-Test</a:t>
            </a:r>
            <a:r>
              <a:rPr lang="ko-KR" altLang="en-US" sz="1200" dirty="0">
                <a:solidFill>
                  <a:schemeClr val="bg1"/>
                </a:solidFill>
                <a:latin typeface="Microsoft YaHei" panose="020B0503020204020204" pitchFamily="34" charset="-122"/>
              </a:rPr>
              <a:t> 불량 간의 상관관계를 자동으로 분석 및 매핑</a:t>
            </a:r>
            <a:r>
              <a:rPr lang="en-US" altLang="ko-KR" sz="120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”</a:t>
            </a:r>
            <a:endParaRPr lang="ko-KR" altLang="en-US" sz="1200" dirty="0">
              <a:solidFill>
                <a:schemeClr val="bg1"/>
              </a:solidFill>
              <a:latin typeface="Microsoft YaHei" panose="020B0503020204020204" pitchFamily="34" charset="-122"/>
            </a:endParaRPr>
          </a:p>
        </p:txBody>
      </p:sp>
      <p:sp>
        <p:nvSpPr>
          <p:cNvPr id="769" name="TextBox 768">
            <a:extLst>
              <a:ext uri="{FF2B5EF4-FFF2-40B4-BE49-F238E27FC236}">
                <a16:creationId xmlns:a16="http://schemas.microsoft.com/office/drawing/2014/main" id="{7B164DA7-2AFB-7811-4D96-77FBC838556B}"/>
              </a:ext>
            </a:extLst>
          </p:cNvPr>
          <p:cNvSpPr txBox="1"/>
          <p:nvPr/>
        </p:nvSpPr>
        <p:spPr>
          <a:xfrm>
            <a:off x="6866085" y="2605007"/>
            <a:ext cx="4791135" cy="516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"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어느 공정에서 어떤 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Defect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가 발생했고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, </a:t>
            </a: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/>
            </a:r>
            <a:b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</a:br>
            <a:r>
              <a:rPr lang="en-US" altLang="ko-KR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  </a:t>
            </a:r>
            <a:r>
              <a:rPr lang="ko-KR" altLang="en-US" sz="1200" b="1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이것이 </a:t>
            </a:r>
            <a:r>
              <a:rPr lang="ko-KR" altLang="en-US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최종 전기적 불량으로 이어졌는가</a:t>
            </a:r>
            <a:r>
              <a:rPr lang="en-US" altLang="ko-KR" sz="1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YaHei" panose="020B0503020204020204" pitchFamily="34" charset="-122"/>
              </a:rPr>
              <a:t>"</a:t>
            </a:r>
            <a:endParaRPr lang="ko-KR" altLang="en-US" sz="1200" b="1" dirty="0">
              <a:solidFill>
                <a:schemeClr val="tx1">
                  <a:lumMod val="75000"/>
                  <a:lumOff val="25000"/>
                </a:schemeClr>
              </a:solidFill>
              <a:latin typeface="Microsoft YaHei" panose="020B0503020204020204" pitchFamily="34" charset="-122"/>
            </a:endParaRPr>
          </a:p>
        </p:txBody>
      </p:sp>
      <p:sp>
        <p:nvSpPr>
          <p:cNvPr id="8" name="부제목 7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/>
              <a:t>1. </a:t>
            </a:r>
            <a:r>
              <a:rPr lang="ko-KR" altLang="en-US" dirty="0"/>
              <a:t>제안 배경 및 </a:t>
            </a:r>
            <a:r>
              <a:rPr lang="ko-KR" altLang="en-US" dirty="0" smtClean="0"/>
              <a:t>목표 </a:t>
            </a:r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3607309" y="3344885"/>
            <a:ext cx="248400" cy="248400"/>
            <a:chOff x="5080000" y="7305675"/>
            <a:chExt cx="400050" cy="400050"/>
          </a:xfrm>
        </p:grpSpPr>
        <p:cxnSp>
          <p:nvCxnSpPr>
            <p:cNvPr id="19" name="직선 연결선 18"/>
            <p:cNvCxnSpPr/>
            <p:nvPr/>
          </p:nvCxnSpPr>
          <p:spPr>
            <a:xfrm>
              <a:off x="5080000" y="7505700"/>
              <a:ext cx="40005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연결선 68"/>
            <p:cNvCxnSpPr/>
            <p:nvPr/>
          </p:nvCxnSpPr>
          <p:spPr>
            <a:xfrm rot="5400000">
              <a:off x="5080000" y="7505700"/>
              <a:ext cx="400050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오른쪽 화살표 342">
            <a:extLst>
              <a:ext uri="{FF2B5EF4-FFF2-40B4-BE49-F238E27FC236}">
                <a16:creationId xmlns:a16="http://schemas.microsoft.com/office/drawing/2014/main" id="{7F8F5A60-3561-9430-0AAB-301FB13CF3F7}"/>
              </a:ext>
            </a:extLst>
          </p:cNvPr>
          <p:cNvSpPr/>
          <p:nvPr/>
        </p:nvSpPr>
        <p:spPr>
          <a:xfrm>
            <a:off x="6966000" y="3174855"/>
            <a:ext cx="4459608" cy="280131"/>
          </a:xfrm>
          <a:prstGeom prst="rightArrow">
            <a:avLst>
              <a:gd name="adj1" fmla="val 100000"/>
              <a:gd name="adj2" fmla="val 70719"/>
            </a:avLst>
          </a:prstGeom>
          <a:solidFill>
            <a:schemeClr val="bg2">
              <a:lumMod val="20000"/>
              <a:lumOff val="80000"/>
            </a:schemeClr>
          </a:solidFill>
          <a:ln w="6350" cap="flat" cmpd="sng" algn="ctr">
            <a:solidFill>
              <a:schemeClr val="tx2">
                <a:lumMod val="40000"/>
                <a:lumOff val="60000"/>
              </a:schemeClr>
            </a:solidFill>
            <a:prstDash val="solid"/>
            <a:miter lim="800000"/>
          </a:ln>
          <a:effectLst/>
        </p:spPr>
        <p:txBody>
          <a:bodyPr lIns="63307" tIns="31653" rIns="63307" bIns="31653" rtlCol="0" anchor="ctr"/>
          <a:lstStyle/>
          <a:p>
            <a:pPr algn="ctr" defTabSz="914400"/>
            <a:endParaRPr lang="ko-KR" altLang="en-US" sz="800" kern="0" spc="-21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grpSp>
        <p:nvGrpSpPr>
          <p:cNvPr id="95" name="그룹 94"/>
          <p:cNvGrpSpPr/>
          <p:nvPr/>
        </p:nvGrpSpPr>
        <p:grpSpPr>
          <a:xfrm>
            <a:off x="10667034" y="3265738"/>
            <a:ext cx="326909" cy="91877"/>
            <a:chOff x="10375083" y="3469934"/>
            <a:chExt cx="359600" cy="10106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0FAA002C-B420-7694-3B88-0B6943A98B2C}"/>
                </a:ext>
              </a:extLst>
            </p:cNvPr>
            <p:cNvSpPr/>
            <p:nvPr/>
          </p:nvSpPr>
          <p:spPr>
            <a:xfrm>
              <a:off x="10375083" y="3469934"/>
              <a:ext cx="100461" cy="1010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3" name="타원 122">
              <a:extLst>
                <a:ext uri="{FF2B5EF4-FFF2-40B4-BE49-F238E27FC236}">
                  <a16:creationId xmlns:a16="http://schemas.microsoft.com/office/drawing/2014/main" id="{1321ABF8-1F6F-30CF-B377-F851C6F9EF5C}"/>
                </a:ext>
              </a:extLst>
            </p:cNvPr>
            <p:cNvSpPr/>
            <p:nvPr/>
          </p:nvSpPr>
          <p:spPr>
            <a:xfrm>
              <a:off x="10504408" y="3469934"/>
              <a:ext cx="100461" cy="1010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124" name="타원 123">
              <a:extLst>
                <a:ext uri="{FF2B5EF4-FFF2-40B4-BE49-F238E27FC236}">
                  <a16:creationId xmlns:a16="http://schemas.microsoft.com/office/drawing/2014/main" id="{C05B13E1-1585-A528-E581-64FF4A6B13EF}"/>
                </a:ext>
              </a:extLst>
            </p:cNvPr>
            <p:cNvSpPr/>
            <p:nvPr/>
          </p:nvSpPr>
          <p:spPr>
            <a:xfrm>
              <a:off x="10634222" y="3469934"/>
              <a:ext cx="100461" cy="101065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endPara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6" name="그룹 95"/>
          <p:cNvGrpSpPr/>
          <p:nvPr/>
        </p:nvGrpSpPr>
        <p:grpSpPr>
          <a:xfrm>
            <a:off x="6941363" y="3235545"/>
            <a:ext cx="582211" cy="619745"/>
            <a:chOff x="6969089" y="3834884"/>
            <a:chExt cx="582211" cy="619745"/>
          </a:xfrm>
        </p:grpSpPr>
        <p:sp>
          <p:nvSpPr>
            <p:cNvPr id="119" name="타원 118"/>
            <p:cNvSpPr/>
            <p:nvPr/>
          </p:nvSpPr>
          <p:spPr>
            <a:xfrm>
              <a:off x="7181905" y="3834884"/>
              <a:ext cx="156578" cy="1565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20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70194" y="4092047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121" name="직사각형 120"/>
            <p:cNvSpPr/>
            <p:nvPr/>
          </p:nvSpPr>
          <p:spPr>
            <a:xfrm>
              <a:off x="6969089" y="4177630"/>
              <a:ext cx="5822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>
                  <a:latin typeface="+mn-ea"/>
                </a:rPr>
                <a:t>공정</a:t>
              </a:r>
              <a:r>
                <a:rPr lang="en-US" altLang="ko-KR" sz="1200" dirty="0"/>
                <a:t>1</a:t>
              </a:r>
              <a:endParaRPr lang="ko-KR" altLang="en-US" sz="1200" dirty="0"/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7499467" y="3235545"/>
            <a:ext cx="461409" cy="619745"/>
            <a:chOff x="7499467" y="3452347"/>
            <a:chExt cx="461409" cy="619745"/>
          </a:xfrm>
        </p:grpSpPr>
        <p:sp>
          <p:nvSpPr>
            <p:cNvPr id="97" name="이등변 삼각형 96"/>
            <p:cNvSpPr/>
            <p:nvPr/>
          </p:nvSpPr>
          <p:spPr>
            <a:xfrm>
              <a:off x="7665247" y="3452347"/>
              <a:ext cx="156578" cy="156578"/>
            </a:xfrm>
            <a:prstGeom prst="triangle">
              <a:avLst/>
            </a:prstGeom>
            <a:solidFill>
              <a:schemeClr val="bg1"/>
            </a:solidFill>
            <a:ln w="38100" cap="rnd">
              <a:solidFill>
                <a:schemeClr val="accent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8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53536" y="3709510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99" name="직사각형 98"/>
            <p:cNvSpPr/>
            <p:nvPr/>
          </p:nvSpPr>
          <p:spPr>
            <a:xfrm>
              <a:off x="7499467" y="3795093"/>
              <a:ext cx="4614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accent5"/>
                  </a:solidFill>
                </a:rPr>
                <a:t>AOI</a:t>
              </a:r>
              <a:endParaRPr lang="ko-KR" altLang="en-US" sz="1200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100" name="그룹 99"/>
          <p:cNvGrpSpPr/>
          <p:nvPr/>
        </p:nvGrpSpPr>
        <p:grpSpPr>
          <a:xfrm>
            <a:off x="7898453" y="3235545"/>
            <a:ext cx="732894" cy="619745"/>
            <a:chOff x="7964495" y="3834884"/>
            <a:chExt cx="732894" cy="619745"/>
          </a:xfrm>
        </p:grpSpPr>
        <p:sp>
          <p:nvSpPr>
            <p:cNvPr id="116" name="타원 115"/>
            <p:cNvSpPr/>
            <p:nvPr/>
          </p:nvSpPr>
          <p:spPr>
            <a:xfrm>
              <a:off x="8252653" y="3834884"/>
              <a:ext cx="156578" cy="1565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7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40942" y="4092047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118" name="직사각형 117"/>
            <p:cNvSpPr/>
            <p:nvPr/>
          </p:nvSpPr>
          <p:spPr>
            <a:xfrm>
              <a:off x="7964495" y="4177630"/>
              <a:ext cx="73289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200" dirty="0"/>
                <a:t>E-TEST</a:t>
              </a:r>
              <a:endParaRPr lang="ko-KR" altLang="en-US" sz="1200" dirty="0"/>
            </a:p>
          </p:txBody>
        </p:sp>
      </p:grpSp>
      <p:grpSp>
        <p:nvGrpSpPr>
          <p:cNvPr id="101" name="그룹 100"/>
          <p:cNvGrpSpPr/>
          <p:nvPr/>
        </p:nvGrpSpPr>
        <p:grpSpPr>
          <a:xfrm>
            <a:off x="8512451" y="3235545"/>
            <a:ext cx="582211" cy="619745"/>
            <a:chOff x="6969089" y="3834884"/>
            <a:chExt cx="582211" cy="619745"/>
          </a:xfrm>
        </p:grpSpPr>
        <p:sp>
          <p:nvSpPr>
            <p:cNvPr id="113" name="타원 112"/>
            <p:cNvSpPr/>
            <p:nvPr/>
          </p:nvSpPr>
          <p:spPr>
            <a:xfrm>
              <a:off x="7181905" y="3834884"/>
              <a:ext cx="156578" cy="1565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4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70194" y="4092047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115" name="직사각형 114"/>
            <p:cNvSpPr/>
            <p:nvPr/>
          </p:nvSpPr>
          <p:spPr>
            <a:xfrm>
              <a:off x="6969089" y="4177630"/>
              <a:ext cx="5822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 smtClean="0">
                  <a:latin typeface="+mn-ea"/>
                </a:rPr>
                <a:t>공정</a:t>
              </a:r>
              <a:r>
                <a:rPr lang="en-US" altLang="ko-KR" sz="1200" dirty="0" smtClean="0"/>
                <a:t>2</a:t>
              </a:r>
              <a:endParaRPr lang="ko-KR" altLang="en-US" sz="1200" dirty="0"/>
            </a:p>
          </p:txBody>
        </p:sp>
      </p:grpSp>
      <p:grpSp>
        <p:nvGrpSpPr>
          <p:cNvPr id="17" name="그룹 16"/>
          <p:cNvGrpSpPr/>
          <p:nvPr/>
        </p:nvGrpSpPr>
        <p:grpSpPr>
          <a:xfrm>
            <a:off x="9057439" y="3235545"/>
            <a:ext cx="461409" cy="619745"/>
            <a:chOff x="9057439" y="3452347"/>
            <a:chExt cx="461409" cy="619745"/>
          </a:xfrm>
        </p:grpSpPr>
        <p:sp>
          <p:nvSpPr>
            <p:cNvPr id="102" name="이등변 삼각형 101"/>
            <p:cNvSpPr/>
            <p:nvPr/>
          </p:nvSpPr>
          <p:spPr>
            <a:xfrm>
              <a:off x="9223219" y="3452347"/>
              <a:ext cx="156578" cy="156578"/>
            </a:xfrm>
            <a:prstGeom prst="triangle">
              <a:avLst/>
            </a:prstGeom>
            <a:solidFill>
              <a:schemeClr val="bg1"/>
            </a:solidFill>
            <a:ln w="38100" cap="rnd">
              <a:solidFill>
                <a:schemeClr val="accent5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3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9211508" y="3709510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104" name="직사각형 103"/>
            <p:cNvSpPr/>
            <p:nvPr/>
          </p:nvSpPr>
          <p:spPr>
            <a:xfrm>
              <a:off x="9057439" y="3795093"/>
              <a:ext cx="461409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200" dirty="0">
                  <a:solidFill>
                    <a:schemeClr val="accent5"/>
                  </a:solidFill>
                </a:rPr>
                <a:t>AOI</a:t>
              </a:r>
              <a:endParaRPr lang="ko-KR" altLang="en-US" sz="1200" dirty="0">
                <a:solidFill>
                  <a:schemeClr val="accent5"/>
                </a:solidFill>
              </a:endParaRPr>
            </a:p>
          </p:txBody>
        </p:sp>
      </p:grpSp>
      <p:grpSp>
        <p:nvGrpSpPr>
          <p:cNvPr id="105" name="그룹 104"/>
          <p:cNvGrpSpPr/>
          <p:nvPr/>
        </p:nvGrpSpPr>
        <p:grpSpPr>
          <a:xfrm>
            <a:off x="9476740" y="3235545"/>
            <a:ext cx="732894" cy="619745"/>
            <a:chOff x="7964495" y="3834884"/>
            <a:chExt cx="732894" cy="619745"/>
          </a:xfrm>
        </p:grpSpPr>
        <p:sp>
          <p:nvSpPr>
            <p:cNvPr id="110" name="타원 109"/>
            <p:cNvSpPr/>
            <p:nvPr/>
          </p:nvSpPr>
          <p:spPr>
            <a:xfrm>
              <a:off x="8252653" y="3834884"/>
              <a:ext cx="156578" cy="1565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2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11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240942" y="4092047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112" name="직사각형 111"/>
            <p:cNvSpPr/>
            <p:nvPr/>
          </p:nvSpPr>
          <p:spPr>
            <a:xfrm>
              <a:off x="7964495" y="4177630"/>
              <a:ext cx="732894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200" dirty="0"/>
                <a:t>E-TEST</a:t>
              </a:r>
              <a:endParaRPr lang="ko-KR" altLang="en-US" sz="1200" dirty="0"/>
            </a:p>
          </p:txBody>
        </p:sp>
      </p:grpSp>
      <p:grpSp>
        <p:nvGrpSpPr>
          <p:cNvPr id="106" name="그룹 105"/>
          <p:cNvGrpSpPr/>
          <p:nvPr/>
        </p:nvGrpSpPr>
        <p:grpSpPr>
          <a:xfrm>
            <a:off x="10106281" y="3235545"/>
            <a:ext cx="582211" cy="619745"/>
            <a:chOff x="6969089" y="3834884"/>
            <a:chExt cx="582211" cy="619745"/>
          </a:xfrm>
        </p:grpSpPr>
        <p:sp>
          <p:nvSpPr>
            <p:cNvPr id="107" name="타원 106"/>
            <p:cNvSpPr/>
            <p:nvPr/>
          </p:nvSpPr>
          <p:spPr>
            <a:xfrm>
              <a:off x="7181905" y="3834884"/>
              <a:ext cx="156578" cy="156578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108" name="직선 연결선[R] 20">
              <a:extLst>
                <a:ext uri="{FF2B5EF4-FFF2-40B4-BE49-F238E27FC236}">
                  <a16:creationId xmlns:a16="http://schemas.microsoft.com/office/drawing/2014/main" id="{700B675D-843A-808D-C541-BCAC6021E1B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70194" y="4092047"/>
              <a:ext cx="180000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dash"/>
              <a:miter lim="800000"/>
            </a:ln>
            <a:effectLst/>
          </p:spPr>
        </p:cxnSp>
        <p:sp>
          <p:nvSpPr>
            <p:cNvPr id="109" name="직사각형 108"/>
            <p:cNvSpPr/>
            <p:nvPr/>
          </p:nvSpPr>
          <p:spPr>
            <a:xfrm>
              <a:off x="6969089" y="4177630"/>
              <a:ext cx="582211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200" dirty="0" smtClean="0">
                  <a:latin typeface="+mn-ea"/>
                </a:rPr>
                <a:t>공정</a:t>
              </a:r>
              <a:r>
                <a:rPr lang="en-US" altLang="ko-KR" sz="1200" dirty="0" smtClean="0"/>
                <a:t>3</a:t>
              </a:r>
              <a:endParaRPr lang="ko-KR" altLang="en-US" sz="1200" dirty="0"/>
            </a:p>
          </p:txBody>
        </p:sp>
      </p:grpSp>
      <p:sp>
        <p:nvSpPr>
          <p:cNvPr id="24" name="이등변 삼각형 23"/>
          <p:cNvSpPr/>
          <p:nvPr/>
        </p:nvSpPr>
        <p:spPr>
          <a:xfrm rot="10800000">
            <a:off x="2083572" y="3665653"/>
            <a:ext cx="3267945" cy="414087"/>
          </a:xfrm>
          <a:prstGeom prst="triangle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54" name="Text Box 10">
            <a:extLst>
              <a:ext uri="{FF2B5EF4-FFF2-40B4-BE49-F238E27FC236}">
                <a16:creationId xmlns:a16="http://schemas.microsoft.com/office/drawing/2014/main" id="{E4B9AFA0-229D-13FE-C748-36081E35704D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888664" y="3199085"/>
            <a:ext cx="2592000" cy="5040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0" tIns="36000" rIns="0" bIns="36000" anchor="ctr"/>
          <a:lstStyle>
            <a:defPPr>
              <a:defRPr lang="ko-KR"/>
            </a:defPPr>
            <a:lvl1pPr algn="ctr" fontAlgn="base" latinLnBrk="0">
              <a:spcBef>
                <a:spcPct val="0"/>
              </a:spcBef>
              <a:spcAft>
                <a:spcPct val="0"/>
              </a:spcAft>
              <a:defRPr sz="1200" b="1" kern="0" spc="-80">
                <a:solidFill>
                  <a:prstClr val="white"/>
                </a:solidFill>
                <a:latin typeface="맑은 고딕"/>
                <a:cs typeface="Arial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altLang="ko-KR" sz="1600" dirty="0">
                <a:solidFill>
                  <a:schemeClr val="tx1"/>
                </a:solidFill>
                <a:latin typeface="+mj-lt"/>
              </a:rPr>
              <a:t>DMS</a:t>
            </a:r>
          </a:p>
          <a:p>
            <a:pPr>
              <a:spcAft>
                <a:spcPts val="300"/>
              </a:spcAft>
            </a:pPr>
            <a:r>
              <a:rPr lang="en-US" altLang="ko-KR" dirty="0">
                <a:solidFill>
                  <a:schemeClr val="tx1"/>
                </a:solidFill>
                <a:latin typeface="+mj-lt"/>
              </a:rPr>
              <a:t>(Defect Management System)</a:t>
            </a:r>
            <a:endParaRPr lang="ko-KR" altLang="en-US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55" name="Text Box 10">
            <a:extLst>
              <a:ext uri="{FF2B5EF4-FFF2-40B4-BE49-F238E27FC236}">
                <a16:creationId xmlns:a16="http://schemas.microsoft.com/office/drawing/2014/main" id="{B99444B0-474B-A654-6F26-67A5CA39BDC9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982354" y="3199085"/>
            <a:ext cx="2592000" cy="504000"/>
          </a:xfrm>
          <a:prstGeom prst="rect">
            <a:avLst/>
          </a:prstGeom>
          <a:solidFill>
            <a:schemeClr val="bg1"/>
          </a:solidFill>
          <a:ln w="9525" algn="ctr">
            <a:noFill/>
            <a:round/>
            <a:headEnd/>
            <a:tailEnd/>
          </a:ln>
        </p:spPr>
        <p:txBody>
          <a:bodyPr wrap="none" lIns="0" tIns="36000" rIns="0" bIns="36000" anchor="ctr"/>
          <a:lstStyle>
            <a:defPPr>
              <a:defRPr lang="ko-KR"/>
            </a:defPPr>
            <a:lvl1pPr algn="ctr" fontAlgn="base" latinLnBrk="0">
              <a:spcBef>
                <a:spcPct val="0"/>
              </a:spcBef>
              <a:spcAft>
                <a:spcPct val="0"/>
              </a:spcAft>
              <a:defRPr sz="1200" b="1" kern="0" spc="-80">
                <a:solidFill>
                  <a:prstClr val="white"/>
                </a:solidFill>
                <a:latin typeface="맑은 고딕"/>
                <a:cs typeface="Arial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en-US" altLang="ko-KR" sz="1600" dirty="0">
                <a:solidFill>
                  <a:schemeClr val="tx1"/>
                </a:solidFill>
                <a:latin typeface="+mj-lt"/>
              </a:rPr>
              <a:t>YMS</a:t>
            </a:r>
          </a:p>
          <a:p>
            <a:pPr>
              <a:spcAft>
                <a:spcPts val="300"/>
              </a:spcAft>
            </a:pPr>
            <a:r>
              <a:rPr lang="en-US" altLang="ko-KR" dirty="0">
                <a:solidFill>
                  <a:schemeClr val="tx1"/>
                </a:solidFill>
                <a:latin typeface="+mj-lt"/>
              </a:rPr>
              <a:t>(Yield Management System)</a:t>
            </a:r>
            <a:endParaRPr lang="ko-KR" altLang="en-US"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6998210" y="3892648"/>
            <a:ext cx="4522002" cy="2505639"/>
            <a:chOff x="6998210" y="3892648"/>
            <a:chExt cx="4522002" cy="2505639"/>
          </a:xfrm>
        </p:grpSpPr>
        <p:grpSp>
          <p:nvGrpSpPr>
            <p:cNvPr id="22" name="그룹 21"/>
            <p:cNvGrpSpPr/>
            <p:nvPr/>
          </p:nvGrpSpPr>
          <p:grpSpPr>
            <a:xfrm>
              <a:off x="7033678" y="3892648"/>
              <a:ext cx="4062946" cy="1155189"/>
              <a:chOff x="7033678" y="4274334"/>
              <a:chExt cx="4062946" cy="1155189"/>
            </a:xfrm>
          </p:grpSpPr>
          <p:sp>
            <p:nvSpPr>
              <p:cNvPr id="735" name="직사각형 734">
                <a:extLst>
                  <a:ext uri="{FF2B5EF4-FFF2-40B4-BE49-F238E27FC236}">
                    <a16:creationId xmlns:a16="http://schemas.microsoft.com/office/drawing/2014/main" id="{D680D529-2ABA-4A10-5AA9-AADF8E8DCD59}"/>
                  </a:ext>
                </a:extLst>
              </p:cNvPr>
              <p:cNvSpPr/>
              <p:nvPr/>
            </p:nvSpPr>
            <p:spPr>
              <a:xfrm>
                <a:off x="7065251" y="4521582"/>
                <a:ext cx="4031373" cy="907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latin typeface="+mn-ea"/>
                  </a:rPr>
                  <a:t>AOI Defect </a:t>
                </a:r>
                <a:r>
                  <a:rPr lang="ko-KR" altLang="en-US" sz="1200" spc="-50" dirty="0">
                    <a:latin typeface="+mn-ea"/>
                  </a:rPr>
                  <a:t>데이터 파일 자동 수집</a:t>
                </a:r>
                <a:endParaRPr lang="en-US" altLang="ko-KR" sz="1200" spc="-50" dirty="0"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200" spc="-50" dirty="0">
                    <a:latin typeface="+mn-ea"/>
                  </a:rPr>
                  <a:t>전기적 검사</a:t>
                </a:r>
                <a:r>
                  <a:rPr lang="en-US" altLang="ko-KR" sz="1200" spc="-50" dirty="0">
                    <a:latin typeface="+mn-ea"/>
                  </a:rPr>
                  <a:t>(E-Test) </a:t>
                </a:r>
                <a:r>
                  <a:rPr lang="ko-KR" altLang="en-US" sz="1200" spc="-50" dirty="0">
                    <a:latin typeface="+mn-ea"/>
                  </a:rPr>
                  <a:t>데이터 파일 자동 수집</a:t>
                </a:r>
                <a:endParaRPr lang="en-US" altLang="ko-KR" sz="1200" spc="-50" dirty="0"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200" spc="-50" dirty="0">
                    <a:latin typeface="+mn-ea"/>
                  </a:rPr>
                  <a:t>전기적 검사가 불량인 데이터의 발생 위치 정보 확인</a:t>
                </a:r>
                <a:endParaRPr lang="en-US" altLang="ko-KR" sz="1200" spc="-50" dirty="0"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200" spc="-50" dirty="0">
                    <a:latin typeface="+mn-ea"/>
                  </a:rPr>
                  <a:t>위치 정보가 겹치는 </a:t>
                </a:r>
                <a:r>
                  <a:rPr lang="en-US" altLang="ko-KR" sz="1200" spc="-50" dirty="0">
                    <a:latin typeface="+mn-ea"/>
                  </a:rPr>
                  <a:t>Defect </a:t>
                </a:r>
                <a:r>
                  <a:rPr lang="ko-KR" altLang="en-US" sz="1200" spc="-50" dirty="0">
                    <a:latin typeface="+mn-ea"/>
                  </a:rPr>
                  <a:t>데이터 검색</a:t>
                </a:r>
                <a:endParaRPr lang="en-US" altLang="ko-KR" sz="1200" spc="-50" dirty="0">
                  <a:latin typeface="+mn-ea"/>
                </a:endParaRPr>
              </a:p>
            </p:txBody>
          </p:sp>
          <p:sp>
            <p:nvSpPr>
              <p:cNvPr id="765" name="TextBox 764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7033678" y="4274334"/>
                <a:ext cx="1942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sz="14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데이터 처리 절차</a:t>
                </a:r>
              </a:p>
            </p:txBody>
          </p:sp>
        </p:grpSp>
        <p:grpSp>
          <p:nvGrpSpPr>
            <p:cNvPr id="23" name="그룹 22"/>
            <p:cNvGrpSpPr/>
            <p:nvPr/>
          </p:nvGrpSpPr>
          <p:grpSpPr>
            <a:xfrm>
              <a:off x="7033678" y="5027835"/>
              <a:ext cx="4486534" cy="1370452"/>
              <a:chOff x="7033678" y="5504674"/>
              <a:chExt cx="4486534" cy="1370452"/>
            </a:xfrm>
          </p:grpSpPr>
          <p:sp>
            <p:nvSpPr>
              <p:cNvPr id="761" name="직사각형 760">
                <a:extLst>
                  <a:ext uri="{FF2B5EF4-FFF2-40B4-BE49-F238E27FC236}">
                    <a16:creationId xmlns:a16="http://schemas.microsoft.com/office/drawing/2014/main" id="{C06A93B1-B0E5-0680-8288-7A077C693304}"/>
                  </a:ext>
                </a:extLst>
              </p:cNvPr>
              <p:cNvSpPr/>
              <p:nvPr/>
            </p:nvSpPr>
            <p:spPr>
              <a:xfrm>
                <a:off x="7053367" y="5756871"/>
                <a:ext cx="2540575" cy="111825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Die Level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Correlation 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Defect → E-Test </a:t>
                </a:r>
                <a:r>
                  <a:rPr lang="ko-KR" altLang="en-US" sz="1200" spc="-50" dirty="0" err="1">
                    <a:solidFill>
                      <a:schemeClr val="tx1"/>
                    </a:solidFill>
                    <a:latin typeface="+mn-ea"/>
                  </a:rPr>
                  <a:t>전이율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AOI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Defect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Repeated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</a:t>
                </a: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Defect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설비 이상 </a:t>
                </a: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Monitoring</a:t>
                </a:r>
              </a:p>
            </p:txBody>
          </p:sp>
          <p:sp>
            <p:nvSpPr>
              <p:cNvPr id="766" name="TextBox 765">
                <a:extLst>
                  <a:ext uri="{FF2B5EF4-FFF2-40B4-BE49-F238E27FC236}">
                    <a16:creationId xmlns:a16="http://schemas.microsoft.com/office/drawing/2014/main" id="{94263706-7B61-1891-38EF-8C9E08B3C691}"/>
                  </a:ext>
                </a:extLst>
              </p:cNvPr>
              <p:cNvSpPr txBox="1"/>
              <p:nvPr/>
            </p:nvSpPr>
            <p:spPr>
              <a:xfrm>
                <a:off x="7033678" y="5504674"/>
                <a:ext cx="1942321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en-US"/>
                </a:defPPr>
                <a:lvl1pPr>
                  <a:defRPr sz="1400" b="1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Microsoft YaHei" panose="020B0503020204020204" pitchFamily="34" charset="-122"/>
                  </a:defRPr>
                </a:lvl1pPr>
              </a:lstStyle>
              <a:p>
                <a:r>
                  <a:rPr lang="ko-KR" altLang="en-US" dirty="0">
                    <a:solidFill>
                      <a:schemeClr val="tx2">
                        <a:lumMod val="75000"/>
                      </a:schemeClr>
                    </a:solidFill>
                  </a:rPr>
                  <a:t>분석 가능한 기능</a:t>
                </a:r>
              </a:p>
            </p:txBody>
          </p:sp>
          <p:sp>
            <p:nvSpPr>
              <p:cNvPr id="767" name="직사각형 766">
                <a:extLst>
                  <a:ext uri="{FF2B5EF4-FFF2-40B4-BE49-F238E27FC236}">
                    <a16:creationId xmlns:a16="http://schemas.microsoft.com/office/drawing/2014/main" id="{40B320D7-EF83-6522-360A-FD08DFE04A2F}"/>
                  </a:ext>
                </a:extLst>
              </p:cNvPr>
              <p:cNvSpPr/>
              <p:nvPr/>
            </p:nvSpPr>
            <p:spPr>
              <a:xfrm>
                <a:off x="9327084" y="5756871"/>
                <a:ext cx="2193128" cy="9079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Test 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데이터 누적 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누적 </a:t>
                </a: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Defect 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en-US" altLang="ko-KR" sz="1200" spc="-50" dirty="0">
                    <a:solidFill>
                      <a:schemeClr val="tx1"/>
                    </a:solidFill>
                    <a:latin typeface="+mn-ea"/>
                  </a:rPr>
                  <a:t>Defect Kill Ratio</a:t>
                </a: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 분석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  <a:p>
                <a:pPr marL="108000" indent="-108000">
                  <a:spcBef>
                    <a:spcPts val="200"/>
                  </a:spcBef>
                  <a:buClr>
                    <a:schemeClr val="tx2">
                      <a:lumMod val="60000"/>
                      <a:lumOff val="40000"/>
                    </a:schemeClr>
                  </a:buClr>
                  <a:buFont typeface="Arial" panose="020B0604020202020204" pitchFamily="34" charset="0"/>
                  <a:buChar char="•"/>
                </a:pPr>
                <a:r>
                  <a:rPr lang="ko-KR" altLang="en-US" sz="1200" spc="-50" dirty="0">
                    <a:solidFill>
                      <a:schemeClr val="tx1"/>
                    </a:solidFill>
                    <a:latin typeface="+mn-ea"/>
                  </a:rPr>
                  <a:t>공정 별 기여도</a:t>
                </a:r>
                <a:endParaRPr lang="en-US" altLang="ko-KR" sz="1200" spc="-50" dirty="0">
                  <a:solidFill>
                    <a:schemeClr val="tx1"/>
                  </a:solidFill>
                  <a:latin typeface="+mn-ea"/>
                </a:endParaRPr>
              </a:p>
            </p:txBody>
          </p:sp>
        </p:grpSp>
        <p:grpSp>
          <p:nvGrpSpPr>
            <p:cNvPr id="142" name="그룹 141"/>
            <p:cNvGrpSpPr/>
            <p:nvPr/>
          </p:nvGrpSpPr>
          <p:grpSpPr>
            <a:xfrm>
              <a:off x="6998210" y="3948012"/>
              <a:ext cx="36000" cy="180000"/>
              <a:chOff x="884117" y="2855186"/>
              <a:chExt cx="36000" cy="180000"/>
            </a:xfrm>
          </p:grpSpPr>
          <p:sp>
            <p:nvSpPr>
              <p:cNvPr id="143" name="직사각형 142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4" name="직사각형 143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45" name="그룹 144"/>
            <p:cNvGrpSpPr/>
            <p:nvPr/>
          </p:nvGrpSpPr>
          <p:grpSpPr>
            <a:xfrm>
              <a:off x="6998210" y="5083199"/>
              <a:ext cx="36000" cy="180000"/>
              <a:chOff x="884117" y="2855186"/>
              <a:chExt cx="36000" cy="180000"/>
            </a:xfrm>
          </p:grpSpPr>
          <p:sp>
            <p:nvSpPr>
              <p:cNvPr id="146" name="직사각형 145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7" name="직사각형 146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726769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내용 개체 틀 1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Nexplant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QMS® YMS/TEST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시스템은 사용자 환경 설정과 데이터 분석을 보다 쉽고 효율적으로 수행할 수 있도록 다양한 기능을 제공합니다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부제목 1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2. </a:t>
            </a:r>
            <a:r>
              <a:rPr lang="ko-KR" altLang="en-US" dirty="0"/>
              <a:t>시스템 구축 범위</a:t>
            </a: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73D4C42C-EEC4-6240-3A8C-E8E6B2B032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2416434"/>
              </p:ext>
            </p:extLst>
          </p:nvPr>
        </p:nvGraphicFramePr>
        <p:xfrm>
          <a:off x="713014" y="2941640"/>
          <a:ext cx="3502524" cy="3226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267">
                  <a:extLst>
                    <a:ext uri="{9D8B030D-6E8A-4147-A177-3AD203B41FA5}">
                      <a16:colId xmlns:a16="http://schemas.microsoft.com/office/drawing/2014/main" val="1492878543"/>
                    </a:ext>
                  </a:extLst>
                </a:gridCol>
                <a:gridCol w="2632257">
                  <a:extLst>
                    <a:ext uri="{9D8B030D-6E8A-4147-A177-3AD203B41FA5}">
                      <a16:colId xmlns:a16="http://schemas.microsoft.com/office/drawing/2014/main" val="1452807807"/>
                    </a:ext>
                  </a:extLst>
                </a:gridCol>
              </a:tblGrid>
              <a:tr h="8949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Type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Color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Group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Alarm Setup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75013"/>
                  </a:ext>
                </a:extLst>
              </a:tr>
              <a:tr h="153921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Map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Chart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Stack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Stack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Image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Source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Pattern Search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822326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 Alarm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Kill Ratio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Equipment Defect Trend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19696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9B05F589-73DD-2657-0FB4-654DA5E7B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9363988"/>
              </p:ext>
            </p:extLst>
          </p:nvPr>
        </p:nvGraphicFramePr>
        <p:xfrm>
          <a:off x="4342988" y="2949260"/>
          <a:ext cx="3509781" cy="32190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2070">
                  <a:extLst>
                    <a:ext uri="{9D8B030D-6E8A-4147-A177-3AD203B41FA5}">
                      <a16:colId xmlns:a16="http://schemas.microsoft.com/office/drawing/2014/main" val="1492878543"/>
                    </a:ext>
                  </a:extLst>
                </a:gridCol>
                <a:gridCol w="2637711">
                  <a:extLst>
                    <a:ext uri="{9D8B030D-6E8A-4147-A177-3AD203B41FA5}">
                      <a16:colId xmlns:a16="http://schemas.microsoft.com/office/drawing/2014/main" val="1452807807"/>
                    </a:ext>
                  </a:extLst>
                </a:gridCol>
              </a:tblGrid>
              <a:tr h="91400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Wafer Map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Program Parameter Setup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Parsing Rule Setup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75013"/>
                  </a:ext>
                </a:extLst>
              </a:tr>
              <a:tr h="116014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Map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Cumulative Analysis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Bin Stack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Fail Pattern Search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822326"/>
                  </a:ext>
                </a:extLst>
              </a:tr>
              <a:tr h="114490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</a:t>
                      </a:r>
                    </a:p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 Map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Test Standard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Measure Data Report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9549674"/>
                  </a:ext>
                </a:extLst>
              </a:tr>
            </a:tbl>
          </a:graphicData>
        </a:graphic>
      </p:graphicFrame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CA1852C7-8E36-C8C3-8DD2-B45B953FC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156294"/>
              </p:ext>
            </p:extLst>
          </p:nvPr>
        </p:nvGraphicFramePr>
        <p:xfrm>
          <a:off x="7987476" y="2949260"/>
          <a:ext cx="3502524" cy="3219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267">
                  <a:extLst>
                    <a:ext uri="{9D8B030D-6E8A-4147-A177-3AD203B41FA5}">
                      <a16:colId xmlns:a16="http://schemas.microsoft.com/office/drawing/2014/main" val="1492878543"/>
                    </a:ext>
                  </a:extLst>
                </a:gridCol>
                <a:gridCol w="2632257">
                  <a:extLst>
                    <a:ext uri="{9D8B030D-6E8A-4147-A177-3AD203B41FA5}">
                      <a16:colId xmlns:a16="http://schemas.microsoft.com/office/drawing/2014/main" val="1452807807"/>
                    </a:ext>
                  </a:extLst>
                </a:gridCol>
              </a:tblGrid>
              <a:tr h="117247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Setup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Die Layer Setup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CAD Data Mapping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5675013"/>
                  </a:ext>
                </a:extLst>
              </a:tr>
              <a:tr h="105598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Analysis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Die Level View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Map View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Map Gallery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Chart Analysis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2822326"/>
                  </a:ext>
                </a:extLst>
              </a:tr>
              <a:tr h="9912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Kill Ratio 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전이율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  <a:p>
                      <a:pPr marL="171450" indent="-171450" latinLnBrk="1">
                        <a:buFont typeface="Wingdings" panose="05000000000000000000" pitchFamily="2" charset="2"/>
                        <a:buChar char="ü"/>
                      </a:pP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공정별 기여도 분석 </a:t>
                      </a: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Report</a:t>
                      </a:r>
                    </a:p>
                    <a:p>
                      <a:pPr marL="171450" marR="0" lvl="0" indent="-1714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ü"/>
                        <a:tabLst/>
                        <a:defRPr/>
                      </a:pPr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Defect/Test Alarm Report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7019696"/>
                  </a:ext>
                </a:extLst>
              </a:tr>
            </a:tbl>
          </a:graphicData>
        </a:graphic>
      </p:graphicFrame>
      <p:sp>
        <p:nvSpPr>
          <p:cNvPr id="12" name="갈매기형 수장 3">
            <a:extLst>
              <a:ext uri="{FF2B5EF4-FFF2-40B4-BE49-F238E27FC236}">
                <a16:creationId xmlns:a16="http://schemas.microsoft.com/office/drawing/2014/main" id="{7F51B95E-6E32-E779-2287-64EBF64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600325"/>
            <a:ext cx="3513600" cy="339768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DMS </a:t>
            </a:r>
            <a:r>
              <a:rPr kumimoji="1" lang="en-US" altLang="ko-KR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(Defect Management System)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4" name="갈매기형 수장 3">
            <a:extLst>
              <a:ext uri="{FF2B5EF4-FFF2-40B4-BE49-F238E27FC236}">
                <a16:creationId xmlns:a16="http://schemas.microsoft.com/office/drawing/2014/main" id="{BB9EBBAC-E09F-E2D6-AF37-7FFEB7FBCA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2081" y="2600325"/>
            <a:ext cx="3513600" cy="339768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YMS </a:t>
            </a:r>
            <a:r>
              <a:rPr kumimoji="1" lang="en-US" altLang="ko-KR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(Yield Management System)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8" name="갈매기형 수장 3">
            <a:extLst>
              <a:ext uri="{FF2B5EF4-FFF2-40B4-BE49-F238E27FC236}">
                <a16:creationId xmlns:a16="http://schemas.microsoft.com/office/drawing/2014/main" id="{70B0C776-2106-1694-01DE-67026D51B3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85662" y="2600325"/>
            <a:ext cx="3513600" cy="339768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 latinLnBrk="0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DMS-YMS Correlation Analysis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77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내용 개체 틀 20"/>
          <p:cNvSpPr>
            <a:spLocks noGrp="1"/>
          </p:cNvSpPr>
          <p:nvPr>
            <p:ph sz="quarter" idx="12"/>
          </p:nvPr>
        </p:nvSpPr>
        <p:spPr>
          <a:xfrm>
            <a:off x="697665" y="1454150"/>
            <a:ext cx="10805538" cy="1146175"/>
          </a:xfrm>
        </p:spPr>
        <p:txBody>
          <a:bodyPr/>
          <a:lstStyle/>
          <a:p>
            <a:r>
              <a:rPr lang="en-US" altLang="ko-KR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Nexplant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QMS® YMS/TEST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시스템은 사용자 환경 설정과 데이터 분석을 보다 쉽고 효율적으로 수행할 수 있도록 다양한 기능을 </a:t>
            </a:r>
            <a:r>
              <a:rPr lang="ko-KR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제공합니다</a:t>
            </a:r>
            <a:r>
              <a:rPr lang="en-US" altLang="ko-KR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en-US" altLang="ko-KR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ko-KR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ko-KR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en-US" altLang="ko-KR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20" name="부제목 19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중점 추진 항목</a:t>
            </a:r>
          </a:p>
        </p:txBody>
      </p:sp>
      <p:sp>
        <p:nvSpPr>
          <p:cNvPr id="58" name="타원 57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5084539" y="3123710"/>
            <a:ext cx="1795536" cy="1795536"/>
          </a:xfrm>
          <a:prstGeom prst="ellipse">
            <a:avLst/>
          </a:prstGeom>
          <a:solidFill>
            <a:schemeClr val="tx2">
              <a:lumMod val="20000"/>
              <a:lumOff val="80000"/>
              <a:alpha val="18000"/>
            </a:schemeClr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b="1" spc="-50" dirty="0">
              <a:solidFill>
                <a:srgbClr val="0065D7"/>
              </a:solidFill>
              <a:latin typeface="+mj-ea"/>
              <a:ea typeface="+mj-ea"/>
            </a:endParaRPr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5219971" y="3259142"/>
            <a:ext cx="1524675" cy="1524675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1" name="모서리가 둥근 직사각형 59">
            <a:extLst>
              <a:ext uri="{FF2B5EF4-FFF2-40B4-BE49-F238E27FC236}">
                <a16:creationId xmlns:a16="http://schemas.microsoft.com/office/drawing/2014/main" id="{7FE657D8-661F-E799-F4A2-0085F198A59A}"/>
              </a:ext>
            </a:extLst>
          </p:cNvPr>
          <p:cNvSpPr/>
          <p:nvPr/>
        </p:nvSpPr>
        <p:spPr bwMode="auto">
          <a:xfrm>
            <a:off x="5356476" y="4164892"/>
            <a:ext cx="1325684" cy="369332"/>
          </a:xfrm>
          <a:prstGeom prst="roundRect">
            <a:avLst>
              <a:gd name="adj" fmla="val 0"/>
            </a:avLst>
          </a:prstGeom>
          <a:noFill/>
          <a:ln w="12700">
            <a:noFill/>
            <a:round/>
            <a:headEnd/>
            <a:tailEnd/>
          </a:ln>
        </p:spPr>
        <p:txBody>
          <a:bodyPr wrap="none" lIns="0" tIns="0" rIns="0" bIns="0" anchor="ctr">
            <a:spAutoFit/>
          </a:bodyPr>
          <a:lstStyle/>
          <a:p>
            <a:pPr marL="0" lvl="1" algn="ctr" eaLnBrk="0" hangingPunct="0">
              <a:spcAft>
                <a:spcPts val="500"/>
              </a:spcAft>
            </a:pPr>
            <a:r>
              <a:rPr lang="en-US" altLang="ko-KR" sz="1200" b="1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Nexplant</a:t>
            </a:r>
            <a:r>
              <a:rPr lang="en-US" altLang="ko-KR" sz="12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QMS® </a:t>
            </a:r>
            <a:r>
              <a:rPr lang="en-US" altLang="ko-KR" sz="12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/>
            </a:r>
            <a:br>
              <a:rPr lang="en-US" altLang="ko-KR" sz="12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ko-KR" sz="12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YMS/TEST</a:t>
            </a:r>
            <a:endParaRPr lang="ko-KR" altLang="en-US" sz="1200" b="1" spc="-60" dirty="0">
              <a:solidFill>
                <a:schemeClr val="accent1"/>
              </a:solidFill>
              <a:latin typeface="Pretendard SemiBold" panose="02000703000000020004" pitchFamily="50" charset="-127"/>
              <a:ea typeface="Pretendard SemiBold" panose="02000703000000020004" pitchFamily="50" charset="-127"/>
              <a:sym typeface="Monotype Sorts" pitchFamily="2" charset="2"/>
            </a:endParaRPr>
          </a:p>
        </p:txBody>
      </p:sp>
      <p:sp>
        <p:nvSpPr>
          <p:cNvPr id="62" name="타원 61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4348260" y="4474879"/>
            <a:ext cx="720000" cy="72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3912035" y="3567022"/>
            <a:ext cx="720000" cy="72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5" name="타원 64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6836541" y="2814498"/>
            <a:ext cx="720000" cy="72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6" name="타원 65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7202585" y="3742888"/>
            <a:ext cx="720000" cy="72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6845856" y="4638069"/>
            <a:ext cx="720000" cy="72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8306FF9E-0813-5743-9252-F693CAD64181}"/>
              </a:ext>
            </a:extLst>
          </p:cNvPr>
          <p:cNvSpPr/>
          <p:nvPr/>
        </p:nvSpPr>
        <p:spPr>
          <a:xfrm>
            <a:off x="5986780" y="5069717"/>
            <a:ext cx="720000" cy="720000"/>
          </a:xfrm>
          <a:prstGeom prst="ellipse">
            <a:avLst/>
          </a:prstGeom>
          <a:solidFill>
            <a:schemeClr val="bg1"/>
          </a:solidFill>
          <a:ln w="19050">
            <a:solidFill>
              <a:schemeClr val="tx2">
                <a:lumMod val="20000"/>
                <a:lumOff val="8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rIns="0" rtlCol="0" anchor="ctr"/>
          <a:lstStyle/>
          <a:p>
            <a:pPr algn="ctr" defTabSz="914400" latinLnBrk="1"/>
            <a:endParaRPr lang="ko-KR" altLang="en-US" spc="-8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cxnSp>
        <p:nvCxnSpPr>
          <p:cNvPr id="70" name="직선 화살표 연결선 69"/>
          <p:cNvCxnSpPr>
            <a:stCxn id="63" idx="6"/>
            <a:endCxn id="58" idx="2"/>
          </p:cNvCxnSpPr>
          <p:nvPr/>
        </p:nvCxnSpPr>
        <p:spPr>
          <a:xfrm>
            <a:off x="4632035" y="3927022"/>
            <a:ext cx="452504" cy="94456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sm" len="sm"/>
            <a:tailEnd type="oval" w="sm" len="sm"/>
          </a:ln>
        </p:spPr>
      </p:cxnSp>
      <p:cxnSp>
        <p:nvCxnSpPr>
          <p:cNvPr id="72" name="직선 화살표 연결선 71"/>
          <p:cNvCxnSpPr/>
          <p:nvPr/>
        </p:nvCxnSpPr>
        <p:spPr>
          <a:xfrm flipV="1">
            <a:off x="4965320" y="4449378"/>
            <a:ext cx="203223" cy="148661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sm" len="sm"/>
            <a:tailEnd type="oval" w="sm" len="sm"/>
          </a:ln>
        </p:spPr>
      </p:cxnSp>
      <p:grpSp>
        <p:nvGrpSpPr>
          <p:cNvPr id="80" name="그룹 79"/>
          <p:cNvGrpSpPr/>
          <p:nvPr/>
        </p:nvGrpSpPr>
        <p:grpSpPr>
          <a:xfrm flipH="1">
            <a:off x="6651940" y="3294991"/>
            <a:ext cx="553594" cy="1448520"/>
            <a:chOff x="4712919" y="3513546"/>
            <a:chExt cx="553594" cy="1448520"/>
          </a:xfrm>
        </p:grpSpPr>
        <p:cxnSp>
          <p:nvCxnSpPr>
            <p:cNvPr id="77" name="직선 화살표 연결선 76"/>
            <p:cNvCxnSpPr/>
            <p:nvPr/>
          </p:nvCxnSpPr>
          <p:spPr>
            <a:xfrm>
              <a:off x="5067960" y="3513546"/>
              <a:ext cx="198553" cy="128449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oval" w="sm" len="sm"/>
              <a:tailEnd type="oval" w="sm" len="sm"/>
            </a:ln>
          </p:spPr>
        </p:cxnSp>
        <p:cxnSp>
          <p:nvCxnSpPr>
            <p:cNvPr id="78" name="직선 화살표 연결선 77"/>
            <p:cNvCxnSpPr>
              <a:endCxn id="58" idx="6"/>
            </p:cNvCxnSpPr>
            <p:nvPr/>
          </p:nvCxnSpPr>
          <p:spPr>
            <a:xfrm flipV="1">
              <a:off x="4712919" y="4240033"/>
              <a:ext cx="325459" cy="24684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oval" w="sm" len="sm"/>
              <a:tailEnd type="oval" w="sm" len="sm"/>
            </a:ln>
          </p:spPr>
        </p:cxnSp>
        <p:cxnSp>
          <p:nvCxnSpPr>
            <p:cNvPr id="79" name="직선 화살표 연결선 78"/>
            <p:cNvCxnSpPr>
              <a:stCxn id="67" idx="1"/>
            </p:cNvCxnSpPr>
            <p:nvPr/>
          </p:nvCxnSpPr>
          <p:spPr>
            <a:xfrm flipV="1">
              <a:off x="4967155" y="4809866"/>
              <a:ext cx="275394" cy="152200"/>
            </a:xfrm>
            <a:prstGeom prst="straightConnector1">
              <a:avLst/>
            </a:prstGeom>
            <a:ln>
              <a:solidFill>
                <a:schemeClr val="bg1">
                  <a:lumMod val="50000"/>
                </a:schemeClr>
              </a:solidFill>
              <a:headEnd type="oval" w="sm" len="sm"/>
              <a:tailEnd type="oval" w="sm" len="sm"/>
            </a:ln>
          </p:spPr>
        </p:cxnSp>
      </p:grpSp>
      <p:cxnSp>
        <p:nvCxnSpPr>
          <p:cNvPr id="81" name="직선 화살표 연결선 80"/>
          <p:cNvCxnSpPr/>
          <p:nvPr/>
        </p:nvCxnSpPr>
        <p:spPr>
          <a:xfrm flipH="1" flipV="1">
            <a:off x="6196913" y="4866169"/>
            <a:ext cx="28089" cy="23998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sm" len="sm"/>
            <a:tailEnd type="oval" w="sm" len="sm"/>
          </a:ln>
        </p:spPr>
      </p:cxnSp>
      <p:pic>
        <p:nvPicPr>
          <p:cNvPr id="171" name="그림 170"/>
          <p:cNvPicPr>
            <a:picLocks noChangeAspect="1"/>
          </p:cNvPicPr>
          <p:nvPr/>
        </p:nvPicPr>
        <p:blipFill rotWithShape="1">
          <a:blip r:embed="rId2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77" t="35474" r="50474" b="45524"/>
          <a:stretch/>
        </p:blipFill>
        <p:spPr>
          <a:xfrm>
            <a:off x="6113056" y="5183838"/>
            <a:ext cx="522985" cy="437324"/>
          </a:xfrm>
          <a:prstGeom prst="rect">
            <a:avLst/>
          </a:prstGeom>
        </p:spPr>
      </p:pic>
      <p:grpSp>
        <p:nvGrpSpPr>
          <p:cNvPr id="271" name="그룹 270"/>
          <p:cNvGrpSpPr/>
          <p:nvPr/>
        </p:nvGrpSpPr>
        <p:grpSpPr>
          <a:xfrm>
            <a:off x="4354999" y="2796016"/>
            <a:ext cx="720000" cy="720000"/>
            <a:chOff x="4009571" y="2660305"/>
            <a:chExt cx="863435" cy="863435"/>
          </a:xfrm>
        </p:grpSpPr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8306FF9E-0813-5743-9252-F693CAD64181}"/>
                </a:ext>
              </a:extLst>
            </p:cNvPr>
            <p:cNvSpPr/>
            <p:nvPr/>
          </p:nvSpPr>
          <p:spPr>
            <a:xfrm>
              <a:off x="4009571" y="2660305"/>
              <a:ext cx="863435" cy="863435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2">
                  <a:lumMod val="20000"/>
                  <a:lumOff val="80000"/>
                </a:schemeClr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0" rtlCol="0" anchor="ctr"/>
            <a:lstStyle/>
            <a:p>
              <a:pPr algn="ctr" defTabSz="914400" latinLnBrk="1"/>
              <a:endParaRPr lang="ko-KR" altLang="en-US" spc="-8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endParaRPr>
            </a:p>
          </p:txBody>
        </p:sp>
        <p:pic>
          <p:nvPicPr>
            <p:cNvPr id="172" name="그림 171"/>
            <p:cNvPicPr>
              <a:picLocks noChangeAspect="1"/>
            </p:cNvPicPr>
            <p:nvPr/>
          </p:nvPicPr>
          <p:blipFill rotWithShape="1">
            <a:blip r:embed="rId3" cstate="hqprint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931" t="7741" r="75009" b="72474"/>
            <a:stretch/>
          </p:blipFill>
          <p:spPr>
            <a:xfrm>
              <a:off x="4120504" y="2836829"/>
              <a:ext cx="638821" cy="559495"/>
            </a:xfrm>
            <a:prstGeom prst="rect">
              <a:avLst/>
            </a:prstGeom>
          </p:spPr>
        </p:pic>
        <p:sp>
          <p:nvSpPr>
            <p:cNvPr id="173" name="직사각형 172"/>
            <p:cNvSpPr/>
            <p:nvPr/>
          </p:nvSpPr>
          <p:spPr>
            <a:xfrm>
              <a:off x="4450556" y="2909487"/>
              <a:ext cx="132384" cy="2028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4507933" y="2961289"/>
              <a:ext cx="132384" cy="157532"/>
            </a:xfrm>
            <a:custGeom>
              <a:avLst/>
              <a:gdLst>
                <a:gd name="connsiteX0" fmla="*/ 0 w 132384"/>
                <a:gd name="connsiteY0" fmla="*/ 0 h 157532"/>
                <a:gd name="connsiteX1" fmla="*/ 132384 w 132384"/>
                <a:gd name="connsiteY1" fmla="*/ 0 h 157532"/>
                <a:gd name="connsiteX2" fmla="*/ 132384 w 132384"/>
                <a:gd name="connsiteY2" fmla="*/ 157532 h 157532"/>
                <a:gd name="connsiteX3" fmla="*/ 0 w 132384"/>
                <a:gd name="connsiteY3" fmla="*/ 157532 h 157532"/>
                <a:gd name="connsiteX4" fmla="*/ 0 w 132384"/>
                <a:gd name="connsiteY4" fmla="*/ 0 h 157532"/>
                <a:gd name="connsiteX0" fmla="*/ 0 w 132384"/>
                <a:gd name="connsiteY0" fmla="*/ 0 h 157532"/>
                <a:gd name="connsiteX1" fmla="*/ 132384 w 132384"/>
                <a:gd name="connsiteY1" fmla="*/ 0 h 157532"/>
                <a:gd name="connsiteX2" fmla="*/ 116905 w 132384"/>
                <a:gd name="connsiteY2" fmla="*/ 140864 h 157532"/>
                <a:gd name="connsiteX3" fmla="*/ 0 w 132384"/>
                <a:gd name="connsiteY3" fmla="*/ 157532 h 157532"/>
                <a:gd name="connsiteX4" fmla="*/ 0 w 132384"/>
                <a:gd name="connsiteY4" fmla="*/ 0 h 157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32384" h="157532">
                  <a:moveTo>
                    <a:pt x="0" y="0"/>
                  </a:moveTo>
                  <a:lnTo>
                    <a:pt x="132384" y="0"/>
                  </a:lnTo>
                  <a:lnTo>
                    <a:pt x="116905" y="140864"/>
                  </a:lnTo>
                  <a:lnTo>
                    <a:pt x="0" y="157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78" name="그룹 177"/>
          <p:cNvGrpSpPr/>
          <p:nvPr/>
        </p:nvGrpSpPr>
        <p:grpSpPr>
          <a:xfrm>
            <a:off x="5685984" y="3585970"/>
            <a:ext cx="678241" cy="404232"/>
            <a:chOff x="4714558" y="5805838"/>
            <a:chExt cx="793750" cy="473075"/>
          </a:xfrm>
          <a:solidFill>
            <a:schemeClr val="tx2"/>
          </a:solidFill>
        </p:grpSpPr>
        <p:sp>
          <p:nvSpPr>
            <p:cNvPr id="186" name="Freeform 1320"/>
            <p:cNvSpPr>
              <a:spLocks noEditPoints="1"/>
            </p:cNvSpPr>
            <p:nvPr/>
          </p:nvSpPr>
          <p:spPr bwMode="auto">
            <a:xfrm>
              <a:off x="4990783" y="5805838"/>
              <a:ext cx="517525" cy="333375"/>
            </a:xfrm>
            <a:custGeom>
              <a:avLst/>
              <a:gdLst>
                <a:gd name="T0" fmla="*/ 29 w 977"/>
                <a:gd name="T1" fmla="*/ 630 h 630"/>
                <a:gd name="T2" fmla="*/ 23 w 977"/>
                <a:gd name="T3" fmla="*/ 630 h 630"/>
                <a:gd name="T4" fmla="*/ 13 w 977"/>
                <a:gd name="T5" fmla="*/ 625 h 630"/>
                <a:gd name="T6" fmla="*/ 4 w 977"/>
                <a:gd name="T7" fmla="*/ 616 h 630"/>
                <a:gd name="T8" fmla="*/ 0 w 977"/>
                <a:gd name="T9" fmla="*/ 606 h 630"/>
                <a:gd name="T10" fmla="*/ 0 w 977"/>
                <a:gd name="T11" fmla="*/ 31 h 630"/>
                <a:gd name="T12" fmla="*/ 0 w 977"/>
                <a:gd name="T13" fmla="*/ 25 h 630"/>
                <a:gd name="T14" fmla="*/ 4 w 977"/>
                <a:gd name="T15" fmla="*/ 13 h 630"/>
                <a:gd name="T16" fmla="*/ 13 w 977"/>
                <a:gd name="T17" fmla="*/ 6 h 630"/>
                <a:gd name="T18" fmla="*/ 23 w 977"/>
                <a:gd name="T19" fmla="*/ 1 h 630"/>
                <a:gd name="T20" fmla="*/ 947 w 977"/>
                <a:gd name="T21" fmla="*/ 0 h 630"/>
                <a:gd name="T22" fmla="*/ 952 w 977"/>
                <a:gd name="T23" fmla="*/ 1 h 630"/>
                <a:gd name="T24" fmla="*/ 964 w 977"/>
                <a:gd name="T25" fmla="*/ 6 h 630"/>
                <a:gd name="T26" fmla="*/ 972 w 977"/>
                <a:gd name="T27" fmla="*/ 13 h 630"/>
                <a:gd name="T28" fmla="*/ 977 w 977"/>
                <a:gd name="T29" fmla="*/ 25 h 630"/>
                <a:gd name="T30" fmla="*/ 977 w 977"/>
                <a:gd name="T31" fmla="*/ 599 h 630"/>
                <a:gd name="T32" fmla="*/ 977 w 977"/>
                <a:gd name="T33" fmla="*/ 606 h 630"/>
                <a:gd name="T34" fmla="*/ 972 w 977"/>
                <a:gd name="T35" fmla="*/ 616 h 630"/>
                <a:gd name="T36" fmla="*/ 964 w 977"/>
                <a:gd name="T37" fmla="*/ 625 h 630"/>
                <a:gd name="T38" fmla="*/ 952 w 977"/>
                <a:gd name="T39" fmla="*/ 630 h 630"/>
                <a:gd name="T40" fmla="*/ 947 w 977"/>
                <a:gd name="T41" fmla="*/ 630 h 630"/>
                <a:gd name="T42" fmla="*/ 29 w 977"/>
                <a:gd name="T43" fmla="*/ 22 h 630"/>
                <a:gd name="T44" fmla="*/ 23 w 977"/>
                <a:gd name="T45" fmla="*/ 25 h 630"/>
                <a:gd name="T46" fmla="*/ 20 w 977"/>
                <a:gd name="T47" fmla="*/ 31 h 630"/>
                <a:gd name="T48" fmla="*/ 20 w 977"/>
                <a:gd name="T49" fmla="*/ 599 h 630"/>
                <a:gd name="T50" fmla="*/ 23 w 977"/>
                <a:gd name="T51" fmla="*/ 606 h 630"/>
                <a:gd name="T52" fmla="*/ 29 w 977"/>
                <a:gd name="T53" fmla="*/ 609 h 630"/>
                <a:gd name="T54" fmla="*/ 947 w 977"/>
                <a:gd name="T55" fmla="*/ 609 h 630"/>
                <a:gd name="T56" fmla="*/ 952 w 977"/>
                <a:gd name="T57" fmla="*/ 606 h 630"/>
                <a:gd name="T58" fmla="*/ 955 w 977"/>
                <a:gd name="T59" fmla="*/ 599 h 630"/>
                <a:gd name="T60" fmla="*/ 955 w 977"/>
                <a:gd name="T61" fmla="*/ 31 h 630"/>
                <a:gd name="T62" fmla="*/ 952 w 977"/>
                <a:gd name="T63" fmla="*/ 25 h 630"/>
                <a:gd name="T64" fmla="*/ 947 w 977"/>
                <a:gd name="T65" fmla="*/ 22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77" h="630">
                  <a:moveTo>
                    <a:pt x="947" y="630"/>
                  </a:moveTo>
                  <a:lnTo>
                    <a:pt x="29" y="630"/>
                  </a:lnTo>
                  <a:lnTo>
                    <a:pt x="29" y="630"/>
                  </a:lnTo>
                  <a:lnTo>
                    <a:pt x="23" y="630"/>
                  </a:lnTo>
                  <a:lnTo>
                    <a:pt x="17" y="628"/>
                  </a:lnTo>
                  <a:lnTo>
                    <a:pt x="13" y="625"/>
                  </a:lnTo>
                  <a:lnTo>
                    <a:pt x="8" y="621"/>
                  </a:lnTo>
                  <a:lnTo>
                    <a:pt x="4" y="616"/>
                  </a:lnTo>
                  <a:lnTo>
                    <a:pt x="1" y="612"/>
                  </a:lnTo>
                  <a:lnTo>
                    <a:pt x="0" y="606"/>
                  </a:lnTo>
                  <a:lnTo>
                    <a:pt x="0" y="599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1" y="19"/>
                  </a:lnTo>
                  <a:lnTo>
                    <a:pt x="4" y="13"/>
                  </a:lnTo>
                  <a:lnTo>
                    <a:pt x="8" y="9"/>
                  </a:lnTo>
                  <a:lnTo>
                    <a:pt x="13" y="6"/>
                  </a:lnTo>
                  <a:lnTo>
                    <a:pt x="17" y="3"/>
                  </a:lnTo>
                  <a:lnTo>
                    <a:pt x="23" y="1"/>
                  </a:lnTo>
                  <a:lnTo>
                    <a:pt x="29" y="0"/>
                  </a:lnTo>
                  <a:lnTo>
                    <a:pt x="947" y="0"/>
                  </a:lnTo>
                  <a:lnTo>
                    <a:pt x="947" y="0"/>
                  </a:lnTo>
                  <a:lnTo>
                    <a:pt x="952" y="1"/>
                  </a:lnTo>
                  <a:lnTo>
                    <a:pt x="958" y="3"/>
                  </a:lnTo>
                  <a:lnTo>
                    <a:pt x="964" y="6"/>
                  </a:lnTo>
                  <a:lnTo>
                    <a:pt x="969" y="9"/>
                  </a:lnTo>
                  <a:lnTo>
                    <a:pt x="972" y="13"/>
                  </a:lnTo>
                  <a:lnTo>
                    <a:pt x="975" y="19"/>
                  </a:lnTo>
                  <a:lnTo>
                    <a:pt x="977" y="25"/>
                  </a:lnTo>
                  <a:lnTo>
                    <a:pt x="977" y="31"/>
                  </a:lnTo>
                  <a:lnTo>
                    <a:pt x="977" y="599"/>
                  </a:lnTo>
                  <a:lnTo>
                    <a:pt x="977" y="599"/>
                  </a:lnTo>
                  <a:lnTo>
                    <a:pt x="977" y="606"/>
                  </a:lnTo>
                  <a:lnTo>
                    <a:pt x="975" y="612"/>
                  </a:lnTo>
                  <a:lnTo>
                    <a:pt x="972" y="616"/>
                  </a:lnTo>
                  <a:lnTo>
                    <a:pt x="969" y="621"/>
                  </a:lnTo>
                  <a:lnTo>
                    <a:pt x="964" y="625"/>
                  </a:lnTo>
                  <a:lnTo>
                    <a:pt x="958" y="628"/>
                  </a:lnTo>
                  <a:lnTo>
                    <a:pt x="952" y="630"/>
                  </a:lnTo>
                  <a:lnTo>
                    <a:pt x="947" y="630"/>
                  </a:lnTo>
                  <a:lnTo>
                    <a:pt x="947" y="630"/>
                  </a:lnTo>
                  <a:close/>
                  <a:moveTo>
                    <a:pt x="29" y="22"/>
                  </a:moveTo>
                  <a:lnTo>
                    <a:pt x="29" y="22"/>
                  </a:lnTo>
                  <a:lnTo>
                    <a:pt x="26" y="22"/>
                  </a:lnTo>
                  <a:lnTo>
                    <a:pt x="23" y="25"/>
                  </a:lnTo>
                  <a:lnTo>
                    <a:pt x="22" y="28"/>
                  </a:lnTo>
                  <a:lnTo>
                    <a:pt x="20" y="31"/>
                  </a:lnTo>
                  <a:lnTo>
                    <a:pt x="20" y="599"/>
                  </a:lnTo>
                  <a:lnTo>
                    <a:pt x="20" y="599"/>
                  </a:lnTo>
                  <a:lnTo>
                    <a:pt x="22" y="603"/>
                  </a:lnTo>
                  <a:lnTo>
                    <a:pt x="23" y="606"/>
                  </a:lnTo>
                  <a:lnTo>
                    <a:pt x="26" y="607"/>
                  </a:lnTo>
                  <a:lnTo>
                    <a:pt x="29" y="609"/>
                  </a:lnTo>
                  <a:lnTo>
                    <a:pt x="947" y="609"/>
                  </a:lnTo>
                  <a:lnTo>
                    <a:pt x="947" y="609"/>
                  </a:lnTo>
                  <a:lnTo>
                    <a:pt x="949" y="607"/>
                  </a:lnTo>
                  <a:lnTo>
                    <a:pt x="952" y="606"/>
                  </a:lnTo>
                  <a:lnTo>
                    <a:pt x="955" y="603"/>
                  </a:lnTo>
                  <a:lnTo>
                    <a:pt x="955" y="599"/>
                  </a:lnTo>
                  <a:lnTo>
                    <a:pt x="955" y="31"/>
                  </a:lnTo>
                  <a:lnTo>
                    <a:pt x="955" y="31"/>
                  </a:lnTo>
                  <a:lnTo>
                    <a:pt x="955" y="28"/>
                  </a:lnTo>
                  <a:lnTo>
                    <a:pt x="952" y="25"/>
                  </a:lnTo>
                  <a:lnTo>
                    <a:pt x="949" y="22"/>
                  </a:lnTo>
                  <a:lnTo>
                    <a:pt x="947" y="22"/>
                  </a:lnTo>
                  <a:lnTo>
                    <a:pt x="29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7" name="Freeform 1321"/>
            <p:cNvSpPr>
              <a:spLocks noEditPoints="1"/>
            </p:cNvSpPr>
            <p:nvPr/>
          </p:nvSpPr>
          <p:spPr bwMode="auto">
            <a:xfrm>
              <a:off x="5022533" y="5837588"/>
              <a:ext cx="454025" cy="269875"/>
            </a:xfrm>
            <a:custGeom>
              <a:avLst/>
              <a:gdLst>
                <a:gd name="T0" fmla="*/ 848 w 859"/>
                <a:gd name="T1" fmla="*/ 511 h 511"/>
                <a:gd name="T2" fmla="*/ 10 w 859"/>
                <a:gd name="T3" fmla="*/ 511 h 511"/>
                <a:gd name="T4" fmla="*/ 10 w 859"/>
                <a:gd name="T5" fmla="*/ 511 h 511"/>
                <a:gd name="T6" fmla="*/ 5 w 859"/>
                <a:gd name="T7" fmla="*/ 511 h 511"/>
                <a:gd name="T8" fmla="*/ 2 w 859"/>
                <a:gd name="T9" fmla="*/ 508 h 511"/>
                <a:gd name="T10" fmla="*/ 0 w 859"/>
                <a:gd name="T11" fmla="*/ 505 h 511"/>
                <a:gd name="T12" fmla="*/ 0 w 859"/>
                <a:gd name="T13" fmla="*/ 501 h 511"/>
                <a:gd name="T14" fmla="*/ 0 w 859"/>
                <a:gd name="T15" fmla="*/ 12 h 511"/>
                <a:gd name="T16" fmla="*/ 0 w 859"/>
                <a:gd name="T17" fmla="*/ 12 h 511"/>
                <a:gd name="T18" fmla="*/ 0 w 859"/>
                <a:gd name="T19" fmla="*/ 7 h 511"/>
                <a:gd name="T20" fmla="*/ 2 w 859"/>
                <a:gd name="T21" fmla="*/ 5 h 511"/>
                <a:gd name="T22" fmla="*/ 5 w 859"/>
                <a:gd name="T23" fmla="*/ 2 h 511"/>
                <a:gd name="T24" fmla="*/ 10 w 859"/>
                <a:gd name="T25" fmla="*/ 0 h 511"/>
                <a:gd name="T26" fmla="*/ 848 w 859"/>
                <a:gd name="T27" fmla="*/ 0 h 511"/>
                <a:gd name="T28" fmla="*/ 848 w 859"/>
                <a:gd name="T29" fmla="*/ 0 h 511"/>
                <a:gd name="T30" fmla="*/ 852 w 859"/>
                <a:gd name="T31" fmla="*/ 2 h 511"/>
                <a:gd name="T32" fmla="*/ 857 w 859"/>
                <a:gd name="T33" fmla="*/ 5 h 511"/>
                <a:gd name="T34" fmla="*/ 858 w 859"/>
                <a:gd name="T35" fmla="*/ 7 h 511"/>
                <a:gd name="T36" fmla="*/ 859 w 859"/>
                <a:gd name="T37" fmla="*/ 12 h 511"/>
                <a:gd name="T38" fmla="*/ 859 w 859"/>
                <a:gd name="T39" fmla="*/ 501 h 511"/>
                <a:gd name="T40" fmla="*/ 859 w 859"/>
                <a:gd name="T41" fmla="*/ 501 h 511"/>
                <a:gd name="T42" fmla="*/ 858 w 859"/>
                <a:gd name="T43" fmla="*/ 505 h 511"/>
                <a:gd name="T44" fmla="*/ 857 w 859"/>
                <a:gd name="T45" fmla="*/ 508 h 511"/>
                <a:gd name="T46" fmla="*/ 852 w 859"/>
                <a:gd name="T47" fmla="*/ 511 h 511"/>
                <a:gd name="T48" fmla="*/ 848 w 859"/>
                <a:gd name="T49" fmla="*/ 511 h 511"/>
                <a:gd name="T50" fmla="*/ 848 w 859"/>
                <a:gd name="T51" fmla="*/ 511 h 511"/>
                <a:gd name="T52" fmla="*/ 22 w 859"/>
                <a:gd name="T53" fmla="*/ 489 h 511"/>
                <a:gd name="T54" fmla="*/ 837 w 859"/>
                <a:gd name="T55" fmla="*/ 489 h 511"/>
                <a:gd name="T56" fmla="*/ 837 w 859"/>
                <a:gd name="T57" fmla="*/ 22 h 511"/>
                <a:gd name="T58" fmla="*/ 22 w 859"/>
                <a:gd name="T59" fmla="*/ 22 h 511"/>
                <a:gd name="T60" fmla="*/ 22 w 859"/>
                <a:gd name="T61" fmla="*/ 489 h 5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59" h="511">
                  <a:moveTo>
                    <a:pt x="848" y="511"/>
                  </a:moveTo>
                  <a:lnTo>
                    <a:pt x="10" y="511"/>
                  </a:lnTo>
                  <a:lnTo>
                    <a:pt x="10" y="511"/>
                  </a:lnTo>
                  <a:lnTo>
                    <a:pt x="5" y="511"/>
                  </a:lnTo>
                  <a:lnTo>
                    <a:pt x="2" y="508"/>
                  </a:lnTo>
                  <a:lnTo>
                    <a:pt x="0" y="505"/>
                  </a:lnTo>
                  <a:lnTo>
                    <a:pt x="0" y="501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7"/>
                  </a:lnTo>
                  <a:lnTo>
                    <a:pt x="2" y="5"/>
                  </a:lnTo>
                  <a:lnTo>
                    <a:pt x="5" y="2"/>
                  </a:lnTo>
                  <a:lnTo>
                    <a:pt x="10" y="0"/>
                  </a:lnTo>
                  <a:lnTo>
                    <a:pt x="848" y="0"/>
                  </a:lnTo>
                  <a:lnTo>
                    <a:pt x="848" y="0"/>
                  </a:lnTo>
                  <a:lnTo>
                    <a:pt x="852" y="2"/>
                  </a:lnTo>
                  <a:lnTo>
                    <a:pt x="857" y="5"/>
                  </a:lnTo>
                  <a:lnTo>
                    <a:pt x="858" y="7"/>
                  </a:lnTo>
                  <a:lnTo>
                    <a:pt x="859" y="12"/>
                  </a:lnTo>
                  <a:lnTo>
                    <a:pt x="859" y="501"/>
                  </a:lnTo>
                  <a:lnTo>
                    <a:pt x="859" y="501"/>
                  </a:lnTo>
                  <a:lnTo>
                    <a:pt x="858" y="505"/>
                  </a:lnTo>
                  <a:lnTo>
                    <a:pt x="857" y="508"/>
                  </a:lnTo>
                  <a:lnTo>
                    <a:pt x="852" y="511"/>
                  </a:lnTo>
                  <a:lnTo>
                    <a:pt x="848" y="511"/>
                  </a:lnTo>
                  <a:lnTo>
                    <a:pt x="848" y="511"/>
                  </a:lnTo>
                  <a:close/>
                  <a:moveTo>
                    <a:pt x="22" y="489"/>
                  </a:moveTo>
                  <a:lnTo>
                    <a:pt x="837" y="489"/>
                  </a:lnTo>
                  <a:lnTo>
                    <a:pt x="837" y="22"/>
                  </a:lnTo>
                  <a:lnTo>
                    <a:pt x="22" y="22"/>
                  </a:lnTo>
                  <a:lnTo>
                    <a:pt x="22" y="48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8" name="Freeform 1322"/>
            <p:cNvSpPr>
              <a:spLocks/>
            </p:cNvSpPr>
            <p:nvPr/>
          </p:nvSpPr>
          <p:spPr bwMode="auto">
            <a:xfrm>
              <a:off x="5173346" y="6155088"/>
              <a:ext cx="152400" cy="92075"/>
            </a:xfrm>
            <a:custGeom>
              <a:avLst/>
              <a:gdLst>
                <a:gd name="T0" fmla="*/ 277 w 287"/>
                <a:gd name="T1" fmla="*/ 172 h 172"/>
                <a:gd name="T2" fmla="*/ 10 w 287"/>
                <a:gd name="T3" fmla="*/ 172 h 172"/>
                <a:gd name="T4" fmla="*/ 10 w 287"/>
                <a:gd name="T5" fmla="*/ 172 h 172"/>
                <a:gd name="T6" fmla="*/ 6 w 287"/>
                <a:gd name="T7" fmla="*/ 170 h 172"/>
                <a:gd name="T8" fmla="*/ 1 w 287"/>
                <a:gd name="T9" fmla="*/ 167 h 172"/>
                <a:gd name="T10" fmla="*/ 1 w 287"/>
                <a:gd name="T11" fmla="*/ 167 h 172"/>
                <a:gd name="T12" fmla="*/ 0 w 287"/>
                <a:gd name="T13" fmla="*/ 164 h 172"/>
                <a:gd name="T14" fmla="*/ 0 w 287"/>
                <a:gd name="T15" fmla="*/ 160 h 172"/>
                <a:gd name="T16" fmla="*/ 17 w 287"/>
                <a:gd name="T17" fmla="*/ 0 h 172"/>
                <a:gd name="T18" fmla="*/ 40 w 287"/>
                <a:gd name="T19" fmla="*/ 3 h 172"/>
                <a:gd name="T20" fmla="*/ 22 w 287"/>
                <a:gd name="T21" fmla="*/ 149 h 172"/>
                <a:gd name="T22" fmla="*/ 264 w 287"/>
                <a:gd name="T23" fmla="*/ 149 h 172"/>
                <a:gd name="T24" fmla="*/ 246 w 287"/>
                <a:gd name="T25" fmla="*/ 3 h 172"/>
                <a:gd name="T26" fmla="*/ 268 w 287"/>
                <a:gd name="T27" fmla="*/ 0 h 172"/>
                <a:gd name="T28" fmla="*/ 287 w 287"/>
                <a:gd name="T29" fmla="*/ 160 h 172"/>
                <a:gd name="T30" fmla="*/ 287 w 287"/>
                <a:gd name="T31" fmla="*/ 160 h 172"/>
                <a:gd name="T32" fmla="*/ 287 w 287"/>
                <a:gd name="T33" fmla="*/ 164 h 172"/>
                <a:gd name="T34" fmla="*/ 284 w 287"/>
                <a:gd name="T35" fmla="*/ 167 h 172"/>
                <a:gd name="T36" fmla="*/ 284 w 287"/>
                <a:gd name="T37" fmla="*/ 167 h 172"/>
                <a:gd name="T38" fmla="*/ 281 w 287"/>
                <a:gd name="T39" fmla="*/ 170 h 172"/>
                <a:gd name="T40" fmla="*/ 277 w 287"/>
                <a:gd name="T41" fmla="*/ 172 h 172"/>
                <a:gd name="T42" fmla="*/ 277 w 287"/>
                <a:gd name="T43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87" h="172">
                  <a:moveTo>
                    <a:pt x="277" y="172"/>
                  </a:moveTo>
                  <a:lnTo>
                    <a:pt x="10" y="172"/>
                  </a:lnTo>
                  <a:lnTo>
                    <a:pt x="10" y="172"/>
                  </a:lnTo>
                  <a:lnTo>
                    <a:pt x="6" y="170"/>
                  </a:lnTo>
                  <a:lnTo>
                    <a:pt x="1" y="167"/>
                  </a:lnTo>
                  <a:lnTo>
                    <a:pt x="1" y="167"/>
                  </a:lnTo>
                  <a:lnTo>
                    <a:pt x="0" y="164"/>
                  </a:lnTo>
                  <a:lnTo>
                    <a:pt x="0" y="160"/>
                  </a:lnTo>
                  <a:lnTo>
                    <a:pt x="17" y="0"/>
                  </a:lnTo>
                  <a:lnTo>
                    <a:pt x="40" y="3"/>
                  </a:lnTo>
                  <a:lnTo>
                    <a:pt x="22" y="149"/>
                  </a:lnTo>
                  <a:lnTo>
                    <a:pt x="264" y="149"/>
                  </a:lnTo>
                  <a:lnTo>
                    <a:pt x="246" y="3"/>
                  </a:lnTo>
                  <a:lnTo>
                    <a:pt x="268" y="0"/>
                  </a:lnTo>
                  <a:lnTo>
                    <a:pt x="287" y="160"/>
                  </a:lnTo>
                  <a:lnTo>
                    <a:pt x="287" y="160"/>
                  </a:lnTo>
                  <a:lnTo>
                    <a:pt x="287" y="164"/>
                  </a:lnTo>
                  <a:lnTo>
                    <a:pt x="284" y="167"/>
                  </a:lnTo>
                  <a:lnTo>
                    <a:pt x="284" y="167"/>
                  </a:lnTo>
                  <a:lnTo>
                    <a:pt x="281" y="170"/>
                  </a:lnTo>
                  <a:lnTo>
                    <a:pt x="277" y="172"/>
                  </a:lnTo>
                  <a:lnTo>
                    <a:pt x="277" y="1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9" name="Freeform 1323"/>
            <p:cNvSpPr>
              <a:spLocks noEditPoints="1"/>
            </p:cNvSpPr>
            <p:nvPr/>
          </p:nvSpPr>
          <p:spPr bwMode="auto">
            <a:xfrm>
              <a:off x="5106671" y="6234463"/>
              <a:ext cx="285750" cy="44450"/>
            </a:xfrm>
            <a:custGeom>
              <a:avLst/>
              <a:gdLst>
                <a:gd name="T0" fmla="*/ 529 w 541"/>
                <a:gd name="T1" fmla="*/ 85 h 85"/>
                <a:gd name="T2" fmla="*/ 10 w 541"/>
                <a:gd name="T3" fmla="*/ 85 h 85"/>
                <a:gd name="T4" fmla="*/ 10 w 541"/>
                <a:gd name="T5" fmla="*/ 85 h 85"/>
                <a:gd name="T6" fmla="*/ 7 w 541"/>
                <a:gd name="T7" fmla="*/ 83 h 85"/>
                <a:gd name="T8" fmla="*/ 3 w 541"/>
                <a:gd name="T9" fmla="*/ 80 h 85"/>
                <a:gd name="T10" fmla="*/ 1 w 541"/>
                <a:gd name="T11" fmla="*/ 78 h 85"/>
                <a:gd name="T12" fmla="*/ 0 w 541"/>
                <a:gd name="T13" fmla="*/ 73 h 85"/>
                <a:gd name="T14" fmla="*/ 0 w 541"/>
                <a:gd name="T15" fmla="*/ 73 h 85"/>
                <a:gd name="T16" fmla="*/ 1 w 541"/>
                <a:gd name="T17" fmla="*/ 58 h 85"/>
                <a:gd name="T18" fmla="*/ 6 w 541"/>
                <a:gd name="T19" fmla="*/ 45 h 85"/>
                <a:gd name="T20" fmla="*/ 12 w 541"/>
                <a:gd name="T21" fmla="*/ 33 h 85"/>
                <a:gd name="T22" fmla="*/ 21 w 541"/>
                <a:gd name="T23" fmla="*/ 21 h 85"/>
                <a:gd name="T24" fmla="*/ 32 w 541"/>
                <a:gd name="T25" fmla="*/ 12 h 85"/>
                <a:gd name="T26" fmla="*/ 44 w 541"/>
                <a:gd name="T27" fmla="*/ 6 h 85"/>
                <a:gd name="T28" fmla="*/ 57 w 541"/>
                <a:gd name="T29" fmla="*/ 2 h 85"/>
                <a:gd name="T30" fmla="*/ 72 w 541"/>
                <a:gd name="T31" fmla="*/ 0 h 85"/>
                <a:gd name="T32" fmla="*/ 467 w 541"/>
                <a:gd name="T33" fmla="*/ 0 h 85"/>
                <a:gd name="T34" fmla="*/ 467 w 541"/>
                <a:gd name="T35" fmla="*/ 0 h 85"/>
                <a:gd name="T36" fmla="*/ 482 w 541"/>
                <a:gd name="T37" fmla="*/ 2 h 85"/>
                <a:gd name="T38" fmla="*/ 495 w 541"/>
                <a:gd name="T39" fmla="*/ 6 h 85"/>
                <a:gd name="T40" fmla="*/ 509 w 541"/>
                <a:gd name="T41" fmla="*/ 12 h 85"/>
                <a:gd name="T42" fmla="*/ 519 w 541"/>
                <a:gd name="T43" fmla="*/ 21 h 85"/>
                <a:gd name="T44" fmla="*/ 528 w 541"/>
                <a:gd name="T45" fmla="*/ 33 h 85"/>
                <a:gd name="T46" fmla="*/ 535 w 541"/>
                <a:gd name="T47" fmla="*/ 45 h 85"/>
                <a:gd name="T48" fmla="*/ 540 w 541"/>
                <a:gd name="T49" fmla="*/ 58 h 85"/>
                <a:gd name="T50" fmla="*/ 541 w 541"/>
                <a:gd name="T51" fmla="*/ 73 h 85"/>
                <a:gd name="T52" fmla="*/ 541 w 541"/>
                <a:gd name="T53" fmla="*/ 73 h 85"/>
                <a:gd name="T54" fmla="*/ 540 w 541"/>
                <a:gd name="T55" fmla="*/ 78 h 85"/>
                <a:gd name="T56" fmla="*/ 537 w 541"/>
                <a:gd name="T57" fmla="*/ 80 h 85"/>
                <a:gd name="T58" fmla="*/ 534 w 541"/>
                <a:gd name="T59" fmla="*/ 83 h 85"/>
                <a:gd name="T60" fmla="*/ 529 w 541"/>
                <a:gd name="T61" fmla="*/ 85 h 85"/>
                <a:gd name="T62" fmla="*/ 529 w 541"/>
                <a:gd name="T63" fmla="*/ 85 h 85"/>
                <a:gd name="T64" fmla="*/ 23 w 541"/>
                <a:gd name="T65" fmla="*/ 63 h 85"/>
                <a:gd name="T66" fmla="*/ 518 w 541"/>
                <a:gd name="T67" fmla="*/ 63 h 85"/>
                <a:gd name="T68" fmla="*/ 518 w 541"/>
                <a:gd name="T69" fmla="*/ 63 h 85"/>
                <a:gd name="T70" fmla="*/ 515 w 541"/>
                <a:gd name="T71" fmla="*/ 54 h 85"/>
                <a:gd name="T72" fmla="*/ 512 w 541"/>
                <a:gd name="T73" fmla="*/ 46 h 85"/>
                <a:gd name="T74" fmla="*/ 506 w 541"/>
                <a:gd name="T75" fmla="*/ 40 h 85"/>
                <a:gd name="T76" fmla="*/ 500 w 541"/>
                <a:gd name="T77" fmla="*/ 35 h 85"/>
                <a:gd name="T78" fmla="*/ 493 w 541"/>
                <a:gd name="T79" fmla="*/ 29 h 85"/>
                <a:gd name="T80" fmla="*/ 485 w 541"/>
                <a:gd name="T81" fmla="*/ 26 h 85"/>
                <a:gd name="T82" fmla="*/ 476 w 541"/>
                <a:gd name="T83" fmla="*/ 23 h 85"/>
                <a:gd name="T84" fmla="*/ 467 w 541"/>
                <a:gd name="T85" fmla="*/ 23 h 85"/>
                <a:gd name="T86" fmla="*/ 72 w 541"/>
                <a:gd name="T87" fmla="*/ 23 h 85"/>
                <a:gd name="T88" fmla="*/ 72 w 541"/>
                <a:gd name="T89" fmla="*/ 23 h 85"/>
                <a:gd name="T90" fmla="*/ 63 w 541"/>
                <a:gd name="T91" fmla="*/ 23 h 85"/>
                <a:gd name="T92" fmla="*/ 54 w 541"/>
                <a:gd name="T93" fmla="*/ 26 h 85"/>
                <a:gd name="T94" fmla="*/ 47 w 541"/>
                <a:gd name="T95" fmla="*/ 29 h 85"/>
                <a:gd name="T96" fmla="*/ 41 w 541"/>
                <a:gd name="T97" fmla="*/ 35 h 85"/>
                <a:gd name="T98" fmla="*/ 34 w 541"/>
                <a:gd name="T99" fmla="*/ 40 h 85"/>
                <a:gd name="T100" fmla="*/ 29 w 541"/>
                <a:gd name="T101" fmla="*/ 46 h 85"/>
                <a:gd name="T102" fmla="*/ 25 w 541"/>
                <a:gd name="T103" fmla="*/ 54 h 85"/>
                <a:gd name="T104" fmla="*/ 23 w 541"/>
                <a:gd name="T105" fmla="*/ 63 h 85"/>
                <a:gd name="T106" fmla="*/ 23 w 541"/>
                <a:gd name="T107" fmla="*/ 63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541" h="85">
                  <a:moveTo>
                    <a:pt x="529" y="85"/>
                  </a:moveTo>
                  <a:lnTo>
                    <a:pt x="10" y="85"/>
                  </a:lnTo>
                  <a:lnTo>
                    <a:pt x="10" y="85"/>
                  </a:lnTo>
                  <a:lnTo>
                    <a:pt x="7" y="83"/>
                  </a:lnTo>
                  <a:lnTo>
                    <a:pt x="3" y="80"/>
                  </a:lnTo>
                  <a:lnTo>
                    <a:pt x="1" y="7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8"/>
                  </a:lnTo>
                  <a:lnTo>
                    <a:pt x="6" y="45"/>
                  </a:lnTo>
                  <a:lnTo>
                    <a:pt x="12" y="33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72" y="0"/>
                  </a:lnTo>
                  <a:lnTo>
                    <a:pt x="467" y="0"/>
                  </a:lnTo>
                  <a:lnTo>
                    <a:pt x="467" y="0"/>
                  </a:lnTo>
                  <a:lnTo>
                    <a:pt x="482" y="2"/>
                  </a:lnTo>
                  <a:lnTo>
                    <a:pt x="495" y="6"/>
                  </a:lnTo>
                  <a:lnTo>
                    <a:pt x="509" y="12"/>
                  </a:lnTo>
                  <a:lnTo>
                    <a:pt x="519" y="21"/>
                  </a:lnTo>
                  <a:lnTo>
                    <a:pt x="528" y="33"/>
                  </a:lnTo>
                  <a:lnTo>
                    <a:pt x="535" y="45"/>
                  </a:lnTo>
                  <a:lnTo>
                    <a:pt x="540" y="58"/>
                  </a:lnTo>
                  <a:lnTo>
                    <a:pt x="541" y="73"/>
                  </a:lnTo>
                  <a:lnTo>
                    <a:pt x="541" y="73"/>
                  </a:lnTo>
                  <a:lnTo>
                    <a:pt x="540" y="78"/>
                  </a:lnTo>
                  <a:lnTo>
                    <a:pt x="537" y="80"/>
                  </a:lnTo>
                  <a:lnTo>
                    <a:pt x="534" y="83"/>
                  </a:lnTo>
                  <a:lnTo>
                    <a:pt x="529" y="85"/>
                  </a:lnTo>
                  <a:lnTo>
                    <a:pt x="529" y="85"/>
                  </a:lnTo>
                  <a:close/>
                  <a:moveTo>
                    <a:pt x="23" y="63"/>
                  </a:moveTo>
                  <a:lnTo>
                    <a:pt x="518" y="63"/>
                  </a:lnTo>
                  <a:lnTo>
                    <a:pt x="518" y="63"/>
                  </a:lnTo>
                  <a:lnTo>
                    <a:pt x="515" y="54"/>
                  </a:lnTo>
                  <a:lnTo>
                    <a:pt x="512" y="46"/>
                  </a:lnTo>
                  <a:lnTo>
                    <a:pt x="506" y="40"/>
                  </a:lnTo>
                  <a:lnTo>
                    <a:pt x="500" y="35"/>
                  </a:lnTo>
                  <a:lnTo>
                    <a:pt x="493" y="29"/>
                  </a:lnTo>
                  <a:lnTo>
                    <a:pt x="485" y="26"/>
                  </a:lnTo>
                  <a:lnTo>
                    <a:pt x="476" y="23"/>
                  </a:lnTo>
                  <a:lnTo>
                    <a:pt x="467" y="23"/>
                  </a:lnTo>
                  <a:lnTo>
                    <a:pt x="72" y="23"/>
                  </a:lnTo>
                  <a:lnTo>
                    <a:pt x="72" y="23"/>
                  </a:lnTo>
                  <a:lnTo>
                    <a:pt x="63" y="23"/>
                  </a:lnTo>
                  <a:lnTo>
                    <a:pt x="54" y="26"/>
                  </a:lnTo>
                  <a:lnTo>
                    <a:pt x="47" y="29"/>
                  </a:lnTo>
                  <a:lnTo>
                    <a:pt x="41" y="35"/>
                  </a:lnTo>
                  <a:lnTo>
                    <a:pt x="34" y="40"/>
                  </a:lnTo>
                  <a:lnTo>
                    <a:pt x="29" y="46"/>
                  </a:lnTo>
                  <a:lnTo>
                    <a:pt x="25" y="54"/>
                  </a:lnTo>
                  <a:lnTo>
                    <a:pt x="23" y="63"/>
                  </a:lnTo>
                  <a:lnTo>
                    <a:pt x="23" y="6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0" name="Freeform 1324"/>
            <p:cNvSpPr>
              <a:spLocks noEditPoints="1"/>
            </p:cNvSpPr>
            <p:nvPr/>
          </p:nvSpPr>
          <p:spPr bwMode="auto">
            <a:xfrm>
              <a:off x="4714558" y="5805838"/>
              <a:ext cx="257175" cy="473075"/>
            </a:xfrm>
            <a:custGeom>
              <a:avLst/>
              <a:gdLst>
                <a:gd name="T0" fmla="*/ 462 w 486"/>
                <a:gd name="T1" fmla="*/ 895 h 895"/>
                <a:gd name="T2" fmla="*/ 25 w 486"/>
                <a:gd name="T3" fmla="*/ 895 h 895"/>
                <a:gd name="T4" fmla="*/ 25 w 486"/>
                <a:gd name="T5" fmla="*/ 895 h 895"/>
                <a:gd name="T6" fmla="*/ 21 w 486"/>
                <a:gd name="T7" fmla="*/ 893 h 895"/>
                <a:gd name="T8" fmla="*/ 15 w 486"/>
                <a:gd name="T9" fmla="*/ 892 h 895"/>
                <a:gd name="T10" fmla="*/ 12 w 486"/>
                <a:gd name="T11" fmla="*/ 890 h 895"/>
                <a:gd name="T12" fmla="*/ 8 w 486"/>
                <a:gd name="T13" fmla="*/ 888 h 895"/>
                <a:gd name="T14" fmla="*/ 5 w 486"/>
                <a:gd name="T15" fmla="*/ 883 h 895"/>
                <a:gd name="T16" fmla="*/ 3 w 486"/>
                <a:gd name="T17" fmla="*/ 879 h 895"/>
                <a:gd name="T18" fmla="*/ 2 w 486"/>
                <a:gd name="T19" fmla="*/ 874 h 895"/>
                <a:gd name="T20" fmla="*/ 0 w 486"/>
                <a:gd name="T21" fmla="*/ 870 h 895"/>
                <a:gd name="T22" fmla="*/ 0 w 486"/>
                <a:gd name="T23" fmla="*/ 25 h 895"/>
                <a:gd name="T24" fmla="*/ 0 w 486"/>
                <a:gd name="T25" fmla="*/ 25 h 895"/>
                <a:gd name="T26" fmla="*/ 2 w 486"/>
                <a:gd name="T27" fmla="*/ 21 h 895"/>
                <a:gd name="T28" fmla="*/ 3 w 486"/>
                <a:gd name="T29" fmla="*/ 15 h 895"/>
                <a:gd name="T30" fmla="*/ 5 w 486"/>
                <a:gd name="T31" fmla="*/ 12 h 895"/>
                <a:gd name="T32" fmla="*/ 8 w 486"/>
                <a:gd name="T33" fmla="*/ 7 h 895"/>
                <a:gd name="T34" fmla="*/ 12 w 486"/>
                <a:gd name="T35" fmla="*/ 4 h 895"/>
                <a:gd name="T36" fmla="*/ 15 w 486"/>
                <a:gd name="T37" fmla="*/ 3 h 895"/>
                <a:gd name="T38" fmla="*/ 21 w 486"/>
                <a:gd name="T39" fmla="*/ 1 h 895"/>
                <a:gd name="T40" fmla="*/ 25 w 486"/>
                <a:gd name="T41" fmla="*/ 0 h 895"/>
                <a:gd name="T42" fmla="*/ 462 w 486"/>
                <a:gd name="T43" fmla="*/ 0 h 895"/>
                <a:gd name="T44" fmla="*/ 462 w 486"/>
                <a:gd name="T45" fmla="*/ 0 h 895"/>
                <a:gd name="T46" fmla="*/ 466 w 486"/>
                <a:gd name="T47" fmla="*/ 1 h 895"/>
                <a:gd name="T48" fmla="*/ 471 w 486"/>
                <a:gd name="T49" fmla="*/ 3 h 895"/>
                <a:gd name="T50" fmla="*/ 475 w 486"/>
                <a:gd name="T51" fmla="*/ 4 h 895"/>
                <a:gd name="T52" fmla="*/ 480 w 486"/>
                <a:gd name="T53" fmla="*/ 7 h 895"/>
                <a:gd name="T54" fmla="*/ 483 w 486"/>
                <a:gd name="T55" fmla="*/ 12 h 895"/>
                <a:gd name="T56" fmla="*/ 484 w 486"/>
                <a:gd name="T57" fmla="*/ 15 h 895"/>
                <a:gd name="T58" fmla="*/ 486 w 486"/>
                <a:gd name="T59" fmla="*/ 21 h 895"/>
                <a:gd name="T60" fmla="*/ 486 w 486"/>
                <a:gd name="T61" fmla="*/ 25 h 895"/>
                <a:gd name="T62" fmla="*/ 486 w 486"/>
                <a:gd name="T63" fmla="*/ 870 h 895"/>
                <a:gd name="T64" fmla="*/ 486 w 486"/>
                <a:gd name="T65" fmla="*/ 870 h 895"/>
                <a:gd name="T66" fmla="*/ 486 w 486"/>
                <a:gd name="T67" fmla="*/ 874 h 895"/>
                <a:gd name="T68" fmla="*/ 484 w 486"/>
                <a:gd name="T69" fmla="*/ 879 h 895"/>
                <a:gd name="T70" fmla="*/ 483 w 486"/>
                <a:gd name="T71" fmla="*/ 883 h 895"/>
                <a:gd name="T72" fmla="*/ 480 w 486"/>
                <a:gd name="T73" fmla="*/ 888 h 895"/>
                <a:gd name="T74" fmla="*/ 475 w 486"/>
                <a:gd name="T75" fmla="*/ 890 h 895"/>
                <a:gd name="T76" fmla="*/ 471 w 486"/>
                <a:gd name="T77" fmla="*/ 892 h 895"/>
                <a:gd name="T78" fmla="*/ 466 w 486"/>
                <a:gd name="T79" fmla="*/ 893 h 895"/>
                <a:gd name="T80" fmla="*/ 462 w 486"/>
                <a:gd name="T81" fmla="*/ 895 h 895"/>
                <a:gd name="T82" fmla="*/ 462 w 486"/>
                <a:gd name="T83" fmla="*/ 895 h 895"/>
                <a:gd name="T84" fmla="*/ 25 w 486"/>
                <a:gd name="T85" fmla="*/ 22 h 895"/>
                <a:gd name="T86" fmla="*/ 25 w 486"/>
                <a:gd name="T87" fmla="*/ 22 h 895"/>
                <a:gd name="T88" fmla="*/ 24 w 486"/>
                <a:gd name="T89" fmla="*/ 24 h 895"/>
                <a:gd name="T90" fmla="*/ 23 w 486"/>
                <a:gd name="T91" fmla="*/ 25 h 895"/>
                <a:gd name="T92" fmla="*/ 23 w 486"/>
                <a:gd name="T93" fmla="*/ 870 h 895"/>
                <a:gd name="T94" fmla="*/ 23 w 486"/>
                <a:gd name="T95" fmla="*/ 870 h 895"/>
                <a:gd name="T96" fmla="*/ 24 w 486"/>
                <a:gd name="T97" fmla="*/ 871 h 895"/>
                <a:gd name="T98" fmla="*/ 25 w 486"/>
                <a:gd name="T99" fmla="*/ 873 h 895"/>
                <a:gd name="T100" fmla="*/ 462 w 486"/>
                <a:gd name="T101" fmla="*/ 873 h 895"/>
                <a:gd name="T102" fmla="*/ 462 w 486"/>
                <a:gd name="T103" fmla="*/ 873 h 895"/>
                <a:gd name="T104" fmla="*/ 464 w 486"/>
                <a:gd name="T105" fmla="*/ 871 h 895"/>
                <a:gd name="T106" fmla="*/ 465 w 486"/>
                <a:gd name="T107" fmla="*/ 870 h 895"/>
                <a:gd name="T108" fmla="*/ 465 w 486"/>
                <a:gd name="T109" fmla="*/ 25 h 895"/>
                <a:gd name="T110" fmla="*/ 465 w 486"/>
                <a:gd name="T111" fmla="*/ 25 h 895"/>
                <a:gd name="T112" fmla="*/ 464 w 486"/>
                <a:gd name="T113" fmla="*/ 24 h 895"/>
                <a:gd name="T114" fmla="*/ 462 w 486"/>
                <a:gd name="T115" fmla="*/ 22 h 895"/>
                <a:gd name="T116" fmla="*/ 25 w 486"/>
                <a:gd name="T117" fmla="*/ 22 h 8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86" h="895">
                  <a:moveTo>
                    <a:pt x="462" y="895"/>
                  </a:moveTo>
                  <a:lnTo>
                    <a:pt x="25" y="895"/>
                  </a:lnTo>
                  <a:lnTo>
                    <a:pt x="25" y="895"/>
                  </a:lnTo>
                  <a:lnTo>
                    <a:pt x="21" y="893"/>
                  </a:lnTo>
                  <a:lnTo>
                    <a:pt x="15" y="892"/>
                  </a:lnTo>
                  <a:lnTo>
                    <a:pt x="12" y="890"/>
                  </a:lnTo>
                  <a:lnTo>
                    <a:pt x="8" y="888"/>
                  </a:lnTo>
                  <a:lnTo>
                    <a:pt x="5" y="883"/>
                  </a:lnTo>
                  <a:lnTo>
                    <a:pt x="3" y="879"/>
                  </a:lnTo>
                  <a:lnTo>
                    <a:pt x="2" y="874"/>
                  </a:lnTo>
                  <a:lnTo>
                    <a:pt x="0" y="870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21"/>
                  </a:lnTo>
                  <a:lnTo>
                    <a:pt x="3" y="15"/>
                  </a:lnTo>
                  <a:lnTo>
                    <a:pt x="5" y="12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5" y="3"/>
                  </a:lnTo>
                  <a:lnTo>
                    <a:pt x="21" y="1"/>
                  </a:lnTo>
                  <a:lnTo>
                    <a:pt x="25" y="0"/>
                  </a:lnTo>
                  <a:lnTo>
                    <a:pt x="462" y="0"/>
                  </a:lnTo>
                  <a:lnTo>
                    <a:pt x="462" y="0"/>
                  </a:lnTo>
                  <a:lnTo>
                    <a:pt x="466" y="1"/>
                  </a:lnTo>
                  <a:lnTo>
                    <a:pt x="471" y="3"/>
                  </a:lnTo>
                  <a:lnTo>
                    <a:pt x="475" y="4"/>
                  </a:lnTo>
                  <a:lnTo>
                    <a:pt x="480" y="7"/>
                  </a:lnTo>
                  <a:lnTo>
                    <a:pt x="483" y="12"/>
                  </a:lnTo>
                  <a:lnTo>
                    <a:pt x="484" y="15"/>
                  </a:lnTo>
                  <a:lnTo>
                    <a:pt x="486" y="21"/>
                  </a:lnTo>
                  <a:lnTo>
                    <a:pt x="486" y="25"/>
                  </a:lnTo>
                  <a:lnTo>
                    <a:pt x="486" y="870"/>
                  </a:lnTo>
                  <a:lnTo>
                    <a:pt x="486" y="870"/>
                  </a:lnTo>
                  <a:lnTo>
                    <a:pt x="486" y="874"/>
                  </a:lnTo>
                  <a:lnTo>
                    <a:pt x="484" y="879"/>
                  </a:lnTo>
                  <a:lnTo>
                    <a:pt x="483" y="883"/>
                  </a:lnTo>
                  <a:lnTo>
                    <a:pt x="480" y="888"/>
                  </a:lnTo>
                  <a:lnTo>
                    <a:pt x="475" y="890"/>
                  </a:lnTo>
                  <a:lnTo>
                    <a:pt x="471" y="892"/>
                  </a:lnTo>
                  <a:lnTo>
                    <a:pt x="466" y="893"/>
                  </a:lnTo>
                  <a:lnTo>
                    <a:pt x="462" y="895"/>
                  </a:lnTo>
                  <a:lnTo>
                    <a:pt x="462" y="895"/>
                  </a:lnTo>
                  <a:close/>
                  <a:moveTo>
                    <a:pt x="25" y="22"/>
                  </a:moveTo>
                  <a:lnTo>
                    <a:pt x="25" y="22"/>
                  </a:lnTo>
                  <a:lnTo>
                    <a:pt x="24" y="24"/>
                  </a:lnTo>
                  <a:lnTo>
                    <a:pt x="23" y="25"/>
                  </a:lnTo>
                  <a:lnTo>
                    <a:pt x="23" y="870"/>
                  </a:lnTo>
                  <a:lnTo>
                    <a:pt x="23" y="870"/>
                  </a:lnTo>
                  <a:lnTo>
                    <a:pt x="24" y="871"/>
                  </a:lnTo>
                  <a:lnTo>
                    <a:pt x="25" y="873"/>
                  </a:lnTo>
                  <a:lnTo>
                    <a:pt x="462" y="873"/>
                  </a:lnTo>
                  <a:lnTo>
                    <a:pt x="462" y="873"/>
                  </a:lnTo>
                  <a:lnTo>
                    <a:pt x="464" y="871"/>
                  </a:lnTo>
                  <a:lnTo>
                    <a:pt x="465" y="870"/>
                  </a:lnTo>
                  <a:lnTo>
                    <a:pt x="465" y="25"/>
                  </a:lnTo>
                  <a:lnTo>
                    <a:pt x="465" y="25"/>
                  </a:lnTo>
                  <a:lnTo>
                    <a:pt x="464" y="24"/>
                  </a:lnTo>
                  <a:lnTo>
                    <a:pt x="462" y="22"/>
                  </a:lnTo>
                  <a:lnTo>
                    <a:pt x="25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1" name="Freeform 1325"/>
            <p:cNvSpPr>
              <a:spLocks noEditPoints="1"/>
            </p:cNvSpPr>
            <p:nvPr/>
          </p:nvSpPr>
          <p:spPr bwMode="auto">
            <a:xfrm>
              <a:off x="4795521" y="5902676"/>
              <a:ext cx="95250" cy="95250"/>
            </a:xfrm>
            <a:custGeom>
              <a:avLst/>
              <a:gdLst>
                <a:gd name="T0" fmla="*/ 90 w 180"/>
                <a:gd name="T1" fmla="*/ 181 h 181"/>
                <a:gd name="T2" fmla="*/ 72 w 180"/>
                <a:gd name="T3" fmla="*/ 179 h 181"/>
                <a:gd name="T4" fmla="*/ 54 w 180"/>
                <a:gd name="T5" fmla="*/ 173 h 181"/>
                <a:gd name="T6" fmla="*/ 26 w 180"/>
                <a:gd name="T7" fmla="*/ 154 h 181"/>
                <a:gd name="T8" fmla="*/ 6 w 180"/>
                <a:gd name="T9" fmla="*/ 126 h 181"/>
                <a:gd name="T10" fmla="*/ 1 w 180"/>
                <a:gd name="T11" fmla="*/ 108 h 181"/>
                <a:gd name="T12" fmla="*/ 0 w 180"/>
                <a:gd name="T13" fmla="*/ 90 h 181"/>
                <a:gd name="T14" fmla="*/ 0 w 180"/>
                <a:gd name="T15" fmla="*/ 82 h 181"/>
                <a:gd name="T16" fmla="*/ 3 w 180"/>
                <a:gd name="T17" fmla="*/ 64 h 181"/>
                <a:gd name="T18" fmla="*/ 15 w 180"/>
                <a:gd name="T19" fmla="*/ 40 h 181"/>
                <a:gd name="T20" fmla="*/ 40 w 180"/>
                <a:gd name="T21" fmla="*/ 15 h 181"/>
                <a:gd name="T22" fmla="*/ 63 w 180"/>
                <a:gd name="T23" fmla="*/ 3 h 181"/>
                <a:gd name="T24" fmla="*/ 81 w 180"/>
                <a:gd name="T25" fmla="*/ 0 h 181"/>
                <a:gd name="T26" fmla="*/ 90 w 180"/>
                <a:gd name="T27" fmla="*/ 0 h 181"/>
                <a:gd name="T28" fmla="*/ 107 w 180"/>
                <a:gd name="T29" fmla="*/ 2 h 181"/>
                <a:gd name="T30" fmla="*/ 125 w 180"/>
                <a:gd name="T31" fmla="*/ 6 h 181"/>
                <a:gd name="T32" fmla="*/ 153 w 180"/>
                <a:gd name="T33" fmla="*/ 27 h 181"/>
                <a:gd name="T34" fmla="*/ 172 w 180"/>
                <a:gd name="T35" fmla="*/ 55 h 181"/>
                <a:gd name="T36" fmla="*/ 178 w 180"/>
                <a:gd name="T37" fmla="*/ 73 h 181"/>
                <a:gd name="T38" fmla="*/ 180 w 180"/>
                <a:gd name="T39" fmla="*/ 90 h 181"/>
                <a:gd name="T40" fmla="*/ 180 w 180"/>
                <a:gd name="T41" fmla="*/ 99 h 181"/>
                <a:gd name="T42" fmla="*/ 175 w 180"/>
                <a:gd name="T43" fmla="*/ 117 h 181"/>
                <a:gd name="T44" fmla="*/ 165 w 180"/>
                <a:gd name="T45" fmla="*/ 141 h 181"/>
                <a:gd name="T46" fmla="*/ 140 w 180"/>
                <a:gd name="T47" fmla="*/ 166 h 181"/>
                <a:gd name="T48" fmla="*/ 116 w 180"/>
                <a:gd name="T49" fmla="*/ 176 h 181"/>
                <a:gd name="T50" fmla="*/ 99 w 180"/>
                <a:gd name="T51" fmla="*/ 181 h 181"/>
                <a:gd name="T52" fmla="*/ 90 w 180"/>
                <a:gd name="T53" fmla="*/ 181 h 181"/>
                <a:gd name="T54" fmla="*/ 90 w 180"/>
                <a:gd name="T55" fmla="*/ 21 h 181"/>
                <a:gd name="T56" fmla="*/ 63 w 180"/>
                <a:gd name="T57" fmla="*/ 27 h 181"/>
                <a:gd name="T58" fmla="*/ 41 w 180"/>
                <a:gd name="T59" fmla="*/ 42 h 181"/>
                <a:gd name="T60" fmla="*/ 26 w 180"/>
                <a:gd name="T61" fmla="*/ 64 h 181"/>
                <a:gd name="T62" fmla="*/ 20 w 180"/>
                <a:gd name="T63" fmla="*/ 90 h 181"/>
                <a:gd name="T64" fmla="*/ 22 w 180"/>
                <a:gd name="T65" fmla="*/ 104 h 181"/>
                <a:gd name="T66" fmla="*/ 32 w 180"/>
                <a:gd name="T67" fmla="*/ 129 h 181"/>
                <a:gd name="T68" fmla="*/ 51 w 180"/>
                <a:gd name="T69" fmla="*/ 147 h 181"/>
                <a:gd name="T70" fmla="*/ 75 w 180"/>
                <a:gd name="T71" fmla="*/ 157 h 181"/>
                <a:gd name="T72" fmla="*/ 90 w 180"/>
                <a:gd name="T73" fmla="*/ 159 h 181"/>
                <a:gd name="T74" fmla="*/ 116 w 180"/>
                <a:gd name="T75" fmla="*/ 154 h 181"/>
                <a:gd name="T76" fmla="*/ 138 w 180"/>
                <a:gd name="T77" fmla="*/ 139 h 181"/>
                <a:gd name="T78" fmla="*/ 153 w 180"/>
                <a:gd name="T79" fmla="*/ 117 h 181"/>
                <a:gd name="T80" fmla="*/ 158 w 180"/>
                <a:gd name="T81" fmla="*/ 90 h 181"/>
                <a:gd name="T82" fmla="*/ 156 w 180"/>
                <a:gd name="T83" fmla="*/ 77 h 181"/>
                <a:gd name="T84" fmla="*/ 146 w 180"/>
                <a:gd name="T85" fmla="*/ 52 h 181"/>
                <a:gd name="T86" fmla="*/ 128 w 180"/>
                <a:gd name="T87" fmla="*/ 33 h 181"/>
                <a:gd name="T88" fmla="*/ 103 w 180"/>
                <a:gd name="T89" fmla="*/ 22 h 181"/>
                <a:gd name="T90" fmla="*/ 90 w 180"/>
                <a:gd name="T91" fmla="*/ 21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0" h="181">
                  <a:moveTo>
                    <a:pt x="90" y="181"/>
                  </a:moveTo>
                  <a:lnTo>
                    <a:pt x="90" y="181"/>
                  </a:lnTo>
                  <a:lnTo>
                    <a:pt x="81" y="181"/>
                  </a:lnTo>
                  <a:lnTo>
                    <a:pt x="72" y="179"/>
                  </a:lnTo>
                  <a:lnTo>
                    <a:pt x="63" y="176"/>
                  </a:lnTo>
                  <a:lnTo>
                    <a:pt x="54" y="173"/>
                  </a:lnTo>
                  <a:lnTo>
                    <a:pt x="40" y="166"/>
                  </a:lnTo>
                  <a:lnTo>
                    <a:pt x="26" y="154"/>
                  </a:lnTo>
                  <a:lnTo>
                    <a:pt x="15" y="141"/>
                  </a:lnTo>
                  <a:lnTo>
                    <a:pt x="6" y="126"/>
                  </a:lnTo>
                  <a:lnTo>
                    <a:pt x="3" y="117"/>
                  </a:lnTo>
                  <a:lnTo>
                    <a:pt x="1" y="108"/>
                  </a:lnTo>
                  <a:lnTo>
                    <a:pt x="0" y="99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82"/>
                  </a:lnTo>
                  <a:lnTo>
                    <a:pt x="1" y="73"/>
                  </a:lnTo>
                  <a:lnTo>
                    <a:pt x="3" y="64"/>
                  </a:lnTo>
                  <a:lnTo>
                    <a:pt x="6" y="55"/>
                  </a:lnTo>
                  <a:lnTo>
                    <a:pt x="15" y="40"/>
                  </a:lnTo>
                  <a:lnTo>
                    <a:pt x="26" y="27"/>
                  </a:lnTo>
                  <a:lnTo>
                    <a:pt x="40" y="15"/>
                  </a:lnTo>
                  <a:lnTo>
                    <a:pt x="54" y="6"/>
                  </a:lnTo>
                  <a:lnTo>
                    <a:pt x="63" y="3"/>
                  </a:lnTo>
                  <a:lnTo>
                    <a:pt x="72" y="2"/>
                  </a:lnTo>
                  <a:lnTo>
                    <a:pt x="81" y="0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99" y="0"/>
                  </a:lnTo>
                  <a:lnTo>
                    <a:pt x="107" y="2"/>
                  </a:lnTo>
                  <a:lnTo>
                    <a:pt x="116" y="3"/>
                  </a:lnTo>
                  <a:lnTo>
                    <a:pt x="125" y="6"/>
                  </a:lnTo>
                  <a:lnTo>
                    <a:pt x="140" y="15"/>
                  </a:lnTo>
                  <a:lnTo>
                    <a:pt x="153" y="27"/>
                  </a:lnTo>
                  <a:lnTo>
                    <a:pt x="165" y="40"/>
                  </a:lnTo>
                  <a:lnTo>
                    <a:pt x="172" y="55"/>
                  </a:lnTo>
                  <a:lnTo>
                    <a:pt x="175" y="64"/>
                  </a:lnTo>
                  <a:lnTo>
                    <a:pt x="178" y="73"/>
                  </a:lnTo>
                  <a:lnTo>
                    <a:pt x="180" y="82"/>
                  </a:lnTo>
                  <a:lnTo>
                    <a:pt x="180" y="90"/>
                  </a:lnTo>
                  <a:lnTo>
                    <a:pt x="180" y="90"/>
                  </a:lnTo>
                  <a:lnTo>
                    <a:pt x="180" y="99"/>
                  </a:lnTo>
                  <a:lnTo>
                    <a:pt x="178" y="108"/>
                  </a:lnTo>
                  <a:lnTo>
                    <a:pt x="175" y="117"/>
                  </a:lnTo>
                  <a:lnTo>
                    <a:pt x="172" y="126"/>
                  </a:lnTo>
                  <a:lnTo>
                    <a:pt x="165" y="141"/>
                  </a:lnTo>
                  <a:lnTo>
                    <a:pt x="153" y="154"/>
                  </a:lnTo>
                  <a:lnTo>
                    <a:pt x="140" y="166"/>
                  </a:lnTo>
                  <a:lnTo>
                    <a:pt x="125" y="173"/>
                  </a:lnTo>
                  <a:lnTo>
                    <a:pt x="116" y="176"/>
                  </a:lnTo>
                  <a:lnTo>
                    <a:pt x="107" y="179"/>
                  </a:lnTo>
                  <a:lnTo>
                    <a:pt x="99" y="181"/>
                  </a:lnTo>
                  <a:lnTo>
                    <a:pt x="90" y="181"/>
                  </a:lnTo>
                  <a:lnTo>
                    <a:pt x="90" y="181"/>
                  </a:lnTo>
                  <a:close/>
                  <a:moveTo>
                    <a:pt x="90" y="21"/>
                  </a:moveTo>
                  <a:lnTo>
                    <a:pt x="90" y="21"/>
                  </a:lnTo>
                  <a:lnTo>
                    <a:pt x="75" y="22"/>
                  </a:lnTo>
                  <a:lnTo>
                    <a:pt x="63" y="27"/>
                  </a:lnTo>
                  <a:lnTo>
                    <a:pt x="51" y="33"/>
                  </a:lnTo>
                  <a:lnTo>
                    <a:pt x="41" y="42"/>
                  </a:lnTo>
                  <a:lnTo>
                    <a:pt x="32" y="52"/>
                  </a:lnTo>
                  <a:lnTo>
                    <a:pt x="26" y="64"/>
                  </a:lnTo>
                  <a:lnTo>
                    <a:pt x="22" y="77"/>
                  </a:lnTo>
                  <a:lnTo>
                    <a:pt x="20" y="90"/>
                  </a:lnTo>
                  <a:lnTo>
                    <a:pt x="20" y="90"/>
                  </a:lnTo>
                  <a:lnTo>
                    <a:pt x="22" y="104"/>
                  </a:lnTo>
                  <a:lnTo>
                    <a:pt x="26" y="117"/>
                  </a:lnTo>
                  <a:lnTo>
                    <a:pt x="32" y="129"/>
                  </a:lnTo>
                  <a:lnTo>
                    <a:pt x="41" y="139"/>
                  </a:lnTo>
                  <a:lnTo>
                    <a:pt x="51" y="147"/>
                  </a:lnTo>
                  <a:lnTo>
                    <a:pt x="63" y="154"/>
                  </a:lnTo>
                  <a:lnTo>
                    <a:pt x="75" y="157"/>
                  </a:lnTo>
                  <a:lnTo>
                    <a:pt x="90" y="159"/>
                  </a:lnTo>
                  <a:lnTo>
                    <a:pt x="90" y="159"/>
                  </a:lnTo>
                  <a:lnTo>
                    <a:pt x="103" y="157"/>
                  </a:lnTo>
                  <a:lnTo>
                    <a:pt x="116" y="154"/>
                  </a:lnTo>
                  <a:lnTo>
                    <a:pt x="128" y="147"/>
                  </a:lnTo>
                  <a:lnTo>
                    <a:pt x="138" y="139"/>
                  </a:lnTo>
                  <a:lnTo>
                    <a:pt x="146" y="129"/>
                  </a:lnTo>
                  <a:lnTo>
                    <a:pt x="153" y="117"/>
                  </a:lnTo>
                  <a:lnTo>
                    <a:pt x="156" y="104"/>
                  </a:lnTo>
                  <a:lnTo>
                    <a:pt x="158" y="90"/>
                  </a:lnTo>
                  <a:lnTo>
                    <a:pt x="158" y="90"/>
                  </a:lnTo>
                  <a:lnTo>
                    <a:pt x="156" y="77"/>
                  </a:lnTo>
                  <a:lnTo>
                    <a:pt x="153" y="64"/>
                  </a:lnTo>
                  <a:lnTo>
                    <a:pt x="146" y="52"/>
                  </a:lnTo>
                  <a:lnTo>
                    <a:pt x="138" y="42"/>
                  </a:lnTo>
                  <a:lnTo>
                    <a:pt x="128" y="33"/>
                  </a:lnTo>
                  <a:lnTo>
                    <a:pt x="116" y="27"/>
                  </a:lnTo>
                  <a:lnTo>
                    <a:pt x="103" y="22"/>
                  </a:lnTo>
                  <a:lnTo>
                    <a:pt x="90" y="21"/>
                  </a:lnTo>
                  <a:lnTo>
                    <a:pt x="90" y="2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2" name="Rectangle 1326"/>
            <p:cNvSpPr>
              <a:spLocks noChangeArrowheads="1"/>
            </p:cNvSpPr>
            <p:nvPr/>
          </p:nvSpPr>
          <p:spPr bwMode="auto">
            <a:xfrm>
              <a:off x="4784408" y="6048726"/>
              <a:ext cx="117475" cy="11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3" name="Rectangle 1327"/>
            <p:cNvSpPr>
              <a:spLocks noChangeArrowheads="1"/>
            </p:cNvSpPr>
            <p:nvPr/>
          </p:nvSpPr>
          <p:spPr bwMode="auto">
            <a:xfrm>
              <a:off x="4784408" y="6099526"/>
              <a:ext cx="117475" cy="111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4" name="Rectangle 1328"/>
            <p:cNvSpPr>
              <a:spLocks noChangeArrowheads="1"/>
            </p:cNvSpPr>
            <p:nvPr/>
          </p:nvSpPr>
          <p:spPr bwMode="auto">
            <a:xfrm>
              <a:off x="4784408" y="6148738"/>
              <a:ext cx="117475" cy="1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5" name="Rectangle 1329"/>
            <p:cNvSpPr>
              <a:spLocks noChangeArrowheads="1"/>
            </p:cNvSpPr>
            <p:nvPr/>
          </p:nvSpPr>
          <p:spPr bwMode="auto">
            <a:xfrm>
              <a:off x="4784408" y="6199538"/>
              <a:ext cx="117475" cy="127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sng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226" name="그림 225"/>
          <p:cNvPicPr>
            <a:picLocks noChangeAspect="1"/>
          </p:cNvPicPr>
          <p:nvPr/>
        </p:nvPicPr>
        <p:blipFill rotWithShape="1">
          <a:blip r:embed="rId4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34" t="69031" r="75572" b="15770"/>
          <a:stretch/>
        </p:blipFill>
        <p:spPr>
          <a:xfrm>
            <a:off x="3973185" y="3728475"/>
            <a:ext cx="613709" cy="432019"/>
          </a:xfrm>
          <a:prstGeom prst="rect">
            <a:avLst/>
          </a:prstGeom>
        </p:spPr>
      </p:pic>
      <p:pic>
        <p:nvPicPr>
          <p:cNvPr id="238" name="그림 237"/>
          <p:cNvPicPr>
            <a:picLocks noChangeAspect="1"/>
          </p:cNvPicPr>
          <p:nvPr/>
        </p:nvPicPr>
        <p:blipFill rotWithShape="1">
          <a:blip r:embed="rId5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493" t="28780" r="23627" b="16682"/>
          <a:stretch/>
        </p:blipFill>
        <p:spPr>
          <a:xfrm>
            <a:off x="6949861" y="2930081"/>
            <a:ext cx="493361" cy="488834"/>
          </a:xfrm>
          <a:prstGeom prst="rect">
            <a:avLst/>
          </a:prstGeom>
        </p:spPr>
      </p:pic>
      <p:pic>
        <p:nvPicPr>
          <p:cNvPr id="241" name="그림 240"/>
          <p:cNvPicPr>
            <a:picLocks noChangeAspect="1"/>
          </p:cNvPicPr>
          <p:nvPr/>
        </p:nvPicPr>
        <p:blipFill rotWithShape="1">
          <a:blip r:embed="rId6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656" t="36489" r="28057" b="44567"/>
          <a:stretch/>
        </p:blipFill>
        <p:spPr>
          <a:xfrm>
            <a:off x="7290025" y="3897148"/>
            <a:ext cx="566234" cy="413657"/>
          </a:xfrm>
          <a:prstGeom prst="rect">
            <a:avLst/>
          </a:prstGeom>
        </p:spPr>
      </p:pic>
      <p:pic>
        <p:nvPicPr>
          <p:cNvPr id="242" name="그림 241"/>
          <p:cNvPicPr>
            <a:picLocks noChangeAspect="1"/>
          </p:cNvPicPr>
          <p:nvPr/>
        </p:nvPicPr>
        <p:blipFill rotWithShape="1">
          <a:blip r:embed="rId7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832" t="17063" r="2179" b="30738"/>
          <a:stretch/>
        </p:blipFill>
        <p:spPr>
          <a:xfrm>
            <a:off x="6949861" y="4780369"/>
            <a:ext cx="518629" cy="429376"/>
          </a:xfrm>
          <a:prstGeom prst="rect">
            <a:avLst/>
          </a:prstGeom>
        </p:spPr>
      </p:pic>
      <p:pic>
        <p:nvPicPr>
          <p:cNvPr id="243" name="그림 242"/>
          <p:cNvPicPr>
            <a:picLocks noChangeAspect="1"/>
          </p:cNvPicPr>
          <p:nvPr/>
        </p:nvPicPr>
        <p:blipFill rotWithShape="1">
          <a:blip r:embed="rId8" cstate="hq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860" t="36503" r="8526" b="46736"/>
          <a:stretch/>
        </p:blipFill>
        <p:spPr>
          <a:xfrm>
            <a:off x="4398630" y="4638447"/>
            <a:ext cx="619260" cy="392864"/>
          </a:xfrm>
          <a:prstGeom prst="rect">
            <a:avLst/>
          </a:prstGeom>
        </p:spPr>
      </p:pic>
      <p:sp>
        <p:nvSpPr>
          <p:cNvPr id="247" name="타원 246"/>
          <p:cNvSpPr/>
          <p:nvPr/>
        </p:nvSpPr>
        <p:spPr>
          <a:xfrm>
            <a:off x="7556541" y="2622909"/>
            <a:ext cx="216000" cy="216000"/>
          </a:xfrm>
          <a:prstGeom prst="ellipse">
            <a:avLst/>
          </a:prstGeom>
          <a:solidFill>
            <a:schemeClr val="tx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7</a:t>
            </a:r>
            <a:endParaRPr lang="ko-KR" altLang="en-US" sz="1200" b="1" dirty="0"/>
          </a:p>
        </p:txBody>
      </p:sp>
      <p:sp>
        <p:nvSpPr>
          <p:cNvPr id="252" name="타원 251"/>
          <p:cNvSpPr/>
          <p:nvPr/>
        </p:nvSpPr>
        <p:spPr>
          <a:xfrm>
            <a:off x="7574753" y="5200153"/>
            <a:ext cx="216000" cy="216000"/>
          </a:xfrm>
          <a:prstGeom prst="ellipse">
            <a:avLst/>
          </a:prstGeom>
          <a:solidFill>
            <a:schemeClr val="tx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5</a:t>
            </a:r>
            <a:endParaRPr lang="ko-KR" altLang="en-US" sz="1200" b="1" dirty="0"/>
          </a:p>
        </p:txBody>
      </p:sp>
      <p:sp>
        <p:nvSpPr>
          <p:cNvPr id="253" name="타원 252"/>
          <p:cNvSpPr/>
          <p:nvPr/>
        </p:nvSpPr>
        <p:spPr>
          <a:xfrm>
            <a:off x="8043014" y="3874108"/>
            <a:ext cx="216000" cy="216000"/>
          </a:xfrm>
          <a:prstGeom prst="ellipse">
            <a:avLst/>
          </a:prstGeom>
          <a:solidFill>
            <a:schemeClr val="tx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 smtClean="0"/>
              <a:t>6</a:t>
            </a:r>
            <a:endParaRPr lang="ko-KR" altLang="en-US" sz="1200" b="1" dirty="0"/>
          </a:p>
        </p:txBody>
      </p:sp>
      <p:sp>
        <p:nvSpPr>
          <p:cNvPr id="260" name="직사각형 259"/>
          <p:cNvSpPr/>
          <p:nvPr/>
        </p:nvSpPr>
        <p:spPr>
          <a:xfrm>
            <a:off x="7782081" y="2577952"/>
            <a:ext cx="15327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YMS </a:t>
            </a:r>
            <a:r>
              <a:rPr lang="ko-KR" altLang="en-US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기능 고도화</a:t>
            </a:r>
            <a:endParaRPr lang="en-US" altLang="ko-KR" sz="1400" b="1" spc="-5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261" name="직사각형 260"/>
          <p:cNvSpPr/>
          <p:nvPr/>
        </p:nvSpPr>
        <p:spPr>
          <a:xfrm>
            <a:off x="8266580" y="3821421"/>
            <a:ext cx="155844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DMS</a:t>
            </a:r>
            <a:r>
              <a:rPr lang="ko-KR" altLang="en-US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 기능 고도화</a:t>
            </a:r>
            <a:endParaRPr lang="en-US" altLang="ko-KR" sz="1400" b="1" spc="-5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sp>
        <p:nvSpPr>
          <p:cNvPr id="262" name="직사각형 261"/>
          <p:cNvSpPr/>
          <p:nvPr/>
        </p:nvSpPr>
        <p:spPr>
          <a:xfrm>
            <a:off x="7782081" y="5154265"/>
            <a:ext cx="28278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Die</a:t>
            </a:r>
            <a:r>
              <a:rPr lang="ko-KR" altLang="en-US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의 특정 영역 </a:t>
            </a:r>
            <a:r>
              <a: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Monitoring </a:t>
            </a:r>
            <a:r>
              <a:rPr lang="ko-KR" altLang="en-US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rPr>
              <a:t>기능</a:t>
            </a:r>
            <a:endParaRPr lang="en-US" altLang="ko-KR" sz="1400" b="1" spc="-50" dirty="0">
              <a:solidFill>
                <a:schemeClr val="tx1">
                  <a:lumMod val="90000"/>
                  <a:lumOff val="10000"/>
                </a:schemeClr>
              </a:solidFill>
              <a:latin typeface="+mn-ea"/>
            </a:endParaRPr>
          </a:p>
        </p:txBody>
      </p:sp>
      <p:grpSp>
        <p:nvGrpSpPr>
          <p:cNvPr id="276" name="그룹 275"/>
          <p:cNvGrpSpPr/>
          <p:nvPr/>
        </p:nvGrpSpPr>
        <p:grpSpPr>
          <a:xfrm>
            <a:off x="691836" y="2565030"/>
            <a:ext cx="3298362" cy="985824"/>
            <a:chOff x="691836" y="2565030"/>
            <a:chExt cx="3298362" cy="985824"/>
          </a:xfrm>
        </p:grpSpPr>
        <p:sp>
          <p:nvSpPr>
            <p:cNvPr id="244" name="타원 243"/>
            <p:cNvSpPr/>
            <p:nvPr/>
          </p:nvSpPr>
          <p:spPr>
            <a:xfrm>
              <a:off x="691836" y="2608498"/>
              <a:ext cx="216000" cy="216000"/>
            </a:xfrm>
            <a:prstGeom prst="ellipse">
              <a:avLst/>
            </a:prstGeom>
            <a:solidFill>
              <a:schemeClr val="tx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1</a:t>
              </a:r>
              <a:endParaRPr lang="ko-KR" altLang="en-US" sz="1200" b="1" dirty="0"/>
            </a:p>
          </p:txBody>
        </p:sp>
        <p:sp>
          <p:nvSpPr>
            <p:cNvPr id="255" name="직사각형 254"/>
            <p:cNvSpPr/>
            <p:nvPr/>
          </p:nvSpPr>
          <p:spPr>
            <a:xfrm>
              <a:off x="928091" y="2565030"/>
              <a:ext cx="23615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ko-KR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GDS/CAD</a:t>
              </a:r>
              <a:r>
                <a:rPr lang="ko-KR" altLang="en-US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 데이터 관리 기능</a:t>
              </a:r>
              <a:endPara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endParaRPr>
            </a:p>
          </p:txBody>
        </p:sp>
        <p:sp>
          <p:nvSpPr>
            <p:cNvPr id="263" name="직사각형 262"/>
            <p:cNvSpPr/>
            <p:nvPr/>
          </p:nvSpPr>
          <p:spPr>
            <a:xfrm>
              <a:off x="940376" y="2858357"/>
              <a:ext cx="3049822" cy="6924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8000" indent="-108000">
                <a:spcBef>
                  <a:spcPct val="50000"/>
                </a:spcBef>
                <a:buClr>
                  <a:schemeClr val="tx2">
                    <a:lumMod val="60000"/>
                    <a:lumOff val="40000"/>
                  </a:schemeClr>
                </a:buClr>
                <a:buFont typeface="Arial" panose="020B0604020202020204" pitchFamily="34" charset="0"/>
                <a:buChar char="•"/>
                <a:defRPr/>
              </a:pPr>
              <a:r>
                <a:rPr lang="en-US" altLang="ko-KR" sz="1300" spc="-50" dirty="0">
                  <a:latin typeface="+mn-ea"/>
                </a:rPr>
                <a:t>Die </a:t>
              </a:r>
              <a:r>
                <a:rPr lang="ko-KR" altLang="en-US" sz="1300" spc="-50" dirty="0">
                  <a:latin typeface="+mn-ea"/>
                </a:rPr>
                <a:t>내부의 각 영역 별 위치 데이터 등록이 용이하도록 </a:t>
              </a:r>
              <a:r>
                <a:rPr lang="en-US" altLang="ko-KR" sz="1300" spc="-50" dirty="0">
                  <a:latin typeface="+mn-ea"/>
                </a:rPr>
                <a:t>GDS/CAD </a:t>
              </a:r>
              <a:r>
                <a:rPr lang="ko-KR" altLang="en-US" sz="1300" spc="-50" dirty="0">
                  <a:latin typeface="+mn-ea"/>
                </a:rPr>
                <a:t>데이터 자동 로드 및 매핑 기능을 제공</a:t>
              </a:r>
            </a:p>
          </p:txBody>
        </p:sp>
      </p:grpSp>
      <p:grpSp>
        <p:nvGrpSpPr>
          <p:cNvPr id="274" name="그룹 273"/>
          <p:cNvGrpSpPr/>
          <p:nvPr/>
        </p:nvGrpSpPr>
        <p:grpSpPr>
          <a:xfrm>
            <a:off x="698564" y="3651815"/>
            <a:ext cx="2963899" cy="800220"/>
            <a:chOff x="698564" y="3637741"/>
            <a:chExt cx="2963899" cy="800220"/>
          </a:xfrm>
        </p:grpSpPr>
        <p:sp>
          <p:nvSpPr>
            <p:cNvPr id="246" name="타원 245"/>
            <p:cNvSpPr/>
            <p:nvPr/>
          </p:nvSpPr>
          <p:spPr>
            <a:xfrm>
              <a:off x="698564" y="3683629"/>
              <a:ext cx="216000" cy="216000"/>
            </a:xfrm>
            <a:prstGeom prst="ellipse">
              <a:avLst/>
            </a:prstGeom>
            <a:solidFill>
              <a:schemeClr val="tx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2</a:t>
              </a:r>
              <a:endParaRPr lang="ko-KR" altLang="en-US" sz="1200" b="1" dirty="0"/>
            </a:p>
          </p:txBody>
        </p:sp>
        <p:sp>
          <p:nvSpPr>
            <p:cNvPr id="256" name="직사각형 255"/>
            <p:cNvSpPr/>
            <p:nvPr/>
          </p:nvSpPr>
          <p:spPr>
            <a:xfrm>
              <a:off x="919514" y="3637741"/>
              <a:ext cx="198964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ko-KR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Die </a:t>
              </a:r>
              <a:r>
                <a:rPr lang="ko-KR" altLang="en-US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레이아웃 관리 기능</a:t>
              </a:r>
              <a:endPara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endParaRPr>
            </a:p>
          </p:txBody>
        </p:sp>
        <p:sp>
          <p:nvSpPr>
            <p:cNvPr id="264" name="직사각형 263"/>
            <p:cNvSpPr/>
            <p:nvPr/>
          </p:nvSpPr>
          <p:spPr>
            <a:xfrm>
              <a:off x="940377" y="3945518"/>
              <a:ext cx="2722086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8000" indent="-108000">
                <a:spcBef>
                  <a:spcPct val="50000"/>
                </a:spcBef>
                <a:buClr>
                  <a:schemeClr val="tx2">
                    <a:lumMod val="60000"/>
                    <a:lumOff val="4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en-US" altLang="ko-KR" sz="1300" spc="-50" dirty="0">
                  <a:latin typeface="+mn-ea"/>
                </a:rPr>
                <a:t>Die </a:t>
              </a:r>
              <a:r>
                <a:rPr lang="ko-KR" altLang="en-US" sz="1300" spc="-50" dirty="0">
                  <a:latin typeface="+mn-ea"/>
                </a:rPr>
                <a:t>내부에 정의된 </a:t>
              </a:r>
              <a:r>
                <a:rPr lang="ko-KR" altLang="en-US" sz="1300" spc="-50" dirty="0">
                  <a:latin typeface="+mn-ea"/>
                </a:rPr>
                <a:t>각 </a:t>
              </a:r>
              <a:r>
                <a:rPr lang="ko-KR" altLang="en-US" sz="1300" spc="-50" dirty="0">
                  <a:latin typeface="+mn-ea"/>
                </a:rPr>
                <a:t>영역에 대한 </a:t>
              </a:r>
              <a:r>
                <a:rPr lang="en-US" altLang="ko-KR" sz="1300" spc="-50" dirty="0">
                  <a:latin typeface="+mn-ea"/>
                </a:rPr>
                <a:t>Label </a:t>
              </a:r>
              <a:r>
                <a:rPr lang="ko-KR" altLang="en-US" sz="1300" spc="-50" dirty="0">
                  <a:latin typeface="+mn-ea"/>
                </a:rPr>
                <a:t>정보를 설정하고 관리</a:t>
              </a:r>
            </a:p>
          </p:txBody>
        </p:sp>
      </p:grpSp>
      <p:grpSp>
        <p:nvGrpSpPr>
          <p:cNvPr id="275" name="그룹 274"/>
          <p:cNvGrpSpPr/>
          <p:nvPr/>
        </p:nvGrpSpPr>
        <p:grpSpPr>
          <a:xfrm>
            <a:off x="691836" y="4557395"/>
            <a:ext cx="3440821" cy="800220"/>
            <a:chOff x="691836" y="4753050"/>
            <a:chExt cx="3440821" cy="800220"/>
          </a:xfrm>
        </p:grpSpPr>
        <p:sp>
          <p:nvSpPr>
            <p:cNvPr id="248" name="타원 247"/>
            <p:cNvSpPr/>
            <p:nvPr/>
          </p:nvSpPr>
          <p:spPr>
            <a:xfrm>
              <a:off x="691836" y="4798938"/>
              <a:ext cx="216000" cy="216000"/>
            </a:xfrm>
            <a:prstGeom prst="ellipse">
              <a:avLst/>
            </a:prstGeom>
            <a:solidFill>
              <a:schemeClr val="tx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3</a:t>
              </a:r>
              <a:endParaRPr lang="ko-KR" altLang="en-US" sz="1200" b="1" dirty="0"/>
            </a:p>
          </p:txBody>
        </p:sp>
        <p:sp>
          <p:nvSpPr>
            <p:cNvPr id="257" name="직사각형 256"/>
            <p:cNvSpPr/>
            <p:nvPr/>
          </p:nvSpPr>
          <p:spPr>
            <a:xfrm>
              <a:off x="919514" y="4753050"/>
              <a:ext cx="263155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en-US" altLang="ko-KR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Die </a:t>
              </a:r>
              <a:r>
                <a:rPr lang="ko-KR" altLang="en-US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단위 </a:t>
              </a:r>
              <a:r>
                <a:rPr lang="en-US" altLang="ko-KR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Correlation </a:t>
              </a:r>
              <a:r>
                <a:rPr lang="ko-KR" altLang="en-US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분석 기능</a:t>
              </a:r>
              <a:endPara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endParaRPr>
            </a:p>
          </p:txBody>
        </p:sp>
        <p:sp>
          <p:nvSpPr>
            <p:cNvPr id="265" name="직사각형 264"/>
            <p:cNvSpPr/>
            <p:nvPr/>
          </p:nvSpPr>
          <p:spPr>
            <a:xfrm>
              <a:off x="940376" y="5060827"/>
              <a:ext cx="3192281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8000" indent="-108000">
                <a:spcBef>
                  <a:spcPct val="50000"/>
                </a:spcBef>
                <a:buClr>
                  <a:schemeClr val="tx2">
                    <a:lumMod val="60000"/>
                    <a:lumOff val="4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ko-KR" altLang="en-US" sz="1300" spc="-50" dirty="0">
                  <a:latin typeface="+mn-ea"/>
                </a:rPr>
                <a:t>데이터 분석이 용이하도록 </a:t>
              </a:r>
              <a:r>
                <a:rPr lang="en-US" altLang="ko-KR" sz="1300" spc="-50" dirty="0">
                  <a:latin typeface="+mn-ea"/>
                </a:rPr>
                <a:t>Die</a:t>
              </a:r>
              <a:r>
                <a:rPr lang="ko-KR" altLang="en-US" sz="1300" spc="-50" dirty="0">
                  <a:latin typeface="+mn-ea"/>
                </a:rPr>
                <a:t>의 단위 </a:t>
              </a:r>
              <a:r>
                <a:rPr lang="en-US" altLang="ko-KR" sz="1300" spc="-50" dirty="0">
                  <a:latin typeface="+mn-ea"/>
                </a:rPr>
                <a:t>Defect</a:t>
              </a:r>
              <a:r>
                <a:rPr lang="ko-KR" altLang="en-US" sz="1300" spc="-50" dirty="0">
                  <a:latin typeface="+mn-ea"/>
                </a:rPr>
                <a:t>와 </a:t>
              </a:r>
              <a:r>
                <a:rPr lang="en-US" altLang="ko-KR" sz="1300" spc="-50" dirty="0">
                  <a:latin typeface="+mn-ea"/>
                </a:rPr>
                <a:t>E-Test </a:t>
              </a:r>
              <a:r>
                <a:rPr lang="ko-KR" altLang="en-US" sz="1300" spc="-50" dirty="0">
                  <a:latin typeface="+mn-ea"/>
                </a:rPr>
                <a:t>불량 중첩 연계 분석</a:t>
              </a:r>
            </a:p>
          </p:txBody>
        </p:sp>
      </p:grpSp>
      <p:grpSp>
        <p:nvGrpSpPr>
          <p:cNvPr id="277" name="그룹 276"/>
          <p:cNvGrpSpPr/>
          <p:nvPr/>
        </p:nvGrpSpPr>
        <p:grpSpPr>
          <a:xfrm>
            <a:off x="1391663" y="5456650"/>
            <a:ext cx="5071367" cy="776914"/>
            <a:chOff x="1137771" y="5639750"/>
            <a:chExt cx="5071367" cy="776914"/>
          </a:xfrm>
        </p:grpSpPr>
        <p:sp>
          <p:nvSpPr>
            <p:cNvPr id="249" name="타원 248"/>
            <p:cNvSpPr/>
            <p:nvPr/>
          </p:nvSpPr>
          <p:spPr>
            <a:xfrm>
              <a:off x="1137771" y="5674488"/>
              <a:ext cx="216000" cy="216000"/>
            </a:xfrm>
            <a:prstGeom prst="ellipse">
              <a:avLst/>
            </a:prstGeom>
            <a:solidFill>
              <a:schemeClr val="tx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b="1" dirty="0" smtClean="0"/>
                <a:t>4</a:t>
              </a:r>
              <a:endParaRPr lang="ko-KR" altLang="en-US" sz="1200" b="1" dirty="0"/>
            </a:p>
          </p:txBody>
        </p:sp>
        <p:sp>
          <p:nvSpPr>
            <p:cNvPr id="258" name="직사각형 257"/>
            <p:cNvSpPr/>
            <p:nvPr/>
          </p:nvSpPr>
          <p:spPr>
            <a:xfrm>
              <a:off x="1363851" y="5639750"/>
              <a:ext cx="1935017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spcBef>
                  <a:spcPct val="20000"/>
                </a:spcBef>
              </a:pPr>
              <a:r>
                <a:rPr lang="ko-KR" altLang="en-US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설비 </a:t>
              </a:r>
              <a:r>
                <a:rPr lang="en-US" altLang="ko-KR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Monitoring </a:t>
              </a:r>
              <a:r>
                <a:rPr lang="ko-KR" altLang="en-US" sz="1400" b="1" spc="-50" dirty="0">
                  <a:solidFill>
                    <a:schemeClr val="tx1">
                      <a:lumMod val="90000"/>
                      <a:lumOff val="10000"/>
                    </a:schemeClr>
                  </a:solidFill>
                  <a:latin typeface="+mn-ea"/>
                </a:rPr>
                <a:t>기능</a:t>
              </a:r>
              <a:endParaRPr lang="en-US" altLang="ko-KR" sz="1400" b="1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n-ea"/>
              </a:endParaRPr>
            </a:p>
          </p:txBody>
        </p:sp>
        <p:sp>
          <p:nvSpPr>
            <p:cNvPr id="266" name="직사각형 265"/>
            <p:cNvSpPr/>
            <p:nvPr/>
          </p:nvSpPr>
          <p:spPr>
            <a:xfrm>
              <a:off x="1377842" y="5924221"/>
              <a:ext cx="4831296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108000" indent="-108000">
                <a:spcBef>
                  <a:spcPct val="50000"/>
                </a:spcBef>
                <a:buClr>
                  <a:schemeClr val="tx2">
                    <a:lumMod val="60000"/>
                    <a:lumOff val="40000"/>
                  </a:schemeClr>
                </a:buClr>
                <a:buFont typeface="Arial" panose="020B0604020202020204" pitchFamily="34" charset="0"/>
                <a:buChar char="•"/>
              </a:pPr>
              <a:r>
                <a:rPr lang="ko-KR" altLang="en-US" sz="1300" spc="-50" dirty="0">
                  <a:latin typeface="+mn-ea"/>
                </a:rPr>
                <a:t>설비 별 설정된 기준을 초과하는 불량이 발생할 경우</a:t>
              </a:r>
              <a:r>
                <a:rPr lang="en-US" altLang="ko-KR" sz="1300" spc="-50" dirty="0">
                  <a:latin typeface="+mn-ea"/>
                </a:rPr>
                <a:t>, </a:t>
              </a:r>
              <a:r>
                <a:rPr lang="ko-KR" altLang="en-US" sz="1300" spc="-50" dirty="0">
                  <a:latin typeface="+mn-ea"/>
                </a:rPr>
                <a:t>이를 실시간으로 모니터링하고 사용자에게 이메일 알림을 발송</a:t>
              </a:r>
              <a:endParaRPr lang="en-US" altLang="ko-KR" sz="1300" spc="-50" dirty="0">
                <a:latin typeface="+mn-ea"/>
              </a:endParaRPr>
            </a:p>
          </p:txBody>
        </p:sp>
      </p:grpSp>
      <p:cxnSp>
        <p:nvCxnSpPr>
          <p:cNvPr id="17" name="직선 화살표 연결선 16"/>
          <p:cNvCxnSpPr/>
          <p:nvPr/>
        </p:nvCxnSpPr>
        <p:spPr>
          <a:xfrm>
            <a:off x="5031311" y="3376440"/>
            <a:ext cx="198553" cy="128449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headEnd type="oval" w="sm" len="sm"/>
            <a:tailEnd type="oval" w="sm" len="sm"/>
          </a:ln>
        </p:spPr>
      </p:cxnSp>
      <p:sp>
        <p:nvSpPr>
          <p:cNvPr id="279" name="직사각형 278"/>
          <p:cNvSpPr/>
          <p:nvPr/>
        </p:nvSpPr>
        <p:spPr>
          <a:xfrm>
            <a:off x="7793430" y="5462042"/>
            <a:ext cx="3700541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indent="-108000">
              <a:spcBef>
                <a:spcPct val="50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ko-KR" sz="1300" spc="-50" dirty="0">
                <a:latin typeface="+mn-ea"/>
              </a:rPr>
              <a:t>Die</a:t>
            </a:r>
            <a:r>
              <a:rPr lang="ko-KR" altLang="en-US" sz="1300" spc="-50" dirty="0">
                <a:latin typeface="+mn-ea"/>
              </a:rPr>
              <a:t>의 특정 영역에 불량이 설정된 기준을 초과하는 불량이 발생할 경우</a:t>
            </a:r>
            <a:r>
              <a:rPr lang="en-US" altLang="ko-KR" sz="1300" spc="-50" dirty="0">
                <a:latin typeface="+mn-ea"/>
              </a:rPr>
              <a:t>, </a:t>
            </a:r>
            <a:r>
              <a:rPr lang="ko-KR" altLang="en-US" sz="1300" spc="-50" dirty="0">
                <a:latin typeface="+mn-ea"/>
              </a:rPr>
              <a:t>이를 실시간으로 </a:t>
            </a:r>
            <a:r>
              <a:rPr lang="ko-KR" altLang="en-US" sz="1300" spc="-50" dirty="0">
                <a:latin typeface="+mn-ea"/>
              </a:rPr>
              <a:t>모니터링하고 사용자에게 이메일 알림을 발송</a:t>
            </a:r>
            <a:endParaRPr lang="en-US" altLang="ko-KR" sz="1300" spc="-50" dirty="0">
              <a:latin typeface="+mn-ea"/>
            </a:endParaRPr>
          </a:p>
        </p:txBody>
      </p:sp>
      <p:sp>
        <p:nvSpPr>
          <p:cNvPr id="280" name="직사각형 279"/>
          <p:cNvSpPr/>
          <p:nvPr/>
        </p:nvSpPr>
        <p:spPr>
          <a:xfrm>
            <a:off x="8288216" y="4118442"/>
            <a:ext cx="312030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indent="-108000">
              <a:spcBef>
                <a:spcPct val="50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ko-KR" sz="1300" spc="-50" dirty="0">
                <a:latin typeface="+mn-ea"/>
              </a:rPr>
              <a:t>DMS(Defect</a:t>
            </a:r>
            <a:r>
              <a:rPr lang="ko-KR" altLang="en-US" sz="1300" spc="-50" dirty="0">
                <a:latin typeface="+mn-ea"/>
              </a:rPr>
              <a:t> </a:t>
            </a:r>
            <a:r>
              <a:rPr lang="en-US" altLang="ko-KR" sz="1300" spc="-50" dirty="0">
                <a:latin typeface="+mn-ea"/>
              </a:rPr>
              <a:t>Management System)</a:t>
            </a:r>
            <a:r>
              <a:rPr lang="ko-KR" altLang="en-US" sz="1300" spc="-50" dirty="0">
                <a:latin typeface="+mn-ea"/>
              </a:rPr>
              <a:t>의 기본 기능인 </a:t>
            </a:r>
            <a:r>
              <a:rPr lang="en-US" altLang="ko-KR" sz="1300" spc="-50" dirty="0">
                <a:latin typeface="+mn-ea"/>
              </a:rPr>
              <a:t>Defect </a:t>
            </a:r>
            <a:r>
              <a:rPr lang="ko-KR" altLang="en-US" sz="1300" spc="-50" dirty="0">
                <a:latin typeface="+mn-ea"/>
              </a:rPr>
              <a:t>데이터 분석 기능을 엔지니어의 데이터 분석 방법에 맞게 고도화</a:t>
            </a:r>
          </a:p>
        </p:txBody>
      </p:sp>
      <p:sp>
        <p:nvSpPr>
          <p:cNvPr id="281" name="직사각형 280"/>
          <p:cNvSpPr/>
          <p:nvPr/>
        </p:nvSpPr>
        <p:spPr>
          <a:xfrm>
            <a:off x="7826926" y="2866459"/>
            <a:ext cx="3676277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8000" indent="-108000">
              <a:spcBef>
                <a:spcPct val="50000"/>
              </a:spcBef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</a:pPr>
            <a:r>
              <a:rPr lang="en-US" altLang="ko-KR" sz="1300" spc="-50" dirty="0">
                <a:latin typeface="+mn-ea"/>
              </a:rPr>
              <a:t>YMS(Yield</a:t>
            </a:r>
            <a:r>
              <a:rPr lang="ko-KR" altLang="en-US" sz="1300" spc="-50" dirty="0">
                <a:latin typeface="+mn-ea"/>
              </a:rPr>
              <a:t> </a:t>
            </a:r>
            <a:r>
              <a:rPr lang="en-US" altLang="ko-KR" sz="1300" spc="-50" dirty="0">
                <a:latin typeface="+mn-ea"/>
              </a:rPr>
              <a:t>Management System)</a:t>
            </a:r>
            <a:r>
              <a:rPr lang="ko-KR" altLang="en-US" sz="1300" spc="-50" dirty="0">
                <a:latin typeface="+mn-ea"/>
              </a:rPr>
              <a:t>의 기본 기능인 </a:t>
            </a:r>
            <a:r>
              <a:rPr lang="en-US" altLang="ko-KR" sz="1300" spc="-50" dirty="0">
                <a:latin typeface="+mn-ea"/>
              </a:rPr>
              <a:t>Bin</a:t>
            </a:r>
            <a:r>
              <a:rPr lang="ko-KR" altLang="en-US" sz="1300" spc="-50" dirty="0">
                <a:latin typeface="+mn-ea"/>
              </a:rPr>
              <a:t> 분석</a:t>
            </a:r>
            <a:r>
              <a:rPr lang="en-US" altLang="ko-KR" sz="1300" spc="-50" dirty="0">
                <a:latin typeface="+mn-ea"/>
              </a:rPr>
              <a:t>, Test </a:t>
            </a:r>
            <a:r>
              <a:rPr lang="ko-KR" altLang="en-US" sz="1300" spc="-50" dirty="0">
                <a:latin typeface="+mn-ea"/>
              </a:rPr>
              <a:t>데이터 분석 기능을 엔지니어의 데이터 분석 방법에 맞게 고도화</a:t>
            </a:r>
          </a:p>
        </p:txBody>
      </p:sp>
    </p:spTree>
    <p:extLst>
      <p:ext uri="{BB962C8B-B14F-4D97-AF65-F5344CB8AC3E}">
        <p14:creationId xmlns:p14="http://schemas.microsoft.com/office/powerpoint/2010/main" val="3990240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821352" y="2440868"/>
            <a:ext cx="8113382" cy="539250"/>
          </a:xfrm>
        </p:spPr>
        <p:txBody>
          <a:bodyPr wrap="square" lIns="0" tIns="0" rIns="0" bIns="0">
            <a:spAutoFit/>
          </a:bodyPr>
          <a:lstStyle/>
          <a:p>
            <a:pPr marL="0" indent="0" defTabSz="457383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ko-KR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2. </a:t>
            </a: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시스템 구축 방안</a:t>
            </a:r>
            <a:endParaRPr lang="en-US" altLang="ko-KR" sz="32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4947BF1-4FC2-AC64-C83E-829B4B6693FF}"/>
              </a:ext>
            </a:extLst>
          </p:cNvPr>
          <p:cNvSpPr txBox="1">
            <a:spLocks/>
          </p:cNvSpPr>
          <p:nvPr/>
        </p:nvSpPr>
        <p:spPr>
          <a:xfrm>
            <a:off x="1323186" y="3327115"/>
            <a:ext cx="6005662" cy="2359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01240" indent="-201240" defTabSz="45738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Lato" charset="0"/>
              </a:defRPr>
            </a:lvl1pPr>
            <a:lvl2pPr marL="743247" indent="-285864" defTabSz="457383">
              <a:spcBef>
                <a:spcPct val="20000"/>
              </a:spcBef>
              <a:buFont typeface="Arial"/>
              <a:buChar char="–"/>
              <a:defRPr sz="2801"/>
            </a:lvl2pPr>
            <a:lvl3pPr marL="1143457" indent="-228691" defTabSz="457383">
              <a:spcBef>
                <a:spcPct val="20000"/>
              </a:spcBef>
              <a:buFont typeface="Arial"/>
              <a:buChar char="•"/>
              <a:defRPr sz="2401"/>
            </a:lvl3pPr>
            <a:lvl4pPr marL="1600840" indent="-228691" defTabSz="457383">
              <a:spcBef>
                <a:spcPct val="20000"/>
              </a:spcBef>
              <a:buFont typeface="Arial"/>
              <a:buChar char="–"/>
              <a:defRPr sz="2001"/>
            </a:lvl4pPr>
            <a:lvl5pPr marL="2058223" indent="-228691" defTabSz="457383">
              <a:spcBef>
                <a:spcPct val="20000"/>
              </a:spcBef>
              <a:buFont typeface="Arial"/>
              <a:buChar char="»"/>
              <a:defRPr sz="2001"/>
            </a:lvl5pPr>
            <a:lvl6pPr marL="2515606" indent="-228691" defTabSz="457383">
              <a:spcBef>
                <a:spcPct val="20000"/>
              </a:spcBef>
              <a:buFont typeface="Arial"/>
              <a:buChar char="•"/>
              <a:defRPr sz="2001"/>
            </a:lvl6pPr>
            <a:lvl7pPr marL="2972989" indent="-228691" defTabSz="457383">
              <a:spcBef>
                <a:spcPct val="20000"/>
              </a:spcBef>
              <a:buFont typeface="Arial"/>
              <a:buChar char="•"/>
              <a:defRPr sz="2001"/>
            </a:lvl7pPr>
            <a:lvl8pPr marL="3430372" indent="-228691" defTabSz="457383">
              <a:spcBef>
                <a:spcPct val="20000"/>
              </a:spcBef>
              <a:buFont typeface="Arial"/>
              <a:buChar char="•"/>
              <a:defRPr sz="2001"/>
            </a:lvl8pPr>
            <a:lvl9pPr marL="3887754" indent="-228691" defTabSz="457383">
              <a:spcBef>
                <a:spcPct val="20000"/>
              </a:spcBef>
              <a:buFont typeface="Arial"/>
              <a:buChar char="•"/>
              <a:defRPr sz="2001"/>
            </a:lvl9pPr>
          </a:lstStyle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GDS/CAD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데이터 관리 기능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Die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레이아웃 관리 기능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Die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단위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Correlation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분석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설비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Monitoring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기능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Die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의 특정 영역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Monitoring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기능</a:t>
            </a:r>
          </a:p>
        </p:txBody>
      </p:sp>
    </p:spTree>
    <p:extLst>
      <p:ext uri="{BB962C8B-B14F-4D97-AF65-F5344CB8AC3E}">
        <p14:creationId xmlns:p14="http://schemas.microsoft.com/office/powerpoint/2010/main" val="1782547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모서리가 둥근 직사각형 12"/>
          <p:cNvSpPr/>
          <p:nvPr/>
        </p:nvSpPr>
        <p:spPr>
          <a:xfrm>
            <a:off x="708448" y="2289607"/>
            <a:ext cx="7848000" cy="4055632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53F99F15-0CA6-431B-2F3A-10454F216D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88449" y="3522396"/>
            <a:ext cx="2309813" cy="1590054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grpSp>
        <p:nvGrpSpPr>
          <p:cNvPr id="2" name="그룹 1"/>
          <p:cNvGrpSpPr/>
          <p:nvPr/>
        </p:nvGrpSpPr>
        <p:grpSpPr>
          <a:xfrm>
            <a:off x="780538" y="2361939"/>
            <a:ext cx="7703820" cy="3910968"/>
            <a:chOff x="1173480" y="2289606"/>
            <a:chExt cx="7778054" cy="3948654"/>
          </a:xfrm>
        </p:grpSpPr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B372EE3-DA93-63F9-7431-A09A2AF2AD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73480" y="2289606"/>
              <a:ext cx="7778054" cy="3948654"/>
            </a:xfrm>
            <a:prstGeom prst="rect">
              <a:avLst/>
            </a:prstGeom>
          </p:spPr>
        </p:pic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B4C1058-9DA0-FCD9-F86C-9C9B6279508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91678" y="3460376"/>
              <a:ext cx="2217896" cy="2491161"/>
            </a:xfrm>
            <a:prstGeom prst="rect">
              <a:avLst/>
            </a:prstGeom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4B5B1F9E-FFAD-2B6D-C90B-4B55F4E4DCAC}"/>
                </a:ext>
              </a:extLst>
            </p:cNvPr>
            <p:cNvSpPr/>
            <p:nvPr/>
          </p:nvSpPr>
          <p:spPr>
            <a:xfrm>
              <a:off x="1774114" y="5128594"/>
              <a:ext cx="138896" cy="247262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DF5CF794-9D14-79F2-3E39-9D0DDEBBB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73580" y="4145280"/>
              <a:ext cx="1905000" cy="1059180"/>
            </a:xfrm>
            <a:prstGeom prst="straightConnector1">
              <a:avLst/>
            </a:prstGeom>
            <a:ln w="38100">
              <a:solidFill>
                <a:schemeClr val="accent5"/>
              </a:solidFill>
              <a:prstDash val="sysDash"/>
              <a:headEnd type="none" w="med" len="med"/>
              <a:tailEnd type="triangle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GDS/CAD</a:t>
            </a:r>
            <a:r>
              <a:rPr lang="ko-KR" altLang="en-US" dirty="0">
                <a:latin typeface="Microsoft YaHei" panose="020B0503020204020204" pitchFamily="34" charset="-122"/>
              </a:rPr>
              <a:t> 데이터 관리 기능</a:t>
            </a: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GDS/CAD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데이터 파일을 읽어 제품별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Die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레이아웃을 확인하고 효율적으로 관리할 수 있습니다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ko-KR" altLang="en-US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또한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해당 데이터는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Structure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정보와 연계되어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Die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상의 정확한 위치를 표현하고 분석하는 데 활용됩니다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이등변 삼각형 13"/>
          <p:cNvSpPr/>
          <p:nvPr/>
        </p:nvSpPr>
        <p:spPr>
          <a:xfrm rot="5400000">
            <a:off x="7219690" y="4110380"/>
            <a:ext cx="3267945" cy="414087"/>
          </a:xfrm>
          <a:prstGeom prst="triangle">
            <a:avLst/>
          </a:prstGeom>
          <a:gradFill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7610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모서리가 둥근 직사각형 16"/>
          <p:cNvSpPr/>
          <p:nvPr/>
        </p:nvSpPr>
        <p:spPr>
          <a:xfrm>
            <a:off x="2174381" y="2289607"/>
            <a:ext cx="7848000" cy="4055632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2246381" y="2362623"/>
            <a:ext cx="7704000" cy="3909600"/>
            <a:chOff x="1971186" y="2233431"/>
            <a:chExt cx="8165490" cy="4145343"/>
          </a:xfrm>
        </p:grpSpPr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808EA7F3-6780-B2AF-C6C7-39533910B0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71186" y="2233431"/>
              <a:ext cx="8165490" cy="4145343"/>
            </a:xfrm>
            <a:prstGeom prst="rect">
              <a:avLst/>
            </a:prstGeom>
          </p:spPr>
        </p:pic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C7C92B5F-44F7-5C1B-EE1B-C89E3467E3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600630" y="3473449"/>
              <a:ext cx="2326510" cy="2613157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DA5D362A-9A1D-0937-5D2B-9FDB7712E66E}"/>
                </a:ext>
              </a:extLst>
            </p:cNvPr>
            <p:cNvSpPr/>
            <p:nvPr/>
          </p:nvSpPr>
          <p:spPr>
            <a:xfrm>
              <a:off x="8058552" y="3936206"/>
              <a:ext cx="138896" cy="1086483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CC386BF-123A-6507-3A77-A763EB0FB32F}"/>
                </a:ext>
              </a:extLst>
            </p:cNvPr>
            <p:cNvSpPr/>
            <p:nvPr/>
          </p:nvSpPr>
          <p:spPr>
            <a:xfrm>
              <a:off x="8056573" y="3681413"/>
              <a:ext cx="138896" cy="90487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Die </a:t>
            </a:r>
            <a:r>
              <a:rPr lang="ko-KR" altLang="en-US" dirty="0">
                <a:latin typeface="Microsoft YaHei" panose="020B0503020204020204" pitchFamily="34" charset="-122"/>
              </a:rPr>
              <a:t>레이아웃 관리 기능</a:t>
            </a: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8" name="내용 개체 틀 7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Die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내부의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Structure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명칭과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GDS/CAD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데이터 항목 간의 매핑을 설정할 수 있는 기능입니다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또한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하나의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Structure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에 대해 여러 개의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GDS/CAD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데이터 항목을 연결하여 유연하게 관리할 수 있습니다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97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모서리가 둥근 직사각형 114">
            <a:extLst>
              <a:ext uri="{FF2B5EF4-FFF2-40B4-BE49-F238E27FC236}">
                <a16:creationId xmlns:a16="http://schemas.microsoft.com/office/drawing/2014/main" id="{16D196D2-EF3E-23F6-4ED1-7E8E353BEC45}"/>
              </a:ext>
            </a:extLst>
          </p:cNvPr>
          <p:cNvSpPr/>
          <p:nvPr/>
        </p:nvSpPr>
        <p:spPr bwMode="auto">
          <a:xfrm>
            <a:off x="4583979" y="2600325"/>
            <a:ext cx="6914283" cy="2649319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0B07809-4171-F580-C409-3F5B04496CC1}"/>
              </a:ext>
            </a:extLst>
          </p:cNvPr>
          <p:cNvSpPr txBox="1"/>
          <p:nvPr/>
        </p:nvSpPr>
        <p:spPr>
          <a:xfrm>
            <a:off x="4987987" y="3052468"/>
            <a:ext cx="2149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1" dirty="0">
                <a:solidFill>
                  <a:schemeClr val="tx1"/>
                </a:solidFill>
              </a:rPr>
              <a:t>AOI Defect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84F1BC8-D13A-13F3-ADB3-9B76D5E2BBF3}"/>
              </a:ext>
            </a:extLst>
          </p:cNvPr>
          <p:cNvSpPr txBox="1"/>
          <p:nvPr/>
        </p:nvSpPr>
        <p:spPr>
          <a:xfrm>
            <a:off x="6673790" y="3052468"/>
            <a:ext cx="21494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latinLnBrk="1"/>
            <a:r>
              <a:rPr lang="en-US" altLang="ko-KR" b="1" dirty="0">
                <a:solidFill>
                  <a:schemeClr val="tx1"/>
                </a:solidFill>
              </a:rPr>
              <a:t>E-Test</a:t>
            </a:r>
          </a:p>
        </p:txBody>
      </p:sp>
      <p:sp>
        <p:nvSpPr>
          <p:cNvPr id="64" name="모서리가 둥근 직사각형 112">
            <a:extLst>
              <a:ext uri="{FF2B5EF4-FFF2-40B4-BE49-F238E27FC236}">
                <a16:creationId xmlns:a16="http://schemas.microsoft.com/office/drawing/2014/main" id="{B672E143-1F7A-D268-CBD8-76683418AB52}"/>
              </a:ext>
            </a:extLst>
          </p:cNvPr>
          <p:cNvSpPr/>
          <p:nvPr/>
        </p:nvSpPr>
        <p:spPr bwMode="auto">
          <a:xfrm>
            <a:off x="704850" y="2940093"/>
            <a:ext cx="3513600" cy="2309551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7" name="Picture 2">
            <a:extLst>
              <a:ext uri="{FF2B5EF4-FFF2-40B4-BE49-F238E27FC236}">
                <a16:creationId xmlns:a16="http://schemas.microsoft.com/office/drawing/2014/main" id="{348163F9-2145-BF25-D34A-8358F217F9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67620" y="3524755"/>
            <a:ext cx="972158" cy="622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그림 67" descr="cap_man.png">
            <a:extLst>
              <a:ext uri="{FF2B5EF4-FFF2-40B4-BE49-F238E27FC236}">
                <a16:creationId xmlns:a16="http://schemas.microsoft.com/office/drawing/2014/main" id="{B7A5CCEB-CE69-7CD5-DF61-D85B3EA1F2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2987" y="3363668"/>
            <a:ext cx="390046" cy="463340"/>
          </a:xfrm>
          <a:prstGeom prst="rect">
            <a:avLst/>
          </a:prstGeom>
        </p:spPr>
      </p:pic>
      <p:sp>
        <p:nvSpPr>
          <p:cNvPr id="69" name="직사각형 68">
            <a:extLst>
              <a:ext uri="{FF2B5EF4-FFF2-40B4-BE49-F238E27FC236}">
                <a16:creationId xmlns:a16="http://schemas.microsoft.com/office/drawing/2014/main" id="{2180D9FE-1C93-9B66-7410-6668572C869C}"/>
              </a:ext>
            </a:extLst>
          </p:cNvPr>
          <p:cNvSpPr/>
          <p:nvPr/>
        </p:nvSpPr>
        <p:spPr>
          <a:xfrm>
            <a:off x="1004815" y="4272497"/>
            <a:ext cx="10349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defRPr/>
            </a:pPr>
            <a:r>
              <a:rPr lang="en-US" altLang="ko-KR" sz="1600" b="1" dirty="0"/>
              <a:t>Package</a:t>
            </a:r>
          </a:p>
          <a:p>
            <a:pPr algn="ctr" latinLnBrk="0">
              <a:defRPr/>
            </a:pPr>
            <a:r>
              <a:rPr lang="ko-KR" altLang="en-US" sz="1600" b="1" dirty="0"/>
              <a:t>공정</a:t>
            </a:r>
          </a:p>
        </p:txBody>
      </p:sp>
      <p:pic>
        <p:nvPicPr>
          <p:cNvPr id="71" name="Picture 80">
            <a:extLst>
              <a:ext uri="{FF2B5EF4-FFF2-40B4-BE49-F238E27FC236}">
                <a16:creationId xmlns:a16="http://schemas.microsoft.com/office/drawing/2014/main" id="{1EE4A52A-7FD6-EDE3-786C-6CB833B12C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474" b="100000" l="9346" r="8972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274051" y="3187636"/>
            <a:ext cx="777378" cy="9863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" name="직사각형 71">
            <a:extLst>
              <a:ext uri="{FF2B5EF4-FFF2-40B4-BE49-F238E27FC236}">
                <a16:creationId xmlns:a16="http://schemas.microsoft.com/office/drawing/2014/main" id="{4AD9241A-DE9F-2C41-5F7D-67D066E865A8}"/>
              </a:ext>
            </a:extLst>
          </p:cNvPr>
          <p:cNvSpPr/>
          <p:nvPr/>
        </p:nvSpPr>
        <p:spPr>
          <a:xfrm>
            <a:off x="3336231" y="4216310"/>
            <a:ext cx="707246" cy="4160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sz="1600" b="1" dirty="0">
                <a:ea typeface="+mn-ea"/>
              </a:rPr>
              <a:t>TEST</a:t>
            </a:r>
            <a:endParaRPr lang="ko-KR" altLang="ko-KR" sz="1600" b="1" dirty="0">
              <a:ea typeface="+mn-ea"/>
            </a:endParaRPr>
          </a:p>
        </p:txBody>
      </p:sp>
      <p:pic>
        <p:nvPicPr>
          <p:cNvPr id="74" name="Picture 1705">
            <a:extLst>
              <a:ext uri="{FF2B5EF4-FFF2-40B4-BE49-F238E27FC236}">
                <a16:creationId xmlns:a16="http://schemas.microsoft.com/office/drawing/2014/main" id="{3A1CECDC-88F6-83A1-6999-6FE7C0870D10}"/>
              </a:ext>
            </a:extLst>
          </p:cNvPr>
          <p:cNvPicPr preferRelativeResize="0"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EFF"/>
              </a:clrFrom>
              <a:clrTo>
                <a:srgbClr val="FFFE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92559" y="3519214"/>
            <a:ext cx="555255" cy="647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" name="직사각형 74">
            <a:extLst>
              <a:ext uri="{FF2B5EF4-FFF2-40B4-BE49-F238E27FC236}">
                <a16:creationId xmlns:a16="http://schemas.microsoft.com/office/drawing/2014/main" id="{AB7BC76F-032D-7642-03F3-C9FC3306BBCB}"/>
              </a:ext>
            </a:extLst>
          </p:cNvPr>
          <p:cNvSpPr/>
          <p:nvPr/>
        </p:nvSpPr>
        <p:spPr>
          <a:xfrm>
            <a:off x="2025703" y="4281859"/>
            <a:ext cx="1288967" cy="369332"/>
          </a:xfrm>
          <a:prstGeom prst="rect">
            <a:avLst/>
          </a:prstGeom>
        </p:spPr>
        <p:txBody>
          <a:bodyPr wrap="square" tIns="0" bIns="0">
            <a:spAutoFit/>
          </a:bodyPr>
          <a:lstStyle/>
          <a:p>
            <a:pPr algn="ctr" latinLnBrk="0">
              <a:lnSpc>
                <a:spcPct val="150000"/>
              </a:lnSpc>
            </a:pPr>
            <a:r>
              <a:rPr lang="en-US" altLang="ko-KR" sz="1600" b="1" dirty="0">
                <a:ea typeface="+mn-ea"/>
              </a:rPr>
              <a:t>AOI</a:t>
            </a:r>
            <a:endParaRPr lang="ko-KR" altLang="ko-KR" sz="1600" b="1" dirty="0">
              <a:ea typeface="+mn-ea"/>
            </a:endParaRPr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32A05C5E-3508-C643-5FF0-CA6C034A2B5B}"/>
              </a:ext>
            </a:extLst>
          </p:cNvPr>
          <p:cNvCxnSpPr/>
          <p:nvPr/>
        </p:nvCxnSpPr>
        <p:spPr>
          <a:xfrm flipV="1">
            <a:off x="1996731" y="3891980"/>
            <a:ext cx="432980" cy="4583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화살표 연결선 76">
            <a:extLst>
              <a:ext uri="{FF2B5EF4-FFF2-40B4-BE49-F238E27FC236}">
                <a16:creationId xmlns:a16="http://schemas.microsoft.com/office/drawing/2014/main" id="{EF4B2115-609E-0718-5E98-E421266FFB05}"/>
              </a:ext>
            </a:extLst>
          </p:cNvPr>
          <p:cNvCxnSpPr/>
          <p:nvPr/>
        </p:nvCxnSpPr>
        <p:spPr>
          <a:xfrm>
            <a:off x="2963292" y="3891979"/>
            <a:ext cx="394724" cy="1"/>
          </a:xfrm>
          <a:prstGeom prst="straightConnector1">
            <a:avLst/>
          </a:prstGeom>
          <a:ln w="9525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20">
            <a:extLst>
              <a:ext uri="{FF2B5EF4-FFF2-40B4-BE49-F238E27FC236}">
                <a16:creationId xmlns:a16="http://schemas.microsoft.com/office/drawing/2014/main" id="{555ED764-D39A-9314-2F80-2145C0756BB3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3860873" y="3460505"/>
            <a:ext cx="1011128" cy="3392500"/>
          </a:xfrm>
          <a:prstGeom prst="bentConnector2">
            <a:avLst/>
          </a:prstGeom>
          <a:noFill/>
          <a:ln w="12700" cap="flat" cmpd="sng" algn="ctr">
            <a:solidFill>
              <a:schemeClr val="tx2"/>
            </a:solidFill>
            <a:prstDash val="dash"/>
            <a:miter lim="800000"/>
          </a:ln>
          <a:effectLst/>
        </p:spPr>
      </p:cxnSp>
      <p:cxnSp>
        <p:nvCxnSpPr>
          <p:cNvPr id="90" name="꺾인 연결선 20">
            <a:extLst>
              <a:ext uri="{FF2B5EF4-FFF2-40B4-BE49-F238E27FC236}">
                <a16:creationId xmlns:a16="http://schemas.microsoft.com/office/drawing/2014/main" id="{CD900089-3821-0794-DF70-5F68E2518135}"/>
              </a:ext>
            </a:extLst>
          </p:cNvPr>
          <p:cNvCxnSpPr>
            <a:cxnSpLocks/>
          </p:cNvCxnSpPr>
          <p:nvPr/>
        </p:nvCxnSpPr>
        <p:spPr bwMode="auto">
          <a:xfrm flipV="1">
            <a:off x="3749294" y="4979689"/>
            <a:ext cx="4031412" cy="952246"/>
          </a:xfrm>
          <a:prstGeom prst="bentConnector3">
            <a:avLst>
              <a:gd name="adj1" fmla="val 99932"/>
            </a:avLst>
          </a:prstGeom>
          <a:noFill/>
          <a:ln w="12700" cap="flat" cmpd="sng" algn="ctr">
            <a:solidFill>
              <a:schemeClr val="tx2"/>
            </a:solidFill>
            <a:prstDash val="dash"/>
            <a:miter lim="800000"/>
            <a:headEnd type="none" w="lg" len="med"/>
            <a:tailEnd type="triangle" w="lg" len="med"/>
          </a:ln>
          <a:effectLst/>
        </p:spPr>
      </p:cxnSp>
      <p:sp>
        <p:nvSpPr>
          <p:cNvPr id="95" name="TextBox 94">
            <a:extLst>
              <a:ext uri="{FF2B5EF4-FFF2-40B4-BE49-F238E27FC236}">
                <a16:creationId xmlns:a16="http://schemas.microsoft.com/office/drawing/2014/main" id="{72DA4D08-C671-2F1D-A56A-E19FB5FB594D}"/>
              </a:ext>
            </a:extLst>
          </p:cNvPr>
          <p:cNvSpPr txBox="1"/>
          <p:nvPr/>
        </p:nvSpPr>
        <p:spPr>
          <a:xfrm>
            <a:off x="3670978" y="5408198"/>
            <a:ext cx="1390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spc="-50" dirty="0">
                <a:latin typeface="+mn-ea"/>
              </a:rPr>
              <a:t>KLARF file</a:t>
            </a:r>
            <a:endParaRPr lang="ko-KR" altLang="en-US" sz="1300" b="1" spc="-50" dirty="0">
              <a:latin typeface="+mn-ea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1AE7E860-818C-4A4F-4ED9-35731210DDCA}"/>
              </a:ext>
            </a:extLst>
          </p:cNvPr>
          <p:cNvSpPr txBox="1"/>
          <p:nvPr/>
        </p:nvSpPr>
        <p:spPr>
          <a:xfrm>
            <a:off x="5069541" y="5961284"/>
            <a:ext cx="1390918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300" b="1" spc="-50" dirty="0">
                <a:latin typeface="+mn-ea"/>
              </a:rPr>
              <a:t>CSV file</a:t>
            </a:r>
            <a:endParaRPr lang="ko-KR" altLang="en-US" sz="1300" b="1" spc="-50" dirty="0">
              <a:latin typeface="+mn-e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B0A289-9DD9-AFED-F7C1-99A1E4DAE068}"/>
              </a:ext>
            </a:extLst>
          </p:cNvPr>
          <p:cNvSpPr txBox="1"/>
          <p:nvPr/>
        </p:nvSpPr>
        <p:spPr>
          <a:xfrm>
            <a:off x="9942514" y="3052295"/>
            <a:ext cx="1567416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atinLnBrk="1"/>
            <a:r>
              <a:rPr lang="en-US" altLang="ko-KR" sz="1300" spc="-50" dirty="0">
                <a:latin typeface="+mn-ea"/>
              </a:rPr>
              <a:t>AOI</a:t>
            </a:r>
            <a:r>
              <a:rPr lang="ko-KR" altLang="en-US" sz="1300" spc="-50" dirty="0">
                <a:latin typeface="+mn-ea"/>
              </a:rPr>
              <a:t>에서 검출된 </a:t>
            </a:r>
            <a:r>
              <a:rPr lang="en-US" altLang="ko-KR" sz="1300" spc="-50" dirty="0">
                <a:latin typeface="+mn-ea"/>
              </a:rPr>
              <a:t>Defect</a:t>
            </a:r>
            <a:r>
              <a:rPr lang="ko-KR" altLang="en-US" sz="1300" spc="-50" dirty="0">
                <a:latin typeface="+mn-ea"/>
              </a:rPr>
              <a:t>가 회로의 전기적 테스트 불량에 영향을 미침</a:t>
            </a:r>
            <a:endParaRPr lang="en-US" altLang="ko-KR" sz="1300" spc="-50" dirty="0">
              <a:latin typeface="+mn-ea"/>
            </a:endParaRPr>
          </a:p>
        </p:txBody>
      </p:sp>
      <p:sp>
        <p:nvSpPr>
          <p:cNvPr id="17" name="화살표: 오른쪽 16">
            <a:extLst>
              <a:ext uri="{FF2B5EF4-FFF2-40B4-BE49-F238E27FC236}">
                <a16:creationId xmlns:a16="http://schemas.microsoft.com/office/drawing/2014/main" id="{0499A467-93FA-BBA2-A460-55FEF78CB5C2}"/>
              </a:ext>
            </a:extLst>
          </p:cNvPr>
          <p:cNvSpPr/>
          <p:nvPr/>
        </p:nvSpPr>
        <p:spPr>
          <a:xfrm>
            <a:off x="5365566" y="3510976"/>
            <a:ext cx="236977" cy="21887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화살표: 오른쪽 30">
            <a:extLst>
              <a:ext uri="{FF2B5EF4-FFF2-40B4-BE49-F238E27FC236}">
                <a16:creationId xmlns:a16="http://schemas.microsoft.com/office/drawing/2014/main" id="{C2C57A7D-5B27-039B-5A38-893F97AA77F6}"/>
              </a:ext>
            </a:extLst>
          </p:cNvPr>
          <p:cNvSpPr/>
          <p:nvPr/>
        </p:nvSpPr>
        <p:spPr>
          <a:xfrm>
            <a:off x="5365566" y="3775634"/>
            <a:ext cx="236977" cy="21887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화살표: 오른쪽 31">
            <a:extLst>
              <a:ext uri="{FF2B5EF4-FFF2-40B4-BE49-F238E27FC236}">
                <a16:creationId xmlns:a16="http://schemas.microsoft.com/office/drawing/2014/main" id="{A3C5F961-5627-7432-F2C0-69759003FBA0}"/>
              </a:ext>
            </a:extLst>
          </p:cNvPr>
          <p:cNvSpPr/>
          <p:nvPr/>
        </p:nvSpPr>
        <p:spPr>
          <a:xfrm>
            <a:off x="5365566" y="4040292"/>
            <a:ext cx="236977" cy="21887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화살표: 오른쪽 32">
            <a:extLst>
              <a:ext uri="{FF2B5EF4-FFF2-40B4-BE49-F238E27FC236}">
                <a16:creationId xmlns:a16="http://schemas.microsoft.com/office/drawing/2014/main" id="{A401552C-0F49-2A12-A1EF-D5CC61D80954}"/>
              </a:ext>
            </a:extLst>
          </p:cNvPr>
          <p:cNvSpPr/>
          <p:nvPr/>
        </p:nvSpPr>
        <p:spPr>
          <a:xfrm>
            <a:off x="5365566" y="4304950"/>
            <a:ext cx="236977" cy="21887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화살표: 오른쪽 33">
            <a:extLst>
              <a:ext uri="{FF2B5EF4-FFF2-40B4-BE49-F238E27FC236}">
                <a16:creationId xmlns:a16="http://schemas.microsoft.com/office/drawing/2014/main" id="{B57AA549-678B-B0F1-2164-DC1F6F5F108D}"/>
              </a:ext>
            </a:extLst>
          </p:cNvPr>
          <p:cNvSpPr/>
          <p:nvPr/>
        </p:nvSpPr>
        <p:spPr>
          <a:xfrm>
            <a:off x="5365566" y="4567014"/>
            <a:ext cx="236977" cy="218876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E1FCEE-90FB-F30E-0DB7-F8744A3CAD9A}"/>
              </a:ext>
            </a:extLst>
          </p:cNvPr>
          <p:cNvSpPr txBox="1"/>
          <p:nvPr/>
        </p:nvSpPr>
        <p:spPr>
          <a:xfrm>
            <a:off x="4619779" y="3674222"/>
            <a:ext cx="745787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b="1" spc="-50" dirty="0">
                <a:latin typeface="+mn-ea"/>
              </a:rPr>
              <a:t>Die </a:t>
            </a:r>
            <a:r>
              <a:rPr lang="ko-KR" altLang="en-US" sz="1300" b="1" spc="-50" dirty="0">
                <a:latin typeface="+mn-ea"/>
              </a:rPr>
              <a:t>간</a:t>
            </a:r>
            <a:endParaRPr lang="en-US" altLang="ko-KR" sz="1300" b="1" spc="-50" dirty="0">
              <a:latin typeface="+mn-ea"/>
            </a:endParaRPr>
          </a:p>
          <a:p>
            <a:pPr algn="ctr"/>
            <a:r>
              <a:rPr lang="ko-KR" altLang="en-US" sz="1300" b="1" spc="-50" dirty="0">
                <a:latin typeface="+mn-ea"/>
              </a:rPr>
              <a:t>데이터 투영</a:t>
            </a:r>
          </a:p>
        </p:txBody>
      </p: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3. Die </a:t>
            </a:r>
            <a:r>
              <a:rPr lang="ko-KR" altLang="en-US" dirty="0">
                <a:latin typeface="Microsoft YaHei" panose="020B0503020204020204" pitchFamily="34" charset="-122"/>
              </a:rPr>
              <a:t>단위 </a:t>
            </a:r>
            <a:r>
              <a:rPr lang="en-US" altLang="ko-KR" dirty="0">
                <a:latin typeface="Microsoft YaHei" panose="020B0503020204020204" pitchFamily="34" charset="-122"/>
              </a:rPr>
              <a:t>Correlation </a:t>
            </a:r>
            <a:r>
              <a:rPr lang="ko-KR" altLang="en-US" dirty="0">
                <a:latin typeface="Microsoft YaHei" panose="020B0503020204020204" pitchFamily="34" charset="-122"/>
              </a:rPr>
              <a:t>분석</a:t>
            </a: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AOI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검사 </a:t>
            </a:r>
            <a:r>
              <a:rPr lang="ko-KR" altLang="en-US" dirty="0" err="1">
                <a:latin typeface="Microsoft YaHei" panose="020B0503020204020204" pitchFamily="34" charset="-122"/>
                <a:ea typeface="Microsoft YaHei" panose="020B0503020204020204" pitchFamily="34" charset="-122"/>
              </a:rPr>
              <a:t>장비로부터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결함의 위치 좌표 및 이미지 데이터를 추출합니다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b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전기적 불량 테스트 결과를 설계 데이터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(GDS/CAD Layout)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와 대조하여 좌표를 확인합니다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  <a:b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</a:b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Defect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좌표 정보가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GDS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CAD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파일 내 데이지 체인의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RDL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 라우팅 위치와 일치하는지를 검증합니다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52" name="갈매기형 수장 3">
            <a:extLst>
              <a:ext uri="{FF2B5EF4-FFF2-40B4-BE49-F238E27FC236}">
                <a16:creationId xmlns:a16="http://schemas.microsoft.com/office/drawing/2014/main" id="{7F51B95E-6E32-E779-2287-64EBF64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850" y="2600325"/>
            <a:ext cx="3513600" cy="360000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Packaging</a:t>
            </a:r>
            <a:r>
              <a:rPr kumimoji="1" lang="ko-KR" altLang="en-US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 공정</a:t>
            </a:r>
            <a:endParaRPr kumimoji="1" lang="en-US" altLang="ko-KR" sz="16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55" name="갈매기형 수장 3">
            <a:extLst>
              <a:ext uri="{FF2B5EF4-FFF2-40B4-BE49-F238E27FC236}">
                <a16:creationId xmlns:a16="http://schemas.microsoft.com/office/drawing/2014/main" id="{7F51B95E-6E32-E779-2287-64EBF64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3979" y="2600325"/>
            <a:ext cx="6914283" cy="360000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20000"/>
              </a:spcBef>
            </a:pPr>
            <a:r>
              <a:rPr lang="ko-KR" altLang="en-US" sz="1600" b="1" dirty="0">
                <a:solidFill>
                  <a:schemeClr val="bg1"/>
                </a:solidFill>
                <a:latin typeface="+mn-ea"/>
              </a:rPr>
              <a:t>데이터 간 연관관계 분석</a:t>
            </a:r>
            <a:endParaRPr lang="en-US" altLang="ko-KR" sz="1600" b="1" dirty="0">
              <a:solidFill>
                <a:schemeClr val="bg1"/>
              </a:solidFill>
              <a:latin typeface="+mn-ea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C7899629-988A-D47A-837D-6DFB2D59CFAA}"/>
              </a:ext>
            </a:extLst>
          </p:cNvPr>
          <p:cNvGrpSpPr/>
          <p:nvPr/>
        </p:nvGrpSpPr>
        <p:grpSpPr>
          <a:xfrm>
            <a:off x="5507493" y="3581197"/>
            <a:ext cx="1110390" cy="1437194"/>
            <a:chOff x="1929703" y="1608880"/>
            <a:chExt cx="2848373" cy="3686689"/>
          </a:xfrm>
          <a:solidFill>
            <a:schemeClr val="accent2"/>
          </a:solidFill>
          <a:scene3d>
            <a:camera prst="isometricLeftDown"/>
            <a:lightRig rig="threePt" dir="t"/>
          </a:scene3d>
        </p:grpSpPr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72DA8D5D-229C-CD85-4044-D24D48FA58BF}"/>
                </a:ext>
              </a:extLst>
            </p:cNvPr>
            <p:cNvSpPr/>
            <p:nvPr/>
          </p:nvSpPr>
          <p:spPr>
            <a:xfrm>
              <a:off x="1929703" y="1608880"/>
              <a:ext cx="2848373" cy="3686689"/>
            </a:xfrm>
            <a:prstGeom prst="rect">
              <a:avLst/>
            </a:prstGeom>
            <a:grpFill/>
            <a:ln>
              <a:solidFill>
                <a:schemeClr val="bg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0574F769-8B10-D8D8-AA8D-1037667A3D2E}"/>
                </a:ext>
              </a:extLst>
            </p:cNvPr>
            <p:cNvSpPr/>
            <p:nvPr/>
          </p:nvSpPr>
          <p:spPr>
            <a:xfrm>
              <a:off x="2801073" y="2100880"/>
              <a:ext cx="185195" cy="185195"/>
            </a:xfrm>
            <a:prstGeom prst="rect">
              <a:avLst/>
            </a:prstGeom>
            <a:grp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F37B70B7-F94A-0511-988E-E5EC81B50495}"/>
                </a:ext>
              </a:extLst>
            </p:cNvPr>
            <p:cNvSpPr/>
            <p:nvPr/>
          </p:nvSpPr>
          <p:spPr>
            <a:xfrm>
              <a:off x="4166886" y="4039639"/>
              <a:ext cx="185195" cy="185195"/>
            </a:xfrm>
            <a:prstGeom prst="rect">
              <a:avLst/>
            </a:prstGeom>
            <a:grp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1E07FC7D-41FA-CB46-8831-30EAD96BA367}"/>
                </a:ext>
              </a:extLst>
            </p:cNvPr>
            <p:cNvSpPr/>
            <p:nvPr/>
          </p:nvSpPr>
          <p:spPr>
            <a:xfrm>
              <a:off x="2656389" y="4792070"/>
              <a:ext cx="185195" cy="185195"/>
            </a:xfrm>
            <a:prstGeom prst="rect">
              <a:avLst/>
            </a:prstGeom>
            <a:grp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2" name="직사각형 29">
            <a:extLst>
              <a:ext uri="{FF2B5EF4-FFF2-40B4-BE49-F238E27FC236}">
                <a16:creationId xmlns:a16="http://schemas.microsoft.com/office/drawing/2014/main" id="{FF0C0FC0-CE6B-D9B0-BEED-C372F4B4322C}"/>
              </a:ext>
            </a:extLst>
          </p:cNvPr>
          <p:cNvSpPr/>
          <p:nvPr/>
        </p:nvSpPr>
        <p:spPr bwMode="auto">
          <a:xfrm>
            <a:off x="7704514" y="4882698"/>
            <a:ext cx="441606" cy="249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164F4098-416A-F4F9-4C12-CD1E13DE36BF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93296" y="3557972"/>
            <a:ext cx="1110390" cy="1437194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grpSp>
        <p:nvGrpSpPr>
          <p:cNvPr id="102" name="그룹 101"/>
          <p:cNvGrpSpPr/>
          <p:nvPr/>
        </p:nvGrpSpPr>
        <p:grpSpPr>
          <a:xfrm>
            <a:off x="8973551" y="3571672"/>
            <a:ext cx="1110390" cy="1437194"/>
            <a:chOff x="9464358" y="3571672"/>
            <a:chExt cx="1110390" cy="1437194"/>
          </a:xfrm>
        </p:grpSpPr>
        <p:grpSp>
          <p:nvGrpSpPr>
            <p:cNvPr id="78" name="그룹 77">
              <a:extLst>
                <a:ext uri="{FF2B5EF4-FFF2-40B4-BE49-F238E27FC236}">
                  <a16:creationId xmlns:a16="http://schemas.microsoft.com/office/drawing/2014/main" id="{3F61FCCA-B072-A10E-D083-1999F083F863}"/>
                </a:ext>
              </a:extLst>
            </p:cNvPr>
            <p:cNvGrpSpPr/>
            <p:nvPr/>
          </p:nvGrpSpPr>
          <p:grpSpPr>
            <a:xfrm>
              <a:off x="9464358" y="3571672"/>
              <a:ext cx="1110390" cy="1437194"/>
              <a:chOff x="7861166" y="1608880"/>
              <a:chExt cx="2848373" cy="3686689"/>
            </a:xfrm>
            <a:scene3d>
              <a:camera prst="isometricLeftDown"/>
              <a:lightRig rig="threePt" dir="t"/>
            </a:scene3d>
          </p:grpSpPr>
          <p:grpSp>
            <p:nvGrpSpPr>
              <p:cNvPr id="85" name="그룹 84">
                <a:extLst>
                  <a:ext uri="{FF2B5EF4-FFF2-40B4-BE49-F238E27FC236}">
                    <a16:creationId xmlns:a16="http://schemas.microsoft.com/office/drawing/2014/main" id="{F4BAD968-3896-50CF-B8A6-AF1B09631CD7}"/>
                  </a:ext>
                </a:extLst>
              </p:cNvPr>
              <p:cNvGrpSpPr/>
              <p:nvPr/>
            </p:nvGrpSpPr>
            <p:grpSpPr>
              <a:xfrm>
                <a:off x="7861166" y="1608880"/>
                <a:ext cx="2848373" cy="3686689"/>
                <a:chOff x="1929703" y="1608880"/>
                <a:chExt cx="2848373" cy="3686689"/>
              </a:xfrm>
            </p:grpSpPr>
            <p:sp>
              <p:nvSpPr>
                <p:cNvPr id="87" name="직사각형 86">
                  <a:extLst>
                    <a:ext uri="{FF2B5EF4-FFF2-40B4-BE49-F238E27FC236}">
                      <a16:creationId xmlns:a16="http://schemas.microsoft.com/office/drawing/2014/main" id="{E70CA6FF-9143-77EE-5304-186D3F25BE4C}"/>
                    </a:ext>
                  </a:extLst>
                </p:cNvPr>
                <p:cNvSpPr/>
                <p:nvPr/>
              </p:nvSpPr>
              <p:spPr>
                <a:xfrm>
                  <a:off x="1929703" y="1608880"/>
                  <a:ext cx="2848373" cy="3686689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bg2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88" name="직사각형 87">
                  <a:extLst>
                    <a:ext uri="{FF2B5EF4-FFF2-40B4-BE49-F238E27FC236}">
                      <a16:creationId xmlns:a16="http://schemas.microsoft.com/office/drawing/2014/main" id="{957D9771-C044-9CF1-3C6C-8143E6B25A4C}"/>
                    </a:ext>
                  </a:extLst>
                </p:cNvPr>
                <p:cNvSpPr/>
                <p:nvPr/>
              </p:nvSpPr>
              <p:spPr>
                <a:xfrm>
                  <a:off x="2801072" y="2100880"/>
                  <a:ext cx="185195" cy="185195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9" name="직사각형 88">
                  <a:extLst>
                    <a:ext uri="{FF2B5EF4-FFF2-40B4-BE49-F238E27FC236}">
                      <a16:creationId xmlns:a16="http://schemas.microsoft.com/office/drawing/2014/main" id="{E54DA695-7B90-CC5A-0B08-355BE1A703CE}"/>
                    </a:ext>
                  </a:extLst>
                </p:cNvPr>
                <p:cNvSpPr/>
                <p:nvPr/>
              </p:nvSpPr>
              <p:spPr>
                <a:xfrm>
                  <a:off x="4187020" y="4132236"/>
                  <a:ext cx="185195" cy="185195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91" name="직사각형 90">
                  <a:extLst>
                    <a:ext uri="{FF2B5EF4-FFF2-40B4-BE49-F238E27FC236}">
                      <a16:creationId xmlns:a16="http://schemas.microsoft.com/office/drawing/2014/main" id="{DEBB568C-D708-EB6E-C3F4-89CA1F3EF910}"/>
                    </a:ext>
                  </a:extLst>
                </p:cNvPr>
                <p:cNvSpPr/>
                <p:nvPr/>
              </p:nvSpPr>
              <p:spPr>
                <a:xfrm>
                  <a:off x="2546572" y="4695318"/>
                  <a:ext cx="185195" cy="185195"/>
                </a:xfrm>
                <a:prstGeom prst="rect">
                  <a:avLst/>
                </a:prstGeom>
                <a:solidFill>
                  <a:schemeClr val="accent2"/>
                </a:solidFill>
                <a:ln w="19050"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86" name="직사각형 85">
                <a:extLst>
                  <a:ext uri="{FF2B5EF4-FFF2-40B4-BE49-F238E27FC236}">
                    <a16:creationId xmlns:a16="http://schemas.microsoft.com/office/drawing/2014/main" id="{FB783EBC-6FC4-A65A-9E62-2F8367A2102D}"/>
                  </a:ext>
                </a:extLst>
              </p:cNvPr>
              <p:cNvSpPr/>
              <p:nvPr/>
            </p:nvSpPr>
            <p:spPr>
              <a:xfrm>
                <a:off x="8698133" y="2214563"/>
                <a:ext cx="397058" cy="1552575"/>
              </a:xfrm>
              <a:prstGeom prst="rect">
                <a:avLst/>
              </a:prstGeom>
              <a:solidFill>
                <a:schemeClr val="accent2"/>
              </a:solidFill>
              <a:ln w="19050"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83" name="폭발: 14pt 7">
              <a:extLst>
                <a:ext uri="{FF2B5EF4-FFF2-40B4-BE49-F238E27FC236}">
                  <a16:creationId xmlns:a16="http://schemas.microsoft.com/office/drawing/2014/main" id="{2BA6D948-28B3-A611-D3EA-C6B9D54B8F21}"/>
                </a:ext>
              </a:extLst>
            </p:cNvPr>
            <p:cNvSpPr/>
            <p:nvPr/>
          </p:nvSpPr>
          <p:spPr>
            <a:xfrm>
              <a:off x="9718398" y="3609678"/>
              <a:ext cx="375387" cy="405442"/>
            </a:xfrm>
            <a:prstGeom prst="irregularSeal2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84" name="직사각형 29">
            <a:extLst>
              <a:ext uri="{FF2B5EF4-FFF2-40B4-BE49-F238E27FC236}">
                <a16:creationId xmlns:a16="http://schemas.microsoft.com/office/drawing/2014/main" id="{F5F43880-24DF-54A1-86C8-44510138C418}"/>
              </a:ext>
            </a:extLst>
          </p:cNvPr>
          <p:cNvSpPr/>
          <p:nvPr/>
        </p:nvSpPr>
        <p:spPr bwMode="auto">
          <a:xfrm>
            <a:off x="5857957" y="4882698"/>
            <a:ext cx="441606" cy="24952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/>
          <a:p>
            <a:pPr algn="l">
              <a:spcBef>
                <a:spcPct val="20000"/>
              </a:spcBef>
            </a:pPr>
            <a:endParaRPr lang="en-US" altLang="ko-KR" sz="11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cxnSp>
        <p:nvCxnSpPr>
          <p:cNvPr id="98" name="직선 연결선[R] 20">
            <a:extLst>
              <a:ext uri="{FF2B5EF4-FFF2-40B4-BE49-F238E27FC236}">
                <a16:creationId xmlns:a16="http://schemas.microsoft.com/office/drawing/2014/main" id="{700B675D-843A-808D-C541-BCAC6021E1BA}"/>
              </a:ext>
            </a:extLst>
          </p:cNvPr>
          <p:cNvCxnSpPr>
            <a:cxnSpLocks/>
          </p:cNvCxnSpPr>
          <p:nvPr/>
        </p:nvCxnSpPr>
        <p:spPr>
          <a:xfrm>
            <a:off x="6092697" y="4937723"/>
            <a:ext cx="0" cy="724596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ash"/>
            <a:miter lim="800000"/>
            <a:headEnd type="triangle" w="lg" len="med"/>
            <a:tailEnd type="none" w="lg" len="lg"/>
          </a:ln>
          <a:effectLst/>
        </p:spPr>
      </p:cxnSp>
      <p:cxnSp>
        <p:nvCxnSpPr>
          <p:cNvPr id="101" name="직선 연결선[R] 20">
            <a:extLst>
              <a:ext uri="{FF2B5EF4-FFF2-40B4-BE49-F238E27FC236}">
                <a16:creationId xmlns:a16="http://schemas.microsoft.com/office/drawing/2014/main" id="{700B675D-843A-808D-C541-BCAC6021E1BA}"/>
              </a:ext>
            </a:extLst>
          </p:cNvPr>
          <p:cNvCxnSpPr>
            <a:cxnSpLocks/>
          </p:cNvCxnSpPr>
          <p:nvPr/>
        </p:nvCxnSpPr>
        <p:spPr>
          <a:xfrm>
            <a:off x="3692901" y="4645161"/>
            <a:ext cx="0" cy="1286774"/>
          </a:xfrm>
          <a:prstGeom prst="line">
            <a:avLst/>
          </a:prstGeom>
          <a:noFill/>
          <a:ln w="12700" cap="flat" cmpd="sng" algn="ctr">
            <a:solidFill>
              <a:schemeClr val="tx2"/>
            </a:solidFill>
            <a:prstDash val="dash"/>
            <a:miter lim="800000"/>
            <a:headEnd type="none" w="lg" len="med"/>
            <a:tailEnd type="none" w="lg" len="lg"/>
          </a:ln>
          <a:effectLst/>
        </p:spPr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A649864D-CE0D-7E75-0CE5-ABC1E5FB66A3}"/>
              </a:ext>
            </a:extLst>
          </p:cNvPr>
          <p:cNvCxnSpPr>
            <a:cxnSpLocks/>
          </p:cNvCxnSpPr>
          <p:nvPr/>
        </p:nvCxnSpPr>
        <p:spPr>
          <a:xfrm flipV="1">
            <a:off x="5965621" y="3871903"/>
            <a:ext cx="3248406" cy="20076"/>
          </a:xfrm>
          <a:prstGeom prst="line">
            <a:avLst/>
          </a:prstGeom>
          <a:ln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6FC4F54F-85DB-C97F-9801-612200A789EE}"/>
              </a:ext>
            </a:extLst>
          </p:cNvPr>
          <p:cNvCxnSpPr>
            <a:cxnSpLocks/>
          </p:cNvCxnSpPr>
          <p:nvPr/>
        </p:nvCxnSpPr>
        <p:spPr>
          <a:xfrm>
            <a:off x="5909852" y="3769820"/>
            <a:ext cx="3389976" cy="0"/>
          </a:xfrm>
          <a:prstGeom prst="line">
            <a:avLst/>
          </a:prstGeom>
          <a:ln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>
            <a:extLst>
              <a:ext uri="{FF2B5EF4-FFF2-40B4-BE49-F238E27FC236}">
                <a16:creationId xmlns:a16="http://schemas.microsoft.com/office/drawing/2014/main" id="{85427DEA-0763-C33B-5A33-B2A00675E37C}"/>
              </a:ext>
            </a:extLst>
          </p:cNvPr>
          <p:cNvCxnSpPr>
            <a:cxnSpLocks/>
          </p:cNvCxnSpPr>
          <p:nvPr/>
        </p:nvCxnSpPr>
        <p:spPr>
          <a:xfrm>
            <a:off x="7704514" y="4362489"/>
            <a:ext cx="1750100" cy="0"/>
          </a:xfrm>
          <a:prstGeom prst="line">
            <a:avLst/>
          </a:prstGeom>
          <a:ln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9126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모서리가 둥근 직사각형 112">
            <a:extLst>
              <a:ext uri="{FF2B5EF4-FFF2-40B4-BE49-F238E27FC236}">
                <a16:creationId xmlns:a16="http://schemas.microsoft.com/office/drawing/2014/main" id="{E622945A-8A15-DA40-F370-9BE4BAC310D0}"/>
              </a:ext>
            </a:extLst>
          </p:cNvPr>
          <p:cNvSpPr/>
          <p:nvPr/>
        </p:nvSpPr>
        <p:spPr bwMode="auto">
          <a:xfrm>
            <a:off x="1525822" y="3920437"/>
            <a:ext cx="2173482" cy="1440000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모서리가 둥근 직사각형 112">
            <a:extLst>
              <a:ext uri="{FF2B5EF4-FFF2-40B4-BE49-F238E27FC236}">
                <a16:creationId xmlns:a16="http://schemas.microsoft.com/office/drawing/2014/main" id="{E8170066-2DAD-380E-5922-DBD9964EE26E}"/>
              </a:ext>
            </a:extLst>
          </p:cNvPr>
          <p:cNvSpPr/>
          <p:nvPr/>
        </p:nvSpPr>
        <p:spPr bwMode="auto">
          <a:xfrm>
            <a:off x="4932797" y="3920437"/>
            <a:ext cx="2220121" cy="1440000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모서리가 둥근 직사각형 112">
            <a:extLst>
              <a:ext uri="{FF2B5EF4-FFF2-40B4-BE49-F238E27FC236}">
                <a16:creationId xmlns:a16="http://schemas.microsoft.com/office/drawing/2014/main" id="{3262033E-7064-8275-4E26-F35831663BFA}"/>
              </a:ext>
            </a:extLst>
          </p:cNvPr>
          <p:cNvSpPr/>
          <p:nvPr/>
        </p:nvSpPr>
        <p:spPr bwMode="auto">
          <a:xfrm>
            <a:off x="8386412" y="3920437"/>
            <a:ext cx="2204342" cy="1440000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9" name="화살표: 오른쪽 38">
            <a:extLst>
              <a:ext uri="{FF2B5EF4-FFF2-40B4-BE49-F238E27FC236}">
                <a16:creationId xmlns:a16="http://schemas.microsoft.com/office/drawing/2014/main" id="{0DCE12FC-C35A-D50F-E469-B07718322C15}"/>
              </a:ext>
            </a:extLst>
          </p:cNvPr>
          <p:cNvSpPr/>
          <p:nvPr/>
        </p:nvSpPr>
        <p:spPr>
          <a:xfrm>
            <a:off x="698500" y="5518684"/>
            <a:ext cx="10746013" cy="574992"/>
          </a:xfrm>
          <a:prstGeom prst="rightArrow">
            <a:avLst/>
          </a:prstGeom>
          <a:gradFill>
            <a:gsLst>
              <a:gs pos="0">
                <a:schemeClr val="bg2"/>
              </a:gs>
              <a:gs pos="87500">
                <a:srgbClr val="B3C9FF"/>
              </a:gs>
              <a:gs pos="100000">
                <a:schemeClr val="bg2">
                  <a:lumMod val="20000"/>
                  <a:lumOff val="80000"/>
                  <a:alpha val="0"/>
                </a:schemeClr>
              </a:gs>
            </a:gsLst>
            <a:lin ang="10800000" scaled="1"/>
          </a:gradFill>
          <a:ln w="6350" cap="flat" cmpd="sng" algn="ctr">
            <a:noFill/>
            <a:prstDash val="solid"/>
            <a:miter lim="800000"/>
          </a:ln>
          <a:effectLst/>
        </p:spPr>
        <p:txBody>
          <a:bodyPr lIns="63307" tIns="31653" rIns="63307" bIns="31653" rtlCol="0" anchor="ctr"/>
          <a:lstStyle/>
          <a:p>
            <a:pPr algn="ctr" defTabSz="914400"/>
            <a:r>
              <a:rPr lang="en-US" altLang="ko-KR" sz="1400" b="1" kern="0" spc="-2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FLOW</a:t>
            </a:r>
            <a:endParaRPr lang="ko-KR" altLang="en-US" sz="1400" b="1" kern="0" spc="-2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grpSp>
        <p:nvGrpSpPr>
          <p:cNvPr id="2" name="그룹 1"/>
          <p:cNvGrpSpPr/>
          <p:nvPr/>
        </p:nvGrpSpPr>
        <p:grpSpPr>
          <a:xfrm>
            <a:off x="4018321" y="4538291"/>
            <a:ext cx="572942" cy="119653"/>
            <a:chOff x="3968147" y="4538291"/>
            <a:chExt cx="572942" cy="119653"/>
          </a:xfrm>
        </p:grpSpPr>
        <p:sp>
          <p:nvSpPr>
            <p:cNvPr id="45" name="타원 44">
              <a:extLst>
                <a:ext uri="{FF2B5EF4-FFF2-40B4-BE49-F238E27FC236}">
                  <a16:creationId xmlns:a16="http://schemas.microsoft.com/office/drawing/2014/main" id="{761127B4-8FAD-7C43-8871-BE641CB7428B}"/>
                </a:ext>
              </a:extLst>
            </p:cNvPr>
            <p:cNvSpPr/>
            <p:nvPr/>
          </p:nvSpPr>
          <p:spPr>
            <a:xfrm>
              <a:off x="3968147" y="4538291"/>
              <a:ext cx="119653" cy="1196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C149A7EC-CFD0-BE86-7F7C-3E4A0B4759D7}"/>
                </a:ext>
              </a:extLst>
            </p:cNvPr>
            <p:cNvSpPr/>
            <p:nvPr/>
          </p:nvSpPr>
          <p:spPr>
            <a:xfrm>
              <a:off x="4194791" y="4538291"/>
              <a:ext cx="119653" cy="1196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7" name="타원 46">
              <a:extLst>
                <a:ext uri="{FF2B5EF4-FFF2-40B4-BE49-F238E27FC236}">
                  <a16:creationId xmlns:a16="http://schemas.microsoft.com/office/drawing/2014/main" id="{AAA31691-E9AD-7545-B4AE-8AC199DAE1FA}"/>
                </a:ext>
              </a:extLst>
            </p:cNvPr>
            <p:cNvSpPr/>
            <p:nvPr/>
          </p:nvSpPr>
          <p:spPr>
            <a:xfrm>
              <a:off x="4421436" y="4538291"/>
              <a:ext cx="119653" cy="1196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C671B44-DB7A-BB3D-3166-75B3DCA86C67}"/>
              </a:ext>
            </a:extLst>
          </p:cNvPr>
          <p:cNvSpPr txBox="1"/>
          <p:nvPr/>
        </p:nvSpPr>
        <p:spPr>
          <a:xfrm>
            <a:off x="4932797" y="2633879"/>
            <a:ext cx="2212231" cy="57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300" spc="-50" dirty="0">
                <a:latin typeface="+mn-ea"/>
              </a:rPr>
              <a:t>설정된 개수를 초과하여 </a:t>
            </a:r>
            <a:r>
              <a:rPr lang="en-US" altLang="ko-KR" sz="1300" spc="-50" dirty="0">
                <a:latin typeface="+mn-ea"/>
              </a:rPr>
              <a:t>Defect </a:t>
            </a:r>
            <a:r>
              <a:rPr lang="ko-KR" altLang="en-US" sz="1300" spc="-50" dirty="0">
                <a:latin typeface="+mn-ea"/>
              </a:rPr>
              <a:t>발생 모니터링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9E9F33-4CBD-7AA5-A018-6BEDF007E2A4}"/>
              </a:ext>
            </a:extLst>
          </p:cNvPr>
          <p:cNvSpPr txBox="1"/>
          <p:nvPr/>
        </p:nvSpPr>
        <p:spPr>
          <a:xfrm>
            <a:off x="8378524" y="2633879"/>
            <a:ext cx="2212230" cy="576000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300" spc="-50" dirty="0">
                <a:latin typeface="+mn-ea"/>
              </a:rPr>
              <a:t>설정된 개수를 초과하여  전기적 불량 발생 모니터링</a:t>
            </a:r>
          </a:p>
        </p:txBody>
      </p:sp>
      <p:cxnSp>
        <p:nvCxnSpPr>
          <p:cNvPr id="54" name="직선 연결선 53">
            <a:extLst>
              <a:ext uri="{FF2B5EF4-FFF2-40B4-BE49-F238E27FC236}">
                <a16:creationId xmlns:a16="http://schemas.microsoft.com/office/drawing/2014/main" id="{63A9613A-77F1-8CE1-70A7-772F0F9725FC}"/>
              </a:ext>
            </a:extLst>
          </p:cNvPr>
          <p:cNvCxnSpPr>
            <a:stCxn id="48" idx="2"/>
            <a:endCxn id="27" idx="0"/>
          </p:cNvCxnSpPr>
          <p:nvPr/>
        </p:nvCxnSpPr>
        <p:spPr>
          <a:xfrm>
            <a:off x="6038913" y="3209879"/>
            <a:ext cx="1" cy="3505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 w="sm" len="sm"/>
            <a:tailEnd type="oval" w="sm" len="sm"/>
          </a:ln>
        </p:spPr>
      </p:cxn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F41FCD22-2A76-3BF1-4E95-EDC1AB0EA8C2}"/>
              </a:ext>
            </a:extLst>
          </p:cNvPr>
          <p:cNvCxnSpPr>
            <a:stCxn id="49" idx="2"/>
            <a:endCxn id="29" idx="0"/>
          </p:cNvCxnSpPr>
          <p:nvPr/>
        </p:nvCxnSpPr>
        <p:spPr>
          <a:xfrm>
            <a:off x="9484639" y="3209879"/>
            <a:ext cx="0" cy="350558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  <a:headEnd type="oval" w="sm" len="sm"/>
            <a:tailEnd type="oval" w="sm" len="sm"/>
          </a:ln>
        </p:spPr>
      </p:cxnSp>
      <p:sp>
        <p:nvSpPr>
          <p:cNvPr id="4" name="부제목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4. </a:t>
            </a:r>
            <a:r>
              <a:rPr lang="ko-KR" altLang="en-US" dirty="0">
                <a:latin typeface="Microsoft YaHei" panose="020B0503020204020204" pitchFamily="34" charset="-122"/>
              </a:rPr>
              <a:t>설비 </a:t>
            </a:r>
            <a:r>
              <a:rPr lang="en-US" altLang="ko-KR" dirty="0">
                <a:latin typeface="Microsoft YaHei" panose="020B0503020204020204" pitchFamily="34" charset="-122"/>
              </a:rPr>
              <a:t>Monitoring</a:t>
            </a:r>
            <a:r>
              <a:rPr lang="ko-KR" altLang="en-US" dirty="0">
                <a:latin typeface="Microsoft YaHei" panose="020B0503020204020204" pitchFamily="34" charset="-122"/>
              </a:rPr>
              <a:t> 기능</a:t>
            </a: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Package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공정 진행 중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AOI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설비의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Defect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검사 데이터 또는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TEST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설비의 전기적 불량 발생 건수가 설정된 기준을 초과할 경우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설비를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Hold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처리하거나 메일을 발송하여 대량의 품질 사고를 사전에 예방합니다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sz="1300" spc="-50" dirty="0">
              <a:latin typeface="+mn-ea"/>
            </a:endParaRPr>
          </a:p>
        </p:txBody>
      </p:sp>
      <p:sp>
        <p:nvSpPr>
          <p:cNvPr id="13" name="직사각형 29">
            <a:extLst>
              <a:ext uri="{FF2B5EF4-FFF2-40B4-BE49-F238E27FC236}">
                <a16:creationId xmlns:a16="http://schemas.microsoft.com/office/drawing/2014/main" id="{27689C8B-1058-4A8E-AFE5-68BD4D186167}"/>
              </a:ext>
            </a:extLst>
          </p:cNvPr>
          <p:cNvSpPr/>
          <p:nvPr/>
        </p:nvSpPr>
        <p:spPr bwMode="auto">
          <a:xfrm>
            <a:off x="1487073" y="3560437"/>
            <a:ext cx="2212231" cy="360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Packaging</a:t>
            </a:r>
            <a:r>
              <a:rPr kumimoji="1" lang="ko-KR" altLang="en-US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 공정</a:t>
            </a: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1</a:t>
            </a:r>
          </a:p>
        </p:txBody>
      </p:sp>
      <p:sp>
        <p:nvSpPr>
          <p:cNvPr id="27" name="직사각형 29">
            <a:extLst>
              <a:ext uri="{FF2B5EF4-FFF2-40B4-BE49-F238E27FC236}">
                <a16:creationId xmlns:a16="http://schemas.microsoft.com/office/drawing/2014/main" id="{2F369226-3A1B-AB8F-3AF3-485DDB618329}"/>
              </a:ext>
            </a:extLst>
          </p:cNvPr>
          <p:cNvSpPr/>
          <p:nvPr/>
        </p:nvSpPr>
        <p:spPr bwMode="auto">
          <a:xfrm>
            <a:off x="4932798" y="3560437"/>
            <a:ext cx="2212231" cy="360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ko-KR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AOI </a:t>
            </a:r>
            <a:r>
              <a:rPr kumimoji="1" lang="ko-KR" altLang="en-US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검사</a:t>
            </a:r>
            <a:endParaRPr kumimoji="1" lang="en-US" altLang="ko-KR" sz="16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9" name="직사각형 29">
            <a:extLst>
              <a:ext uri="{FF2B5EF4-FFF2-40B4-BE49-F238E27FC236}">
                <a16:creationId xmlns:a16="http://schemas.microsoft.com/office/drawing/2014/main" id="{8AB3ABE4-A56B-AD60-65BB-D1A815619E83}"/>
              </a:ext>
            </a:extLst>
          </p:cNvPr>
          <p:cNvSpPr/>
          <p:nvPr/>
        </p:nvSpPr>
        <p:spPr bwMode="auto">
          <a:xfrm>
            <a:off x="8378523" y="3560437"/>
            <a:ext cx="2212231" cy="360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ko-KR" altLang="en-US" sz="1600" b="1" kern="0" dirty="0">
                <a:solidFill>
                  <a:schemeClr val="bg1"/>
                </a:solidFill>
                <a:cs typeface="Arial" panose="020B0604020202020204" pitchFamily="34" charset="0"/>
              </a:rPr>
              <a:t>전기적 테스트</a:t>
            </a:r>
            <a:endParaRPr kumimoji="1" lang="en-US" altLang="ko-KR" sz="16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7494452" y="4533952"/>
            <a:ext cx="572942" cy="119653"/>
            <a:chOff x="3968147" y="4538291"/>
            <a:chExt cx="572942" cy="119653"/>
          </a:xfrm>
        </p:grpSpPr>
        <p:sp>
          <p:nvSpPr>
            <p:cNvPr id="31" name="타원 30">
              <a:extLst>
                <a:ext uri="{FF2B5EF4-FFF2-40B4-BE49-F238E27FC236}">
                  <a16:creationId xmlns:a16="http://schemas.microsoft.com/office/drawing/2014/main" id="{761127B4-8FAD-7C43-8871-BE641CB7428B}"/>
                </a:ext>
              </a:extLst>
            </p:cNvPr>
            <p:cNvSpPr/>
            <p:nvPr/>
          </p:nvSpPr>
          <p:spPr>
            <a:xfrm>
              <a:off x="3968147" y="4538291"/>
              <a:ext cx="119653" cy="1196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타원 31">
              <a:extLst>
                <a:ext uri="{FF2B5EF4-FFF2-40B4-BE49-F238E27FC236}">
                  <a16:creationId xmlns:a16="http://schemas.microsoft.com/office/drawing/2014/main" id="{C149A7EC-CFD0-BE86-7F7C-3E4A0B4759D7}"/>
                </a:ext>
              </a:extLst>
            </p:cNvPr>
            <p:cNvSpPr/>
            <p:nvPr/>
          </p:nvSpPr>
          <p:spPr>
            <a:xfrm>
              <a:off x="4194791" y="4538291"/>
              <a:ext cx="119653" cy="1196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타원 32">
              <a:extLst>
                <a:ext uri="{FF2B5EF4-FFF2-40B4-BE49-F238E27FC236}">
                  <a16:creationId xmlns:a16="http://schemas.microsoft.com/office/drawing/2014/main" id="{AAA31691-E9AD-7545-B4AE-8AC199DAE1FA}"/>
                </a:ext>
              </a:extLst>
            </p:cNvPr>
            <p:cNvSpPr/>
            <p:nvPr/>
          </p:nvSpPr>
          <p:spPr>
            <a:xfrm>
              <a:off x="4421436" y="4538291"/>
              <a:ext cx="119653" cy="119653"/>
            </a:xfrm>
            <a:prstGeom prst="ellipse">
              <a:avLst/>
            </a:prstGeom>
            <a:solidFill>
              <a:schemeClr val="bg1">
                <a:lumMod val="6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7" name="그림 16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1314" y="4000878"/>
            <a:ext cx="2123747" cy="1415831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2009" y="4002262"/>
            <a:ext cx="1914525" cy="1276350"/>
          </a:xfrm>
          <a:prstGeom prst="rect">
            <a:avLst/>
          </a:prstGeom>
        </p:spPr>
      </p:pic>
      <p:pic>
        <p:nvPicPr>
          <p:cNvPr id="19" name="그림 18"/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376" y="4070619"/>
            <a:ext cx="1914525" cy="1276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21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모서리가 둥근 직사각형 17"/>
          <p:cNvSpPr/>
          <p:nvPr/>
        </p:nvSpPr>
        <p:spPr>
          <a:xfrm>
            <a:off x="2174381" y="2577784"/>
            <a:ext cx="7848000" cy="3767454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/>
        </p:nvGrpSpPr>
        <p:grpSpPr>
          <a:xfrm>
            <a:off x="2459905" y="2843659"/>
            <a:ext cx="2881086" cy="3236062"/>
            <a:chOff x="3446074" y="3094383"/>
            <a:chExt cx="2217896" cy="2491161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4498C507-E6CE-C626-7933-9525C5F8E7F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46074" y="3094383"/>
              <a:ext cx="2217896" cy="2491161"/>
            </a:xfrm>
            <a:prstGeom prst="rect">
              <a:avLst/>
            </a:prstGeom>
          </p:spPr>
        </p:pic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2E7227C-5A6F-097E-9969-DC8FA89F4FAC}"/>
                </a:ext>
              </a:extLst>
            </p:cNvPr>
            <p:cNvSpPr/>
            <p:nvPr/>
          </p:nvSpPr>
          <p:spPr>
            <a:xfrm>
              <a:off x="5047710" y="3543400"/>
              <a:ext cx="138896" cy="1019179"/>
            </a:xfrm>
            <a:prstGeom prst="rect">
              <a:avLst/>
            </a:prstGeom>
            <a:solidFill>
              <a:schemeClr val="accent2"/>
            </a:solidFill>
            <a:ln w="19050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BF8C7B8D-7723-0F5A-96C5-8277DEE4D7B5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4720886" y="4088906"/>
            <a:ext cx="1265002" cy="556306"/>
          </a:xfrm>
          <a:prstGeom prst="straightConnector1">
            <a:avLst/>
          </a:prstGeom>
          <a:ln w="38100">
            <a:solidFill>
              <a:schemeClr val="accent5"/>
            </a:solidFill>
            <a:prstDash val="sysDash"/>
            <a:headEnd type="none" w="med" len="med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98F15516-B429-4D1B-87CB-3716A3B16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015038"/>
              </p:ext>
            </p:extLst>
          </p:nvPr>
        </p:nvGraphicFramePr>
        <p:xfrm>
          <a:off x="5985889" y="3266993"/>
          <a:ext cx="3759244" cy="2756439"/>
        </p:xfrm>
        <a:graphic>
          <a:graphicData uri="http://schemas.openxmlformats.org/drawingml/2006/table">
            <a:tbl>
              <a:tblPr/>
              <a:tblGrid>
                <a:gridCol w="1971457">
                  <a:extLst>
                    <a:ext uri="{9D8B030D-6E8A-4147-A177-3AD203B41FA5}">
                      <a16:colId xmlns:a16="http://schemas.microsoft.com/office/drawing/2014/main" val="2749945013"/>
                    </a:ext>
                  </a:extLst>
                </a:gridCol>
                <a:gridCol w="1787787">
                  <a:extLst>
                    <a:ext uri="{9D8B030D-6E8A-4147-A177-3AD203B41FA5}">
                      <a16:colId xmlns:a16="http://schemas.microsoft.com/office/drawing/2014/main" val="3904907804"/>
                    </a:ext>
                  </a:extLst>
                </a:gridCol>
              </a:tblGrid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항목명</a:t>
                      </a:r>
                      <a:endParaRPr 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b="1" kern="1200" spc="-5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설정값</a:t>
                      </a:r>
                      <a:endParaRPr 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2064343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Structure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ASIC BCDC BL FH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7494329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모니터링 단위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Wafer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7800174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발생 개수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1563332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kern="12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메일 전송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541324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300" kern="12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설비 </a:t>
                      </a:r>
                      <a:r>
                        <a:rPr lang="en-US" sz="1300" kern="12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Hold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0557639"/>
                  </a:ext>
                </a:extLst>
              </a:tr>
              <a:tr h="39377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Defect </a:t>
                      </a: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데이터 연계 여부</a:t>
                      </a:r>
                    </a:p>
                  </a:txBody>
                  <a:tcPr marL="9525" marR="9525" marT="9525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TRUE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2520020"/>
                  </a:ext>
                </a:extLst>
              </a:tr>
            </a:tbl>
          </a:graphicData>
        </a:graphic>
      </p:graphicFrame>
      <p:sp>
        <p:nvSpPr>
          <p:cNvPr id="9" name="부제목 8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5. Die</a:t>
            </a:r>
            <a:r>
              <a:rPr lang="ko-KR" altLang="en-US" dirty="0">
                <a:latin typeface="Microsoft YaHei" panose="020B0503020204020204" pitchFamily="34" charset="-122"/>
              </a:rPr>
              <a:t>의 특정 영역 </a:t>
            </a:r>
            <a:r>
              <a:rPr lang="en-US" altLang="ko-KR" dirty="0">
                <a:latin typeface="Microsoft YaHei" panose="020B0503020204020204" pitchFamily="34" charset="-122"/>
              </a:rPr>
              <a:t>Monitoring </a:t>
            </a:r>
            <a:r>
              <a:rPr lang="ko-KR" altLang="en-US" dirty="0">
                <a:latin typeface="Microsoft YaHei" panose="020B0503020204020204" pitchFamily="34" charset="-122"/>
              </a:rPr>
              <a:t>기능</a:t>
            </a:r>
          </a:p>
        </p:txBody>
      </p:sp>
      <p:sp>
        <p:nvSpPr>
          <p:cNvPr id="10" name="내용 개체 틀 9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Die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의 특정 영역에서 반복적으로 테스트 오류가 발생하는 경우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Die Monitoring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기능을 통해 이를 감지하고 설정된 기준 개수를 초과하면 설비를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Hold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처리하거나 메일을 발송하여 엔지니어가 즉시 점검할 수 있도록 지원합니다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8" name="그룹 27"/>
          <p:cNvGrpSpPr/>
          <p:nvPr/>
        </p:nvGrpSpPr>
        <p:grpSpPr>
          <a:xfrm>
            <a:off x="5981006" y="2775909"/>
            <a:ext cx="1983026" cy="338554"/>
            <a:chOff x="5981006" y="2775909"/>
            <a:chExt cx="1983026" cy="338554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6021711" y="2775909"/>
              <a:ext cx="1942321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Monitoring Item</a:t>
              </a:r>
              <a:endParaRPr lang="ko-KR" altLang="en-US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25" name="그룹 24"/>
            <p:cNvGrpSpPr/>
            <p:nvPr/>
          </p:nvGrpSpPr>
          <p:grpSpPr>
            <a:xfrm>
              <a:off x="5981006" y="2855186"/>
              <a:ext cx="36000" cy="180000"/>
              <a:chOff x="884117" y="2855186"/>
              <a:chExt cx="36000" cy="180000"/>
            </a:xfrm>
          </p:grpSpPr>
          <p:sp>
            <p:nvSpPr>
              <p:cNvPr id="26" name="직사각형 25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54835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821352" y="2440868"/>
            <a:ext cx="8113382" cy="539250"/>
          </a:xfrm>
        </p:spPr>
        <p:txBody>
          <a:bodyPr wrap="square" lIns="0" tIns="0" rIns="0" bIns="0">
            <a:spAutoFit/>
          </a:bodyPr>
          <a:lstStyle/>
          <a:p>
            <a:pPr marL="0" indent="0" defTabSz="457383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en-US" altLang="ko-KR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3. </a:t>
            </a: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프로젝트 수행 방안</a:t>
            </a:r>
            <a:endParaRPr lang="en-US" altLang="ko-KR" sz="32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4947BF1-4FC2-AC64-C83E-829B4B6693FF}"/>
              </a:ext>
            </a:extLst>
          </p:cNvPr>
          <p:cNvSpPr txBox="1">
            <a:spLocks/>
          </p:cNvSpPr>
          <p:nvPr/>
        </p:nvSpPr>
        <p:spPr>
          <a:xfrm>
            <a:off x="1323186" y="3327115"/>
            <a:ext cx="6005662" cy="18620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01240" indent="-201240" defTabSz="45738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Lato" charset="0"/>
              </a:defRPr>
            </a:lvl1pPr>
            <a:lvl2pPr marL="743247" indent="-285864" defTabSz="457383">
              <a:spcBef>
                <a:spcPct val="20000"/>
              </a:spcBef>
              <a:buFont typeface="Arial"/>
              <a:buChar char="–"/>
              <a:defRPr sz="2801"/>
            </a:lvl2pPr>
            <a:lvl3pPr marL="1143457" indent="-228691" defTabSz="457383">
              <a:spcBef>
                <a:spcPct val="20000"/>
              </a:spcBef>
              <a:buFont typeface="Arial"/>
              <a:buChar char="•"/>
              <a:defRPr sz="2401"/>
            </a:lvl3pPr>
            <a:lvl4pPr marL="1600840" indent="-228691" defTabSz="457383">
              <a:spcBef>
                <a:spcPct val="20000"/>
              </a:spcBef>
              <a:buFont typeface="Arial"/>
              <a:buChar char="–"/>
              <a:defRPr sz="2001"/>
            </a:lvl4pPr>
            <a:lvl5pPr marL="2058223" indent="-228691" defTabSz="457383">
              <a:spcBef>
                <a:spcPct val="20000"/>
              </a:spcBef>
              <a:buFont typeface="Arial"/>
              <a:buChar char="»"/>
              <a:defRPr sz="2001"/>
            </a:lvl5pPr>
            <a:lvl6pPr marL="2515606" indent="-228691" defTabSz="457383">
              <a:spcBef>
                <a:spcPct val="20000"/>
              </a:spcBef>
              <a:buFont typeface="Arial"/>
              <a:buChar char="•"/>
              <a:defRPr sz="2001"/>
            </a:lvl6pPr>
            <a:lvl7pPr marL="2972989" indent="-228691" defTabSz="457383">
              <a:spcBef>
                <a:spcPct val="20000"/>
              </a:spcBef>
              <a:buFont typeface="Arial"/>
              <a:buChar char="•"/>
              <a:defRPr sz="2001"/>
            </a:lvl7pPr>
            <a:lvl8pPr marL="3430372" indent="-228691" defTabSz="457383">
              <a:spcBef>
                <a:spcPct val="20000"/>
              </a:spcBef>
              <a:buFont typeface="Arial"/>
              <a:buChar char="•"/>
              <a:defRPr sz="2001"/>
            </a:lvl8pPr>
            <a:lvl9pPr marL="3887754" indent="-228691" defTabSz="457383">
              <a:spcBef>
                <a:spcPct val="20000"/>
              </a:spcBef>
              <a:buFont typeface="Arial"/>
              <a:buChar char="•"/>
              <a:defRPr sz="2001"/>
            </a:lvl9pPr>
          </a:lstStyle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추진 일정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(Phase 1)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인력 투입 계획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(Phase 1)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추진 일정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(Phase 2)</a:t>
            </a: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인력 투입 계획 </a:t>
            </a: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(Phase 2)</a:t>
            </a:r>
            <a:endParaRPr lang="ko-KR" altLang="en-US" sz="2000" spc="-5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8243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9B0E99F1-4648-4A29-5B1E-3C53286FE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1420850"/>
              </p:ext>
            </p:extLst>
          </p:nvPr>
        </p:nvGraphicFramePr>
        <p:xfrm>
          <a:off x="698500" y="2600325"/>
          <a:ext cx="10799762" cy="3744913"/>
        </p:xfrm>
        <a:graphic>
          <a:graphicData uri="http://schemas.openxmlformats.org/drawingml/2006/table">
            <a:tbl>
              <a:tblPr/>
              <a:tblGrid>
                <a:gridCol w="191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3099753027"/>
                    </a:ext>
                  </a:extLst>
                </a:gridCol>
              </a:tblGrid>
              <a:tr h="299279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5836" marR="5836" marT="583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M2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M3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M4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M5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M6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618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/ </a:t>
                      </a: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개발</a:t>
                      </a:r>
                      <a:endParaRPr lang="en-US" altLang="ko-KR" sz="1200" b="1" i="0" u="none" strike="noStrike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적용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안정화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74177"/>
                  </a:ext>
                </a:extLst>
              </a:tr>
              <a:tr h="48923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Milestone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</a:t>
                      </a:r>
                      <a:r>
                        <a:rPr lang="en-US" altLang="ko-KR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 및 일정</a:t>
                      </a:r>
                      <a:r>
                        <a:rPr lang="en-US" altLang="ko-KR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1178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YMS+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DMS</a:t>
                      </a:r>
                    </a:p>
                  </a:txBody>
                  <a:tcPr marL="5836" marR="5836" marT="583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ko-KR" altLang="en-US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ko-KR" altLang="en-US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32" name="직선 연결선 231">
            <a:extLst>
              <a:ext uri="{FF2B5EF4-FFF2-40B4-BE49-F238E27FC236}">
                <a16:creationId xmlns:a16="http://schemas.microsoft.com/office/drawing/2014/main" id="{09C483BC-66CA-80A0-EBCE-7629C07908D3}"/>
              </a:ext>
            </a:extLst>
          </p:cNvPr>
          <p:cNvCxnSpPr>
            <a:cxnSpLocks/>
          </p:cNvCxnSpPr>
          <p:nvPr/>
        </p:nvCxnSpPr>
        <p:spPr>
          <a:xfrm>
            <a:off x="2627085" y="3948034"/>
            <a:ext cx="885666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</p:cxnSp>
      <p:sp>
        <p:nvSpPr>
          <p:cNvPr id="522" name="부제목 52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</a:t>
            </a:r>
            <a:r>
              <a:rPr lang="ko-KR" altLang="en-US" dirty="0">
                <a:latin typeface="Microsoft YaHei" panose="020B0503020204020204" pitchFamily="34" charset="-122"/>
              </a:rPr>
              <a:t>추진 일정 </a:t>
            </a:r>
            <a:r>
              <a:rPr lang="en-US" altLang="ko-KR" dirty="0">
                <a:latin typeface="Microsoft YaHei" panose="020B0503020204020204" pitchFamily="34" charset="-122"/>
              </a:rPr>
              <a:t>(Phase1)</a:t>
            </a:r>
            <a:endParaRPr lang="ko-KR" altLang="en-US" dirty="0">
              <a:latin typeface="Microsoft YaHei" panose="020B0503020204020204" pitchFamily="34" charset="-122"/>
            </a:endParaRP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523" name="내용 개체 틀 52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Phase 1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프로젝트는 총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개월간 수행되며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분석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·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설계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개발 및 테스트 단계를 거쳐 시스템을 오픈할 예정입니다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또한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1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개월의 안정화 기간을 포함하여 운영 과정에서 발생할 수 있는 이슈를 최소화하고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안정적인 서비스 제공이 이루어질 수 있도록 지원하겠습니다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sz="1300" spc="-50" dirty="0">
              <a:latin typeface="+mn-ea"/>
            </a:endParaRPr>
          </a:p>
        </p:txBody>
      </p:sp>
      <p:sp>
        <p:nvSpPr>
          <p:cNvPr id="189" name="Text Box 2836">
            <a:extLst>
              <a:ext uri="{FF2B5EF4-FFF2-40B4-BE49-F238E27FC236}">
                <a16:creationId xmlns:a16="http://schemas.microsoft.com/office/drawing/2014/main" id="{06CDEB28-2AE9-AB4D-D522-910985380D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2398" y="3432305"/>
            <a:ext cx="589905" cy="170816"/>
          </a:xfrm>
          <a:prstGeom prst="rect">
            <a:avLst/>
          </a:prstGeom>
          <a:noFill/>
          <a:ln w="3175" cap="rnd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algn="ctr" defTabSz="914400" fontAlgn="ctr">
              <a:lnSpc>
                <a:spcPct val="90000"/>
              </a:lnSpc>
              <a:buFont typeface="Times New Roman" pitchFamily="18" charset="0"/>
              <a:buNone/>
              <a:defRPr sz="1200" b="1" spc="-50">
                <a:latin typeface="+mn-ea"/>
              </a:defRPr>
            </a:lvl1pPr>
          </a:lstStyle>
          <a:p>
            <a:r>
              <a:rPr lang="ko-KR" altLang="en-US" dirty="0"/>
              <a:t>착수보고</a:t>
            </a:r>
          </a:p>
        </p:txBody>
      </p:sp>
      <p:grpSp>
        <p:nvGrpSpPr>
          <p:cNvPr id="190" name="Gruppieren 241">
            <a:extLst>
              <a:ext uri="{FF2B5EF4-FFF2-40B4-BE49-F238E27FC236}">
                <a16:creationId xmlns:a16="http://schemas.microsoft.com/office/drawing/2014/main" id="{F526E13B-C080-815F-4755-6F72496F02A5}"/>
              </a:ext>
            </a:extLst>
          </p:cNvPr>
          <p:cNvGrpSpPr/>
          <p:nvPr/>
        </p:nvGrpSpPr>
        <p:grpSpPr bwMode="gray">
          <a:xfrm>
            <a:off x="3880305" y="3188861"/>
            <a:ext cx="180000" cy="180000"/>
            <a:chOff x="98696" y="3961668"/>
            <a:chExt cx="510841" cy="495227"/>
          </a:xfrm>
          <a:solidFill>
            <a:srgbClr val="000000"/>
          </a:solidFill>
        </p:grpSpPr>
        <p:sp>
          <p:nvSpPr>
            <p:cNvPr id="191" name="Freeform 1091">
              <a:extLst>
                <a:ext uri="{FF2B5EF4-FFF2-40B4-BE49-F238E27FC236}">
                  <a16:creationId xmlns:a16="http://schemas.microsoft.com/office/drawing/2014/main" id="{FF07961E-CC1C-B60D-8E62-26E89208D088}"/>
                </a:ext>
              </a:extLst>
            </p:cNvPr>
            <p:cNvSpPr>
              <a:spLocks/>
            </p:cNvSpPr>
            <p:nvPr/>
          </p:nvSpPr>
          <p:spPr bwMode="gray">
            <a:xfrm>
              <a:off x="98696" y="3961668"/>
              <a:ext cx="497458" cy="495227"/>
            </a:xfrm>
            <a:custGeom>
              <a:avLst/>
              <a:gdLst>
                <a:gd name="T0" fmla="*/ 290 w 313"/>
                <a:gd name="T1" fmla="*/ 104 h 311"/>
                <a:gd name="T2" fmla="*/ 227 w 313"/>
                <a:gd name="T3" fmla="*/ 278 h 311"/>
                <a:gd name="T4" fmla="*/ 48 w 313"/>
                <a:gd name="T5" fmla="*/ 243 h 311"/>
                <a:gd name="T6" fmla="*/ 59 w 313"/>
                <a:gd name="T7" fmla="*/ 54 h 311"/>
                <a:gd name="T8" fmla="*/ 245 w 313"/>
                <a:gd name="T9" fmla="*/ 43 h 311"/>
                <a:gd name="T10" fmla="*/ 242 w 313"/>
                <a:gd name="T11" fmla="*/ 46 h 311"/>
                <a:gd name="T12" fmla="*/ 224 w 313"/>
                <a:gd name="T13" fmla="*/ 61 h 311"/>
                <a:gd name="T14" fmla="*/ 217 w 313"/>
                <a:gd name="T15" fmla="*/ 61 h 311"/>
                <a:gd name="T16" fmla="*/ 144 w 313"/>
                <a:gd name="T17" fmla="*/ 45 h 311"/>
                <a:gd name="T18" fmla="*/ 53 w 313"/>
                <a:gd name="T19" fmla="*/ 119 h 311"/>
                <a:gd name="T20" fmla="*/ 81 w 313"/>
                <a:gd name="T21" fmla="*/ 234 h 311"/>
                <a:gd name="T22" fmla="*/ 190 w 313"/>
                <a:gd name="T23" fmla="*/ 260 h 311"/>
                <a:gd name="T24" fmla="*/ 265 w 313"/>
                <a:gd name="T25" fmla="*/ 182 h 311"/>
                <a:gd name="T26" fmla="*/ 267 w 313"/>
                <a:gd name="T27" fmla="*/ 137 h 311"/>
                <a:gd name="T28" fmla="*/ 269 w 313"/>
                <a:gd name="T29" fmla="*/ 131 h 311"/>
                <a:gd name="T30" fmla="*/ 290 w 313"/>
                <a:gd name="T31" fmla="*/ 104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3" h="311">
                  <a:moveTo>
                    <a:pt x="290" y="104"/>
                  </a:moveTo>
                  <a:cubicBezTo>
                    <a:pt x="313" y="163"/>
                    <a:pt x="294" y="240"/>
                    <a:pt x="227" y="278"/>
                  </a:cubicBezTo>
                  <a:cubicBezTo>
                    <a:pt x="167" y="311"/>
                    <a:pt x="92" y="298"/>
                    <a:pt x="48" y="243"/>
                  </a:cubicBezTo>
                  <a:cubicBezTo>
                    <a:pt x="0" y="184"/>
                    <a:pt x="8" y="103"/>
                    <a:pt x="59" y="54"/>
                  </a:cubicBezTo>
                  <a:cubicBezTo>
                    <a:pt x="113" y="0"/>
                    <a:pt x="194" y="2"/>
                    <a:pt x="245" y="43"/>
                  </a:cubicBezTo>
                  <a:cubicBezTo>
                    <a:pt x="244" y="44"/>
                    <a:pt x="243" y="45"/>
                    <a:pt x="242" y="46"/>
                  </a:cubicBezTo>
                  <a:cubicBezTo>
                    <a:pt x="236" y="51"/>
                    <a:pt x="230" y="56"/>
                    <a:pt x="224" y="61"/>
                  </a:cubicBezTo>
                  <a:cubicBezTo>
                    <a:pt x="221" y="63"/>
                    <a:pt x="220" y="63"/>
                    <a:pt x="217" y="61"/>
                  </a:cubicBezTo>
                  <a:cubicBezTo>
                    <a:pt x="195" y="47"/>
                    <a:pt x="170" y="41"/>
                    <a:pt x="144" y="45"/>
                  </a:cubicBezTo>
                  <a:cubicBezTo>
                    <a:pt x="99" y="51"/>
                    <a:pt x="68" y="76"/>
                    <a:pt x="53" y="119"/>
                  </a:cubicBezTo>
                  <a:cubicBezTo>
                    <a:pt x="38" y="162"/>
                    <a:pt x="48" y="202"/>
                    <a:pt x="81" y="234"/>
                  </a:cubicBezTo>
                  <a:cubicBezTo>
                    <a:pt x="112" y="264"/>
                    <a:pt x="149" y="272"/>
                    <a:pt x="190" y="260"/>
                  </a:cubicBezTo>
                  <a:cubicBezTo>
                    <a:pt x="229" y="249"/>
                    <a:pt x="254" y="221"/>
                    <a:pt x="265" y="182"/>
                  </a:cubicBezTo>
                  <a:cubicBezTo>
                    <a:pt x="269" y="167"/>
                    <a:pt x="269" y="152"/>
                    <a:pt x="267" y="137"/>
                  </a:cubicBezTo>
                  <a:cubicBezTo>
                    <a:pt x="267" y="135"/>
                    <a:pt x="268" y="132"/>
                    <a:pt x="269" y="131"/>
                  </a:cubicBezTo>
                  <a:cubicBezTo>
                    <a:pt x="275" y="122"/>
                    <a:pt x="282" y="113"/>
                    <a:pt x="290" y="104"/>
                  </a:cubicBez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2" name="Freeform 1092">
              <a:extLst>
                <a:ext uri="{FF2B5EF4-FFF2-40B4-BE49-F238E27FC236}">
                  <a16:creationId xmlns:a16="http://schemas.microsoft.com/office/drawing/2014/main" id="{55FF30D3-890F-C140-FD0D-007148D119B3}"/>
                </a:ext>
              </a:extLst>
            </p:cNvPr>
            <p:cNvSpPr>
              <a:spLocks/>
            </p:cNvSpPr>
            <p:nvPr/>
          </p:nvSpPr>
          <p:spPr bwMode="gray">
            <a:xfrm>
              <a:off x="221386" y="3999591"/>
              <a:ext cx="388151" cy="336843"/>
            </a:xfrm>
            <a:custGeom>
              <a:avLst/>
              <a:gdLst>
                <a:gd name="T0" fmla="*/ 0 w 245"/>
                <a:gd name="T1" fmla="*/ 106 h 211"/>
                <a:gd name="T2" fmla="*/ 20 w 245"/>
                <a:gd name="T3" fmla="*/ 88 h 211"/>
                <a:gd name="T4" fmla="*/ 24 w 245"/>
                <a:gd name="T5" fmla="*/ 88 h 211"/>
                <a:gd name="T6" fmla="*/ 83 w 245"/>
                <a:gd name="T7" fmla="*/ 123 h 211"/>
                <a:gd name="T8" fmla="*/ 89 w 245"/>
                <a:gd name="T9" fmla="*/ 128 h 211"/>
                <a:gd name="T10" fmla="*/ 239 w 245"/>
                <a:gd name="T11" fmla="*/ 0 h 211"/>
                <a:gd name="T12" fmla="*/ 244 w 245"/>
                <a:gd name="T13" fmla="*/ 13 h 211"/>
                <a:gd name="T14" fmla="*/ 243 w 245"/>
                <a:gd name="T15" fmla="*/ 17 h 211"/>
                <a:gd name="T16" fmla="*/ 200 w 245"/>
                <a:gd name="T17" fmla="*/ 60 h 211"/>
                <a:gd name="T18" fmla="*/ 133 w 245"/>
                <a:gd name="T19" fmla="*/ 153 h 211"/>
                <a:gd name="T20" fmla="*/ 99 w 245"/>
                <a:gd name="T21" fmla="*/ 211 h 211"/>
                <a:gd name="T22" fmla="*/ 0 w 245"/>
                <a:gd name="T2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5" h="211">
                  <a:moveTo>
                    <a:pt x="0" y="106"/>
                  </a:moveTo>
                  <a:cubicBezTo>
                    <a:pt x="7" y="100"/>
                    <a:pt x="13" y="94"/>
                    <a:pt x="20" y="88"/>
                  </a:cubicBezTo>
                  <a:cubicBezTo>
                    <a:pt x="21" y="88"/>
                    <a:pt x="23" y="88"/>
                    <a:pt x="24" y="88"/>
                  </a:cubicBezTo>
                  <a:cubicBezTo>
                    <a:pt x="45" y="98"/>
                    <a:pt x="65" y="110"/>
                    <a:pt x="83" y="123"/>
                  </a:cubicBezTo>
                  <a:cubicBezTo>
                    <a:pt x="85" y="125"/>
                    <a:pt x="87" y="126"/>
                    <a:pt x="89" y="128"/>
                  </a:cubicBezTo>
                  <a:cubicBezTo>
                    <a:pt x="132" y="77"/>
                    <a:pt x="181" y="33"/>
                    <a:pt x="239" y="0"/>
                  </a:cubicBezTo>
                  <a:cubicBezTo>
                    <a:pt x="240" y="4"/>
                    <a:pt x="243" y="9"/>
                    <a:pt x="244" y="13"/>
                  </a:cubicBezTo>
                  <a:cubicBezTo>
                    <a:pt x="245" y="14"/>
                    <a:pt x="244" y="16"/>
                    <a:pt x="243" y="17"/>
                  </a:cubicBezTo>
                  <a:cubicBezTo>
                    <a:pt x="228" y="32"/>
                    <a:pt x="214" y="45"/>
                    <a:pt x="200" y="60"/>
                  </a:cubicBezTo>
                  <a:cubicBezTo>
                    <a:pt x="174" y="89"/>
                    <a:pt x="153" y="120"/>
                    <a:pt x="133" y="153"/>
                  </a:cubicBezTo>
                  <a:cubicBezTo>
                    <a:pt x="122" y="172"/>
                    <a:pt x="110" y="191"/>
                    <a:pt x="99" y="211"/>
                  </a:cubicBezTo>
                  <a:cubicBezTo>
                    <a:pt x="68" y="174"/>
                    <a:pt x="36" y="139"/>
                    <a:pt x="0" y="10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194" name="Text Box 2836">
            <a:extLst>
              <a:ext uri="{FF2B5EF4-FFF2-40B4-BE49-F238E27FC236}">
                <a16:creationId xmlns:a16="http://schemas.microsoft.com/office/drawing/2014/main" id="{877B34A7-3E64-83E3-B0D4-BE3FE33C93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1382" y="3400590"/>
            <a:ext cx="699431" cy="202531"/>
          </a:xfrm>
          <a:prstGeom prst="rect">
            <a:avLst/>
          </a:prstGeom>
          <a:noFill/>
          <a:ln w="3175" cap="rnd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algn="ctr" defTabSz="914400" fontAlgn="ctr">
              <a:lnSpc>
                <a:spcPct val="90000"/>
              </a:lnSpc>
              <a:buFont typeface="Times New Roman" pitchFamily="18" charset="0"/>
              <a:buNone/>
              <a:defRPr sz="1200" b="1" spc="-50">
                <a:latin typeface="+mn-ea"/>
              </a:defRPr>
            </a:lvl1pPr>
          </a:lstStyle>
          <a:p>
            <a:r>
              <a:rPr lang="ko-KR" altLang="en-US" dirty="0"/>
              <a:t>중간보고</a:t>
            </a:r>
          </a:p>
        </p:txBody>
      </p:sp>
      <p:grpSp>
        <p:nvGrpSpPr>
          <p:cNvPr id="195" name="Gruppieren 241">
            <a:extLst>
              <a:ext uri="{FF2B5EF4-FFF2-40B4-BE49-F238E27FC236}">
                <a16:creationId xmlns:a16="http://schemas.microsoft.com/office/drawing/2014/main" id="{68D0B6F1-9A89-F90A-C16C-46B9490EC5D1}"/>
              </a:ext>
            </a:extLst>
          </p:cNvPr>
          <p:cNvGrpSpPr/>
          <p:nvPr/>
        </p:nvGrpSpPr>
        <p:grpSpPr bwMode="gray">
          <a:xfrm>
            <a:off x="6214055" y="3188861"/>
            <a:ext cx="180000" cy="180000"/>
            <a:chOff x="98696" y="3961668"/>
            <a:chExt cx="510841" cy="495227"/>
          </a:xfrm>
          <a:solidFill>
            <a:srgbClr val="000000"/>
          </a:solidFill>
        </p:grpSpPr>
        <p:sp>
          <p:nvSpPr>
            <p:cNvPr id="196" name="Freeform 1091">
              <a:extLst>
                <a:ext uri="{FF2B5EF4-FFF2-40B4-BE49-F238E27FC236}">
                  <a16:creationId xmlns:a16="http://schemas.microsoft.com/office/drawing/2014/main" id="{15154693-78B0-93CF-03C6-2E9C9C367FE9}"/>
                </a:ext>
              </a:extLst>
            </p:cNvPr>
            <p:cNvSpPr>
              <a:spLocks/>
            </p:cNvSpPr>
            <p:nvPr/>
          </p:nvSpPr>
          <p:spPr bwMode="gray">
            <a:xfrm>
              <a:off x="98696" y="3961668"/>
              <a:ext cx="497458" cy="495227"/>
            </a:xfrm>
            <a:custGeom>
              <a:avLst/>
              <a:gdLst>
                <a:gd name="T0" fmla="*/ 290 w 313"/>
                <a:gd name="T1" fmla="*/ 104 h 311"/>
                <a:gd name="T2" fmla="*/ 227 w 313"/>
                <a:gd name="T3" fmla="*/ 278 h 311"/>
                <a:gd name="T4" fmla="*/ 48 w 313"/>
                <a:gd name="T5" fmla="*/ 243 h 311"/>
                <a:gd name="T6" fmla="*/ 59 w 313"/>
                <a:gd name="T7" fmla="*/ 54 h 311"/>
                <a:gd name="T8" fmla="*/ 245 w 313"/>
                <a:gd name="T9" fmla="*/ 43 h 311"/>
                <a:gd name="T10" fmla="*/ 242 w 313"/>
                <a:gd name="T11" fmla="*/ 46 h 311"/>
                <a:gd name="T12" fmla="*/ 224 w 313"/>
                <a:gd name="T13" fmla="*/ 61 h 311"/>
                <a:gd name="T14" fmla="*/ 217 w 313"/>
                <a:gd name="T15" fmla="*/ 61 h 311"/>
                <a:gd name="T16" fmla="*/ 144 w 313"/>
                <a:gd name="T17" fmla="*/ 45 h 311"/>
                <a:gd name="T18" fmla="*/ 53 w 313"/>
                <a:gd name="T19" fmla="*/ 119 h 311"/>
                <a:gd name="T20" fmla="*/ 81 w 313"/>
                <a:gd name="T21" fmla="*/ 234 h 311"/>
                <a:gd name="T22" fmla="*/ 190 w 313"/>
                <a:gd name="T23" fmla="*/ 260 h 311"/>
                <a:gd name="T24" fmla="*/ 265 w 313"/>
                <a:gd name="T25" fmla="*/ 182 h 311"/>
                <a:gd name="T26" fmla="*/ 267 w 313"/>
                <a:gd name="T27" fmla="*/ 137 h 311"/>
                <a:gd name="T28" fmla="*/ 269 w 313"/>
                <a:gd name="T29" fmla="*/ 131 h 311"/>
                <a:gd name="T30" fmla="*/ 290 w 313"/>
                <a:gd name="T31" fmla="*/ 104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3" h="311">
                  <a:moveTo>
                    <a:pt x="290" y="104"/>
                  </a:moveTo>
                  <a:cubicBezTo>
                    <a:pt x="313" y="163"/>
                    <a:pt x="294" y="240"/>
                    <a:pt x="227" y="278"/>
                  </a:cubicBezTo>
                  <a:cubicBezTo>
                    <a:pt x="167" y="311"/>
                    <a:pt x="92" y="298"/>
                    <a:pt x="48" y="243"/>
                  </a:cubicBezTo>
                  <a:cubicBezTo>
                    <a:pt x="0" y="184"/>
                    <a:pt x="8" y="103"/>
                    <a:pt x="59" y="54"/>
                  </a:cubicBezTo>
                  <a:cubicBezTo>
                    <a:pt x="113" y="0"/>
                    <a:pt x="194" y="2"/>
                    <a:pt x="245" y="43"/>
                  </a:cubicBezTo>
                  <a:cubicBezTo>
                    <a:pt x="244" y="44"/>
                    <a:pt x="243" y="45"/>
                    <a:pt x="242" y="46"/>
                  </a:cubicBezTo>
                  <a:cubicBezTo>
                    <a:pt x="236" y="51"/>
                    <a:pt x="230" y="56"/>
                    <a:pt x="224" y="61"/>
                  </a:cubicBezTo>
                  <a:cubicBezTo>
                    <a:pt x="221" y="63"/>
                    <a:pt x="220" y="63"/>
                    <a:pt x="217" y="61"/>
                  </a:cubicBezTo>
                  <a:cubicBezTo>
                    <a:pt x="195" y="47"/>
                    <a:pt x="170" y="41"/>
                    <a:pt x="144" y="45"/>
                  </a:cubicBezTo>
                  <a:cubicBezTo>
                    <a:pt x="99" y="51"/>
                    <a:pt x="68" y="76"/>
                    <a:pt x="53" y="119"/>
                  </a:cubicBezTo>
                  <a:cubicBezTo>
                    <a:pt x="38" y="162"/>
                    <a:pt x="48" y="202"/>
                    <a:pt x="81" y="234"/>
                  </a:cubicBezTo>
                  <a:cubicBezTo>
                    <a:pt x="112" y="264"/>
                    <a:pt x="149" y="272"/>
                    <a:pt x="190" y="260"/>
                  </a:cubicBezTo>
                  <a:cubicBezTo>
                    <a:pt x="229" y="249"/>
                    <a:pt x="254" y="221"/>
                    <a:pt x="265" y="182"/>
                  </a:cubicBezTo>
                  <a:cubicBezTo>
                    <a:pt x="269" y="167"/>
                    <a:pt x="269" y="152"/>
                    <a:pt x="267" y="137"/>
                  </a:cubicBezTo>
                  <a:cubicBezTo>
                    <a:pt x="267" y="135"/>
                    <a:pt x="268" y="132"/>
                    <a:pt x="269" y="131"/>
                  </a:cubicBezTo>
                  <a:cubicBezTo>
                    <a:pt x="275" y="122"/>
                    <a:pt x="282" y="113"/>
                    <a:pt x="290" y="104"/>
                  </a:cubicBez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97" name="Freeform 1092">
              <a:extLst>
                <a:ext uri="{FF2B5EF4-FFF2-40B4-BE49-F238E27FC236}">
                  <a16:creationId xmlns:a16="http://schemas.microsoft.com/office/drawing/2014/main" id="{5C07C4C7-4B4F-A4CA-4DC2-8BCBB3EE2805}"/>
                </a:ext>
              </a:extLst>
            </p:cNvPr>
            <p:cNvSpPr>
              <a:spLocks/>
            </p:cNvSpPr>
            <p:nvPr/>
          </p:nvSpPr>
          <p:spPr bwMode="gray">
            <a:xfrm>
              <a:off x="221386" y="3999591"/>
              <a:ext cx="388151" cy="336843"/>
            </a:xfrm>
            <a:custGeom>
              <a:avLst/>
              <a:gdLst>
                <a:gd name="T0" fmla="*/ 0 w 245"/>
                <a:gd name="T1" fmla="*/ 106 h 211"/>
                <a:gd name="T2" fmla="*/ 20 w 245"/>
                <a:gd name="T3" fmla="*/ 88 h 211"/>
                <a:gd name="T4" fmla="*/ 24 w 245"/>
                <a:gd name="T5" fmla="*/ 88 h 211"/>
                <a:gd name="T6" fmla="*/ 83 w 245"/>
                <a:gd name="T7" fmla="*/ 123 h 211"/>
                <a:gd name="T8" fmla="*/ 89 w 245"/>
                <a:gd name="T9" fmla="*/ 128 h 211"/>
                <a:gd name="T10" fmla="*/ 239 w 245"/>
                <a:gd name="T11" fmla="*/ 0 h 211"/>
                <a:gd name="T12" fmla="*/ 244 w 245"/>
                <a:gd name="T13" fmla="*/ 13 h 211"/>
                <a:gd name="T14" fmla="*/ 243 w 245"/>
                <a:gd name="T15" fmla="*/ 17 h 211"/>
                <a:gd name="T16" fmla="*/ 200 w 245"/>
                <a:gd name="T17" fmla="*/ 60 h 211"/>
                <a:gd name="T18" fmla="*/ 133 w 245"/>
                <a:gd name="T19" fmla="*/ 153 h 211"/>
                <a:gd name="T20" fmla="*/ 99 w 245"/>
                <a:gd name="T21" fmla="*/ 211 h 211"/>
                <a:gd name="T22" fmla="*/ 0 w 245"/>
                <a:gd name="T2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5" h="211">
                  <a:moveTo>
                    <a:pt x="0" y="106"/>
                  </a:moveTo>
                  <a:cubicBezTo>
                    <a:pt x="7" y="100"/>
                    <a:pt x="13" y="94"/>
                    <a:pt x="20" y="88"/>
                  </a:cubicBezTo>
                  <a:cubicBezTo>
                    <a:pt x="21" y="88"/>
                    <a:pt x="23" y="88"/>
                    <a:pt x="24" y="88"/>
                  </a:cubicBezTo>
                  <a:cubicBezTo>
                    <a:pt x="45" y="98"/>
                    <a:pt x="65" y="110"/>
                    <a:pt x="83" y="123"/>
                  </a:cubicBezTo>
                  <a:cubicBezTo>
                    <a:pt x="85" y="125"/>
                    <a:pt x="87" y="126"/>
                    <a:pt x="89" y="128"/>
                  </a:cubicBezTo>
                  <a:cubicBezTo>
                    <a:pt x="132" y="77"/>
                    <a:pt x="181" y="33"/>
                    <a:pt x="239" y="0"/>
                  </a:cubicBezTo>
                  <a:cubicBezTo>
                    <a:pt x="240" y="4"/>
                    <a:pt x="243" y="9"/>
                    <a:pt x="244" y="13"/>
                  </a:cubicBezTo>
                  <a:cubicBezTo>
                    <a:pt x="245" y="14"/>
                    <a:pt x="244" y="16"/>
                    <a:pt x="243" y="17"/>
                  </a:cubicBezTo>
                  <a:cubicBezTo>
                    <a:pt x="228" y="32"/>
                    <a:pt x="214" y="45"/>
                    <a:pt x="200" y="60"/>
                  </a:cubicBezTo>
                  <a:cubicBezTo>
                    <a:pt x="174" y="89"/>
                    <a:pt x="153" y="120"/>
                    <a:pt x="133" y="153"/>
                  </a:cubicBezTo>
                  <a:cubicBezTo>
                    <a:pt x="122" y="172"/>
                    <a:pt x="110" y="191"/>
                    <a:pt x="99" y="211"/>
                  </a:cubicBezTo>
                  <a:cubicBezTo>
                    <a:pt x="68" y="174"/>
                    <a:pt x="36" y="139"/>
                    <a:pt x="0" y="10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199" name="Text Box 2836">
            <a:extLst>
              <a:ext uri="{FF2B5EF4-FFF2-40B4-BE49-F238E27FC236}">
                <a16:creationId xmlns:a16="http://schemas.microsoft.com/office/drawing/2014/main" id="{729C3383-57CE-3676-2E75-85FF9417BF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4068" y="3432305"/>
            <a:ext cx="589905" cy="170816"/>
          </a:xfrm>
          <a:prstGeom prst="rect">
            <a:avLst/>
          </a:prstGeom>
          <a:noFill/>
          <a:ln w="3175" cap="rnd">
            <a:noFill/>
            <a:miter lim="800000"/>
            <a:headEnd/>
            <a:tailEnd/>
          </a:ln>
          <a:effectLst/>
        </p:spPr>
        <p:txBody>
          <a:bodyPr wrap="none" lIns="0" tIns="0" rIns="0" bIns="0" anchor="ctr">
            <a:spAutoFit/>
          </a:bodyPr>
          <a:lstStyle>
            <a:defPPr>
              <a:defRPr lang="en-US"/>
            </a:defPPr>
            <a:lvl1pPr algn="ctr" defTabSz="914400" fontAlgn="ctr">
              <a:lnSpc>
                <a:spcPct val="90000"/>
              </a:lnSpc>
              <a:buFont typeface="Times New Roman" pitchFamily="18" charset="0"/>
              <a:buNone/>
              <a:defRPr sz="1200" b="1" spc="-50">
                <a:latin typeface="+mn-ea"/>
              </a:defRPr>
            </a:lvl1pPr>
          </a:lstStyle>
          <a:p>
            <a:r>
              <a:rPr lang="ko-KR" altLang="en-US" dirty="0"/>
              <a:t>완료보고</a:t>
            </a:r>
          </a:p>
        </p:txBody>
      </p:sp>
      <p:grpSp>
        <p:nvGrpSpPr>
          <p:cNvPr id="539" name="그룹 538"/>
          <p:cNvGrpSpPr/>
          <p:nvPr/>
        </p:nvGrpSpPr>
        <p:grpSpPr>
          <a:xfrm>
            <a:off x="11211975" y="3188861"/>
            <a:ext cx="180000" cy="180000"/>
            <a:chOff x="11211975" y="3226232"/>
            <a:chExt cx="171998" cy="160514"/>
          </a:xfrm>
        </p:grpSpPr>
        <p:sp>
          <p:nvSpPr>
            <p:cNvPr id="201" name="Freeform 1091">
              <a:extLst>
                <a:ext uri="{FF2B5EF4-FFF2-40B4-BE49-F238E27FC236}">
                  <a16:creationId xmlns:a16="http://schemas.microsoft.com/office/drawing/2014/main" id="{63EB20FA-5CCD-FBF7-A9F1-A2900ABD5C2D}"/>
                </a:ext>
              </a:extLst>
            </p:cNvPr>
            <p:cNvSpPr>
              <a:spLocks/>
            </p:cNvSpPr>
            <p:nvPr/>
          </p:nvSpPr>
          <p:spPr bwMode="gray">
            <a:xfrm>
              <a:off x="11211975" y="3226232"/>
              <a:ext cx="167492" cy="160514"/>
            </a:xfrm>
            <a:custGeom>
              <a:avLst/>
              <a:gdLst>
                <a:gd name="T0" fmla="*/ 290 w 313"/>
                <a:gd name="T1" fmla="*/ 104 h 311"/>
                <a:gd name="T2" fmla="*/ 227 w 313"/>
                <a:gd name="T3" fmla="*/ 278 h 311"/>
                <a:gd name="T4" fmla="*/ 48 w 313"/>
                <a:gd name="T5" fmla="*/ 243 h 311"/>
                <a:gd name="T6" fmla="*/ 59 w 313"/>
                <a:gd name="T7" fmla="*/ 54 h 311"/>
                <a:gd name="T8" fmla="*/ 245 w 313"/>
                <a:gd name="T9" fmla="*/ 43 h 311"/>
                <a:gd name="T10" fmla="*/ 242 w 313"/>
                <a:gd name="T11" fmla="*/ 46 h 311"/>
                <a:gd name="T12" fmla="*/ 224 w 313"/>
                <a:gd name="T13" fmla="*/ 61 h 311"/>
                <a:gd name="T14" fmla="*/ 217 w 313"/>
                <a:gd name="T15" fmla="*/ 61 h 311"/>
                <a:gd name="T16" fmla="*/ 144 w 313"/>
                <a:gd name="T17" fmla="*/ 45 h 311"/>
                <a:gd name="T18" fmla="*/ 53 w 313"/>
                <a:gd name="T19" fmla="*/ 119 h 311"/>
                <a:gd name="T20" fmla="*/ 81 w 313"/>
                <a:gd name="T21" fmla="*/ 234 h 311"/>
                <a:gd name="T22" fmla="*/ 190 w 313"/>
                <a:gd name="T23" fmla="*/ 260 h 311"/>
                <a:gd name="T24" fmla="*/ 265 w 313"/>
                <a:gd name="T25" fmla="*/ 182 h 311"/>
                <a:gd name="T26" fmla="*/ 267 w 313"/>
                <a:gd name="T27" fmla="*/ 137 h 311"/>
                <a:gd name="T28" fmla="*/ 269 w 313"/>
                <a:gd name="T29" fmla="*/ 131 h 311"/>
                <a:gd name="T30" fmla="*/ 290 w 313"/>
                <a:gd name="T31" fmla="*/ 104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13" h="311">
                  <a:moveTo>
                    <a:pt x="290" y="104"/>
                  </a:moveTo>
                  <a:cubicBezTo>
                    <a:pt x="313" y="163"/>
                    <a:pt x="294" y="240"/>
                    <a:pt x="227" y="278"/>
                  </a:cubicBezTo>
                  <a:cubicBezTo>
                    <a:pt x="167" y="311"/>
                    <a:pt x="92" y="298"/>
                    <a:pt x="48" y="243"/>
                  </a:cubicBezTo>
                  <a:cubicBezTo>
                    <a:pt x="0" y="184"/>
                    <a:pt x="8" y="103"/>
                    <a:pt x="59" y="54"/>
                  </a:cubicBezTo>
                  <a:cubicBezTo>
                    <a:pt x="113" y="0"/>
                    <a:pt x="194" y="2"/>
                    <a:pt x="245" y="43"/>
                  </a:cubicBezTo>
                  <a:cubicBezTo>
                    <a:pt x="244" y="44"/>
                    <a:pt x="243" y="45"/>
                    <a:pt x="242" y="46"/>
                  </a:cubicBezTo>
                  <a:cubicBezTo>
                    <a:pt x="236" y="51"/>
                    <a:pt x="230" y="56"/>
                    <a:pt x="224" y="61"/>
                  </a:cubicBezTo>
                  <a:cubicBezTo>
                    <a:pt x="221" y="63"/>
                    <a:pt x="220" y="63"/>
                    <a:pt x="217" y="61"/>
                  </a:cubicBezTo>
                  <a:cubicBezTo>
                    <a:pt x="195" y="47"/>
                    <a:pt x="170" y="41"/>
                    <a:pt x="144" y="45"/>
                  </a:cubicBezTo>
                  <a:cubicBezTo>
                    <a:pt x="99" y="51"/>
                    <a:pt x="68" y="76"/>
                    <a:pt x="53" y="119"/>
                  </a:cubicBezTo>
                  <a:cubicBezTo>
                    <a:pt x="38" y="162"/>
                    <a:pt x="48" y="202"/>
                    <a:pt x="81" y="234"/>
                  </a:cubicBezTo>
                  <a:cubicBezTo>
                    <a:pt x="112" y="264"/>
                    <a:pt x="149" y="272"/>
                    <a:pt x="190" y="260"/>
                  </a:cubicBezTo>
                  <a:cubicBezTo>
                    <a:pt x="229" y="249"/>
                    <a:pt x="254" y="221"/>
                    <a:pt x="265" y="182"/>
                  </a:cubicBezTo>
                  <a:cubicBezTo>
                    <a:pt x="269" y="167"/>
                    <a:pt x="269" y="152"/>
                    <a:pt x="267" y="137"/>
                  </a:cubicBezTo>
                  <a:cubicBezTo>
                    <a:pt x="267" y="135"/>
                    <a:pt x="268" y="132"/>
                    <a:pt x="269" y="131"/>
                  </a:cubicBezTo>
                  <a:cubicBezTo>
                    <a:pt x="275" y="122"/>
                    <a:pt x="282" y="113"/>
                    <a:pt x="290" y="104"/>
                  </a:cubicBezTo>
                  <a:close/>
                </a:path>
              </a:pathLst>
            </a:custGeom>
            <a:solidFill>
              <a:sysClr val="windowText" lastClr="000000">
                <a:lumMod val="50000"/>
                <a:lumOff val="50000"/>
              </a:sys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02" name="Freeform 1092">
              <a:extLst>
                <a:ext uri="{FF2B5EF4-FFF2-40B4-BE49-F238E27FC236}">
                  <a16:creationId xmlns:a16="http://schemas.microsoft.com/office/drawing/2014/main" id="{E27208A8-622B-5156-6B93-1E29BB1AB8C1}"/>
                </a:ext>
              </a:extLst>
            </p:cNvPr>
            <p:cNvSpPr>
              <a:spLocks/>
            </p:cNvSpPr>
            <p:nvPr/>
          </p:nvSpPr>
          <p:spPr bwMode="gray">
            <a:xfrm>
              <a:off x="11253284" y="3238524"/>
              <a:ext cx="130689" cy="109178"/>
            </a:xfrm>
            <a:custGeom>
              <a:avLst/>
              <a:gdLst>
                <a:gd name="T0" fmla="*/ 0 w 245"/>
                <a:gd name="T1" fmla="*/ 106 h 211"/>
                <a:gd name="T2" fmla="*/ 20 w 245"/>
                <a:gd name="T3" fmla="*/ 88 h 211"/>
                <a:gd name="T4" fmla="*/ 24 w 245"/>
                <a:gd name="T5" fmla="*/ 88 h 211"/>
                <a:gd name="T6" fmla="*/ 83 w 245"/>
                <a:gd name="T7" fmla="*/ 123 h 211"/>
                <a:gd name="T8" fmla="*/ 89 w 245"/>
                <a:gd name="T9" fmla="*/ 128 h 211"/>
                <a:gd name="T10" fmla="*/ 239 w 245"/>
                <a:gd name="T11" fmla="*/ 0 h 211"/>
                <a:gd name="T12" fmla="*/ 244 w 245"/>
                <a:gd name="T13" fmla="*/ 13 h 211"/>
                <a:gd name="T14" fmla="*/ 243 w 245"/>
                <a:gd name="T15" fmla="*/ 17 h 211"/>
                <a:gd name="T16" fmla="*/ 200 w 245"/>
                <a:gd name="T17" fmla="*/ 60 h 211"/>
                <a:gd name="T18" fmla="*/ 133 w 245"/>
                <a:gd name="T19" fmla="*/ 153 h 211"/>
                <a:gd name="T20" fmla="*/ 99 w 245"/>
                <a:gd name="T21" fmla="*/ 211 h 211"/>
                <a:gd name="T22" fmla="*/ 0 w 245"/>
                <a:gd name="T23" fmla="*/ 106 h 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5" h="211">
                  <a:moveTo>
                    <a:pt x="0" y="106"/>
                  </a:moveTo>
                  <a:cubicBezTo>
                    <a:pt x="7" y="100"/>
                    <a:pt x="13" y="94"/>
                    <a:pt x="20" y="88"/>
                  </a:cubicBezTo>
                  <a:cubicBezTo>
                    <a:pt x="21" y="88"/>
                    <a:pt x="23" y="88"/>
                    <a:pt x="24" y="88"/>
                  </a:cubicBezTo>
                  <a:cubicBezTo>
                    <a:pt x="45" y="98"/>
                    <a:pt x="65" y="110"/>
                    <a:pt x="83" y="123"/>
                  </a:cubicBezTo>
                  <a:cubicBezTo>
                    <a:pt x="85" y="125"/>
                    <a:pt x="87" y="126"/>
                    <a:pt x="89" y="128"/>
                  </a:cubicBezTo>
                  <a:cubicBezTo>
                    <a:pt x="132" y="77"/>
                    <a:pt x="181" y="33"/>
                    <a:pt x="239" y="0"/>
                  </a:cubicBezTo>
                  <a:cubicBezTo>
                    <a:pt x="240" y="4"/>
                    <a:pt x="243" y="9"/>
                    <a:pt x="244" y="13"/>
                  </a:cubicBezTo>
                  <a:cubicBezTo>
                    <a:pt x="245" y="14"/>
                    <a:pt x="244" y="16"/>
                    <a:pt x="243" y="17"/>
                  </a:cubicBezTo>
                  <a:cubicBezTo>
                    <a:pt x="228" y="32"/>
                    <a:pt x="214" y="45"/>
                    <a:pt x="200" y="60"/>
                  </a:cubicBezTo>
                  <a:cubicBezTo>
                    <a:pt x="174" y="89"/>
                    <a:pt x="153" y="120"/>
                    <a:pt x="133" y="153"/>
                  </a:cubicBezTo>
                  <a:cubicBezTo>
                    <a:pt x="122" y="172"/>
                    <a:pt x="110" y="191"/>
                    <a:pt x="99" y="211"/>
                  </a:cubicBezTo>
                  <a:cubicBezTo>
                    <a:pt x="68" y="174"/>
                    <a:pt x="36" y="139"/>
                    <a:pt x="0" y="106"/>
                  </a:cubicBezTo>
                  <a:close/>
                </a:path>
              </a:pathLst>
            </a:custGeom>
            <a:solidFill>
              <a:srgbClr val="C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525" name="그룹 524"/>
          <p:cNvGrpSpPr/>
          <p:nvPr/>
        </p:nvGrpSpPr>
        <p:grpSpPr>
          <a:xfrm>
            <a:off x="9215365" y="3207941"/>
            <a:ext cx="777457" cy="352485"/>
            <a:chOff x="7570248" y="3207941"/>
            <a:chExt cx="777457" cy="352485"/>
          </a:xfrm>
        </p:grpSpPr>
        <p:sp>
          <p:nvSpPr>
            <p:cNvPr id="204" name="TextBox 203">
              <a:extLst>
                <a:ext uri="{FF2B5EF4-FFF2-40B4-BE49-F238E27FC236}">
                  <a16:creationId xmlns:a16="http://schemas.microsoft.com/office/drawing/2014/main" id="{5B1B9E96-1604-B5D2-6750-22C522934930}"/>
                </a:ext>
              </a:extLst>
            </p:cNvPr>
            <p:cNvSpPr txBox="1"/>
            <p:nvPr/>
          </p:nvSpPr>
          <p:spPr>
            <a:xfrm>
              <a:off x="7570248" y="3389610"/>
              <a:ext cx="777457" cy="170816"/>
            </a:xfrm>
            <a:prstGeom prst="rect">
              <a:avLst/>
            </a:prstGeom>
            <a:noFill/>
            <a:ln w="12700">
              <a:noFill/>
              <a:prstDash val="sysDot"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algn="l" defTabSz="784225" eaLnBrk="0" latinLnBrk="0" hangingPunct="0">
                <a:defRPr sz="900" b="0">
                  <a:latin typeface="+mn-ea"/>
                  <a:ea typeface="+mn-ea"/>
                </a:defRPr>
              </a:lvl1pPr>
            </a:lstStyle>
            <a:p>
              <a:pPr algn="ctr" defTabSz="914400" eaLnBrk="1" fontAlgn="ctr" hangingPunct="1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ko-KR" altLang="en-US" sz="1200" b="1" spc="-50" dirty="0"/>
                <a:t>시스템 오픈</a:t>
              </a:r>
            </a:p>
          </p:txBody>
        </p:sp>
        <p:sp>
          <p:nvSpPr>
            <p:cNvPr id="205" name="AutoShape 26">
              <a:extLst>
                <a:ext uri="{FF2B5EF4-FFF2-40B4-BE49-F238E27FC236}">
                  <a16:creationId xmlns:a16="http://schemas.microsoft.com/office/drawing/2014/main" id="{3CE654AE-6A70-C678-25DF-C597E244CBFA}"/>
                </a:ext>
              </a:extLst>
            </p:cNvPr>
            <p:cNvSpPr>
              <a:spLocks/>
            </p:cNvSpPr>
            <p:nvPr/>
          </p:nvSpPr>
          <p:spPr bwMode="auto">
            <a:xfrm>
              <a:off x="8185762" y="3207941"/>
              <a:ext cx="147095" cy="138597"/>
            </a:xfrm>
            <a:custGeom>
              <a:avLst/>
              <a:gdLst>
                <a:gd name="T0" fmla="*/ 2147483646 w 21600"/>
                <a:gd name="T1" fmla="*/ 2147483646 h 21600"/>
                <a:gd name="T2" fmla="*/ 2147483646 w 21600"/>
                <a:gd name="T3" fmla="*/ 2147483646 h 21600"/>
                <a:gd name="T4" fmla="*/ 2147483646 w 21600"/>
                <a:gd name="T5" fmla="*/ 2147483646 h 21600"/>
                <a:gd name="T6" fmla="*/ 2147483646 w 21600"/>
                <a:gd name="T7" fmla="*/ 2147483646 h 2160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0901" y="17459"/>
                  </a:moveTo>
                  <a:lnTo>
                    <a:pt x="17497" y="21600"/>
                  </a:lnTo>
                  <a:lnTo>
                    <a:pt x="15848" y="13532"/>
                  </a:lnTo>
                  <a:lnTo>
                    <a:pt x="21600" y="8281"/>
                  </a:lnTo>
                  <a:lnTo>
                    <a:pt x="13797" y="7428"/>
                  </a:lnTo>
                  <a:lnTo>
                    <a:pt x="10901" y="0"/>
                  </a:lnTo>
                  <a:lnTo>
                    <a:pt x="7844" y="7428"/>
                  </a:lnTo>
                  <a:lnTo>
                    <a:pt x="0" y="8281"/>
                  </a:lnTo>
                  <a:lnTo>
                    <a:pt x="5993" y="13532"/>
                  </a:lnTo>
                  <a:lnTo>
                    <a:pt x="4143" y="21600"/>
                  </a:lnTo>
                  <a:lnTo>
                    <a:pt x="10901" y="17459"/>
                  </a:lnTo>
                </a:path>
              </a:pathLst>
            </a:custGeom>
            <a:solidFill>
              <a:srgbClr val="F2006D"/>
            </a:solidFill>
            <a:ln>
              <a:noFill/>
            </a:ln>
          </p:spPr>
          <p:txBody>
            <a:bodyPr lIns="45720" rIns="45720" anchor="ctr"/>
            <a:lstStyle/>
            <a:p>
              <a:pPr defTabSz="8255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endParaRPr lang="ru-RU" sz="2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cs typeface="Pretendard" panose="02000503000000020004" pitchFamily="50" charset="-127"/>
                <a:sym typeface="Poppins"/>
              </a:endParaRPr>
            </a:p>
          </p:txBody>
        </p:sp>
      </p:grpSp>
      <p:cxnSp>
        <p:nvCxnSpPr>
          <p:cNvPr id="217" name="직선 연결선 216">
            <a:extLst>
              <a:ext uri="{FF2B5EF4-FFF2-40B4-BE49-F238E27FC236}">
                <a16:creationId xmlns:a16="http://schemas.microsoft.com/office/drawing/2014/main" id="{09C483BC-66CA-80A0-EBCE-7629C07908D3}"/>
              </a:ext>
            </a:extLst>
          </p:cNvPr>
          <p:cNvCxnSpPr>
            <a:cxnSpLocks/>
          </p:cNvCxnSpPr>
          <p:nvPr/>
        </p:nvCxnSpPr>
        <p:spPr>
          <a:xfrm>
            <a:off x="2627085" y="4356492"/>
            <a:ext cx="885666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</p:cxnSp>
      <p:cxnSp>
        <p:nvCxnSpPr>
          <p:cNvPr id="220" name="직선 연결선 219">
            <a:extLst>
              <a:ext uri="{FF2B5EF4-FFF2-40B4-BE49-F238E27FC236}">
                <a16:creationId xmlns:a16="http://schemas.microsoft.com/office/drawing/2014/main" id="{09C483BC-66CA-80A0-EBCE-7629C07908D3}"/>
              </a:ext>
            </a:extLst>
          </p:cNvPr>
          <p:cNvCxnSpPr>
            <a:cxnSpLocks/>
          </p:cNvCxnSpPr>
          <p:nvPr/>
        </p:nvCxnSpPr>
        <p:spPr>
          <a:xfrm>
            <a:off x="2627085" y="4769481"/>
            <a:ext cx="885666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</p:cxnSp>
      <p:cxnSp>
        <p:nvCxnSpPr>
          <p:cNvPr id="223" name="직선 연결선 222">
            <a:extLst>
              <a:ext uri="{FF2B5EF4-FFF2-40B4-BE49-F238E27FC236}">
                <a16:creationId xmlns:a16="http://schemas.microsoft.com/office/drawing/2014/main" id="{09C483BC-66CA-80A0-EBCE-7629C07908D3}"/>
              </a:ext>
            </a:extLst>
          </p:cNvPr>
          <p:cNvCxnSpPr>
            <a:cxnSpLocks/>
          </p:cNvCxnSpPr>
          <p:nvPr/>
        </p:nvCxnSpPr>
        <p:spPr>
          <a:xfrm>
            <a:off x="2627085" y="5182470"/>
            <a:ext cx="885666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</p:cxnSp>
      <p:cxnSp>
        <p:nvCxnSpPr>
          <p:cNvPr id="226" name="직선 연결선 225">
            <a:extLst>
              <a:ext uri="{FF2B5EF4-FFF2-40B4-BE49-F238E27FC236}">
                <a16:creationId xmlns:a16="http://schemas.microsoft.com/office/drawing/2014/main" id="{09C483BC-66CA-80A0-EBCE-7629C07908D3}"/>
              </a:ext>
            </a:extLst>
          </p:cNvPr>
          <p:cNvCxnSpPr>
            <a:cxnSpLocks/>
          </p:cNvCxnSpPr>
          <p:nvPr/>
        </p:nvCxnSpPr>
        <p:spPr>
          <a:xfrm>
            <a:off x="2627085" y="5595459"/>
            <a:ext cx="885666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</p:cxnSp>
      <p:cxnSp>
        <p:nvCxnSpPr>
          <p:cNvPr id="229" name="직선 연결선 228">
            <a:extLst>
              <a:ext uri="{FF2B5EF4-FFF2-40B4-BE49-F238E27FC236}">
                <a16:creationId xmlns:a16="http://schemas.microsoft.com/office/drawing/2014/main" id="{09C483BC-66CA-80A0-EBCE-7629C07908D3}"/>
              </a:ext>
            </a:extLst>
          </p:cNvPr>
          <p:cNvCxnSpPr>
            <a:cxnSpLocks/>
          </p:cNvCxnSpPr>
          <p:nvPr/>
        </p:nvCxnSpPr>
        <p:spPr>
          <a:xfrm>
            <a:off x="2627085" y="6008446"/>
            <a:ext cx="8856663" cy="0"/>
          </a:xfrm>
          <a:prstGeom prst="line">
            <a:avLst/>
          </a:prstGeom>
          <a:noFill/>
          <a:ln w="9525" cap="flat" cmpd="sng" algn="ctr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  <a:effectLst/>
        </p:spPr>
      </p:cxnSp>
      <p:sp>
        <p:nvSpPr>
          <p:cNvPr id="236" name="사다리꼴 235">
            <a:extLst>
              <a:ext uri="{FF2B5EF4-FFF2-40B4-BE49-F238E27FC236}">
                <a16:creationId xmlns:a16="http://schemas.microsoft.com/office/drawing/2014/main" id="{E2DA0B4A-6ABF-96B3-28E2-670EF9344781}"/>
              </a:ext>
            </a:extLst>
          </p:cNvPr>
          <p:cNvSpPr/>
          <p:nvPr/>
        </p:nvSpPr>
        <p:spPr>
          <a:xfrm>
            <a:off x="2489675" y="4015925"/>
            <a:ext cx="1099727" cy="288000"/>
          </a:xfrm>
          <a:prstGeom prst="trapezoid">
            <a:avLst>
              <a:gd name="adj" fmla="val 31369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r" defTabSz="914400" fontAlgn="ctr">
              <a:lnSpc>
                <a:spcPct val="90000"/>
              </a:lnSpc>
            </a:pPr>
            <a:r>
              <a:rPr lang="ko-KR" altLang="en-US" sz="1200" spc="-150" dirty="0">
                <a:latin typeface="+mn-ea"/>
              </a:rPr>
              <a:t>기준 정보</a:t>
            </a:r>
            <a:r>
              <a:rPr lang="en-US" altLang="ko-KR" sz="1200" spc="-150" dirty="0">
                <a:latin typeface="+mn-ea"/>
              </a:rPr>
              <a:t> </a:t>
            </a:r>
            <a:r>
              <a:rPr lang="ko-KR" altLang="en-US" sz="1200" spc="-150" dirty="0">
                <a:latin typeface="+mn-ea"/>
              </a:rPr>
              <a:t>분석</a:t>
            </a:r>
          </a:p>
        </p:txBody>
      </p:sp>
      <p:sp>
        <p:nvSpPr>
          <p:cNvPr id="237" name="사다리꼴 236">
            <a:extLst>
              <a:ext uri="{FF2B5EF4-FFF2-40B4-BE49-F238E27FC236}">
                <a16:creationId xmlns:a16="http://schemas.microsoft.com/office/drawing/2014/main" id="{E2DA0B4A-6ABF-96B3-28E2-670EF9344781}"/>
              </a:ext>
            </a:extLst>
          </p:cNvPr>
          <p:cNvSpPr/>
          <p:nvPr/>
        </p:nvSpPr>
        <p:spPr>
          <a:xfrm>
            <a:off x="6909476" y="4015925"/>
            <a:ext cx="1099727" cy="288000"/>
          </a:xfrm>
          <a:prstGeom prst="trapezoid">
            <a:avLst>
              <a:gd name="adj" fmla="val 31369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r" defTabSz="914400" fontAlgn="ctr">
              <a:lnSpc>
                <a:spcPct val="90000"/>
              </a:lnSpc>
            </a:pPr>
            <a:r>
              <a:rPr lang="ko-KR" altLang="en-US" sz="1200" spc="-150" dirty="0">
                <a:latin typeface="+mn-ea"/>
              </a:rPr>
              <a:t>기준 정보</a:t>
            </a:r>
            <a:r>
              <a:rPr lang="en-US" altLang="ko-KR" sz="1200" spc="-150" dirty="0">
                <a:latin typeface="+mn-ea"/>
              </a:rPr>
              <a:t> </a:t>
            </a:r>
            <a:r>
              <a:rPr lang="ko-KR" altLang="en-US" sz="1200" spc="-150" dirty="0">
                <a:latin typeface="+mn-ea"/>
              </a:rPr>
              <a:t>등록</a:t>
            </a:r>
            <a:endParaRPr lang="ko-KR" altLang="en-US" sz="1200" spc="-150" dirty="0">
              <a:latin typeface="+mn-ea"/>
            </a:endParaRPr>
          </a:p>
        </p:txBody>
      </p:sp>
      <p:cxnSp>
        <p:nvCxnSpPr>
          <p:cNvPr id="239" name="직선 화살표 연결선 238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2634342" y="3948034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0" name="직선 화살표 연결선 239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7063910" y="3948034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1" name="직선 화살표 연결선 240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3627325" y="4363897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2" name="직선 화살표 연결선 241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5569670" y="4363897"/>
            <a:ext cx="1512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5" name="직선 화살표 연결선 244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8122039" y="4356492"/>
            <a:ext cx="1093326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6" name="직선 화살표 연결선 245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9977082" y="4356492"/>
            <a:ext cx="1506666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48" name="직선 화살표 연결선 247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9204046" y="4356492"/>
            <a:ext cx="762609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51" name="TextBox 250">
            <a:extLst>
              <a:ext uri="{FF2B5EF4-FFF2-40B4-BE49-F238E27FC236}">
                <a16:creationId xmlns:a16="http://schemas.microsoft.com/office/drawing/2014/main" id="{0BD89AE7-2A37-F8C0-4664-753B1CCFE50A}"/>
              </a:ext>
            </a:extLst>
          </p:cNvPr>
          <p:cNvSpPr txBox="1"/>
          <p:nvPr/>
        </p:nvSpPr>
        <p:spPr>
          <a:xfrm>
            <a:off x="5516591" y="4443160"/>
            <a:ext cx="1481390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자동 처리 </a:t>
            </a:r>
            <a:r>
              <a:rPr lang="ko-KR" altLang="en-US" dirty="0"/>
              <a:t>기능</a:t>
            </a:r>
            <a:r>
              <a:rPr lang="en-US" altLang="ko-KR" dirty="0"/>
              <a:t> </a:t>
            </a:r>
            <a:r>
              <a:rPr lang="ko-KR" altLang="en-US" dirty="0"/>
              <a:t>개발</a:t>
            </a:r>
            <a:endParaRPr lang="ko-KR" altLang="en-US" dirty="0"/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6617E58F-D977-6238-657F-9DFBFBBFAF1F}"/>
              </a:ext>
            </a:extLst>
          </p:cNvPr>
          <p:cNvSpPr txBox="1"/>
          <p:nvPr/>
        </p:nvSpPr>
        <p:spPr>
          <a:xfrm>
            <a:off x="2634342" y="4443160"/>
            <a:ext cx="1908303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en-US" altLang="ko-KR" dirty="0"/>
              <a:t>CAD </a:t>
            </a:r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관리 기능</a:t>
            </a:r>
            <a:r>
              <a:rPr lang="en-US" altLang="ko-KR" dirty="0"/>
              <a:t> </a:t>
            </a:r>
            <a:r>
              <a:rPr lang="ko-KR" altLang="en-US" dirty="0"/>
              <a:t>설계</a:t>
            </a:r>
            <a:endParaRPr lang="ko-KR" altLang="en-US" dirty="0"/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9E9D4533-6C87-0A92-A093-7CB62630F763}"/>
              </a:ext>
            </a:extLst>
          </p:cNvPr>
          <p:cNvSpPr txBox="1"/>
          <p:nvPr/>
        </p:nvSpPr>
        <p:spPr>
          <a:xfrm>
            <a:off x="10418632" y="4443160"/>
            <a:ext cx="973343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시스템 안정화</a:t>
            </a:r>
            <a:endParaRPr lang="en-US" altLang="ko-KR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5FD1375F-259E-2488-3B79-D0D55041C1A4}"/>
              </a:ext>
            </a:extLst>
          </p:cNvPr>
          <p:cNvSpPr txBox="1"/>
          <p:nvPr/>
        </p:nvSpPr>
        <p:spPr>
          <a:xfrm>
            <a:off x="8160437" y="4443160"/>
            <a:ext cx="908631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단위  테스트</a:t>
            </a:r>
            <a:endParaRPr lang="ko-KR" altLang="en-US" dirty="0"/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6A6ADB3-5243-7D5B-32A1-8F8235ABD51A}"/>
              </a:ext>
            </a:extLst>
          </p:cNvPr>
          <p:cNvSpPr txBox="1"/>
          <p:nvPr/>
        </p:nvSpPr>
        <p:spPr>
          <a:xfrm>
            <a:off x="8657875" y="4443160"/>
            <a:ext cx="1245896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통합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endParaRPr lang="ko-KR" altLang="en-US" dirty="0"/>
          </a:p>
        </p:txBody>
      </p:sp>
      <p:cxnSp>
        <p:nvCxnSpPr>
          <p:cNvPr id="258" name="직선 화살표 연결선 257">
            <a:extLst>
              <a:ext uri="{FF2B5EF4-FFF2-40B4-BE49-F238E27FC236}">
                <a16:creationId xmlns:a16="http://schemas.microsoft.com/office/drawing/2014/main" id="{457D2A6C-153C-3266-0B72-219F394F92E4}"/>
              </a:ext>
            </a:extLst>
          </p:cNvPr>
          <p:cNvCxnSpPr>
            <a:cxnSpLocks/>
          </p:cNvCxnSpPr>
          <p:nvPr/>
        </p:nvCxnSpPr>
        <p:spPr>
          <a:xfrm>
            <a:off x="4620307" y="4769481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59" name="직선 화살표 연결선 258">
            <a:extLst>
              <a:ext uri="{FF2B5EF4-FFF2-40B4-BE49-F238E27FC236}">
                <a16:creationId xmlns:a16="http://schemas.microsoft.com/office/drawing/2014/main" id="{EB3C98E1-53BD-7430-00B3-A83504252DF6}"/>
              </a:ext>
            </a:extLst>
          </p:cNvPr>
          <p:cNvCxnSpPr>
            <a:cxnSpLocks/>
          </p:cNvCxnSpPr>
          <p:nvPr/>
        </p:nvCxnSpPr>
        <p:spPr>
          <a:xfrm>
            <a:off x="7061074" y="4769481"/>
            <a:ext cx="1512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62" name="TextBox 261">
            <a:extLst>
              <a:ext uri="{FF2B5EF4-FFF2-40B4-BE49-F238E27FC236}">
                <a16:creationId xmlns:a16="http://schemas.microsoft.com/office/drawing/2014/main" id="{96D58A00-1A75-7326-D52C-5601D531FC3D}"/>
              </a:ext>
            </a:extLst>
          </p:cNvPr>
          <p:cNvSpPr txBox="1"/>
          <p:nvPr/>
        </p:nvSpPr>
        <p:spPr>
          <a:xfrm>
            <a:off x="3793288" y="4858501"/>
            <a:ext cx="1654041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200">
                <a:latin typeface="+mn-ea"/>
              </a:defRPr>
            </a:lvl1pPr>
          </a:lstStyle>
          <a:p>
            <a:r>
              <a:rPr lang="ko-KR" altLang="en-US" spc="-150" dirty="0"/>
              <a:t>사용자 </a:t>
            </a:r>
            <a:r>
              <a:rPr lang="en-US" altLang="ko-KR" spc="-150" dirty="0"/>
              <a:t>Report </a:t>
            </a:r>
            <a:r>
              <a:rPr lang="ko-KR" altLang="en-US" spc="-150" dirty="0"/>
              <a:t>설계</a:t>
            </a:r>
            <a:endParaRPr lang="ko-KR" altLang="en-US" spc="-150" dirty="0"/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FC0308E9-3995-99E6-8DE7-3A654D1122FF}"/>
              </a:ext>
            </a:extLst>
          </p:cNvPr>
          <p:cNvSpPr txBox="1"/>
          <p:nvPr/>
        </p:nvSpPr>
        <p:spPr>
          <a:xfrm>
            <a:off x="6783552" y="4858501"/>
            <a:ext cx="1654041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200">
                <a:latin typeface="+mn-ea"/>
              </a:defRPr>
            </a:lvl1pPr>
          </a:lstStyle>
          <a:p>
            <a:r>
              <a:rPr lang="ko-KR" altLang="en-US" spc="-150" dirty="0"/>
              <a:t>사용자 </a:t>
            </a:r>
            <a:r>
              <a:rPr lang="en-US" altLang="ko-KR" spc="-150" dirty="0"/>
              <a:t>Report </a:t>
            </a:r>
            <a:r>
              <a:rPr lang="ko-KR" altLang="en-US" spc="-150" dirty="0"/>
              <a:t>개발</a:t>
            </a:r>
            <a:endParaRPr lang="ko-KR" altLang="en-US" spc="-150" dirty="0"/>
          </a:p>
        </p:txBody>
      </p:sp>
      <p:cxnSp>
        <p:nvCxnSpPr>
          <p:cNvPr id="264" name="직선 화살표 연결선 263">
            <a:extLst>
              <a:ext uri="{FF2B5EF4-FFF2-40B4-BE49-F238E27FC236}">
                <a16:creationId xmlns:a16="http://schemas.microsoft.com/office/drawing/2014/main" id="{E64F4FA4-86F1-00D2-33B7-04EE60E3CE12}"/>
              </a:ext>
            </a:extLst>
          </p:cNvPr>
          <p:cNvCxnSpPr>
            <a:cxnSpLocks/>
          </p:cNvCxnSpPr>
          <p:nvPr/>
        </p:nvCxnSpPr>
        <p:spPr>
          <a:xfrm>
            <a:off x="2635315" y="5169089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65" name="직선 화살표 연결선 264">
            <a:extLst>
              <a:ext uri="{FF2B5EF4-FFF2-40B4-BE49-F238E27FC236}">
                <a16:creationId xmlns:a16="http://schemas.microsoft.com/office/drawing/2014/main" id="{855ED148-9589-CD42-4A6D-27BDC5D0C9D2}"/>
              </a:ext>
            </a:extLst>
          </p:cNvPr>
          <p:cNvCxnSpPr>
            <a:cxnSpLocks/>
          </p:cNvCxnSpPr>
          <p:nvPr/>
        </p:nvCxnSpPr>
        <p:spPr>
          <a:xfrm>
            <a:off x="9204045" y="5169089"/>
            <a:ext cx="1332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268" name="TextBox 267">
            <a:extLst>
              <a:ext uri="{FF2B5EF4-FFF2-40B4-BE49-F238E27FC236}">
                <a16:creationId xmlns:a16="http://schemas.microsoft.com/office/drawing/2014/main" id="{754BEC6D-3DFA-8099-F6C0-938B3BAACAA8}"/>
              </a:ext>
            </a:extLst>
          </p:cNvPr>
          <p:cNvSpPr txBox="1"/>
          <p:nvPr/>
        </p:nvSpPr>
        <p:spPr>
          <a:xfrm>
            <a:off x="2270321" y="5261625"/>
            <a:ext cx="1460548" cy="263149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데이터 </a:t>
            </a:r>
            <a:r>
              <a:rPr lang="ko-KR" altLang="en-US" dirty="0"/>
              <a:t>파일</a:t>
            </a:r>
            <a:r>
              <a:rPr lang="en-US" altLang="ko-KR" dirty="0"/>
              <a:t> </a:t>
            </a:r>
            <a:r>
              <a:rPr lang="ko-KR" altLang="en-US" dirty="0"/>
              <a:t>분석</a:t>
            </a:r>
            <a:endParaRPr lang="ko-KR" altLang="en-US" dirty="0"/>
          </a:p>
        </p:txBody>
      </p:sp>
      <p:sp>
        <p:nvSpPr>
          <p:cNvPr id="269" name="TextBox 268">
            <a:extLst>
              <a:ext uri="{FF2B5EF4-FFF2-40B4-BE49-F238E27FC236}">
                <a16:creationId xmlns:a16="http://schemas.microsoft.com/office/drawing/2014/main" id="{0E36C8B3-163D-381D-127D-55EEA87DEBD2}"/>
              </a:ext>
            </a:extLst>
          </p:cNvPr>
          <p:cNvSpPr txBox="1"/>
          <p:nvPr/>
        </p:nvSpPr>
        <p:spPr>
          <a:xfrm>
            <a:off x="9735831" y="5261625"/>
            <a:ext cx="716863" cy="263149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기능 개선</a:t>
            </a:r>
            <a:endParaRPr lang="en-US" altLang="ko-KR" dirty="0"/>
          </a:p>
        </p:txBody>
      </p:sp>
      <p:cxnSp>
        <p:nvCxnSpPr>
          <p:cNvPr id="270" name="직선 화살표 연결선 269">
            <a:extLst>
              <a:ext uri="{FF2B5EF4-FFF2-40B4-BE49-F238E27FC236}">
                <a16:creationId xmlns:a16="http://schemas.microsoft.com/office/drawing/2014/main" id="{500823C7-7244-FCC1-94EE-9B45750A366D}"/>
              </a:ext>
            </a:extLst>
          </p:cNvPr>
          <p:cNvCxnSpPr>
            <a:cxnSpLocks/>
          </p:cNvCxnSpPr>
          <p:nvPr/>
        </p:nvCxnSpPr>
        <p:spPr>
          <a:xfrm>
            <a:off x="4664143" y="6008446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71" name="직선 화살표 연결선 270">
            <a:extLst>
              <a:ext uri="{FF2B5EF4-FFF2-40B4-BE49-F238E27FC236}">
                <a16:creationId xmlns:a16="http://schemas.microsoft.com/office/drawing/2014/main" id="{24563F87-4CCB-0804-F979-84263CF9AF6F}"/>
              </a:ext>
            </a:extLst>
          </p:cNvPr>
          <p:cNvCxnSpPr>
            <a:cxnSpLocks/>
          </p:cNvCxnSpPr>
          <p:nvPr/>
        </p:nvCxnSpPr>
        <p:spPr>
          <a:xfrm>
            <a:off x="3649729" y="5593783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272" name="직선 화살표 연결선 271">
            <a:extLst>
              <a:ext uri="{FF2B5EF4-FFF2-40B4-BE49-F238E27FC236}">
                <a16:creationId xmlns:a16="http://schemas.microsoft.com/office/drawing/2014/main" id="{47E48176-E88A-AD06-2D3A-817D6A47F21A}"/>
              </a:ext>
            </a:extLst>
          </p:cNvPr>
          <p:cNvCxnSpPr>
            <a:cxnSpLocks/>
          </p:cNvCxnSpPr>
          <p:nvPr/>
        </p:nvCxnSpPr>
        <p:spPr>
          <a:xfrm>
            <a:off x="5556307" y="5593783"/>
            <a:ext cx="1512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56" name="TextBox 355">
            <a:extLst>
              <a:ext uri="{FF2B5EF4-FFF2-40B4-BE49-F238E27FC236}">
                <a16:creationId xmlns:a16="http://schemas.microsoft.com/office/drawing/2014/main" id="{2E66604E-7CB0-B7C3-3F90-BA2D7446FAC7}"/>
              </a:ext>
            </a:extLst>
          </p:cNvPr>
          <p:cNvSpPr txBox="1"/>
          <p:nvPr/>
        </p:nvSpPr>
        <p:spPr>
          <a:xfrm>
            <a:off x="2802080" y="5671655"/>
            <a:ext cx="1737016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Parser </a:t>
            </a:r>
            <a:r>
              <a:rPr lang="ko-KR" altLang="en-US" dirty="0"/>
              <a:t>설계</a:t>
            </a:r>
            <a:endParaRPr lang="ko-KR" altLang="en-US" dirty="0"/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87558B91-0EB1-09B0-F33A-63350F9DD3CD}"/>
              </a:ext>
            </a:extLst>
          </p:cNvPr>
          <p:cNvSpPr txBox="1"/>
          <p:nvPr/>
        </p:nvSpPr>
        <p:spPr>
          <a:xfrm>
            <a:off x="4429102" y="6064972"/>
            <a:ext cx="1018227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분석기능 설계</a:t>
            </a:r>
          </a:p>
        </p:txBody>
      </p:sp>
      <p:cxnSp>
        <p:nvCxnSpPr>
          <p:cNvPr id="358" name="직선 화살표 연결선 357">
            <a:extLst>
              <a:ext uri="{FF2B5EF4-FFF2-40B4-BE49-F238E27FC236}">
                <a16:creationId xmlns:a16="http://schemas.microsoft.com/office/drawing/2014/main" id="{47E48176-E88A-AD06-2D3A-817D6A47F21A}"/>
              </a:ext>
            </a:extLst>
          </p:cNvPr>
          <p:cNvCxnSpPr>
            <a:cxnSpLocks/>
          </p:cNvCxnSpPr>
          <p:nvPr/>
        </p:nvCxnSpPr>
        <p:spPr>
          <a:xfrm>
            <a:off x="7061074" y="5593783"/>
            <a:ext cx="1512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359" name="TextBox 358">
            <a:extLst>
              <a:ext uri="{FF2B5EF4-FFF2-40B4-BE49-F238E27FC236}">
                <a16:creationId xmlns:a16="http://schemas.microsoft.com/office/drawing/2014/main" id="{24B6355F-B660-B3E1-7C11-0C4996F94D84}"/>
              </a:ext>
            </a:extLst>
          </p:cNvPr>
          <p:cNvSpPr txBox="1"/>
          <p:nvPr/>
        </p:nvSpPr>
        <p:spPr>
          <a:xfrm>
            <a:off x="5668535" y="5671655"/>
            <a:ext cx="1329446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en-US" altLang="ko-KR" dirty="0"/>
              <a:t>Data </a:t>
            </a:r>
            <a:r>
              <a:rPr lang="en-US" altLang="ko-KR" dirty="0" smtClean="0"/>
              <a:t>Parser </a:t>
            </a:r>
            <a:r>
              <a:rPr lang="ko-KR" altLang="en-US" dirty="0" smtClean="0"/>
              <a:t>개발</a:t>
            </a:r>
            <a:endParaRPr lang="ko-KR" altLang="en-US" dirty="0"/>
          </a:p>
        </p:txBody>
      </p:sp>
      <p:sp>
        <p:nvSpPr>
          <p:cNvPr id="360" name="TextBox 359">
            <a:extLst>
              <a:ext uri="{FF2B5EF4-FFF2-40B4-BE49-F238E27FC236}">
                <a16:creationId xmlns:a16="http://schemas.microsoft.com/office/drawing/2014/main" id="{BB287AC5-718E-9AE7-9E76-8C067CD05686}"/>
              </a:ext>
            </a:extLst>
          </p:cNvPr>
          <p:cNvSpPr txBox="1"/>
          <p:nvPr/>
        </p:nvSpPr>
        <p:spPr>
          <a:xfrm>
            <a:off x="7188533" y="5671655"/>
            <a:ext cx="1249060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모니터링 기능 개발</a:t>
            </a:r>
          </a:p>
        </p:txBody>
      </p:sp>
      <p:sp>
        <p:nvSpPr>
          <p:cNvPr id="361" name="TextBox 360">
            <a:extLst>
              <a:ext uri="{FF2B5EF4-FFF2-40B4-BE49-F238E27FC236}">
                <a16:creationId xmlns:a16="http://schemas.microsoft.com/office/drawing/2014/main" id="{2C7326E4-3C4C-2E33-E363-BD237F0DF779}"/>
              </a:ext>
            </a:extLst>
          </p:cNvPr>
          <p:cNvSpPr txBox="1"/>
          <p:nvPr/>
        </p:nvSpPr>
        <p:spPr>
          <a:xfrm>
            <a:off x="9402793" y="6064972"/>
            <a:ext cx="1062465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 smtClean="0"/>
              <a:t>사용자</a:t>
            </a:r>
            <a:r>
              <a:rPr lang="en-US" altLang="ko-KR" dirty="0"/>
              <a:t> </a:t>
            </a:r>
            <a:r>
              <a:rPr lang="ko-KR" altLang="en-US" dirty="0" smtClean="0"/>
              <a:t>교육</a:t>
            </a:r>
            <a:endParaRPr lang="ko-KR" altLang="en-US" dirty="0"/>
          </a:p>
        </p:txBody>
      </p:sp>
      <p:sp>
        <p:nvSpPr>
          <p:cNvPr id="362" name="TextBox 361">
            <a:extLst>
              <a:ext uri="{FF2B5EF4-FFF2-40B4-BE49-F238E27FC236}">
                <a16:creationId xmlns:a16="http://schemas.microsoft.com/office/drawing/2014/main" id="{F922F03D-003F-3446-E9CE-BEF813EBEC16}"/>
              </a:ext>
            </a:extLst>
          </p:cNvPr>
          <p:cNvSpPr txBox="1"/>
          <p:nvPr/>
        </p:nvSpPr>
        <p:spPr>
          <a:xfrm>
            <a:off x="10335278" y="6064972"/>
            <a:ext cx="1062465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 smtClean="0"/>
              <a:t>산출물</a:t>
            </a:r>
            <a:r>
              <a:rPr lang="en-US" altLang="ko-KR" dirty="0"/>
              <a:t> </a:t>
            </a:r>
            <a:r>
              <a:rPr lang="ko-KR" altLang="en-US" dirty="0" smtClean="0"/>
              <a:t>정리</a:t>
            </a:r>
            <a:endParaRPr lang="ko-KR" altLang="en-US" dirty="0"/>
          </a:p>
        </p:txBody>
      </p:sp>
      <p:cxnSp>
        <p:nvCxnSpPr>
          <p:cNvPr id="363" name="직선 화살표 연결선 362">
            <a:extLst>
              <a:ext uri="{FF2B5EF4-FFF2-40B4-BE49-F238E27FC236}">
                <a16:creationId xmlns:a16="http://schemas.microsoft.com/office/drawing/2014/main" id="{24563F87-4CCB-0804-F979-84263CF9AF6F}"/>
              </a:ext>
            </a:extLst>
          </p:cNvPr>
          <p:cNvCxnSpPr>
            <a:cxnSpLocks/>
          </p:cNvCxnSpPr>
          <p:nvPr/>
        </p:nvCxnSpPr>
        <p:spPr>
          <a:xfrm>
            <a:off x="10562263" y="6008446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364" name="직선 화살표 연결선 363">
            <a:extLst>
              <a:ext uri="{FF2B5EF4-FFF2-40B4-BE49-F238E27FC236}">
                <a16:creationId xmlns:a16="http://schemas.microsoft.com/office/drawing/2014/main" id="{24563F87-4CCB-0804-F979-84263CF9AF6F}"/>
              </a:ext>
            </a:extLst>
          </p:cNvPr>
          <p:cNvCxnSpPr>
            <a:cxnSpLocks/>
          </p:cNvCxnSpPr>
          <p:nvPr/>
        </p:nvCxnSpPr>
        <p:spPr>
          <a:xfrm>
            <a:off x="9626263" y="6008446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152031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30" name="표 529">
            <a:extLst>
              <a:ext uri="{FF2B5EF4-FFF2-40B4-BE49-F238E27FC236}">
                <a16:creationId xmlns:a16="http://schemas.microsoft.com/office/drawing/2014/main" id="{0CE575E2-AE0A-114D-385C-4A4B2931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872301"/>
              </p:ext>
            </p:extLst>
          </p:nvPr>
        </p:nvGraphicFramePr>
        <p:xfrm>
          <a:off x="1490663" y="3205165"/>
          <a:ext cx="9217024" cy="2535232"/>
        </p:xfrm>
        <a:graphic>
          <a:graphicData uri="http://schemas.openxmlformats.org/drawingml/2006/table">
            <a:tbl>
              <a:tblPr lastRow="1"/>
              <a:tblGrid>
                <a:gridCol w="2030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1740678160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1805752044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297696955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4223033223"/>
                    </a:ext>
                  </a:extLst>
                </a:gridCol>
                <a:gridCol w="901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인력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등급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M1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M2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M3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M4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M5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M6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분석</a:t>
                      </a:r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특급</a:t>
                      </a:r>
                      <a:endParaRPr lang="en-US" altLang="ko-KR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0.5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ko-KR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26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kern="12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고급</a:t>
                      </a:r>
                      <a:endParaRPr lang="en-US" altLang="ko-KR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62449"/>
                  </a:ext>
                </a:extLst>
              </a:tr>
              <a:tr h="550830"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 </a:t>
                      </a:r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(M/M)</a:t>
                      </a:r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1.5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</a:t>
            </a:r>
            <a:r>
              <a:rPr lang="ko-KR" altLang="en-US" dirty="0">
                <a:latin typeface="Microsoft YaHei" panose="020B0503020204020204" pitchFamily="34" charset="-122"/>
              </a:rPr>
              <a:t>인력 투입 계획 </a:t>
            </a:r>
            <a:r>
              <a:rPr lang="en-US" altLang="ko-KR" dirty="0">
                <a:latin typeface="Microsoft YaHei" panose="020B0503020204020204" pitchFamily="34" charset="-122"/>
              </a:rPr>
              <a:t>(Phase1)</a:t>
            </a:r>
            <a:endParaRPr lang="ko-KR" altLang="en-US" dirty="0">
              <a:latin typeface="Microsoft YaHei" panose="020B0503020204020204" pitchFamily="34" charset="-122"/>
            </a:endParaRP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Phase 1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은 총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개월의 수행 기간으로 계획하였으며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총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8M/M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의 인력을 투입하여 프로젝트 일정 관리와 품질 확보를 체계적으로 수행할 예정입니다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이를 통해 계획된 일정 내에 안정적인 시스템 구축 및 성공적인 프로젝트 완료를 달성하겠습니다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578310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3. </a:t>
            </a:r>
            <a:r>
              <a:rPr lang="ko-KR" altLang="en-US" dirty="0">
                <a:latin typeface="Microsoft YaHei" panose="020B0503020204020204" pitchFamily="34" charset="-122"/>
              </a:rPr>
              <a:t>추진 일정 </a:t>
            </a:r>
            <a:r>
              <a:rPr lang="en-US" altLang="ko-KR" dirty="0">
                <a:latin typeface="Microsoft YaHei" panose="020B0503020204020204" pitchFamily="34" charset="-122"/>
              </a:rPr>
              <a:t>(Phase2)</a:t>
            </a:r>
            <a:endParaRPr lang="ko-KR" altLang="en-US" dirty="0">
              <a:latin typeface="Microsoft YaHei" panose="020B0503020204020204" pitchFamily="34" charset="-122"/>
            </a:endParaRPr>
          </a:p>
          <a:p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6" name="내용 개체 틀 5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Phase 2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프로젝트는 총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개월간 수행되며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테스트 및 기능 보완 단계를 거쳐 시스템의 안정성을 확보할 예정입니다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또한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1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개월의 안정화 기간과 인수인계 수행을 통해 향후 운영 과정에서 차질 없이 시스템이 운영될 수 있도록 지원하겠습니다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9B0E99F1-4648-4A29-5B1E-3C53286FEB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5172639"/>
              </p:ext>
            </p:extLst>
          </p:nvPr>
        </p:nvGraphicFramePr>
        <p:xfrm>
          <a:off x="2757869" y="2600325"/>
          <a:ext cx="6356630" cy="3579900"/>
        </p:xfrm>
        <a:graphic>
          <a:graphicData uri="http://schemas.openxmlformats.org/drawingml/2006/table">
            <a:tbl>
              <a:tblPr/>
              <a:tblGrid>
                <a:gridCol w="1913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81044">
                  <a:extLst>
                    <a:ext uri="{9D8B030D-6E8A-4147-A177-3AD203B41FA5}">
                      <a16:colId xmlns:a16="http://schemas.microsoft.com/office/drawing/2014/main" val="3099753027"/>
                    </a:ext>
                  </a:extLst>
                </a:gridCol>
              </a:tblGrid>
              <a:tr h="2752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5836" marR="5836" marT="583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M1</a:t>
                      </a: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M2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M3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4937">
                <a:tc vMerge="1">
                  <a:txBody>
                    <a:bodyPr/>
                    <a:lstStyle/>
                    <a:p>
                      <a:pPr algn="ctr" rtl="0" fontAlgn="ctr"/>
                      <a:endParaRPr lang="ko-KR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836" marR="5836" marT="5836" marB="0" anchor="ctr">
                    <a:lnL w="3175" cap="flat" cmpd="sng" algn="ctr">
                      <a:solidFill>
                        <a:sysClr val="window" lastClr="FFFFFF">
                          <a:lumMod val="50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9CE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  <a:r>
                        <a:rPr lang="en-US" altLang="ko-KR" sz="1200" b="1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200" b="1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보완</a:t>
                      </a:r>
                      <a:endParaRPr lang="en-US" altLang="ko-KR" sz="1200" b="1" kern="1200" spc="-5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ko-KR" altLang="en-US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안정화</a:t>
                      </a: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  <a:alpha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1174177"/>
                  </a:ext>
                </a:extLst>
              </a:tr>
              <a:tr h="58616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Milestone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r>
                        <a:rPr lang="en-US" altLang="ko-KR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주요</a:t>
                      </a:r>
                      <a:r>
                        <a:rPr lang="en-US" altLang="ko-KR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보고 및 일정</a:t>
                      </a:r>
                      <a:r>
                        <a:rPr lang="en-US" altLang="ko-KR" sz="1200" b="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200" b="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3596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YMS+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kern="1200" spc="-50" noProof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DMS</a:t>
                      </a:r>
                    </a:p>
                  </a:txBody>
                  <a:tcPr marL="5836" marR="5836" marT="5836" marB="0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"/>
                        </a:defRPr>
                      </a:lvl9pPr>
                    </a:lstStyle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en-US" altLang="ko-KR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90000"/>
                        </a:lnSpc>
                      </a:pPr>
                      <a:endParaRPr lang="ko-KR" altLang="en-US" sz="12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36" marR="5836" marT="5836" marB="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2" name="그룹 1"/>
          <p:cNvGrpSpPr/>
          <p:nvPr/>
        </p:nvGrpSpPr>
        <p:grpSpPr>
          <a:xfrm>
            <a:off x="8458820" y="3188861"/>
            <a:ext cx="597907" cy="414260"/>
            <a:chOff x="10794068" y="3188861"/>
            <a:chExt cx="597907" cy="414260"/>
          </a:xfrm>
        </p:grpSpPr>
        <p:sp>
          <p:nvSpPr>
            <p:cNvPr id="55" name="Text Box 2836">
              <a:extLst>
                <a:ext uri="{FF2B5EF4-FFF2-40B4-BE49-F238E27FC236}">
                  <a16:creationId xmlns:a16="http://schemas.microsoft.com/office/drawing/2014/main" id="{729C3383-57CE-3676-2E75-85FF9417BF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4068" y="3432305"/>
              <a:ext cx="589905" cy="170816"/>
            </a:xfrm>
            <a:prstGeom prst="rect">
              <a:avLst/>
            </a:prstGeom>
            <a:noFill/>
            <a:ln w="3175" cap="rnd">
              <a:noFill/>
              <a:miter lim="800000"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>
              <a:defPPr>
                <a:defRPr lang="en-US"/>
              </a:defPPr>
              <a:lvl1pPr algn="ctr" defTabSz="914400" fontAlgn="ctr">
                <a:lnSpc>
                  <a:spcPct val="90000"/>
                </a:lnSpc>
                <a:buFont typeface="Times New Roman" pitchFamily="18" charset="0"/>
                <a:buNone/>
                <a:defRPr sz="1200" b="1" spc="-50">
                  <a:latin typeface="+mn-ea"/>
                </a:defRPr>
              </a:lvl1pPr>
            </a:lstStyle>
            <a:p>
              <a:r>
                <a:rPr lang="ko-KR" altLang="en-US" dirty="0"/>
                <a:t>완료보고</a:t>
              </a:r>
            </a:p>
          </p:txBody>
        </p:sp>
        <p:grpSp>
          <p:nvGrpSpPr>
            <p:cNvPr id="56" name="그룹 55"/>
            <p:cNvGrpSpPr/>
            <p:nvPr/>
          </p:nvGrpSpPr>
          <p:grpSpPr>
            <a:xfrm>
              <a:off x="11211975" y="3188861"/>
              <a:ext cx="180000" cy="180000"/>
              <a:chOff x="11211975" y="3226232"/>
              <a:chExt cx="171998" cy="160514"/>
            </a:xfrm>
          </p:grpSpPr>
          <p:sp>
            <p:nvSpPr>
              <p:cNvPr id="57" name="Freeform 1091">
                <a:extLst>
                  <a:ext uri="{FF2B5EF4-FFF2-40B4-BE49-F238E27FC236}">
                    <a16:creationId xmlns:a16="http://schemas.microsoft.com/office/drawing/2014/main" id="{63EB20FA-5CCD-FBF7-A9F1-A2900ABD5C2D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1211975" y="3226232"/>
                <a:ext cx="167492" cy="160514"/>
              </a:xfrm>
              <a:custGeom>
                <a:avLst/>
                <a:gdLst>
                  <a:gd name="T0" fmla="*/ 290 w 313"/>
                  <a:gd name="T1" fmla="*/ 104 h 311"/>
                  <a:gd name="T2" fmla="*/ 227 w 313"/>
                  <a:gd name="T3" fmla="*/ 278 h 311"/>
                  <a:gd name="T4" fmla="*/ 48 w 313"/>
                  <a:gd name="T5" fmla="*/ 243 h 311"/>
                  <a:gd name="T6" fmla="*/ 59 w 313"/>
                  <a:gd name="T7" fmla="*/ 54 h 311"/>
                  <a:gd name="T8" fmla="*/ 245 w 313"/>
                  <a:gd name="T9" fmla="*/ 43 h 311"/>
                  <a:gd name="T10" fmla="*/ 242 w 313"/>
                  <a:gd name="T11" fmla="*/ 46 h 311"/>
                  <a:gd name="T12" fmla="*/ 224 w 313"/>
                  <a:gd name="T13" fmla="*/ 61 h 311"/>
                  <a:gd name="T14" fmla="*/ 217 w 313"/>
                  <a:gd name="T15" fmla="*/ 61 h 311"/>
                  <a:gd name="T16" fmla="*/ 144 w 313"/>
                  <a:gd name="T17" fmla="*/ 45 h 311"/>
                  <a:gd name="T18" fmla="*/ 53 w 313"/>
                  <a:gd name="T19" fmla="*/ 119 h 311"/>
                  <a:gd name="T20" fmla="*/ 81 w 313"/>
                  <a:gd name="T21" fmla="*/ 234 h 311"/>
                  <a:gd name="T22" fmla="*/ 190 w 313"/>
                  <a:gd name="T23" fmla="*/ 260 h 311"/>
                  <a:gd name="T24" fmla="*/ 265 w 313"/>
                  <a:gd name="T25" fmla="*/ 182 h 311"/>
                  <a:gd name="T26" fmla="*/ 267 w 313"/>
                  <a:gd name="T27" fmla="*/ 137 h 311"/>
                  <a:gd name="T28" fmla="*/ 269 w 313"/>
                  <a:gd name="T29" fmla="*/ 131 h 311"/>
                  <a:gd name="T30" fmla="*/ 290 w 313"/>
                  <a:gd name="T31" fmla="*/ 104 h 3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313" h="311">
                    <a:moveTo>
                      <a:pt x="290" y="104"/>
                    </a:moveTo>
                    <a:cubicBezTo>
                      <a:pt x="313" y="163"/>
                      <a:pt x="294" y="240"/>
                      <a:pt x="227" y="278"/>
                    </a:cubicBezTo>
                    <a:cubicBezTo>
                      <a:pt x="167" y="311"/>
                      <a:pt x="92" y="298"/>
                      <a:pt x="48" y="243"/>
                    </a:cubicBezTo>
                    <a:cubicBezTo>
                      <a:pt x="0" y="184"/>
                      <a:pt x="8" y="103"/>
                      <a:pt x="59" y="54"/>
                    </a:cubicBezTo>
                    <a:cubicBezTo>
                      <a:pt x="113" y="0"/>
                      <a:pt x="194" y="2"/>
                      <a:pt x="245" y="43"/>
                    </a:cubicBezTo>
                    <a:cubicBezTo>
                      <a:pt x="244" y="44"/>
                      <a:pt x="243" y="45"/>
                      <a:pt x="242" y="46"/>
                    </a:cubicBezTo>
                    <a:cubicBezTo>
                      <a:pt x="236" y="51"/>
                      <a:pt x="230" y="56"/>
                      <a:pt x="224" y="61"/>
                    </a:cubicBezTo>
                    <a:cubicBezTo>
                      <a:pt x="221" y="63"/>
                      <a:pt x="220" y="63"/>
                      <a:pt x="217" y="61"/>
                    </a:cubicBezTo>
                    <a:cubicBezTo>
                      <a:pt x="195" y="47"/>
                      <a:pt x="170" y="41"/>
                      <a:pt x="144" y="45"/>
                    </a:cubicBezTo>
                    <a:cubicBezTo>
                      <a:pt x="99" y="51"/>
                      <a:pt x="68" y="76"/>
                      <a:pt x="53" y="119"/>
                    </a:cubicBezTo>
                    <a:cubicBezTo>
                      <a:pt x="38" y="162"/>
                      <a:pt x="48" y="202"/>
                      <a:pt x="81" y="234"/>
                    </a:cubicBezTo>
                    <a:cubicBezTo>
                      <a:pt x="112" y="264"/>
                      <a:pt x="149" y="272"/>
                      <a:pt x="190" y="260"/>
                    </a:cubicBezTo>
                    <a:cubicBezTo>
                      <a:pt x="229" y="249"/>
                      <a:pt x="254" y="221"/>
                      <a:pt x="265" y="182"/>
                    </a:cubicBezTo>
                    <a:cubicBezTo>
                      <a:pt x="269" y="167"/>
                      <a:pt x="269" y="152"/>
                      <a:pt x="267" y="137"/>
                    </a:cubicBezTo>
                    <a:cubicBezTo>
                      <a:pt x="267" y="135"/>
                      <a:pt x="268" y="132"/>
                      <a:pt x="269" y="131"/>
                    </a:cubicBezTo>
                    <a:cubicBezTo>
                      <a:pt x="275" y="122"/>
                      <a:pt x="282" y="113"/>
                      <a:pt x="290" y="104"/>
                    </a:cubicBezTo>
                    <a:close/>
                  </a:path>
                </a:pathLst>
              </a:custGeom>
              <a:solidFill>
                <a:sysClr val="windowText" lastClr="000000">
                  <a:lumMod val="50000"/>
                  <a:lumOff val="50000"/>
                </a:sys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64" name="Freeform 1092">
                <a:extLst>
                  <a:ext uri="{FF2B5EF4-FFF2-40B4-BE49-F238E27FC236}">
                    <a16:creationId xmlns:a16="http://schemas.microsoft.com/office/drawing/2014/main" id="{E27208A8-622B-5156-6B93-1E29BB1AB8C1}"/>
                  </a:ext>
                </a:extLst>
              </p:cNvPr>
              <p:cNvSpPr>
                <a:spLocks/>
              </p:cNvSpPr>
              <p:nvPr/>
            </p:nvSpPr>
            <p:spPr bwMode="gray">
              <a:xfrm>
                <a:off x="11253284" y="3238524"/>
                <a:ext cx="130689" cy="109178"/>
              </a:xfrm>
              <a:custGeom>
                <a:avLst/>
                <a:gdLst>
                  <a:gd name="T0" fmla="*/ 0 w 245"/>
                  <a:gd name="T1" fmla="*/ 106 h 211"/>
                  <a:gd name="T2" fmla="*/ 20 w 245"/>
                  <a:gd name="T3" fmla="*/ 88 h 211"/>
                  <a:gd name="T4" fmla="*/ 24 w 245"/>
                  <a:gd name="T5" fmla="*/ 88 h 211"/>
                  <a:gd name="T6" fmla="*/ 83 w 245"/>
                  <a:gd name="T7" fmla="*/ 123 h 211"/>
                  <a:gd name="T8" fmla="*/ 89 w 245"/>
                  <a:gd name="T9" fmla="*/ 128 h 211"/>
                  <a:gd name="T10" fmla="*/ 239 w 245"/>
                  <a:gd name="T11" fmla="*/ 0 h 211"/>
                  <a:gd name="T12" fmla="*/ 244 w 245"/>
                  <a:gd name="T13" fmla="*/ 13 h 211"/>
                  <a:gd name="T14" fmla="*/ 243 w 245"/>
                  <a:gd name="T15" fmla="*/ 17 h 211"/>
                  <a:gd name="T16" fmla="*/ 200 w 245"/>
                  <a:gd name="T17" fmla="*/ 60 h 211"/>
                  <a:gd name="T18" fmla="*/ 133 w 245"/>
                  <a:gd name="T19" fmla="*/ 153 h 211"/>
                  <a:gd name="T20" fmla="*/ 99 w 245"/>
                  <a:gd name="T21" fmla="*/ 211 h 211"/>
                  <a:gd name="T22" fmla="*/ 0 w 245"/>
                  <a:gd name="T23" fmla="*/ 106 h 2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245" h="211">
                    <a:moveTo>
                      <a:pt x="0" y="106"/>
                    </a:moveTo>
                    <a:cubicBezTo>
                      <a:pt x="7" y="100"/>
                      <a:pt x="13" y="94"/>
                      <a:pt x="20" y="88"/>
                    </a:cubicBezTo>
                    <a:cubicBezTo>
                      <a:pt x="21" y="88"/>
                      <a:pt x="23" y="88"/>
                      <a:pt x="24" y="88"/>
                    </a:cubicBezTo>
                    <a:cubicBezTo>
                      <a:pt x="45" y="98"/>
                      <a:pt x="65" y="110"/>
                      <a:pt x="83" y="123"/>
                    </a:cubicBezTo>
                    <a:cubicBezTo>
                      <a:pt x="85" y="125"/>
                      <a:pt x="87" y="126"/>
                      <a:pt x="89" y="128"/>
                    </a:cubicBezTo>
                    <a:cubicBezTo>
                      <a:pt x="132" y="77"/>
                      <a:pt x="181" y="33"/>
                      <a:pt x="239" y="0"/>
                    </a:cubicBezTo>
                    <a:cubicBezTo>
                      <a:pt x="240" y="4"/>
                      <a:pt x="243" y="9"/>
                      <a:pt x="244" y="13"/>
                    </a:cubicBezTo>
                    <a:cubicBezTo>
                      <a:pt x="245" y="14"/>
                      <a:pt x="244" y="16"/>
                      <a:pt x="243" y="17"/>
                    </a:cubicBezTo>
                    <a:cubicBezTo>
                      <a:pt x="228" y="32"/>
                      <a:pt x="214" y="45"/>
                      <a:pt x="200" y="60"/>
                    </a:cubicBezTo>
                    <a:cubicBezTo>
                      <a:pt x="174" y="89"/>
                      <a:pt x="153" y="120"/>
                      <a:pt x="133" y="153"/>
                    </a:cubicBezTo>
                    <a:cubicBezTo>
                      <a:pt x="122" y="172"/>
                      <a:pt x="110" y="191"/>
                      <a:pt x="99" y="211"/>
                    </a:cubicBezTo>
                    <a:cubicBezTo>
                      <a:pt x="68" y="174"/>
                      <a:pt x="36" y="139"/>
                      <a:pt x="0" y="106"/>
                    </a:cubicBezTo>
                    <a:close/>
                  </a:path>
                </a:pathLst>
              </a:custGeom>
              <a:solidFill>
                <a:srgbClr val="C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</p:grpSp>
      <p:grpSp>
        <p:nvGrpSpPr>
          <p:cNvPr id="12" name="그룹 11"/>
          <p:cNvGrpSpPr/>
          <p:nvPr/>
        </p:nvGrpSpPr>
        <p:grpSpPr>
          <a:xfrm>
            <a:off x="4686454" y="4043002"/>
            <a:ext cx="4428045" cy="1647425"/>
            <a:chOff x="2627085" y="4043002"/>
            <a:chExt cx="8856663" cy="1647425"/>
          </a:xfrm>
        </p:grpSpPr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09C483BC-66CA-80A0-EBCE-7629C07908D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085" y="4043002"/>
              <a:ext cx="8856663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68" name="직선 연결선 67">
              <a:extLst>
                <a:ext uri="{FF2B5EF4-FFF2-40B4-BE49-F238E27FC236}">
                  <a16:creationId xmlns:a16="http://schemas.microsoft.com/office/drawing/2014/main" id="{09C483BC-66CA-80A0-EBCE-7629C07908D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085" y="4451460"/>
              <a:ext cx="8856663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69" name="직선 연결선 68">
              <a:extLst>
                <a:ext uri="{FF2B5EF4-FFF2-40B4-BE49-F238E27FC236}">
                  <a16:creationId xmlns:a16="http://schemas.microsoft.com/office/drawing/2014/main" id="{09C483BC-66CA-80A0-EBCE-7629C07908D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085" y="4864449"/>
              <a:ext cx="8856663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70" name="직선 연결선 69">
              <a:extLst>
                <a:ext uri="{FF2B5EF4-FFF2-40B4-BE49-F238E27FC236}">
                  <a16:creationId xmlns:a16="http://schemas.microsoft.com/office/drawing/2014/main" id="{09C483BC-66CA-80A0-EBCE-7629C07908D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085" y="5277438"/>
              <a:ext cx="8856663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09C483BC-66CA-80A0-EBCE-7629C07908D3}"/>
                </a:ext>
              </a:extLst>
            </p:cNvPr>
            <p:cNvCxnSpPr>
              <a:cxnSpLocks/>
            </p:cNvCxnSpPr>
            <p:nvPr/>
          </p:nvCxnSpPr>
          <p:spPr>
            <a:xfrm>
              <a:off x="2627085" y="5690427"/>
              <a:ext cx="8856663" cy="0"/>
            </a:xfrm>
            <a:prstGeom prst="line">
              <a:avLst/>
            </a:prstGeom>
            <a:noFill/>
            <a:ln w="9525" cap="flat" cmpd="sng" algn="ctr">
              <a:solidFill>
                <a:schemeClr val="bg1">
                  <a:lumMod val="50000"/>
                </a:schemeClr>
              </a:solidFill>
              <a:prstDash val="sysDot"/>
              <a:headEnd type="none" w="med" len="med"/>
              <a:tailEnd type="none" w="med" len="med"/>
            </a:ln>
            <a:effectLst/>
          </p:spPr>
        </p:cxnSp>
      </p:grpSp>
      <p:sp>
        <p:nvSpPr>
          <p:cNvPr id="73" name="사다리꼴 72">
            <a:extLst>
              <a:ext uri="{FF2B5EF4-FFF2-40B4-BE49-F238E27FC236}">
                <a16:creationId xmlns:a16="http://schemas.microsoft.com/office/drawing/2014/main" id="{E2DA0B4A-6ABF-96B3-28E2-670EF9344781}"/>
              </a:ext>
            </a:extLst>
          </p:cNvPr>
          <p:cNvSpPr/>
          <p:nvPr/>
        </p:nvSpPr>
        <p:spPr>
          <a:xfrm>
            <a:off x="5661590" y="4110893"/>
            <a:ext cx="1099727" cy="288000"/>
          </a:xfrm>
          <a:prstGeom prst="trapezoid">
            <a:avLst>
              <a:gd name="adj" fmla="val 31369"/>
            </a:avLst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/>
          <a:p>
            <a:pPr algn="r" defTabSz="914400" fontAlgn="ctr">
              <a:lnSpc>
                <a:spcPct val="90000"/>
              </a:lnSpc>
            </a:pPr>
            <a:r>
              <a:rPr lang="ko-KR" altLang="en-US" sz="1200" spc="-150" dirty="0" smtClean="0">
                <a:latin typeface="+mn-ea"/>
              </a:rPr>
              <a:t>기능 개선</a:t>
            </a:r>
            <a:endParaRPr lang="ko-KR" altLang="en-US" sz="1200" spc="-15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5806257" y="4043002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0" name="직선 화살표 연결선 79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7621010" y="4451460"/>
            <a:ext cx="1506666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EFC9D8B4-DD9C-FDE7-BA59-F1F91C9E71CA}"/>
              </a:ext>
            </a:extLst>
          </p:cNvPr>
          <p:cNvCxnSpPr>
            <a:cxnSpLocks/>
          </p:cNvCxnSpPr>
          <p:nvPr/>
        </p:nvCxnSpPr>
        <p:spPr>
          <a:xfrm>
            <a:off x="5583332" y="4451460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4" name="TextBox 83">
            <a:extLst>
              <a:ext uri="{FF2B5EF4-FFF2-40B4-BE49-F238E27FC236}">
                <a16:creationId xmlns:a16="http://schemas.microsoft.com/office/drawing/2014/main" id="{9E9D4533-6C87-0A92-A093-7CB62630F763}"/>
              </a:ext>
            </a:extLst>
          </p:cNvPr>
          <p:cNvSpPr txBox="1"/>
          <p:nvPr/>
        </p:nvSpPr>
        <p:spPr>
          <a:xfrm>
            <a:off x="8062560" y="4538128"/>
            <a:ext cx="973343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시스템 안정화</a:t>
            </a:r>
            <a:endParaRPr lang="en-US" altLang="ko-KR" dirty="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16A6ADB3-5243-7D5B-32A1-8F8235ABD51A}"/>
              </a:ext>
            </a:extLst>
          </p:cNvPr>
          <p:cNvSpPr txBox="1"/>
          <p:nvPr/>
        </p:nvSpPr>
        <p:spPr>
          <a:xfrm>
            <a:off x="5204076" y="4538128"/>
            <a:ext cx="1245896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/>
              <a:t>통합</a:t>
            </a:r>
            <a:r>
              <a:rPr lang="en-US" altLang="ko-KR" dirty="0"/>
              <a:t> </a:t>
            </a:r>
            <a:r>
              <a:rPr lang="ko-KR" altLang="en-US" dirty="0"/>
              <a:t>테스트</a:t>
            </a:r>
            <a:endParaRPr lang="ko-KR" altLang="en-US" dirty="0"/>
          </a:p>
        </p:txBody>
      </p:sp>
      <p:cxnSp>
        <p:nvCxnSpPr>
          <p:cNvPr id="87" name="직선 화살표 연결선 86">
            <a:extLst>
              <a:ext uri="{FF2B5EF4-FFF2-40B4-BE49-F238E27FC236}">
                <a16:creationId xmlns:a16="http://schemas.microsoft.com/office/drawing/2014/main" id="{457D2A6C-153C-3266-0B72-219F394F92E4}"/>
              </a:ext>
            </a:extLst>
          </p:cNvPr>
          <p:cNvCxnSpPr>
            <a:cxnSpLocks/>
          </p:cNvCxnSpPr>
          <p:nvPr/>
        </p:nvCxnSpPr>
        <p:spPr>
          <a:xfrm>
            <a:off x="6679676" y="4864449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89" name="TextBox 88">
            <a:extLst>
              <a:ext uri="{FF2B5EF4-FFF2-40B4-BE49-F238E27FC236}">
                <a16:creationId xmlns:a16="http://schemas.microsoft.com/office/drawing/2014/main" id="{96D58A00-1A75-7326-D52C-5601D531FC3D}"/>
              </a:ext>
            </a:extLst>
          </p:cNvPr>
          <p:cNvSpPr txBox="1"/>
          <p:nvPr/>
        </p:nvSpPr>
        <p:spPr>
          <a:xfrm>
            <a:off x="5852657" y="4953469"/>
            <a:ext cx="1654041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200">
                <a:latin typeface="+mn-ea"/>
              </a:defRPr>
            </a:lvl1pPr>
          </a:lstStyle>
          <a:p>
            <a:r>
              <a:rPr lang="ko-KR" altLang="en-US" dirty="0"/>
              <a:t>사용자</a:t>
            </a:r>
            <a:r>
              <a:rPr lang="en-US" altLang="ko-KR" dirty="0"/>
              <a:t> </a:t>
            </a:r>
            <a:r>
              <a:rPr lang="ko-KR" altLang="en-US" dirty="0"/>
              <a:t>교육</a:t>
            </a:r>
            <a:endParaRPr lang="ko-KR" altLang="en-US" dirty="0"/>
          </a:p>
        </p:txBody>
      </p:sp>
      <p:cxnSp>
        <p:nvCxnSpPr>
          <p:cNvPr id="91" name="직선 화살표 연결선 90">
            <a:extLst>
              <a:ext uri="{FF2B5EF4-FFF2-40B4-BE49-F238E27FC236}">
                <a16:creationId xmlns:a16="http://schemas.microsoft.com/office/drawing/2014/main" id="{E64F4FA4-86F1-00D2-33B7-04EE60E3CE12}"/>
              </a:ext>
            </a:extLst>
          </p:cNvPr>
          <p:cNvCxnSpPr>
            <a:cxnSpLocks/>
          </p:cNvCxnSpPr>
          <p:nvPr/>
        </p:nvCxnSpPr>
        <p:spPr>
          <a:xfrm>
            <a:off x="4694684" y="4856715"/>
            <a:ext cx="1198274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3" name="TextBox 92">
            <a:extLst>
              <a:ext uri="{FF2B5EF4-FFF2-40B4-BE49-F238E27FC236}">
                <a16:creationId xmlns:a16="http://schemas.microsoft.com/office/drawing/2014/main" id="{754BEC6D-3DFA-8099-F6C0-938B3BAACAA8}"/>
              </a:ext>
            </a:extLst>
          </p:cNvPr>
          <p:cNvSpPr txBox="1"/>
          <p:nvPr/>
        </p:nvSpPr>
        <p:spPr>
          <a:xfrm>
            <a:off x="4432410" y="4949251"/>
            <a:ext cx="1460548" cy="263149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pPr>
              <a:defRPr/>
            </a:pPr>
            <a:r>
              <a:rPr lang="ko-KR" altLang="en-US" dirty="0"/>
              <a:t>기준 정보 </a:t>
            </a:r>
            <a:r>
              <a:rPr lang="en-US" altLang="ko-KR" dirty="0"/>
              <a:t> </a:t>
            </a:r>
            <a:r>
              <a:rPr lang="ko-KR" altLang="en-US" dirty="0" smtClean="0"/>
              <a:t>추가 </a:t>
            </a:r>
            <a:r>
              <a:rPr lang="ko-KR" altLang="en-US" dirty="0"/>
              <a:t>등록</a:t>
            </a:r>
          </a:p>
        </p:txBody>
      </p: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24563F87-4CCB-0804-F979-84263CF9AF6F}"/>
              </a:ext>
            </a:extLst>
          </p:cNvPr>
          <p:cNvCxnSpPr>
            <a:cxnSpLocks/>
          </p:cNvCxnSpPr>
          <p:nvPr/>
        </p:nvCxnSpPr>
        <p:spPr>
          <a:xfrm>
            <a:off x="5790309" y="5688751"/>
            <a:ext cx="1716389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47E48176-E88A-AD06-2D3A-817D6A47F21A}"/>
              </a:ext>
            </a:extLst>
          </p:cNvPr>
          <p:cNvCxnSpPr>
            <a:cxnSpLocks/>
          </p:cNvCxnSpPr>
          <p:nvPr/>
        </p:nvCxnSpPr>
        <p:spPr>
          <a:xfrm>
            <a:off x="8062560" y="5688751"/>
            <a:ext cx="1065116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  <p:sp>
        <p:nvSpPr>
          <p:cNvPr id="98" name="TextBox 97">
            <a:extLst>
              <a:ext uri="{FF2B5EF4-FFF2-40B4-BE49-F238E27FC236}">
                <a16:creationId xmlns:a16="http://schemas.microsoft.com/office/drawing/2014/main" id="{2E66604E-7CB0-B7C3-3F90-BA2D7446FAC7}"/>
              </a:ext>
            </a:extLst>
          </p:cNvPr>
          <p:cNvSpPr txBox="1"/>
          <p:nvPr/>
        </p:nvSpPr>
        <p:spPr>
          <a:xfrm>
            <a:off x="5719032" y="5766623"/>
            <a:ext cx="1737016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pPr>
              <a:defRPr/>
            </a:pPr>
            <a:r>
              <a:rPr lang="ko-KR" altLang="en-US" dirty="0"/>
              <a:t>사용자 </a:t>
            </a:r>
            <a:r>
              <a:rPr lang="en-US" altLang="ko-KR" dirty="0" smtClean="0"/>
              <a:t>Report </a:t>
            </a:r>
            <a:r>
              <a:rPr lang="ko-KR" altLang="en-US" dirty="0" smtClean="0"/>
              <a:t>개발</a:t>
            </a:r>
            <a:endParaRPr lang="ko-KR" altLang="en-US" dirty="0"/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4B6355F-B660-B3E1-7C11-0C4996F94D84}"/>
              </a:ext>
            </a:extLst>
          </p:cNvPr>
          <p:cNvSpPr txBox="1"/>
          <p:nvPr/>
        </p:nvSpPr>
        <p:spPr>
          <a:xfrm>
            <a:off x="7727904" y="5766623"/>
            <a:ext cx="1329446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 smtClean="0"/>
              <a:t>인수인계</a:t>
            </a:r>
            <a:endParaRPr lang="ko-KR" altLang="en-US" dirty="0"/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22F03D-003F-3446-E9CE-BEF813EBEC16}"/>
              </a:ext>
            </a:extLst>
          </p:cNvPr>
          <p:cNvSpPr txBox="1"/>
          <p:nvPr/>
        </p:nvSpPr>
        <p:spPr>
          <a:xfrm>
            <a:off x="7396355" y="5341155"/>
            <a:ext cx="1062465" cy="288000"/>
          </a:xfrm>
          <a:prstGeom prst="rect">
            <a:avLst/>
          </a:prstGeom>
          <a:noFill/>
          <a:ln w="6350" cap="flat" cmpd="sng" algn="ctr">
            <a:noFill/>
            <a:prstDash val="solid"/>
          </a:ln>
          <a:effectLst/>
        </p:spPr>
        <p:txBody>
          <a:bodyPr wrap="none" lIns="0" tIns="0" rIns="0" bIns="0" rtlCol="0" anchor="ctr"/>
          <a:lstStyle>
            <a:defPPr>
              <a:defRPr lang="en-US"/>
            </a:defPPr>
            <a:lvl1pPr algn="r" defTabSz="914400" fontAlgn="ctr">
              <a:lnSpc>
                <a:spcPct val="90000"/>
              </a:lnSpc>
              <a:defRPr sz="1200" spc="-150">
                <a:latin typeface="+mn-ea"/>
              </a:defRPr>
            </a:lvl1pPr>
          </a:lstStyle>
          <a:p>
            <a:r>
              <a:rPr lang="ko-KR" altLang="en-US" dirty="0" smtClean="0"/>
              <a:t>산출물</a:t>
            </a:r>
            <a:r>
              <a:rPr lang="en-US" altLang="ko-KR" dirty="0"/>
              <a:t> </a:t>
            </a:r>
            <a:r>
              <a:rPr lang="ko-KR" altLang="en-US" dirty="0" smtClean="0"/>
              <a:t>정리</a:t>
            </a:r>
            <a:endParaRPr lang="ko-KR" altLang="en-US" dirty="0"/>
          </a:p>
        </p:txBody>
      </p: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24563F87-4CCB-0804-F979-84263CF9AF6F}"/>
              </a:ext>
            </a:extLst>
          </p:cNvPr>
          <p:cNvCxnSpPr>
            <a:cxnSpLocks/>
          </p:cNvCxnSpPr>
          <p:nvPr/>
        </p:nvCxnSpPr>
        <p:spPr>
          <a:xfrm>
            <a:off x="7630573" y="5284629"/>
            <a:ext cx="936000" cy="0"/>
          </a:xfrm>
          <a:prstGeom prst="straightConnector1">
            <a:avLst/>
          </a:prstGeom>
          <a:noFill/>
          <a:ln w="25400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headEnd type="none" w="lg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cxnSp>
    </p:spTree>
    <p:extLst>
      <p:ext uri="{BB962C8B-B14F-4D97-AF65-F5344CB8AC3E}">
        <p14:creationId xmlns:p14="http://schemas.microsoft.com/office/powerpoint/2010/main" val="3696005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4. </a:t>
            </a:r>
            <a:r>
              <a:rPr lang="ko-KR" altLang="en-US" dirty="0">
                <a:latin typeface="Microsoft YaHei" panose="020B0503020204020204" pitchFamily="34" charset="-122"/>
              </a:rPr>
              <a:t>인력 투입 계획 </a:t>
            </a:r>
            <a:r>
              <a:rPr lang="en-US" altLang="ko-KR" dirty="0">
                <a:latin typeface="Microsoft YaHei" panose="020B0503020204020204" pitchFamily="34" charset="-122"/>
              </a:rPr>
              <a:t>(Phase2)</a:t>
            </a:r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5" name="내용 개체 틀 4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Phase 2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는 총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개월의 수행 기간으로 계획하였으며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총 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3M/M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의 인력을 투입하여 시스템 품질을 확보하고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, </a:t>
            </a:r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향후 안정적인 운영이 이루어질 수 있도록 지원하겠습니다</a:t>
            </a:r>
            <a:r>
              <a:rPr lang="en-US" altLang="ko-KR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0CE575E2-AE0A-114D-385C-4A4B29312B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879693"/>
              </p:ext>
            </p:extLst>
          </p:nvPr>
        </p:nvGraphicFramePr>
        <p:xfrm>
          <a:off x="2559599" y="3205165"/>
          <a:ext cx="7077565" cy="1832603"/>
        </p:xfrm>
        <a:graphic>
          <a:graphicData uri="http://schemas.openxmlformats.org/drawingml/2006/table">
            <a:tbl>
              <a:tblPr lastRow="1"/>
              <a:tblGrid>
                <a:gridCol w="203082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5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80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1740678160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1805752044"/>
                    </a:ext>
                  </a:extLst>
                </a:gridCol>
                <a:gridCol w="713153">
                  <a:extLst>
                    <a:ext uri="{9D8B030D-6E8A-4147-A177-3AD203B41FA5}">
                      <a16:colId xmlns:a16="http://schemas.microsoft.com/office/drawing/2014/main" val="297696955"/>
                    </a:ext>
                  </a:extLst>
                </a:gridCol>
                <a:gridCol w="90135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79144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구분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투입 인력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등급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M1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M2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M3</a:t>
                      </a:r>
                      <a:endParaRPr lang="ko-KR" altLang="en-US" sz="1300" b="1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1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262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50000"/>
                        </a:lnSpc>
                      </a:pP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개발</a:t>
                      </a:r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kern="1200" spc="-5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고급</a:t>
                      </a:r>
                      <a:endParaRPr lang="en-US" altLang="ko-KR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en-US" altLang="ko-KR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862449"/>
                  </a:ext>
                </a:extLst>
              </a:tr>
              <a:tr h="550830">
                <a:tc gridSpan="3"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ko-KR" altLang="en-US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합계 </a:t>
                      </a:r>
                      <a:r>
                        <a:rPr lang="en-US" altLang="ko-KR" sz="1300" kern="1200" spc="-5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(M/M)</a:t>
                      </a:r>
                      <a:endParaRPr lang="ko-KR" altLang="en-US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8259" marR="58259" marT="29130" marB="2913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50" normalizeH="0" baseline="0" noProof="0" smtClean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1</a:t>
                      </a:r>
                      <a:endParaRPr kumimoji="0" lang="en-US" altLang="ko-KR" sz="13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50" normalizeH="0" baseline="0" noProof="0" smtClean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1</a:t>
                      </a:r>
                      <a:endParaRPr kumimoji="0" lang="en-US" altLang="ko-KR" sz="13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50" normalizeH="0" baseline="0" noProof="0" dirty="0" smtClean="0">
                          <a:ln>
                            <a:noFill/>
                          </a:ln>
                          <a:solidFill>
                            <a:srgbClr val="1D1D1A"/>
                          </a:solidFill>
                          <a:effectLst/>
                          <a:uLnTx/>
                          <a:uFillTx/>
                          <a:latin typeface="微软雅黑"/>
                          <a:ea typeface="微软雅黑"/>
                          <a:cs typeface="+mn-cs"/>
                        </a:rPr>
                        <a:t>1</a:t>
                      </a:r>
                      <a:endParaRPr kumimoji="0" lang="en-US" altLang="ko-KR" sz="1300" b="0" i="0" u="none" strike="noStrike" kern="1200" cap="none" spc="-50" normalizeH="0" baseline="0" noProof="0" dirty="0">
                        <a:ln>
                          <a:noFill/>
                        </a:ln>
                        <a:solidFill>
                          <a:srgbClr val="1D1D1A"/>
                        </a:solidFill>
                        <a:effectLst/>
                        <a:uLnTx/>
                        <a:uFillTx/>
                        <a:latin typeface="微软雅黑"/>
                        <a:ea typeface="微软雅黑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ko-KR" sz="13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lang="en-US" altLang="ko-KR" sz="13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8259" marR="58259" marT="29130" marB="29130"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271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821352" y="2440868"/>
            <a:ext cx="8113382" cy="539250"/>
          </a:xfrm>
        </p:spPr>
        <p:txBody>
          <a:bodyPr wrap="square" lIns="0" tIns="0" rIns="0" bIns="0">
            <a:spAutoFit/>
          </a:bodyPr>
          <a:lstStyle/>
          <a:p>
            <a:pPr marL="0" indent="0" defTabSz="457383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기타</a:t>
            </a:r>
            <a:r>
              <a:rPr lang="en-US" altLang="ko-KR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첨부</a:t>
            </a:r>
            <a:endParaRPr lang="en-US" altLang="ko-KR" sz="32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4947BF1-4FC2-AC64-C83E-829B4B6693FF}"/>
              </a:ext>
            </a:extLst>
          </p:cNvPr>
          <p:cNvSpPr txBox="1">
            <a:spLocks/>
          </p:cNvSpPr>
          <p:nvPr/>
        </p:nvSpPr>
        <p:spPr>
          <a:xfrm>
            <a:off x="1323186" y="3327115"/>
            <a:ext cx="6005662" cy="8669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01240" indent="-201240" defTabSz="45738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Lato" charset="0"/>
              </a:defRPr>
            </a:lvl1pPr>
            <a:lvl2pPr marL="743247" indent="-285864" defTabSz="457383">
              <a:spcBef>
                <a:spcPct val="20000"/>
              </a:spcBef>
              <a:buFont typeface="Arial"/>
              <a:buChar char="–"/>
              <a:defRPr sz="2801"/>
            </a:lvl2pPr>
            <a:lvl3pPr marL="1143457" indent="-228691" defTabSz="457383">
              <a:spcBef>
                <a:spcPct val="20000"/>
              </a:spcBef>
              <a:buFont typeface="Arial"/>
              <a:buChar char="•"/>
              <a:defRPr sz="2401"/>
            </a:lvl3pPr>
            <a:lvl4pPr marL="1600840" indent="-228691" defTabSz="457383">
              <a:spcBef>
                <a:spcPct val="20000"/>
              </a:spcBef>
              <a:buFont typeface="Arial"/>
              <a:buChar char="–"/>
              <a:defRPr sz="2001"/>
            </a:lvl4pPr>
            <a:lvl5pPr marL="2058223" indent="-228691" defTabSz="457383">
              <a:spcBef>
                <a:spcPct val="20000"/>
              </a:spcBef>
              <a:buFont typeface="Arial"/>
              <a:buChar char="»"/>
              <a:defRPr sz="2001"/>
            </a:lvl5pPr>
            <a:lvl6pPr marL="2515606" indent="-228691" defTabSz="457383">
              <a:spcBef>
                <a:spcPct val="20000"/>
              </a:spcBef>
              <a:buFont typeface="Arial"/>
              <a:buChar char="•"/>
              <a:defRPr sz="2001"/>
            </a:lvl6pPr>
            <a:lvl7pPr marL="2972989" indent="-228691" defTabSz="457383">
              <a:spcBef>
                <a:spcPct val="20000"/>
              </a:spcBef>
              <a:buFont typeface="Arial"/>
              <a:buChar char="•"/>
              <a:defRPr sz="2001"/>
            </a:lvl7pPr>
            <a:lvl8pPr marL="3430372" indent="-228691" defTabSz="457383">
              <a:spcBef>
                <a:spcPct val="20000"/>
              </a:spcBef>
              <a:buFont typeface="Arial"/>
              <a:buChar char="•"/>
              <a:defRPr sz="2001"/>
            </a:lvl8pPr>
            <a:lvl9pPr marL="3887754" indent="-228691" defTabSz="457383">
              <a:spcBef>
                <a:spcPct val="20000"/>
              </a:spcBef>
              <a:buFont typeface="Arial"/>
              <a:buChar char="•"/>
              <a:defRPr sz="2001"/>
            </a:lvl9pPr>
          </a:lstStyle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DMS </a:t>
            </a:r>
            <a:r>
              <a:rPr lang="ko-KR" altLang="en-US" sz="2000" spc="-50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주요 기능</a:t>
            </a:r>
            <a:endParaRPr lang="ko-KR" altLang="en-US" sz="2000" spc="-50" dirty="0">
              <a:solidFill>
                <a:schemeClr val="tx1">
                  <a:lumMod val="90000"/>
                  <a:lumOff val="10000"/>
                </a:schemeClr>
              </a:solidFill>
              <a:latin typeface="+mj-ea"/>
              <a:ea typeface="+mj-ea"/>
              <a:cs typeface="Pretendard Light" panose="02000403000000020004" pitchFamily="50" charset="-127"/>
            </a:endParaRPr>
          </a:p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YMS </a:t>
            </a:r>
            <a:r>
              <a:rPr lang="ko-KR" altLang="en-US" sz="2000" spc="-50" dirty="0">
                <a:solidFill>
                  <a:schemeClr val="tx1">
                    <a:lumMod val="90000"/>
                    <a:lumOff val="10000"/>
                  </a:schemeClr>
                </a:solidFill>
                <a:latin typeface="+mj-ea"/>
                <a:ea typeface="+mj-ea"/>
                <a:cs typeface="Pretendard Light" panose="02000403000000020004" pitchFamily="50" charset="-127"/>
              </a:rPr>
              <a:t>주요 기능</a:t>
            </a:r>
          </a:p>
        </p:txBody>
      </p:sp>
    </p:spTree>
    <p:extLst>
      <p:ext uri="{BB962C8B-B14F-4D97-AF65-F5344CB8AC3E}">
        <p14:creationId xmlns:p14="http://schemas.microsoft.com/office/powerpoint/2010/main" val="710224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821352" y="2440868"/>
            <a:ext cx="8113382" cy="539250"/>
          </a:xfrm>
        </p:spPr>
        <p:txBody>
          <a:bodyPr wrap="square" lIns="0" tIns="0" rIns="0" bIns="0">
            <a:spAutoFit/>
          </a:bodyPr>
          <a:lstStyle/>
          <a:p>
            <a:pPr marL="0" indent="0" defTabSz="457383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기타</a:t>
            </a:r>
            <a:r>
              <a:rPr lang="en-US" altLang="ko-KR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첨부</a:t>
            </a:r>
            <a:endParaRPr lang="en-US" altLang="ko-KR" sz="32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4947BF1-4FC2-AC64-C83E-829B4B6693FF}"/>
              </a:ext>
            </a:extLst>
          </p:cNvPr>
          <p:cNvSpPr txBox="1">
            <a:spLocks/>
          </p:cNvSpPr>
          <p:nvPr/>
        </p:nvSpPr>
        <p:spPr>
          <a:xfrm>
            <a:off x="1323186" y="3327115"/>
            <a:ext cx="6005662" cy="337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01240" indent="-201240" defTabSz="45738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Lato" charset="0"/>
              </a:defRPr>
            </a:lvl1pPr>
            <a:lvl2pPr marL="743247" indent="-285864" defTabSz="457383">
              <a:spcBef>
                <a:spcPct val="20000"/>
              </a:spcBef>
              <a:buFont typeface="Arial"/>
              <a:buChar char="–"/>
              <a:defRPr sz="2801"/>
            </a:lvl2pPr>
            <a:lvl3pPr marL="1143457" indent="-228691" defTabSz="457383">
              <a:spcBef>
                <a:spcPct val="20000"/>
              </a:spcBef>
              <a:buFont typeface="Arial"/>
              <a:buChar char="•"/>
              <a:defRPr sz="2401"/>
            </a:lvl3pPr>
            <a:lvl4pPr marL="1600840" indent="-228691" defTabSz="457383">
              <a:spcBef>
                <a:spcPct val="20000"/>
              </a:spcBef>
              <a:buFont typeface="Arial"/>
              <a:buChar char="–"/>
              <a:defRPr sz="2001"/>
            </a:lvl4pPr>
            <a:lvl5pPr marL="2058223" indent="-228691" defTabSz="457383">
              <a:spcBef>
                <a:spcPct val="20000"/>
              </a:spcBef>
              <a:buFont typeface="Arial"/>
              <a:buChar char="»"/>
              <a:defRPr sz="2001"/>
            </a:lvl5pPr>
            <a:lvl6pPr marL="2515606" indent="-228691" defTabSz="457383">
              <a:spcBef>
                <a:spcPct val="20000"/>
              </a:spcBef>
              <a:buFont typeface="Arial"/>
              <a:buChar char="•"/>
              <a:defRPr sz="2001"/>
            </a:lvl6pPr>
            <a:lvl7pPr marL="2972989" indent="-228691" defTabSz="457383">
              <a:spcBef>
                <a:spcPct val="20000"/>
              </a:spcBef>
              <a:buFont typeface="Arial"/>
              <a:buChar char="•"/>
              <a:defRPr sz="2001"/>
            </a:lvl7pPr>
            <a:lvl8pPr marL="3430372" indent="-228691" defTabSz="457383">
              <a:spcBef>
                <a:spcPct val="20000"/>
              </a:spcBef>
              <a:buFont typeface="Arial"/>
              <a:buChar char="•"/>
              <a:defRPr sz="2001"/>
            </a:lvl8pPr>
            <a:lvl9pPr marL="3887754" indent="-228691" defTabSz="457383">
              <a:spcBef>
                <a:spcPct val="20000"/>
              </a:spcBef>
              <a:buFont typeface="Arial"/>
              <a:buChar char="•"/>
              <a:defRPr sz="2001"/>
            </a:lvl9pPr>
          </a:lstStyle>
          <a:p>
            <a:pPr marL="358775" indent="-358775">
              <a:spcBef>
                <a:spcPts val="1000"/>
              </a:spcBef>
              <a:spcAft>
                <a:spcPts val="0"/>
              </a:spcAft>
              <a:buFont typeface="+mj-lt"/>
              <a:buAutoNum type="arabicPeriod"/>
            </a:pPr>
            <a:r>
              <a:rPr lang="en-US" altLang="ko-KR" sz="2000" b="1" spc="-50" dirty="0">
                <a:solidFill>
                  <a:srgbClr val="0000A0"/>
                </a:solidFill>
                <a:latin typeface="+mj-ea"/>
                <a:ea typeface="+mj-ea"/>
                <a:cs typeface="Pretendard Light" panose="02000403000000020004" pitchFamily="50" charset="-127"/>
              </a:rPr>
              <a:t>DMS </a:t>
            </a:r>
            <a:r>
              <a:rPr lang="ko-KR" altLang="en-US" sz="2000" b="1" spc="-50" dirty="0" smtClean="0">
                <a:solidFill>
                  <a:srgbClr val="0000A0"/>
                </a:solidFill>
                <a:latin typeface="+mj-ea"/>
                <a:ea typeface="+mj-ea"/>
                <a:cs typeface="Pretendard Light" panose="02000403000000020004" pitchFamily="50" charset="-127"/>
              </a:rPr>
              <a:t>주요 기능</a:t>
            </a:r>
            <a:endParaRPr lang="ko-KR" altLang="en-US" sz="2000" b="1" spc="-50" dirty="0">
              <a:solidFill>
                <a:srgbClr val="0000A0"/>
              </a:solidFill>
              <a:latin typeface="+mj-ea"/>
              <a:ea typeface="+mj-ea"/>
              <a:cs typeface="Pretendard Light" panose="020004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70680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수집한 데이터를 기반으로 결함에 대한 분석을 통해 이전 공정의 문제점을 찾고 개선하여 품질 및 수율 향상 기대 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66" name="모서리가 둥근 직사각형 65"/>
          <p:cNvSpPr/>
          <p:nvPr/>
        </p:nvSpPr>
        <p:spPr>
          <a:xfrm>
            <a:off x="698500" y="2457450"/>
            <a:ext cx="10799763" cy="3887788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1005545" y="2868812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68" name="타원 67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1008578" y="4673490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69" name="타원 68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6398585" y="2868812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70" name="타원 69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6401618" y="4673490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905998" y="2729971"/>
            <a:ext cx="10384767" cy="3342746"/>
            <a:chOff x="893867" y="2690579"/>
            <a:chExt cx="10384767" cy="3342746"/>
          </a:xfrm>
        </p:grpSpPr>
        <p:cxnSp>
          <p:nvCxnSpPr>
            <p:cNvPr id="71" name="Straight Connector 14">
              <a:extLst>
                <a:ext uri="{FF2B5EF4-FFF2-40B4-BE49-F238E27FC236}">
                  <a16:creationId xmlns:a16="http://schemas.microsoft.com/office/drawing/2014/main" id="{FFA97E2C-241F-1157-8CB6-57644347233E}"/>
                </a:ext>
              </a:extLst>
            </p:cNvPr>
            <p:cNvCxnSpPr>
              <a:cxnSpLocks/>
            </p:cNvCxnSpPr>
            <p:nvPr/>
          </p:nvCxnSpPr>
          <p:spPr>
            <a:xfrm>
              <a:off x="6084758" y="2690579"/>
              <a:ext cx="0" cy="3342746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72" name="Straight Connector 15">
              <a:extLst>
                <a:ext uri="{FF2B5EF4-FFF2-40B4-BE49-F238E27FC236}">
                  <a16:creationId xmlns:a16="http://schemas.microsoft.com/office/drawing/2014/main" id="{04EF522F-A6A2-DC73-C168-075049EB14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3867" y="4365241"/>
              <a:ext cx="10384767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73" name="슬라이드 5 형태 11">
            <a:extLst>
              <a:ext uri="{FF2B5EF4-FFF2-40B4-BE49-F238E27FC236}">
                <a16:creationId xmlns:a16="http://schemas.microsoft.com/office/drawing/2014/main" id="{EBAC810A-4B4D-0AAC-351F-373CE574FB3A}"/>
              </a:ext>
            </a:extLst>
          </p:cNvPr>
          <p:cNvSpPr txBox="1">
            <a:spLocks/>
          </p:cNvSpPr>
          <p:nvPr/>
        </p:nvSpPr>
        <p:spPr bwMode="auto">
          <a:xfrm>
            <a:off x="7409613" y="284340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 smtClean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RDA(Repeated </a:t>
            </a:r>
            <a:r>
              <a:rPr lang="en-US" altLang="ko-KR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Defect Analysis)</a:t>
            </a:r>
          </a:p>
        </p:txBody>
      </p:sp>
      <p:sp>
        <p:nvSpPr>
          <p:cNvPr id="74" name="슬라이드 5 형태 14">
            <a:extLst>
              <a:ext uri="{FF2B5EF4-FFF2-40B4-BE49-F238E27FC236}">
                <a16:creationId xmlns:a16="http://schemas.microsoft.com/office/drawing/2014/main" id="{8922CC7C-1306-EBEB-79B1-E284583EE35B}"/>
              </a:ext>
            </a:extLst>
          </p:cNvPr>
          <p:cNvSpPr txBox="1">
            <a:spLocks/>
          </p:cNvSpPr>
          <p:nvPr/>
        </p:nvSpPr>
        <p:spPr bwMode="auto">
          <a:xfrm>
            <a:off x="1904444" y="469095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 smtClean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DSA(Defect </a:t>
            </a:r>
            <a:r>
              <a:rPr lang="en-US" altLang="ko-KR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Source Analysis)</a:t>
            </a:r>
          </a:p>
        </p:txBody>
      </p:sp>
      <p:sp>
        <p:nvSpPr>
          <p:cNvPr id="75" name="슬라이드 5 형태 11">
            <a:extLst>
              <a:ext uri="{FF2B5EF4-FFF2-40B4-BE49-F238E27FC236}">
                <a16:creationId xmlns:a16="http://schemas.microsoft.com/office/drawing/2014/main" id="{3AF246B7-05F3-4966-CC24-8ED2AA3E81FA}"/>
              </a:ext>
            </a:extLst>
          </p:cNvPr>
          <p:cNvSpPr txBox="1">
            <a:spLocks/>
          </p:cNvSpPr>
          <p:nvPr/>
        </p:nvSpPr>
        <p:spPr bwMode="auto">
          <a:xfrm>
            <a:off x="7409613" y="469095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Yield Loss Analysis</a:t>
            </a:r>
          </a:p>
        </p:txBody>
      </p:sp>
      <p:sp>
        <p:nvSpPr>
          <p:cNvPr id="76" name="슬라이드 5 형태 8">
            <a:extLst>
              <a:ext uri="{FF2B5EF4-FFF2-40B4-BE49-F238E27FC236}">
                <a16:creationId xmlns:a16="http://schemas.microsoft.com/office/drawing/2014/main" id="{738484E9-A82E-42DE-B3FE-4C8C36FA586D}"/>
              </a:ext>
            </a:extLst>
          </p:cNvPr>
          <p:cNvSpPr txBox="1">
            <a:spLocks/>
          </p:cNvSpPr>
          <p:nvPr/>
        </p:nvSpPr>
        <p:spPr bwMode="auto">
          <a:xfrm>
            <a:off x="1904444" y="284340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Map</a:t>
            </a:r>
            <a:r>
              <a:rPr lang="ko-KR" altLang="en-US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을</a:t>
            </a:r>
            <a:r>
              <a:rPr lang="en-US" altLang="ko-KR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ko-KR" altLang="en-US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통한</a:t>
            </a:r>
            <a:r>
              <a:rPr lang="en-US" altLang="ko-KR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 </a:t>
            </a:r>
            <a:r>
              <a:rPr lang="ko-KR" altLang="en-US" sz="1600" b="1" dirty="0">
                <a:latin typeface="Microsoft YaHei" panose="020B0503020204020204" pitchFamily="34" charset="-122"/>
                <a:ea typeface="+mn-ea"/>
                <a:cs typeface="+mn-cs"/>
                <a:sym typeface="Arial" panose="020B0604020202020204" pitchFamily="34" charset="0"/>
              </a:rPr>
              <a:t>분석</a:t>
            </a:r>
            <a:endParaRPr lang="en-US" altLang="ko-KR" sz="1600" b="1" dirty="0">
              <a:latin typeface="Microsoft YaHei" panose="020B0503020204020204" pitchFamily="34" charset="-122"/>
              <a:ea typeface="+mn-ea"/>
              <a:cs typeface="+mn-cs"/>
              <a:sym typeface="Arial" panose="020B0604020202020204" pitchFamily="34" charset="0"/>
            </a:endParaRPr>
          </a:p>
        </p:txBody>
      </p:sp>
      <p:sp>
        <p:nvSpPr>
          <p:cNvPr id="77" name="슬라이드 5 형태 7">
            <a:extLst>
              <a:ext uri="{FF2B5EF4-FFF2-40B4-BE49-F238E27FC236}">
                <a16:creationId xmlns:a16="http://schemas.microsoft.com/office/drawing/2014/main" id="{92C30961-9177-EADC-BC9B-99AFAA4CA541}"/>
              </a:ext>
            </a:extLst>
          </p:cNvPr>
          <p:cNvSpPr txBox="1">
            <a:spLocks/>
          </p:cNvSpPr>
          <p:nvPr/>
        </p:nvSpPr>
        <p:spPr bwMode="auto">
          <a:xfrm>
            <a:off x="7423347" y="3323870"/>
            <a:ext cx="3918519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en-US" altLang="ko-KR" dirty="0"/>
              <a:t>Die </a:t>
            </a:r>
            <a:r>
              <a:rPr lang="ko-KR" altLang="en-US" dirty="0"/>
              <a:t>또는 </a:t>
            </a:r>
            <a:r>
              <a:rPr lang="en-US" altLang="ko-KR" dirty="0"/>
              <a:t>Shot </a:t>
            </a:r>
            <a:r>
              <a:rPr lang="ko-KR" altLang="en-US" dirty="0"/>
              <a:t>단위로 중첩하여 </a:t>
            </a:r>
            <a:r>
              <a:rPr lang="ko-KR" altLang="en-US" dirty="0"/>
              <a:t>반복된 </a:t>
            </a:r>
            <a:r>
              <a:rPr lang="ko-KR" altLang="en-US" dirty="0"/>
              <a:t>결함을 시각적으로 검출</a:t>
            </a:r>
          </a:p>
        </p:txBody>
      </p:sp>
      <p:sp>
        <p:nvSpPr>
          <p:cNvPr id="78" name="슬라이드 5 형태 7">
            <a:extLst>
              <a:ext uri="{FF2B5EF4-FFF2-40B4-BE49-F238E27FC236}">
                <a16:creationId xmlns:a16="http://schemas.microsoft.com/office/drawing/2014/main" id="{C301C228-746E-8348-9B26-B02CF72DC01D}"/>
              </a:ext>
            </a:extLst>
          </p:cNvPr>
          <p:cNvSpPr txBox="1">
            <a:spLocks/>
          </p:cNvSpPr>
          <p:nvPr/>
        </p:nvSpPr>
        <p:spPr bwMode="auto">
          <a:xfrm>
            <a:off x="7547958" y="5142336"/>
            <a:ext cx="3665764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en-US" altLang="ko-KR" dirty="0"/>
              <a:t>Defect</a:t>
            </a:r>
            <a:r>
              <a:rPr lang="ko-KR" altLang="en-US" dirty="0"/>
              <a:t>과 </a:t>
            </a:r>
            <a:r>
              <a:rPr lang="en-US" altLang="ko-KR" dirty="0"/>
              <a:t>Bin </a:t>
            </a:r>
            <a:r>
              <a:rPr lang="ko-KR" altLang="en-US" dirty="0"/>
              <a:t>데이터를 매칭하여</a:t>
            </a:r>
            <a:r>
              <a:rPr lang="en-US" altLang="ko-KR" dirty="0"/>
              <a:t>Defect</a:t>
            </a:r>
            <a:r>
              <a:rPr lang="ko-KR" altLang="en-US" dirty="0"/>
              <a:t>가 실제 불량에 어느 정도 </a:t>
            </a:r>
            <a:r>
              <a:rPr lang="ko-KR" altLang="en-US" dirty="0"/>
              <a:t>영향을 </a:t>
            </a:r>
            <a:r>
              <a:rPr lang="ko-KR" altLang="en-US" dirty="0"/>
              <a:t>미치는지 분석</a:t>
            </a:r>
          </a:p>
        </p:txBody>
      </p:sp>
      <p:sp>
        <p:nvSpPr>
          <p:cNvPr id="79" name="슬라이드 5 형태 7">
            <a:extLst>
              <a:ext uri="{FF2B5EF4-FFF2-40B4-BE49-F238E27FC236}">
                <a16:creationId xmlns:a16="http://schemas.microsoft.com/office/drawing/2014/main" id="{B396A543-4E87-E018-7044-5B61F64EC2F0}"/>
              </a:ext>
            </a:extLst>
          </p:cNvPr>
          <p:cNvSpPr txBox="1">
            <a:spLocks/>
          </p:cNvSpPr>
          <p:nvPr/>
        </p:nvSpPr>
        <p:spPr bwMode="auto">
          <a:xfrm>
            <a:off x="1942058" y="5142336"/>
            <a:ext cx="3870290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ko-KR" altLang="en-US" dirty="0"/>
              <a:t>결함 발생 </a:t>
            </a:r>
            <a:r>
              <a:rPr lang="en-US" altLang="ko-KR" dirty="0"/>
              <a:t>Source </a:t>
            </a:r>
            <a:r>
              <a:rPr lang="ko-KR" altLang="en-US" dirty="0"/>
              <a:t>와 </a:t>
            </a:r>
            <a:r>
              <a:rPr lang="en-US" altLang="ko-KR" dirty="0"/>
              <a:t>Layer</a:t>
            </a:r>
            <a:r>
              <a:rPr lang="ko-KR" altLang="en-US" dirty="0"/>
              <a:t>로 </a:t>
            </a:r>
            <a:r>
              <a:rPr lang="ko-KR" altLang="en-US" dirty="0"/>
              <a:t>구분하여 </a:t>
            </a:r>
            <a:r>
              <a:rPr lang="ko-KR" altLang="en-US" dirty="0"/>
              <a:t>반복적으로 발생하는 결함 분석</a:t>
            </a:r>
          </a:p>
        </p:txBody>
      </p:sp>
      <p:sp>
        <p:nvSpPr>
          <p:cNvPr id="80" name="슬라이드 5 형태 7">
            <a:extLst>
              <a:ext uri="{FF2B5EF4-FFF2-40B4-BE49-F238E27FC236}">
                <a16:creationId xmlns:a16="http://schemas.microsoft.com/office/drawing/2014/main" id="{C5979076-0398-3B84-2071-FDE03F60DF86}"/>
              </a:ext>
            </a:extLst>
          </p:cNvPr>
          <p:cNvSpPr txBox="1">
            <a:spLocks/>
          </p:cNvSpPr>
          <p:nvPr/>
        </p:nvSpPr>
        <p:spPr bwMode="auto">
          <a:xfrm>
            <a:off x="1942058" y="3323871"/>
            <a:ext cx="3994386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ko-KR" altLang="en-US" dirty="0"/>
              <a:t>결함 분석을 위한 맵 컨트롤 및 결함 이미지  표시 </a:t>
            </a:r>
            <a:r>
              <a:rPr lang="en-US" altLang="ko-KR" dirty="0"/>
              <a:t>, </a:t>
            </a:r>
            <a:r>
              <a:rPr lang="ko-KR" altLang="en-US" dirty="0"/>
              <a:t>다양한 차트 표시</a:t>
            </a:r>
          </a:p>
        </p:txBody>
      </p:sp>
    </p:spTree>
    <p:extLst>
      <p:ext uri="{BB962C8B-B14F-4D97-AF65-F5344CB8AC3E}">
        <p14:creationId xmlns:p14="http://schemas.microsoft.com/office/powerpoint/2010/main" val="31193163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모서리가 둥근 직사각형 46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8" name="그룹 47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Wafer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Map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View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50" name="그룹 49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51" name="직사각형 50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12" name="그림 11">
            <a:extLst>
              <a:ext uri="{FF2B5EF4-FFF2-40B4-BE49-F238E27FC236}">
                <a16:creationId xmlns:a16="http://schemas.microsoft.com/office/drawing/2014/main" id="{B6E18D08-D2DB-F71A-8044-86B01C2A1B2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96123" y="3033169"/>
            <a:ext cx="5697505" cy="3106463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sp>
        <p:nvSpPr>
          <p:cNvPr id="24" name="말풍선: 사각형 21">
            <a:extLst>
              <a:ext uri="{FF2B5EF4-FFF2-40B4-BE49-F238E27FC236}">
                <a16:creationId xmlns:a16="http://schemas.microsoft.com/office/drawing/2014/main" id="{8BDF4228-909C-93C3-DF58-E393CB30BE78}"/>
              </a:ext>
            </a:extLst>
          </p:cNvPr>
          <p:cNvSpPr/>
          <p:nvPr/>
        </p:nvSpPr>
        <p:spPr>
          <a:xfrm>
            <a:off x="7867699" y="4297676"/>
            <a:ext cx="3384000" cy="1890756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30" name="말풍선: 사각형 21">
            <a:extLst>
              <a:ext uri="{FF2B5EF4-FFF2-40B4-BE49-F238E27FC236}">
                <a16:creationId xmlns:a16="http://schemas.microsoft.com/office/drawing/2014/main" id="{AAEBB850-F988-C0E2-BBC6-0A32B22D07A3}"/>
              </a:ext>
            </a:extLst>
          </p:cNvPr>
          <p:cNvSpPr/>
          <p:nvPr/>
        </p:nvSpPr>
        <p:spPr>
          <a:xfrm>
            <a:off x="7867699" y="2721194"/>
            <a:ext cx="3384000" cy="1478526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grpSp>
        <p:nvGrpSpPr>
          <p:cNvPr id="19" name="그룹 18"/>
          <p:cNvGrpSpPr/>
          <p:nvPr/>
        </p:nvGrpSpPr>
        <p:grpSpPr>
          <a:xfrm>
            <a:off x="7903704" y="3031086"/>
            <a:ext cx="3250525" cy="1134515"/>
            <a:chOff x="8095349" y="3031086"/>
            <a:chExt cx="3058879" cy="1134515"/>
          </a:xfrm>
        </p:grpSpPr>
        <p:grpSp>
          <p:nvGrpSpPr>
            <p:cNvPr id="15" name="그룹 14"/>
            <p:cNvGrpSpPr/>
            <p:nvPr/>
          </p:nvGrpSpPr>
          <p:grpSpPr>
            <a:xfrm>
              <a:off x="8095349" y="3031086"/>
              <a:ext cx="1549611" cy="1134515"/>
              <a:chOff x="8553490" y="2877957"/>
              <a:chExt cx="1287115" cy="1134515"/>
            </a:xfrm>
          </p:grpSpPr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A72CCB66-A08E-BF75-9F86-6453A8372BE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-1" r="3057" b="7382"/>
              <a:stretch/>
            </p:blipFill>
            <p:spPr>
              <a:xfrm>
                <a:off x="8553490" y="2877957"/>
                <a:ext cx="668822" cy="1127257"/>
              </a:xfrm>
              <a:prstGeom prst="rect">
                <a:avLst/>
              </a:prstGeom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ECACF9DA-E09E-5E54-BF48-9FD77242CF1E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 l="1" r="2342" b="6281"/>
              <a:stretch/>
            </p:blipFill>
            <p:spPr>
              <a:xfrm>
                <a:off x="9168991" y="2880040"/>
                <a:ext cx="671614" cy="1132432"/>
              </a:xfrm>
              <a:prstGeom prst="rect">
                <a:avLst/>
              </a:prstGeom>
            </p:spPr>
          </p:pic>
        </p:grpSp>
        <p:grpSp>
          <p:nvGrpSpPr>
            <p:cNvPr id="16" name="그룹 15"/>
            <p:cNvGrpSpPr/>
            <p:nvPr/>
          </p:nvGrpSpPr>
          <p:grpSpPr>
            <a:xfrm>
              <a:off x="9664349" y="3080576"/>
              <a:ext cx="1489879" cy="1072375"/>
              <a:chOff x="9664350" y="3080576"/>
              <a:chExt cx="1307604" cy="1072375"/>
            </a:xfrm>
          </p:grpSpPr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2402755D-B2DA-1147-C2C1-C0943AE31B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9664350" y="3080576"/>
                <a:ext cx="692103" cy="1072375"/>
              </a:xfrm>
              <a:prstGeom prst="rect">
                <a:avLst/>
              </a:prstGeom>
            </p:spPr>
          </p:pic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D9E3AC4F-A9BA-80E9-4C2A-D59D071AEA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screen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0282040" y="3081269"/>
                <a:ext cx="689914" cy="1067220"/>
              </a:xfrm>
              <a:prstGeom prst="rect">
                <a:avLst/>
              </a:prstGeom>
            </p:spPr>
          </p:pic>
        </p:grpSp>
      </p:grpSp>
      <p:sp>
        <p:nvSpPr>
          <p:cNvPr id="35" name="object 46">
            <a:extLst>
              <a:ext uri="{FF2B5EF4-FFF2-40B4-BE49-F238E27FC236}">
                <a16:creationId xmlns:a16="http://schemas.microsoft.com/office/drawing/2014/main" id="{A5A8E1F2-EE85-5A70-ABD1-2C1CC7886584}"/>
              </a:ext>
            </a:extLst>
          </p:cNvPr>
          <p:cNvSpPr>
            <a:spLocks/>
          </p:cNvSpPr>
          <p:nvPr/>
        </p:nvSpPr>
        <p:spPr>
          <a:xfrm>
            <a:off x="7903699" y="2750140"/>
            <a:ext cx="3312000" cy="252000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>
              <a:defRPr/>
            </a:pPr>
            <a:r>
              <a:rPr lang="ko-KR" altLang="en-US" sz="1200" b="1" spc="-50" dirty="0">
                <a:solidFill>
                  <a:schemeClr val="bg1"/>
                </a:solidFill>
                <a:latin typeface="Microsoft YaHei" panose="020B0503020204020204" pitchFamily="34" charset="-122"/>
              </a:rPr>
              <a:t>다양한 </a:t>
            </a:r>
            <a:r>
              <a:rPr lang="en-US" altLang="ko-KR" sz="1200" b="1" spc="-50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Chart </a:t>
            </a:r>
            <a:r>
              <a:rPr lang="ko-KR" altLang="en-US" sz="1200" b="1" spc="-50" dirty="0">
                <a:solidFill>
                  <a:schemeClr val="bg1"/>
                </a:solidFill>
                <a:latin typeface="Microsoft YaHei" panose="020B0503020204020204" pitchFamily="34" charset="-122"/>
              </a:rPr>
              <a:t>형식 지원</a:t>
            </a:r>
          </a:p>
        </p:txBody>
      </p:sp>
      <p:grpSp>
        <p:nvGrpSpPr>
          <p:cNvPr id="6" name="그룹 5"/>
          <p:cNvGrpSpPr/>
          <p:nvPr/>
        </p:nvGrpSpPr>
        <p:grpSpPr>
          <a:xfrm>
            <a:off x="7903125" y="4330954"/>
            <a:ext cx="3315386" cy="1808682"/>
            <a:chOff x="8498005" y="4330007"/>
            <a:chExt cx="2587618" cy="1910789"/>
          </a:xfrm>
        </p:grpSpPr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30733DF3-875D-6105-853A-5ABC0967B12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498005" y="4789453"/>
              <a:ext cx="842927" cy="1451341"/>
            </a:xfrm>
            <a:prstGeom prst="rect">
              <a:avLst/>
            </a:prstGeom>
          </p:spPr>
        </p:pic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75C59B17-1F82-A95B-A825-5567FA3231E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370351" y="4794187"/>
              <a:ext cx="842927" cy="1446608"/>
            </a:xfrm>
            <a:prstGeom prst="rect">
              <a:avLst/>
            </a:prstGeom>
          </p:spPr>
        </p:pic>
        <p:sp>
          <p:nvSpPr>
            <p:cNvPr id="27" name="object 46">
              <a:extLst>
                <a:ext uri="{FF2B5EF4-FFF2-40B4-BE49-F238E27FC236}">
                  <a16:creationId xmlns:a16="http://schemas.microsoft.com/office/drawing/2014/main" id="{B0AA8017-0FCE-2FF4-70F5-75C93811332C}"/>
                </a:ext>
              </a:extLst>
            </p:cNvPr>
            <p:cNvSpPr>
              <a:spLocks/>
            </p:cNvSpPr>
            <p:nvPr/>
          </p:nvSpPr>
          <p:spPr>
            <a:xfrm>
              <a:off x="8498005" y="4330007"/>
              <a:ext cx="842927" cy="456388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200" b="1" spc="-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Defect Image Viewer</a:t>
              </a:r>
              <a:endParaRPr lang="ko-KR" altLang="en-US" sz="1200" b="1" spc="-50" dirty="0">
                <a:solidFill>
                  <a:schemeClr val="bg1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8" name="object 46">
              <a:extLst>
                <a:ext uri="{FF2B5EF4-FFF2-40B4-BE49-F238E27FC236}">
                  <a16:creationId xmlns:a16="http://schemas.microsoft.com/office/drawing/2014/main" id="{83A6F449-B7F6-FBD2-06A0-2A9B86121EE6}"/>
                </a:ext>
              </a:extLst>
            </p:cNvPr>
            <p:cNvSpPr>
              <a:spLocks/>
            </p:cNvSpPr>
            <p:nvPr/>
          </p:nvSpPr>
          <p:spPr>
            <a:xfrm>
              <a:off x="9370351" y="4330007"/>
              <a:ext cx="842927" cy="456388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200" b="1" spc="-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Defect Raw Data</a:t>
              </a:r>
              <a:endParaRPr lang="ko-KR" altLang="en-US" sz="1200" b="1" spc="-50" dirty="0">
                <a:solidFill>
                  <a:schemeClr val="bg1"/>
                </a:solidFill>
                <a:latin typeface="Microsoft YaHei" panose="020B0503020204020204" pitchFamily="34" charset="-122"/>
              </a:endParaRPr>
            </a:p>
          </p:txBody>
        </p:sp>
        <p:sp>
          <p:nvSpPr>
            <p:cNvPr id="29" name="object 46">
              <a:extLst>
                <a:ext uri="{FF2B5EF4-FFF2-40B4-BE49-F238E27FC236}">
                  <a16:creationId xmlns:a16="http://schemas.microsoft.com/office/drawing/2014/main" id="{5164B56D-ADD5-6376-6170-4C457E746DC0}"/>
                </a:ext>
              </a:extLst>
            </p:cNvPr>
            <p:cNvSpPr>
              <a:spLocks/>
            </p:cNvSpPr>
            <p:nvPr/>
          </p:nvSpPr>
          <p:spPr>
            <a:xfrm>
              <a:off x="10242696" y="4330007"/>
              <a:ext cx="842927" cy="456388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200" b="1" spc="-50" dirty="0">
                  <a:solidFill>
                    <a:schemeClr val="bg1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Repeated Defect </a:t>
              </a:r>
              <a:r>
                <a:rPr lang="ko-KR" altLang="en-US" sz="1200" b="1" spc="-50" dirty="0">
                  <a:solidFill>
                    <a:schemeClr val="bg1"/>
                  </a:solidFill>
                  <a:latin typeface="Microsoft YaHei" panose="020B0503020204020204" pitchFamily="34" charset="-122"/>
                </a:rPr>
                <a:t>분석</a:t>
              </a:r>
            </a:p>
          </p:txBody>
        </p:sp>
        <p:pic>
          <p:nvPicPr>
            <p:cNvPr id="37" name="그림 36">
              <a:extLst>
                <a:ext uri="{FF2B5EF4-FFF2-40B4-BE49-F238E27FC236}">
                  <a16:creationId xmlns:a16="http://schemas.microsoft.com/office/drawing/2014/main" id="{E5C45079-AC0D-59BE-114A-973CE37C6984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242696" y="4807172"/>
              <a:ext cx="842927" cy="1433624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 lIns="90000"/>
          <a:lstStyle/>
          <a:p>
            <a:pPr lvl="0"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1) Map</a:t>
            </a:r>
            <a:r>
              <a:rPr lang="ko-KR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통한 분석</a:t>
            </a:r>
            <a:endParaRPr lang="en-US" altLang="ko-KR" b="1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결함 분석을 위한 다양한 맵 컨트롤 기능을 제공하며 결함 이미지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반복 결함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, Raw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 등을 제공 </a:t>
            </a:r>
            <a:endParaRPr lang="en-US" altLang="ko-KR" sz="1600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endParaRPr lang="ko-KR" altLang="en-US" dirty="0"/>
          </a:p>
        </p:txBody>
      </p:sp>
      <p:sp>
        <p:nvSpPr>
          <p:cNvPr id="40" name="이등변 삼각형 39"/>
          <p:cNvSpPr/>
          <p:nvPr/>
        </p:nvSpPr>
        <p:spPr>
          <a:xfrm rot="16200000">
            <a:off x="5635096" y="3965918"/>
            <a:ext cx="3267945" cy="878713"/>
          </a:xfrm>
          <a:prstGeom prst="triangle">
            <a:avLst/>
          </a:prstGeom>
          <a:gradFill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6980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모서리가 둥근 직사각형 32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34" name="그룹 33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Wafer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Map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Gallery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36" name="그룹 35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37" name="직사각형 36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590F206C-FA14-E8E8-7C1E-198380A969C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642"/>
          <a:stretch/>
        </p:blipFill>
        <p:spPr>
          <a:xfrm>
            <a:off x="932071" y="3301688"/>
            <a:ext cx="4104386" cy="2729309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6D7989D-FB47-962A-3113-D146BC98CD3E}"/>
              </a:ext>
            </a:extLst>
          </p:cNvPr>
          <p:cNvSpPr/>
          <p:nvPr/>
        </p:nvSpPr>
        <p:spPr>
          <a:xfrm>
            <a:off x="885902" y="3193688"/>
            <a:ext cx="2044110" cy="308827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9213B08-90F0-96D1-BC6F-353996C1E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690" y="4405868"/>
            <a:ext cx="952305" cy="608616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127000" dist="38100" dir="2700000" algn="tl" rotWithShape="0">
              <a:prstClr val="black">
                <a:alpha val="32000"/>
              </a:prstClr>
            </a:outerShdw>
          </a:effectLst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B226BB8-4AA4-2BE1-0905-013E1E826A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6369" y="4159338"/>
            <a:ext cx="980946" cy="400971"/>
          </a:xfrm>
          <a:prstGeom prst="rect">
            <a:avLst/>
          </a:prstGeom>
          <a:solidFill>
            <a:schemeClr val="bg1"/>
          </a:solidFill>
          <a:ln>
            <a:solidFill>
              <a:schemeClr val="tx2"/>
            </a:solidFill>
          </a:ln>
          <a:effectLst>
            <a:outerShdw blurRad="127000" dist="38100" dir="2700000" algn="tl" rotWithShape="0">
              <a:prstClr val="black">
                <a:alpha val="32000"/>
              </a:prstClr>
            </a:outerShdw>
          </a:effectLst>
        </p:spPr>
      </p:pic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FA80E2CC-8625-042D-A2A3-73C088161A51}"/>
              </a:ext>
            </a:extLst>
          </p:cNvPr>
          <p:cNvCxnSpPr>
            <a:cxnSpLocks/>
          </p:cNvCxnSpPr>
          <p:nvPr/>
        </p:nvCxnSpPr>
        <p:spPr>
          <a:xfrm>
            <a:off x="2361167" y="4044876"/>
            <a:ext cx="120103" cy="419477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F123E7DC-BFA8-2F8E-59EB-AFDB22FCF498}"/>
              </a:ext>
            </a:extLst>
          </p:cNvPr>
          <p:cNvCxnSpPr>
            <a:cxnSpLocks/>
          </p:cNvCxnSpPr>
          <p:nvPr/>
        </p:nvCxnSpPr>
        <p:spPr>
          <a:xfrm>
            <a:off x="3265714" y="3850369"/>
            <a:ext cx="634271" cy="409152"/>
          </a:xfrm>
          <a:prstGeom prst="straightConnector1">
            <a:avLst/>
          </a:prstGeom>
          <a:ln w="12700">
            <a:solidFill>
              <a:schemeClr val="accent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C8AF98F0-41E8-A895-4147-BB8A6568652A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111905" y="4159338"/>
            <a:ext cx="3022999" cy="1864565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A5C53EDC-6005-82BA-4521-B45CB4AED8F4}"/>
              </a:ext>
            </a:extLst>
          </p:cNvPr>
          <p:cNvSpPr/>
          <p:nvPr/>
        </p:nvSpPr>
        <p:spPr>
          <a:xfrm>
            <a:off x="5111905" y="3816113"/>
            <a:ext cx="2229305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+mn-ea"/>
              </a:rPr>
              <a:t>Die </a:t>
            </a:r>
            <a:r>
              <a:rPr lang="ko-KR" altLang="en-US" sz="1200" dirty="0">
                <a:latin typeface="+mn-ea"/>
              </a:rPr>
              <a:t>그리기를 제외한 분석</a:t>
            </a:r>
            <a:endParaRPr lang="en-US" altLang="ko-KR" sz="1200" dirty="0">
              <a:latin typeface="+mn-ea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8A6A502-12F1-E53D-A200-A97D5114D5C3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4902" y="3789708"/>
            <a:ext cx="3098665" cy="2241289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26DCFE97-1FDC-70BA-9E09-F587146802FE}"/>
              </a:ext>
            </a:extLst>
          </p:cNvPr>
          <p:cNvSpPr/>
          <p:nvPr/>
        </p:nvSpPr>
        <p:spPr>
          <a:xfrm>
            <a:off x="8135322" y="3710871"/>
            <a:ext cx="2044110" cy="311333"/>
          </a:xfrm>
          <a:prstGeom prst="rect">
            <a:avLst/>
          </a:prstGeom>
          <a:noFill/>
          <a:ln w="19050">
            <a:solidFill>
              <a:schemeClr val="accent5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 lIns="90000"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1) Map</a:t>
            </a:r>
            <a:r>
              <a:rPr lang="ko-KR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통한 분석</a:t>
            </a:r>
            <a:endParaRPr lang="en-US" altLang="ko-KR" b="1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Defect Map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Gallery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형식으로 보여주며 선택한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Column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및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Row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에 따라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Gallery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표현 방식이 달라짐 </a:t>
            </a:r>
            <a:endParaRPr lang="en-US" altLang="ko-KR" sz="1600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485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4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1) Map</a:t>
            </a:r>
            <a:r>
              <a:rPr lang="ko-KR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통한 분석</a:t>
            </a:r>
            <a:endParaRPr lang="en-US" altLang="ko-KR" b="1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선택한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에 대한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Defect Image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Class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별로 나눠서 보여주며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Reclassify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기능도 제공</a:t>
            </a:r>
          </a:p>
          <a:p>
            <a:endParaRPr lang="ko-KR" altLang="en-US" sz="1600" b="1" dirty="0">
              <a:solidFill>
                <a:schemeClr val="tx2">
                  <a:lumMod val="75000"/>
                </a:schemeClr>
              </a:solidFill>
              <a:latin typeface="Microsoft YaHei" panose="020B0503020204020204" pitchFamily="34" charset="-122"/>
            </a:endParaRP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5D66A36A-6197-A08D-C930-D07C1813612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0000" y="3071588"/>
            <a:ext cx="4816333" cy="3088735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36CB4E6-74A8-0E1F-A8D0-23A606F00F30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23537" y="3071588"/>
            <a:ext cx="1362870" cy="3088735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790412BF-257B-8BC1-843F-FFB1EC1AAC53}"/>
              </a:ext>
            </a:extLst>
          </p:cNvPr>
          <p:cNvSpPr/>
          <p:nvPr/>
        </p:nvSpPr>
        <p:spPr>
          <a:xfrm>
            <a:off x="6097964" y="4510169"/>
            <a:ext cx="1622001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  <a:defRPr/>
            </a:pPr>
            <a:r>
              <a:rPr lang="ko-KR" altLang="en-US" sz="1200" dirty="0">
                <a:latin typeface="+mn-ea"/>
              </a:rPr>
              <a:t>선택된 </a:t>
            </a:r>
            <a:r>
              <a:rPr lang="en-US" altLang="ko-KR" sz="1200" dirty="0">
                <a:latin typeface="+mn-ea"/>
              </a:rPr>
              <a:t>Defect </a:t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상세 정보 표시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1213A57-5ABC-B78B-8800-76EEF1BECA7A}"/>
              </a:ext>
            </a:extLst>
          </p:cNvPr>
          <p:cNvSpPr/>
          <p:nvPr/>
        </p:nvSpPr>
        <p:spPr>
          <a:xfrm>
            <a:off x="9569109" y="4510169"/>
            <a:ext cx="1622001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+mn-ea"/>
              </a:rPr>
              <a:t>Class</a:t>
            </a:r>
            <a:r>
              <a:rPr lang="ko-KR" altLang="en-US" sz="1200" dirty="0">
                <a:latin typeface="+mn-ea"/>
              </a:rPr>
              <a:t> 정보</a:t>
            </a:r>
            <a:r>
              <a:rPr lang="en-US" altLang="ko-KR" sz="1200" dirty="0">
                <a:latin typeface="+mn-ea"/>
              </a:rPr>
              <a:t/>
            </a:r>
            <a:br>
              <a:rPr lang="en-US" altLang="ko-KR" sz="1200" dirty="0">
                <a:latin typeface="+mn-ea"/>
              </a:rPr>
            </a:br>
            <a:r>
              <a:rPr lang="ko-KR" altLang="en-US" sz="1200" dirty="0">
                <a:latin typeface="+mn-ea"/>
              </a:rPr>
              <a:t> 수정 기능</a:t>
            </a:r>
            <a:endParaRPr lang="en-US" altLang="ko-KR" sz="1200" dirty="0">
              <a:latin typeface="+mn-ea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Defect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Image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Gallery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28" name="그룹 27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29" name="직사각형 28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864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모서리가 둥근 직사각형 24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6C1A7985-750C-AA88-320E-DEF2D8B04210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149454" y="2986514"/>
            <a:ext cx="1540099" cy="3189315"/>
          </a:xfrm>
          <a:prstGeom prst="rect">
            <a:avLst/>
          </a:prstGeom>
          <a:solidFill>
            <a:schemeClr val="bg1"/>
          </a:solidFill>
          <a:ln>
            <a:solidFill>
              <a:sysClr val="window" lastClr="FFFFFF">
                <a:lumMod val="75000"/>
              </a:sysClr>
            </a:solidFill>
          </a:ln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DB2CBBA9-828B-7E86-A81C-0543ACA623B7}"/>
              </a:ext>
            </a:extLst>
          </p:cNvPr>
          <p:cNvSpPr/>
          <p:nvPr/>
        </p:nvSpPr>
        <p:spPr>
          <a:xfrm>
            <a:off x="9708232" y="3226427"/>
            <a:ext cx="1091142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+mn-ea"/>
              </a:rPr>
              <a:t>Class </a:t>
            </a:r>
            <a:r>
              <a:rPr lang="ko-KR" altLang="en-US" sz="1200" dirty="0">
                <a:latin typeface="+mn-ea"/>
              </a:rPr>
              <a:t>정보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수정 기능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1) Map</a:t>
            </a:r>
            <a:r>
              <a:rPr lang="ko-KR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통한 분석</a:t>
            </a:r>
            <a:endParaRPr lang="en-US" altLang="ko-KR" b="1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수집된 여러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Defect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Chart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통한 분석 기능을 제공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2345668" y="2989288"/>
            <a:ext cx="5634350" cy="3186541"/>
            <a:chOff x="684787" y="2178637"/>
            <a:chExt cx="7534396" cy="4261124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6CF6A707-CB6E-3FCF-EB67-3CAFE8264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35807" y="2178637"/>
              <a:ext cx="5283376" cy="4261124"/>
            </a:xfrm>
            <a:prstGeom prst="rect">
              <a:avLst/>
            </a:prstGeom>
            <a:solidFill>
              <a:schemeClr val="bg1"/>
            </a:solidFill>
            <a:ln>
              <a:solidFill>
                <a:sysClr val="window" lastClr="FFFFFF">
                  <a:lumMod val="75000"/>
                </a:sysClr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1DE60FD-6C62-1A27-6C4A-777CB004143F}"/>
                </a:ext>
              </a:extLst>
            </p:cNvPr>
            <p:cNvSpPr txBox="1"/>
            <p:nvPr/>
          </p:nvSpPr>
          <p:spPr>
            <a:xfrm>
              <a:off x="695252" y="2335623"/>
              <a:ext cx="2022561" cy="189320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 algn="ctr">
                <a:defRPr sz="1300" spc="-50">
                  <a:latin typeface="+mn-ea"/>
                </a:defRPr>
              </a:lvl1pPr>
            </a:lstStyle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Step ID</a:t>
              </a:r>
            </a:p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Wafer ID</a:t>
              </a:r>
            </a:p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Inspection Time</a:t>
              </a:r>
            </a:p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Inspection Wafer</a:t>
              </a:r>
            </a:p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Inspector</a:t>
              </a:r>
            </a:p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Defect Size</a:t>
              </a:r>
            </a:p>
            <a:p>
              <a:pPr algn="l"/>
              <a:r>
                <a:rPr lang="en-US" altLang="ko-KR" sz="1200" dirty="0">
                  <a:sym typeface="Wingdings" panose="05000000000000000000" pitchFamily="2" charset="2"/>
                </a:rPr>
                <a:t>Defect Class </a:t>
              </a:r>
              <a:endParaRPr lang="ko-KR" altLang="en-US" sz="120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F41D126-60D9-B7BF-8653-49D01ED5F476}"/>
                </a:ext>
              </a:extLst>
            </p:cNvPr>
            <p:cNvSpPr txBox="1"/>
            <p:nvPr/>
          </p:nvSpPr>
          <p:spPr>
            <a:xfrm>
              <a:off x="684787" y="4591420"/>
              <a:ext cx="2033027" cy="1399326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defRPr sz="1300" spc="-50">
                  <a:latin typeface="+mn-ea"/>
                </a:defRPr>
              </a:lvl1pPr>
            </a:lstStyle>
            <a:p>
              <a:r>
                <a:rPr lang="en-US" altLang="ko-KR" sz="1200" dirty="0">
                  <a:sym typeface="Wingdings" panose="05000000000000000000" pitchFamily="2" charset="2"/>
                </a:rPr>
                <a:t>Defect Count</a:t>
              </a:r>
            </a:p>
            <a:p>
              <a:r>
                <a:rPr lang="en-US" altLang="ko-KR" sz="1200" dirty="0">
                  <a:sym typeface="Wingdings" panose="05000000000000000000" pitchFamily="2" charset="2"/>
                </a:rPr>
                <a:t>Defect Density Defective Die Count</a:t>
              </a:r>
            </a:p>
            <a:p>
              <a:r>
                <a:rPr lang="en-US" altLang="ko-KR" sz="1200" dirty="0">
                  <a:sym typeface="Wingdings" panose="05000000000000000000" pitchFamily="2" charset="2"/>
                </a:rPr>
                <a:t>Defective Die</a:t>
              </a:r>
            </a:p>
            <a:p>
              <a:r>
                <a:rPr lang="en-US" altLang="ko-KR" sz="1200" dirty="0">
                  <a:sym typeface="Wingdings" panose="05000000000000000000" pitchFamily="2" charset="2"/>
                </a:rPr>
                <a:t>Percentages</a:t>
              </a:r>
              <a:endParaRPr lang="ko-KR" altLang="en-US" sz="1200" dirty="0"/>
            </a:p>
          </p:txBody>
        </p: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5347F9D3-94EF-89B7-E5BD-DEB2CE51C1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7813" y="2901952"/>
              <a:ext cx="1244588" cy="1953791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D4CBA56E-4F9F-5510-3CF8-89D22BAAFF96}"/>
                </a:ext>
              </a:extLst>
            </p:cNvPr>
            <p:cNvCxnSpPr>
              <a:cxnSpLocks/>
              <a:stCxn id="10" idx="3"/>
            </p:cNvCxnSpPr>
            <p:nvPr/>
          </p:nvCxnSpPr>
          <p:spPr>
            <a:xfrm flipV="1">
              <a:off x="2717814" y="2664000"/>
              <a:ext cx="1244586" cy="618226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그룹 25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Chart</a:t>
              </a:r>
              <a:r>
                <a:rPr lang="ko-KR" altLang="en-US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 </a:t>
              </a: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Analysis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28" name="그룹 27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29" name="직사각형 28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35221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모서리가 둥근 직사각형 23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모서리가 둥근 직사각형 22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CC15EF86-BBE0-9FCD-F5DF-3E3B4F47172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0827" y="3085287"/>
            <a:ext cx="4045856" cy="3045802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81D45BF-3C02-E56B-989E-8958258812E2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146" t="5724" r="19101" b="2549"/>
          <a:stretch/>
        </p:blipFill>
        <p:spPr>
          <a:xfrm>
            <a:off x="6792686" y="3984170"/>
            <a:ext cx="1407885" cy="1952173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00771BD-9522-F7EA-73A6-6BCAE62F0BE3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53600" y="3974091"/>
            <a:ext cx="1780571" cy="710361"/>
          </a:xfrm>
          <a:prstGeom prst="rect">
            <a:avLst/>
          </a:prstGeom>
          <a:ln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A028935-A7C4-E9EC-FF77-ABD5D88074EB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453495" y="5031717"/>
            <a:ext cx="1955341" cy="958853"/>
          </a:xfrm>
          <a:prstGeom prst="rect">
            <a:avLst/>
          </a:prstGeom>
          <a:ln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439469-8783-DD02-A95B-B3436BDA14C0}"/>
              </a:ext>
            </a:extLst>
          </p:cNvPr>
          <p:cNvSpPr txBox="1"/>
          <p:nvPr/>
        </p:nvSpPr>
        <p:spPr>
          <a:xfrm>
            <a:off x="7191708" y="3621001"/>
            <a:ext cx="60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spc="-50" dirty="0">
                <a:latin typeface="+mn-ea"/>
              </a:rPr>
              <a:t>3 X 5</a:t>
            </a:r>
            <a:endParaRPr lang="ko-KR" altLang="en-US" sz="1300" spc="-5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42A5C9-D0C6-18DA-442D-A87B6B0523B5}"/>
              </a:ext>
            </a:extLst>
          </p:cNvPr>
          <p:cNvSpPr txBox="1"/>
          <p:nvPr/>
        </p:nvSpPr>
        <p:spPr>
          <a:xfrm>
            <a:off x="9126245" y="3621001"/>
            <a:ext cx="60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spc="-50" dirty="0">
                <a:latin typeface="+mn-ea"/>
              </a:rPr>
              <a:t>2</a:t>
            </a:r>
            <a:r>
              <a:rPr lang="en-US" altLang="ko-KR" sz="1000" dirty="0">
                <a:solidFill>
                  <a:prstClr val="black"/>
                </a:solidFill>
                <a:latin typeface="+mn-ea"/>
                <a:cs typeface="Arial"/>
              </a:rPr>
              <a:t> </a:t>
            </a:r>
            <a:r>
              <a:rPr lang="en-US" altLang="ko-KR" sz="1300" spc="-50" dirty="0">
                <a:latin typeface="+mn-ea"/>
              </a:rPr>
              <a:t>X 1</a:t>
            </a:r>
            <a:endParaRPr lang="ko-KR" altLang="en-US" sz="1300" spc="-5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C4F08C8-9E8A-477A-2C41-6F87D0990CD8}"/>
              </a:ext>
            </a:extLst>
          </p:cNvPr>
          <p:cNvSpPr txBox="1"/>
          <p:nvPr/>
        </p:nvSpPr>
        <p:spPr>
          <a:xfrm>
            <a:off x="9126245" y="4748070"/>
            <a:ext cx="609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300" spc="-50" dirty="0">
                <a:latin typeface="+mn-ea"/>
              </a:rPr>
              <a:t>5 X 3</a:t>
            </a:r>
            <a:endParaRPr lang="ko-KR" altLang="en-US" sz="1300" spc="-50" dirty="0">
              <a:latin typeface="+mn-ea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0FC9118-B1DC-A73E-531F-8CC6B2E588BD}"/>
              </a:ext>
            </a:extLst>
          </p:cNvPr>
          <p:cNvSpPr/>
          <p:nvPr/>
        </p:nvSpPr>
        <p:spPr>
          <a:xfrm>
            <a:off x="6699858" y="3126003"/>
            <a:ext cx="1955342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</a:pPr>
            <a:r>
              <a:rPr lang="en-US" altLang="ko-KR" sz="1200" dirty="0">
                <a:latin typeface="+mn-ea"/>
              </a:rPr>
              <a:t>Shot Size </a:t>
            </a:r>
            <a:r>
              <a:rPr lang="ko-KR" altLang="en-US" sz="1200" dirty="0">
                <a:latin typeface="+mn-ea"/>
              </a:rPr>
              <a:t>변경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>
          <a:xfrm>
            <a:off x="697665" y="1454674"/>
            <a:ext cx="10928278" cy="1145651"/>
          </a:xfrm>
        </p:spPr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1) Map</a:t>
            </a:r>
            <a:r>
              <a:rPr lang="ko-KR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통한 분석</a:t>
            </a:r>
            <a:endParaRPr lang="en-US" altLang="ko-KR" b="1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Defect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Die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단위 혹은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Shot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단위로 중첩 시켜 분석하는 기능이며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,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반복적으로 발생하는 결함을 쉽게 찾을 수 있다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Die Stack Analysis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28" name="직사각형 27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0738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모서리가 둥근 직사각형 14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Die Stack Gallery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17" name="그룹 16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grpSp>
        <p:nvGrpSpPr>
          <p:cNvPr id="23" name="그룹 22"/>
          <p:cNvGrpSpPr/>
          <p:nvPr/>
        </p:nvGrpSpPr>
        <p:grpSpPr>
          <a:xfrm>
            <a:off x="2952638" y="2919349"/>
            <a:ext cx="6291486" cy="3240476"/>
            <a:chOff x="1244958" y="2145716"/>
            <a:chExt cx="8141928" cy="4193560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44AF3263-1B3C-2124-05B6-5357A48C3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25268" y="2145716"/>
              <a:ext cx="5961618" cy="419356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FF13C5-33B2-9FE6-EA52-E0C4B0A4B8A0}"/>
                </a:ext>
              </a:extLst>
            </p:cNvPr>
            <p:cNvSpPr txBox="1"/>
            <p:nvPr/>
          </p:nvSpPr>
          <p:spPr>
            <a:xfrm>
              <a:off x="1244958" y="2429556"/>
              <a:ext cx="1497698" cy="1314388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defRPr sz="1200" spc="-50">
                  <a:latin typeface="+mn-ea"/>
                </a:defRPr>
              </a:lvl1pPr>
            </a:lstStyle>
            <a:p>
              <a:r>
                <a:rPr lang="en-US" altLang="ko-KR" dirty="0">
                  <a:sym typeface="Wingdings" panose="05000000000000000000" pitchFamily="2" charset="2"/>
                </a:rPr>
                <a:t>None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Lot Id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Wafer ID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Device ID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Inspector </a:t>
              </a:r>
              <a:endParaRPr lang="ko-KR" alt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2F63049-F95D-4596-CA4D-5C07E376F695}"/>
                </a:ext>
              </a:extLst>
            </p:cNvPr>
            <p:cNvSpPr txBox="1"/>
            <p:nvPr/>
          </p:nvSpPr>
          <p:spPr>
            <a:xfrm>
              <a:off x="1244958" y="4176053"/>
              <a:ext cx="1497697" cy="836429"/>
            </a:xfrm>
            <a:prstGeom prst="rect">
              <a:avLst/>
            </a:prstGeom>
            <a:solidFill>
              <a:schemeClr val="tx1">
                <a:lumMod val="10000"/>
                <a:lumOff val="90000"/>
              </a:schemeClr>
            </a:solidFill>
            <a:ln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spAutoFit/>
            </a:bodyPr>
            <a:lstStyle>
              <a:defPPr>
                <a:defRPr lang="en-US"/>
              </a:defPPr>
              <a:lvl1pPr>
                <a:defRPr sz="1200" spc="-50">
                  <a:latin typeface="+mn-ea"/>
                </a:defRPr>
              </a:lvl1pPr>
            </a:lstStyle>
            <a:p>
              <a:r>
                <a:rPr lang="en-US" altLang="ko-KR" dirty="0">
                  <a:sym typeface="Wingdings" panose="05000000000000000000" pitchFamily="2" charset="2"/>
                </a:rPr>
                <a:t>None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Defect Class</a:t>
              </a:r>
            </a:p>
            <a:p>
              <a:r>
                <a:rPr lang="en-US" altLang="ko-KR" dirty="0">
                  <a:sym typeface="Wingdings" panose="05000000000000000000" pitchFamily="2" charset="2"/>
                </a:rPr>
                <a:t>Step ID</a:t>
              </a:r>
              <a:endParaRPr lang="ko-KR" altLang="en-US" dirty="0"/>
            </a:p>
          </p:txBody>
        </p:sp>
        <p:cxnSp>
          <p:nvCxnSpPr>
            <p:cNvPr id="12" name="직선 화살표 연결선 11">
              <a:extLst>
                <a:ext uri="{FF2B5EF4-FFF2-40B4-BE49-F238E27FC236}">
                  <a16:creationId xmlns:a16="http://schemas.microsoft.com/office/drawing/2014/main" id="{9C6BDD67-EED6-1728-6FCA-DF5F4D9EE3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9571" y="2336258"/>
              <a:ext cx="1111239" cy="606016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A370300D-5D89-4A90-718B-479B2DC7321A}"/>
                </a:ext>
              </a:extLst>
            </p:cNvPr>
            <p:cNvCxnSpPr>
              <a:cxnSpLocks/>
              <a:stCxn id="11" idx="3"/>
            </p:cNvCxnSpPr>
            <p:nvPr/>
          </p:nvCxnSpPr>
          <p:spPr>
            <a:xfrm flipV="1">
              <a:off x="2742655" y="2303982"/>
              <a:ext cx="2324644" cy="2290287"/>
            </a:xfrm>
            <a:prstGeom prst="straightConnector1">
              <a:avLst/>
            </a:prstGeom>
            <a:ln w="127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1) Map</a:t>
            </a:r>
            <a:r>
              <a:rPr lang="ko-KR" altLang="en-US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통한 분석</a:t>
            </a:r>
            <a:endParaRPr lang="en-US" altLang="ko-KR" b="1" dirty="0">
              <a:latin typeface="Microsoft YaHei" panose="020B0503020204020204" pitchFamily="34" charset="-122"/>
              <a:ea typeface="Microsoft YaHei" panose="020B0503020204020204" pitchFamily="34" charset="-122"/>
              <a:sym typeface="Wingdings" panose="05000000000000000000" pitchFamily="2" charset="2"/>
            </a:endParaRP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Defect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Die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단위 혹은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Shot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단위로 중첩 시켜 분석하는 기능이며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, Gallery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형식으로 조회가 가능하다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.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1621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107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모서리가 둥근 직사각형 112">
            <a:extLst>
              <a:ext uri="{FF2B5EF4-FFF2-40B4-BE49-F238E27FC236}">
                <a16:creationId xmlns:a16="http://schemas.microsoft.com/office/drawing/2014/main" id="{B672E143-1F7A-D268-CBD8-76683418AB52}"/>
              </a:ext>
            </a:extLst>
          </p:cNvPr>
          <p:cNvSpPr/>
          <p:nvPr/>
        </p:nvSpPr>
        <p:spPr bwMode="auto">
          <a:xfrm>
            <a:off x="6152368" y="3417633"/>
            <a:ext cx="5067863" cy="2741867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1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8" name="Rectangle 27">
            <a:extLst>
              <a:ext uri="{FF2B5EF4-FFF2-40B4-BE49-F238E27FC236}">
                <a16:creationId xmlns:a16="http://schemas.microsoft.com/office/drawing/2014/main" id="{A75DF24D-59C8-F279-A6A0-85347095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6354" y="5324056"/>
            <a:ext cx="2376000" cy="684000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endParaRPr lang="ko-KR" altLang="en-US" sz="1200" b="1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14" name="모서리가 둥근 직사각형 112">
            <a:extLst>
              <a:ext uri="{FF2B5EF4-FFF2-40B4-BE49-F238E27FC236}">
                <a16:creationId xmlns:a16="http://schemas.microsoft.com/office/drawing/2014/main" id="{B672E143-1F7A-D268-CBD8-76683418AB52}"/>
              </a:ext>
            </a:extLst>
          </p:cNvPr>
          <p:cNvSpPr/>
          <p:nvPr/>
        </p:nvSpPr>
        <p:spPr bwMode="auto">
          <a:xfrm>
            <a:off x="998715" y="3410271"/>
            <a:ext cx="5067863" cy="2741867"/>
          </a:xfrm>
          <a:prstGeom prst="roundRect">
            <a:avLst>
              <a:gd name="adj" fmla="val 634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1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2" name="Rectangle 27">
            <a:extLst>
              <a:ext uri="{FF2B5EF4-FFF2-40B4-BE49-F238E27FC236}">
                <a16:creationId xmlns:a16="http://schemas.microsoft.com/office/drawing/2014/main" id="{A75DF24D-59C8-F279-A6A0-85347095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53354" y="5444194"/>
            <a:ext cx="1833742" cy="576000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spc="-50" dirty="0">
                <a:solidFill>
                  <a:schemeClr val="tx1"/>
                </a:solidFill>
                <a:latin typeface="+mn-ea"/>
              </a:rPr>
              <a:t>정상적인</a:t>
            </a:r>
            <a:r>
              <a:rPr lang="en-US" altLang="ko-KR" sz="1200" b="1" spc="-50" dirty="0">
                <a:solidFill>
                  <a:schemeClr val="tx1"/>
                </a:solidFill>
                <a:latin typeface="+mn-ea"/>
              </a:rPr>
              <a:t/>
            </a:r>
            <a:br>
              <a:rPr lang="en-US" altLang="ko-KR" sz="1200" b="1" spc="-5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b="1" spc="-50" dirty="0">
                <a:solidFill>
                  <a:schemeClr val="tx1"/>
                </a:solidFill>
                <a:latin typeface="+mn-ea"/>
              </a:rPr>
              <a:t>포토마스크</a:t>
            </a:r>
          </a:p>
        </p:txBody>
      </p:sp>
      <p:sp>
        <p:nvSpPr>
          <p:cNvPr id="217" name="Rectangle 27">
            <a:extLst>
              <a:ext uri="{FF2B5EF4-FFF2-40B4-BE49-F238E27FC236}">
                <a16:creationId xmlns:a16="http://schemas.microsoft.com/office/drawing/2014/main" id="{A75DF24D-59C8-F279-A6A0-85347095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476" y="5444194"/>
            <a:ext cx="1833742" cy="576000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z="1200" b="1" spc="-50" dirty="0">
                <a:latin typeface="+mn-ea"/>
              </a:rPr>
              <a:t>포토마스크에 </a:t>
            </a:r>
            <a:r>
              <a:rPr lang="en-US" altLang="ko-KR" sz="1200" b="1" spc="-50" dirty="0">
                <a:latin typeface="+mn-ea"/>
              </a:rPr>
              <a:t/>
            </a:r>
            <a:br>
              <a:rPr lang="en-US" altLang="ko-KR" sz="1200" b="1" spc="-50" dirty="0">
                <a:latin typeface="+mn-ea"/>
              </a:rPr>
            </a:br>
            <a:r>
              <a:rPr lang="ko-KR" altLang="en-US" sz="1200" b="1" spc="-50" dirty="0">
                <a:latin typeface="+mn-ea"/>
              </a:rPr>
              <a:t>결함이 있는 경우</a:t>
            </a:r>
            <a:endParaRPr lang="ko-KR" altLang="en-US" sz="1200" b="1" spc="-50" dirty="0">
              <a:latin typeface="+mn-ea"/>
            </a:endParaRPr>
          </a:p>
        </p:txBody>
      </p:sp>
      <p:grpSp>
        <p:nvGrpSpPr>
          <p:cNvPr id="109" name="그룹 108"/>
          <p:cNvGrpSpPr/>
          <p:nvPr/>
        </p:nvGrpSpPr>
        <p:grpSpPr>
          <a:xfrm>
            <a:off x="884117" y="2647960"/>
            <a:ext cx="2584797" cy="338554"/>
            <a:chOff x="884117" y="2647960"/>
            <a:chExt cx="2584797" cy="338554"/>
          </a:xfrm>
        </p:grpSpPr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0B478C05-46B7-6699-4766-F0C0C826B216}"/>
                </a:ext>
              </a:extLst>
            </p:cNvPr>
            <p:cNvSpPr txBox="1"/>
            <p:nvPr/>
          </p:nvSpPr>
          <p:spPr>
            <a:xfrm>
              <a:off x="919940" y="2647960"/>
              <a:ext cx="254897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rPr>
                <a:t>Die Stack Gallery</a:t>
              </a:r>
              <a:endParaRPr lang="en-US" altLang="ko-KR" sz="1600" b="1" dirty="0">
                <a:solidFill>
                  <a:schemeClr val="tx2">
                    <a:lumMod val="75000"/>
                  </a:schemeClr>
                </a:solidFill>
                <a:latin typeface="Microsoft YaHei" panose="020B0503020204020204" pitchFamily="34" charset="-122"/>
              </a:endParaRPr>
            </a:p>
          </p:txBody>
        </p:sp>
        <p:grpSp>
          <p:nvGrpSpPr>
            <p:cNvPr id="111" name="그룹 110"/>
            <p:cNvGrpSpPr/>
            <p:nvPr/>
          </p:nvGrpSpPr>
          <p:grpSpPr>
            <a:xfrm>
              <a:off x="884117" y="2727237"/>
              <a:ext cx="36000" cy="180000"/>
              <a:chOff x="884117" y="2855186"/>
              <a:chExt cx="36000" cy="180000"/>
            </a:xfrm>
          </p:grpSpPr>
          <p:sp>
            <p:nvSpPr>
              <p:cNvPr id="112" name="직사각형 111"/>
              <p:cNvSpPr/>
              <p:nvPr/>
            </p:nvSpPr>
            <p:spPr>
              <a:xfrm>
                <a:off x="884117" y="2855186"/>
                <a:ext cx="36000" cy="180000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/>
              <p:cNvSpPr/>
              <p:nvPr/>
            </p:nvSpPr>
            <p:spPr>
              <a:xfrm>
                <a:off x="884117" y="2855186"/>
                <a:ext cx="36000" cy="72000"/>
              </a:xfrm>
              <a:prstGeom prst="rect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5" name="부제목 4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2) RDA (Repeated Defect Analysis)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반복적인 결함을 관리하고 분석하여 불량 발생의 원천적인 원인을 찾고 개선하여 품질 향상 기대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4352C503-0701-2BF6-52B9-FBC4EB434DE8}"/>
              </a:ext>
            </a:extLst>
          </p:cNvPr>
          <p:cNvSpPr txBox="1"/>
          <p:nvPr/>
        </p:nvSpPr>
        <p:spPr>
          <a:xfrm>
            <a:off x="981061" y="3466288"/>
            <a:ext cx="5082920" cy="90486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  <a:defRPr sz="1200">
                <a:latin typeface="+mn-ea"/>
              </a:defRPr>
            </a:lvl1pPr>
          </a:lstStyle>
          <a:p>
            <a:r>
              <a:rPr lang="en-US" altLang="ko-KR" dirty="0"/>
              <a:t>Reticle </a:t>
            </a:r>
            <a:r>
              <a:rPr lang="ko-KR" altLang="en-US" dirty="0"/>
              <a:t>이나 </a:t>
            </a:r>
            <a:r>
              <a:rPr lang="en-US" altLang="ko-KR" dirty="0"/>
              <a:t>Design</a:t>
            </a:r>
            <a:r>
              <a:rPr lang="ko-KR" altLang="en-US" dirty="0"/>
              <a:t>으로 인한 </a:t>
            </a:r>
            <a:r>
              <a:rPr lang="en-US" altLang="ko-KR" dirty="0"/>
              <a:t>Defect</a:t>
            </a:r>
            <a:r>
              <a:rPr lang="ko-KR" altLang="en-US" dirty="0"/>
              <a:t>은 양산 제품에 반복적으로 적용</a:t>
            </a:r>
            <a:endParaRPr lang="en-US" altLang="ko-KR" dirty="0"/>
          </a:p>
          <a:p>
            <a:r>
              <a:rPr lang="en-US" altLang="ko-KR" dirty="0"/>
              <a:t>Repeat Defect </a:t>
            </a:r>
            <a:r>
              <a:rPr lang="ko-KR" altLang="en-US" dirty="0"/>
              <a:t>발생시 짧은 기간에 많은 양의 </a:t>
            </a:r>
            <a:r>
              <a:rPr lang="ko-KR" altLang="en-US" dirty="0" err="1"/>
              <a:t>저품질</a:t>
            </a:r>
            <a:r>
              <a:rPr lang="ko-KR" altLang="en-US" dirty="0"/>
              <a:t> 제품을 양산</a:t>
            </a:r>
            <a:endParaRPr lang="en-US" altLang="ko-KR" dirty="0"/>
          </a:p>
          <a:p>
            <a:r>
              <a:rPr lang="ko-KR" altLang="en-US" dirty="0"/>
              <a:t>지속적으로 </a:t>
            </a:r>
            <a:r>
              <a:rPr lang="en-US" altLang="ko-KR" dirty="0"/>
              <a:t>Monitoring</a:t>
            </a:r>
            <a:r>
              <a:rPr lang="ko-KR" altLang="en-US" dirty="0"/>
              <a:t>이 불가능하고 원인 발견 전까지 대량의 </a:t>
            </a:r>
            <a:r>
              <a:rPr lang="ko-KR" altLang="en-US" dirty="0" err="1"/>
              <a:t>저품질</a:t>
            </a:r>
            <a:r>
              <a:rPr lang="ko-KR" altLang="en-US" dirty="0"/>
              <a:t> 제품을 양산</a:t>
            </a:r>
            <a:endParaRPr lang="en-US" altLang="ko-KR" dirty="0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2F1C0F1E-D5D2-DACE-D99D-26A6E771B197}"/>
              </a:ext>
            </a:extLst>
          </p:cNvPr>
          <p:cNvSpPr txBox="1"/>
          <p:nvPr/>
        </p:nvSpPr>
        <p:spPr>
          <a:xfrm>
            <a:off x="6169931" y="3468345"/>
            <a:ext cx="5128455" cy="701731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171450" indent="-171450" defTabSz="914400" fontAlgn="ctr">
              <a:lnSpc>
                <a:spcPct val="110000"/>
              </a:lnSpc>
              <a:buClr>
                <a:schemeClr val="tx2"/>
              </a:buClr>
              <a:buFont typeface="Wingdings" panose="05000000000000000000" pitchFamily="2" charset="2"/>
              <a:buChar char="ü"/>
              <a:defRPr sz="1200">
                <a:latin typeface="+mn-ea"/>
              </a:defRPr>
            </a:lvl1pPr>
          </a:lstStyle>
          <a:p>
            <a:r>
              <a:rPr lang="ko-KR" altLang="en-US" dirty="0"/>
              <a:t>동일 </a:t>
            </a:r>
            <a:r>
              <a:rPr lang="en-US" altLang="ko-KR" dirty="0"/>
              <a:t>Defect</a:t>
            </a:r>
            <a:r>
              <a:rPr lang="ko-KR" altLang="en-US" dirty="0"/>
              <a:t>으로 인지할 수 있는 </a:t>
            </a:r>
            <a:r>
              <a:rPr lang="en-US" altLang="ko-KR" dirty="0"/>
              <a:t>Tolerance </a:t>
            </a:r>
            <a:r>
              <a:rPr lang="ko-KR" altLang="en-US" dirty="0"/>
              <a:t>적용으로 실측 오차 보정</a:t>
            </a:r>
            <a:endParaRPr lang="en-US" altLang="ko-KR" dirty="0"/>
          </a:p>
          <a:p>
            <a:r>
              <a:rPr lang="ko-KR" altLang="en-US" dirty="0"/>
              <a:t>동일 </a:t>
            </a:r>
            <a:r>
              <a:rPr lang="en-US" altLang="ko-KR" dirty="0"/>
              <a:t>Glass</a:t>
            </a:r>
            <a:r>
              <a:rPr lang="ko-KR" altLang="en-US" dirty="0"/>
              <a:t>에서의 </a:t>
            </a:r>
            <a:r>
              <a:rPr lang="en-US" altLang="ko-KR" dirty="0"/>
              <a:t>Repeat Defect </a:t>
            </a:r>
            <a:r>
              <a:rPr lang="ko-KR" altLang="en-US" dirty="0"/>
              <a:t>뿐만 아니라 서로 다른 </a:t>
            </a:r>
            <a:r>
              <a:rPr lang="en-US" altLang="ko-KR" dirty="0"/>
              <a:t>Glass</a:t>
            </a:r>
            <a:r>
              <a:rPr lang="ko-KR" altLang="en-US" dirty="0"/>
              <a:t>에서의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Repeat Defect</a:t>
            </a:r>
            <a:r>
              <a:rPr lang="ko-KR" altLang="en-US" dirty="0"/>
              <a:t>도 검출</a:t>
            </a:r>
          </a:p>
        </p:txBody>
      </p:sp>
      <p:grpSp>
        <p:nvGrpSpPr>
          <p:cNvPr id="214" name="그룹 213"/>
          <p:cNvGrpSpPr/>
          <p:nvPr/>
        </p:nvGrpSpPr>
        <p:grpSpPr>
          <a:xfrm>
            <a:off x="1306071" y="4453943"/>
            <a:ext cx="1785792" cy="698995"/>
            <a:chOff x="3802504" y="4339753"/>
            <a:chExt cx="1785792" cy="554871"/>
          </a:xfrm>
        </p:grpSpPr>
        <p:grpSp>
          <p:nvGrpSpPr>
            <p:cNvPr id="121" name="Group 3">
              <a:extLst>
                <a:ext uri="{FF2B5EF4-FFF2-40B4-BE49-F238E27FC236}">
                  <a16:creationId xmlns:a16="http://schemas.microsoft.com/office/drawing/2014/main" id="{4B4F0A77-6021-DD93-B520-1BC21FC46A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2504" y="4339753"/>
              <a:ext cx="644656" cy="197793"/>
              <a:chOff x="3515" y="890"/>
              <a:chExt cx="1179" cy="226"/>
            </a:xfrm>
          </p:grpSpPr>
          <p:sp>
            <p:nvSpPr>
              <p:cNvPr id="175" name="AutoShape 4">
                <a:extLst>
                  <a:ext uri="{FF2B5EF4-FFF2-40B4-BE49-F238E27FC236}">
                    <a16:creationId xmlns:a16="http://schemas.microsoft.com/office/drawing/2014/main" id="{53F43956-3B74-21DD-1D58-3A955A8F4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5" y="89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6" name="Line 5">
                <a:extLst>
                  <a:ext uri="{FF2B5EF4-FFF2-40B4-BE49-F238E27FC236}">
                    <a16:creationId xmlns:a16="http://schemas.microsoft.com/office/drawing/2014/main" id="{09008D73-2AA1-81CF-E0DA-465AF1A37E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935"/>
                <a:ext cx="181" cy="151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7" name="Line 6">
                <a:extLst>
                  <a:ext uri="{FF2B5EF4-FFF2-40B4-BE49-F238E27FC236}">
                    <a16:creationId xmlns:a16="http://schemas.microsoft.com/office/drawing/2014/main" id="{7E9F7AB7-8A01-B5DA-E2A5-30E390B993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409" cy="0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8" name="Line 7">
                <a:extLst>
                  <a:ext uri="{FF2B5EF4-FFF2-40B4-BE49-F238E27FC236}">
                    <a16:creationId xmlns:a16="http://schemas.microsoft.com/office/drawing/2014/main" id="{7F3CF880-BC90-BCC2-605C-181AB4393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935"/>
                <a:ext cx="137" cy="136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9" name="Line 8">
                <a:extLst>
                  <a:ext uri="{FF2B5EF4-FFF2-40B4-BE49-F238E27FC236}">
                    <a16:creationId xmlns:a16="http://schemas.microsoft.com/office/drawing/2014/main" id="{6CCDAB41-5ECE-0F06-2EB1-DD436DC8CD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935"/>
                <a:ext cx="136" cy="136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2" name="Group 9">
              <a:extLst>
                <a:ext uri="{FF2B5EF4-FFF2-40B4-BE49-F238E27FC236}">
                  <a16:creationId xmlns:a16="http://schemas.microsoft.com/office/drawing/2014/main" id="{39340E25-1673-9823-1D8E-C349CFD65B9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2504" y="4696831"/>
              <a:ext cx="1785792" cy="197793"/>
              <a:chOff x="2290" y="1570"/>
              <a:chExt cx="3266" cy="226"/>
            </a:xfrm>
          </p:grpSpPr>
          <p:sp>
            <p:nvSpPr>
              <p:cNvPr id="172" name="AutoShape 10">
                <a:extLst>
                  <a:ext uri="{FF2B5EF4-FFF2-40B4-BE49-F238E27FC236}">
                    <a16:creationId xmlns:a16="http://schemas.microsoft.com/office/drawing/2014/main" id="{3C8B4039-923D-669C-2425-8820F65A5F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2"/>
              </a:solidFill>
              <a:ln w="19050">
                <a:solidFill>
                  <a:schemeClr val="bg2"/>
                </a:solidFill>
              </a:ln>
              <a:ex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73" name="AutoShape 11">
                <a:extLst>
                  <a:ext uri="{FF2B5EF4-FFF2-40B4-BE49-F238E27FC236}">
                    <a16:creationId xmlns:a16="http://schemas.microsoft.com/office/drawing/2014/main" id="{A538DB3F-AB08-6F07-3A48-37B4A5F693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4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2"/>
              </a:solidFill>
              <a:ln w="19050">
                <a:solidFill>
                  <a:schemeClr val="bg2"/>
                </a:solidFill>
              </a:ln>
              <a:ex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74" name="AutoShape 12">
                <a:extLst>
                  <a:ext uri="{FF2B5EF4-FFF2-40B4-BE49-F238E27FC236}">
                    <a16:creationId xmlns:a16="http://schemas.microsoft.com/office/drawing/2014/main" id="{00BEFBE8-60DB-731C-2046-B15176F458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2"/>
              </a:solidFill>
              <a:ln w="19050">
                <a:solidFill>
                  <a:schemeClr val="bg2"/>
                </a:solidFill>
              </a:ln>
              <a:ex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23" name="Group 13">
              <a:extLst>
                <a:ext uri="{FF2B5EF4-FFF2-40B4-BE49-F238E27FC236}">
                  <a16:creationId xmlns:a16="http://schemas.microsoft.com/office/drawing/2014/main" id="{CD099299-90A4-9344-AD22-3297D51D8F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6624" y="4737089"/>
              <a:ext cx="322602" cy="132154"/>
              <a:chOff x="3742" y="1344"/>
              <a:chExt cx="590" cy="151"/>
            </a:xfrm>
          </p:grpSpPr>
          <p:sp>
            <p:nvSpPr>
              <p:cNvPr id="168" name="Line 14">
                <a:extLst>
                  <a:ext uri="{FF2B5EF4-FFF2-40B4-BE49-F238E27FC236}">
                    <a16:creationId xmlns:a16="http://schemas.microsoft.com/office/drawing/2014/main" id="{E740063E-3A80-B974-ECB8-38B32F43B2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1344"/>
                <a:ext cx="181" cy="151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9" name="Line 15">
                <a:extLst>
                  <a:ext uri="{FF2B5EF4-FFF2-40B4-BE49-F238E27FC236}">
                    <a16:creationId xmlns:a16="http://schemas.microsoft.com/office/drawing/2014/main" id="{991F98EE-DD18-0489-8FC4-960AFE9667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1344"/>
                <a:ext cx="409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0" name="Line 16">
                <a:extLst>
                  <a:ext uri="{FF2B5EF4-FFF2-40B4-BE49-F238E27FC236}">
                    <a16:creationId xmlns:a16="http://schemas.microsoft.com/office/drawing/2014/main" id="{C408CDDD-D8B7-4E9A-2761-67D936BDF4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1344"/>
                <a:ext cx="137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71" name="Line 17">
                <a:extLst>
                  <a:ext uri="{FF2B5EF4-FFF2-40B4-BE49-F238E27FC236}">
                    <a16:creationId xmlns:a16="http://schemas.microsoft.com/office/drawing/2014/main" id="{F1A98B4B-D739-7638-A598-76A2755717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1344"/>
                <a:ext cx="136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4" name="Group 18">
              <a:extLst>
                <a:ext uri="{FF2B5EF4-FFF2-40B4-BE49-F238E27FC236}">
                  <a16:creationId xmlns:a16="http://schemas.microsoft.com/office/drawing/2014/main" id="{57EF89E1-635E-AD41-4E76-8C029B2A4B7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6624" y="4379136"/>
              <a:ext cx="333537" cy="476979"/>
              <a:chOff x="3742" y="935"/>
              <a:chExt cx="610" cy="545"/>
            </a:xfrm>
          </p:grpSpPr>
          <p:sp>
            <p:nvSpPr>
              <p:cNvPr id="163" name="Line 19">
                <a:extLst>
                  <a:ext uri="{FF2B5EF4-FFF2-40B4-BE49-F238E27FC236}">
                    <a16:creationId xmlns:a16="http://schemas.microsoft.com/office/drawing/2014/main" id="{0623C1BA-14FA-4EEA-EBAA-D190F34612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4" name="Line 20">
                <a:extLst>
                  <a:ext uri="{FF2B5EF4-FFF2-40B4-BE49-F238E27FC236}">
                    <a16:creationId xmlns:a16="http://schemas.microsoft.com/office/drawing/2014/main" id="{AFB3F41A-EEB5-F0F5-1801-E6B6820547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5" name="Line 21">
                <a:extLst>
                  <a:ext uri="{FF2B5EF4-FFF2-40B4-BE49-F238E27FC236}">
                    <a16:creationId xmlns:a16="http://schemas.microsoft.com/office/drawing/2014/main" id="{D039289E-A6AA-BBB3-9CCE-EB740314E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5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6" name="Line 22">
                <a:extLst>
                  <a:ext uri="{FF2B5EF4-FFF2-40B4-BE49-F238E27FC236}">
                    <a16:creationId xmlns:a16="http://schemas.microsoft.com/office/drawing/2014/main" id="{0F1DF1E8-44C8-287C-1016-5A97F2795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332" y="948"/>
                <a:ext cx="20" cy="396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7" name="Line 23">
                <a:extLst>
                  <a:ext uri="{FF2B5EF4-FFF2-40B4-BE49-F238E27FC236}">
                    <a16:creationId xmlns:a16="http://schemas.microsoft.com/office/drawing/2014/main" id="{095E3E36-8693-7DC9-31D4-8BBFEC1AD5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5" name="Group 24">
              <a:extLst>
                <a:ext uri="{FF2B5EF4-FFF2-40B4-BE49-F238E27FC236}">
                  <a16:creationId xmlns:a16="http://schemas.microsoft.com/office/drawing/2014/main" id="{103662BD-8E48-630B-C5ED-7B333AC567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6624" y="4737089"/>
              <a:ext cx="322602" cy="132154"/>
              <a:chOff x="3742" y="1344"/>
              <a:chExt cx="590" cy="151"/>
            </a:xfrm>
          </p:grpSpPr>
          <p:sp>
            <p:nvSpPr>
              <p:cNvPr id="159" name="Line 25">
                <a:extLst>
                  <a:ext uri="{FF2B5EF4-FFF2-40B4-BE49-F238E27FC236}">
                    <a16:creationId xmlns:a16="http://schemas.microsoft.com/office/drawing/2014/main" id="{1B83C4EA-516D-DBF8-EFB3-BF7A5AFAC5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1344"/>
                <a:ext cx="181" cy="151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" name="Line 26">
                <a:extLst>
                  <a:ext uri="{FF2B5EF4-FFF2-40B4-BE49-F238E27FC236}">
                    <a16:creationId xmlns:a16="http://schemas.microsoft.com/office/drawing/2014/main" id="{41593124-FA67-2443-9F95-7AF3ABE306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1344"/>
                <a:ext cx="409" cy="0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1" name="Line 27">
                <a:extLst>
                  <a:ext uri="{FF2B5EF4-FFF2-40B4-BE49-F238E27FC236}">
                    <a16:creationId xmlns:a16="http://schemas.microsoft.com/office/drawing/2014/main" id="{06F931BF-4B91-47C4-126F-7C2A75045E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1344"/>
                <a:ext cx="137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2" name="Line 28">
                <a:extLst>
                  <a:ext uri="{FF2B5EF4-FFF2-40B4-BE49-F238E27FC236}">
                    <a16:creationId xmlns:a16="http://schemas.microsoft.com/office/drawing/2014/main" id="{49B1C9B8-7967-0CC8-9763-19C181C7E1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1344"/>
                <a:ext cx="136" cy="136"/>
              </a:xfrm>
              <a:prstGeom prst="line">
                <a:avLst/>
              </a:prstGeom>
              <a:noFill/>
              <a:ln w="15875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215" name="그룹 214"/>
          <p:cNvGrpSpPr/>
          <p:nvPr/>
        </p:nvGrpSpPr>
        <p:grpSpPr>
          <a:xfrm>
            <a:off x="4095944" y="4453944"/>
            <a:ext cx="1785792" cy="752398"/>
            <a:chOff x="3802504" y="5054783"/>
            <a:chExt cx="1785792" cy="554871"/>
          </a:xfrm>
        </p:grpSpPr>
        <p:grpSp>
          <p:nvGrpSpPr>
            <p:cNvPr id="126" name="Group 29">
              <a:extLst>
                <a:ext uri="{FF2B5EF4-FFF2-40B4-BE49-F238E27FC236}">
                  <a16:creationId xmlns:a16="http://schemas.microsoft.com/office/drawing/2014/main" id="{A8EFAC4B-377B-ECDD-670F-EEEAFB708B2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2504" y="5054783"/>
              <a:ext cx="644656" cy="197793"/>
              <a:chOff x="3515" y="890"/>
              <a:chExt cx="1179" cy="226"/>
            </a:xfrm>
          </p:grpSpPr>
          <p:sp>
            <p:nvSpPr>
              <p:cNvPr id="154" name="AutoShape 30">
                <a:extLst>
                  <a:ext uri="{FF2B5EF4-FFF2-40B4-BE49-F238E27FC236}">
                    <a16:creationId xmlns:a16="http://schemas.microsoft.com/office/drawing/2014/main" id="{B670E8C3-743E-8E35-38FD-327021AA6D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5" y="89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  <a:ln w="9525">
                <a:solidFill>
                  <a:schemeClr val="bg2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5" name="Line 31">
                <a:extLst>
                  <a:ext uri="{FF2B5EF4-FFF2-40B4-BE49-F238E27FC236}">
                    <a16:creationId xmlns:a16="http://schemas.microsoft.com/office/drawing/2014/main" id="{8B4F6C0B-5EB5-09B2-F3FF-A47CEA9436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742" y="935"/>
                <a:ext cx="181" cy="151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6" name="Line 32">
                <a:extLst>
                  <a:ext uri="{FF2B5EF4-FFF2-40B4-BE49-F238E27FC236}">
                    <a16:creationId xmlns:a16="http://schemas.microsoft.com/office/drawing/2014/main" id="{82FDEF36-7E09-BBB1-8CD8-40171F864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409" cy="0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7" name="Line 33">
                <a:extLst>
                  <a:ext uri="{FF2B5EF4-FFF2-40B4-BE49-F238E27FC236}">
                    <a16:creationId xmlns:a16="http://schemas.microsoft.com/office/drawing/2014/main" id="{78BC3956-210D-2226-D9DB-8BD20DA038A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195" y="935"/>
                <a:ext cx="137" cy="136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8" name="Line 34">
                <a:extLst>
                  <a:ext uri="{FF2B5EF4-FFF2-40B4-BE49-F238E27FC236}">
                    <a16:creationId xmlns:a16="http://schemas.microsoft.com/office/drawing/2014/main" id="{9360954E-BD57-F11A-C31F-A10CD8DBC2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969" y="935"/>
                <a:ext cx="136" cy="136"/>
              </a:xfrm>
              <a:prstGeom prst="line">
                <a:avLst/>
              </a:prstGeom>
              <a:noFill/>
              <a:ln w="15875">
                <a:solidFill>
                  <a:schemeClr val="bg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27" name="Group 35">
              <a:extLst>
                <a:ext uri="{FF2B5EF4-FFF2-40B4-BE49-F238E27FC236}">
                  <a16:creationId xmlns:a16="http://schemas.microsoft.com/office/drawing/2014/main" id="{15394866-3006-7E31-E3C4-D388C6C01AE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02504" y="5411861"/>
              <a:ext cx="1785792" cy="197793"/>
              <a:chOff x="2290" y="1570"/>
              <a:chExt cx="3266" cy="226"/>
            </a:xfrm>
          </p:grpSpPr>
          <p:sp>
            <p:nvSpPr>
              <p:cNvPr id="151" name="AutoShape 36">
                <a:extLst>
                  <a:ext uri="{FF2B5EF4-FFF2-40B4-BE49-F238E27FC236}">
                    <a16:creationId xmlns:a16="http://schemas.microsoft.com/office/drawing/2014/main" id="{750DF584-E76A-1D2E-21B4-133C73C8F1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0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2"/>
              </a:solidFill>
              <a:ln w="19050">
                <a:solidFill>
                  <a:schemeClr val="bg2"/>
                </a:solidFill>
              </a:ln>
              <a:ex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52" name="AutoShape 37">
                <a:extLst>
                  <a:ext uri="{FF2B5EF4-FFF2-40B4-BE49-F238E27FC236}">
                    <a16:creationId xmlns:a16="http://schemas.microsoft.com/office/drawing/2014/main" id="{06FF02E3-D9DD-767D-C5D3-D6A3E05473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4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2"/>
              </a:solidFill>
              <a:ln w="19050">
                <a:solidFill>
                  <a:schemeClr val="bg2"/>
                </a:solidFill>
              </a:ln>
              <a:ex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  <p:sp>
            <p:nvSpPr>
              <p:cNvPr id="153" name="AutoShape 38">
                <a:extLst>
                  <a:ext uri="{FF2B5EF4-FFF2-40B4-BE49-F238E27FC236}">
                    <a16:creationId xmlns:a16="http://schemas.microsoft.com/office/drawing/2014/main" id="{AEC5D434-5AED-4FA2-42D0-18360AD18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7" y="1570"/>
                <a:ext cx="1179" cy="226"/>
              </a:xfrm>
              <a:prstGeom prst="parallelogram">
                <a:avLst>
                  <a:gd name="adj" fmla="val 130420"/>
                </a:avLst>
              </a:prstGeom>
              <a:solidFill>
                <a:schemeClr val="accent2"/>
              </a:solidFill>
              <a:ln w="19050">
                <a:solidFill>
                  <a:schemeClr val="bg2"/>
                </a:solidFill>
              </a:ln>
              <a:ex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chemeClr val="lt1"/>
                  </a:solidFill>
                </a:endParaRPr>
              </a:p>
            </p:txBody>
          </p:sp>
        </p:grpSp>
        <p:grpSp>
          <p:nvGrpSpPr>
            <p:cNvPr id="128" name="Group 39">
              <a:extLst>
                <a:ext uri="{FF2B5EF4-FFF2-40B4-BE49-F238E27FC236}">
                  <a16:creationId xmlns:a16="http://schemas.microsoft.com/office/drawing/2014/main" id="{AF4E247B-7409-B008-49CA-1355E127C2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6624" y="5094167"/>
              <a:ext cx="322602" cy="476978"/>
              <a:chOff x="3742" y="935"/>
              <a:chExt cx="590" cy="545"/>
            </a:xfrm>
          </p:grpSpPr>
          <p:sp>
            <p:nvSpPr>
              <p:cNvPr id="146" name="Line 40">
                <a:extLst>
                  <a:ext uri="{FF2B5EF4-FFF2-40B4-BE49-F238E27FC236}">
                    <a16:creationId xmlns:a16="http://schemas.microsoft.com/office/drawing/2014/main" id="{33F5AF53-25DC-34ED-5051-07CE3C392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42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7" name="Line 41">
                <a:extLst>
                  <a:ext uri="{FF2B5EF4-FFF2-40B4-BE49-F238E27FC236}">
                    <a16:creationId xmlns:a16="http://schemas.microsoft.com/office/drawing/2014/main" id="{C54B0692-072D-0590-247E-FE765C7BA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69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8" name="Line 42">
                <a:extLst>
                  <a:ext uri="{FF2B5EF4-FFF2-40B4-BE49-F238E27FC236}">
                    <a16:creationId xmlns:a16="http://schemas.microsoft.com/office/drawing/2014/main" id="{DF76F065-AB4C-80B0-1ABD-18DF0264AF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95" y="1071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9" name="Line 43">
                <a:extLst>
                  <a:ext uri="{FF2B5EF4-FFF2-40B4-BE49-F238E27FC236}">
                    <a16:creationId xmlns:a16="http://schemas.microsoft.com/office/drawing/2014/main" id="{3448B6F7-384E-775A-6F80-E1D46B01ED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32" y="935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0" name="Line 44">
                <a:extLst>
                  <a:ext uri="{FF2B5EF4-FFF2-40B4-BE49-F238E27FC236}">
                    <a16:creationId xmlns:a16="http://schemas.microsoft.com/office/drawing/2014/main" id="{03499E89-B85D-22EC-8CF6-813F4F6CB0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23" y="935"/>
                <a:ext cx="0" cy="409"/>
              </a:xfrm>
              <a:prstGeom prst="line">
                <a:avLst/>
              </a:prstGeom>
              <a:noFill/>
              <a:ln w="9525">
                <a:solidFill>
                  <a:srgbClr val="969696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29" name="AutoShape 45">
              <a:extLst>
                <a:ext uri="{FF2B5EF4-FFF2-40B4-BE49-F238E27FC236}">
                  <a16:creationId xmlns:a16="http://schemas.microsoft.com/office/drawing/2014/main" id="{785A15ED-3053-7957-5008-8312642322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4863" y="5093291"/>
              <a:ext cx="74362" cy="119026"/>
            </a:xfrm>
            <a:prstGeom prst="irregularSeal1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30" name="Group 46">
              <a:extLst>
                <a:ext uri="{FF2B5EF4-FFF2-40B4-BE49-F238E27FC236}">
                  <a16:creationId xmlns:a16="http://schemas.microsoft.com/office/drawing/2014/main" id="{E3D9FBCD-B3D9-6373-F81E-D72A3F7C60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6624" y="5450369"/>
              <a:ext cx="322602" cy="132154"/>
              <a:chOff x="2517" y="2599"/>
              <a:chExt cx="590" cy="151"/>
            </a:xfrm>
          </p:grpSpPr>
          <p:grpSp>
            <p:nvGrpSpPr>
              <p:cNvPr id="140" name="Group 47">
                <a:extLst>
                  <a:ext uri="{FF2B5EF4-FFF2-40B4-BE49-F238E27FC236}">
                    <a16:creationId xmlns:a16="http://schemas.microsoft.com/office/drawing/2014/main" id="{4F6D9552-8D8F-609B-21B3-CA2628B158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7" y="2599"/>
                <a:ext cx="590" cy="151"/>
                <a:chOff x="2517" y="2599"/>
                <a:chExt cx="590" cy="151"/>
              </a:xfrm>
            </p:grpSpPr>
            <p:sp>
              <p:nvSpPr>
                <p:cNvPr id="142" name="Line 48">
                  <a:extLst>
                    <a:ext uri="{FF2B5EF4-FFF2-40B4-BE49-F238E27FC236}">
                      <a16:creationId xmlns:a16="http://schemas.microsoft.com/office/drawing/2014/main" id="{C4420B31-D132-8388-6948-4D5CF33DB4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17" y="2599"/>
                  <a:ext cx="181" cy="151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3" name="Line 49">
                  <a:extLst>
                    <a:ext uri="{FF2B5EF4-FFF2-40B4-BE49-F238E27FC236}">
                      <a16:creationId xmlns:a16="http://schemas.microsoft.com/office/drawing/2014/main" id="{ACA3CE30-A853-2653-A70A-F0D4C3AE750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8" y="2599"/>
                  <a:ext cx="409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4" name="Line 50">
                  <a:extLst>
                    <a:ext uri="{FF2B5EF4-FFF2-40B4-BE49-F238E27FC236}">
                      <a16:creationId xmlns:a16="http://schemas.microsoft.com/office/drawing/2014/main" id="{EA4D6E3C-669B-09B7-F486-2CC8EDB710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0" y="2599"/>
                  <a:ext cx="137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5" name="Line 51">
                  <a:extLst>
                    <a:ext uri="{FF2B5EF4-FFF2-40B4-BE49-F238E27FC236}">
                      <a16:creationId xmlns:a16="http://schemas.microsoft.com/office/drawing/2014/main" id="{B199BDB0-00E9-0BDB-C6FD-7B3F367AAA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4" y="2599"/>
                  <a:ext cx="136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41" name="AutoShape 52">
                <a:extLst>
                  <a:ext uri="{FF2B5EF4-FFF2-40B4-BE49-F238E27FC236}">
                    <a16:creationId xmlns:a16="http://schemas.microsoft.com/office/drawing/2014/main" id="{0D74C9FB-F27A-F077-EA42-97B3A5ADF7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2614"/>
                <a:ext cx="136" cy="136"/>
              </a:xfrm>
              <a:prstGeom prst="irregularSeal1">
                <a:avLst/>
              </a:prstGeom>
              <a:solidFill>
                <a:srgbClr val="0000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131" name="Group 53">
              <a:extLst>
                <a:ext uri="{FF2B5EF4-FFF2-40B4-BE49-F238E27FC236}">
                  <a16:creationId xmlns:a16="http://schemas.microsoft.com/office/drawing/2014/main" id="{96203860-5B25-6CED-FD9F-E6E0DD9B5F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6624" y="5450369"/>
              <a:ext cx="322602" cy="132154"/>
              <a:chOff x="2517" y="2599"/>
              <a:chExt cx="590" cy="151"/>
            </a:xfrm>
          </p:grpSpPr>
          <p:grpSp>
            <p:nvGrpSpPr>
              <p:cNvPr id="134" name="Group 54">
                <a:extLst>
                  <a:ext uri="{FF2B5EF4-FFF2-40B4-BE49-F238E27FC236}">
                    <a16:creationId xmlns:a16="http://schemas.microsoft.com/office/drawing/2014/main" id="{7E5C5319-90F5-2F17-02B8-C6AEBDADF0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517" y="2599"/>
                <a:ext cx="590" cy="151"/>
                <a:chOff x="2517" y="2599"/>
                <a:chExt cx="590" cy="151"/>
              </a:xfrm>
            </p:grpSpPr>
            <p:sp>
              <p:nvSpPr>
                <p:cNvPr id="136" name="Line 55">
                  <a:extLst>
                    <a:ext uri="{FF2B5EF4-FFF2-40B4-BE49-F238E27FC236}">
                      <a16:creationId xmlns:a16="http://schemas.microsoft.com/office/drawing/2014/main" id="{6F6185A6-E7B8-6300-7F28-78BFDAEF58E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517" y="2599"/>
                  <a:ext cx="181" cy="151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7" name="Line 56">
                  <a:extLst>
                    <a:ext uri="{FF2B5EF4-FFF2-40B4-BE49-F238E27FC236}">
                      <a16:creationId xmlns:a16="http://schemas.microsoft.com/office/drawing/2014/main" id="{4829EF1B-9C5D-7AF7-D6FE-5C105CFF65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98" y="2599"/>
                  <a:ext cx="409" cy="0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8" name="Line 57">
                  <a:extLst>
                    <a:ext uri="{FF2B5EF4-FFF2-40B4-BE49-F238E27FC236}">
                      <a16:creationId xmlns:a16="http://schemas.microsoft.com/office/drawing/2014/main" id="{0E54AC4A-FDC5-4FE9-B4DB-EB9EE50B364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970" y="2599"/>
                  <a:ext cx="137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39" name="Line 58">
                  <a:extLst>
                    <a:ext uri="{FF2B5EF4-FFF2-40B4-BE49-F238E27FC236}">
                      <a16:creationId xmlns:a16="http://schemas.microsoft.com/office/drawing/2014/main" id="{74B0D8C0-E6B4-41CE-E5ED-5DF5BD99A4F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744" y="2599"/>
                  <a:ext cx="136" cy="136"/>
                </a:xfrm>
                <a:prstGeom prst="line">
                  <a:avLst/>
                </a:prstGeom>
                <a:noFill/>
                <a:ln w="15875">
                  <a:solidFill>
                    <a:srgbClr val="0000FF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35" name="AutoShape 59">
                <a:extLst>
                  <a:ext uri="{FF2B5EF4-FFF2-40B4-BE49-F238E27FC236}">
                    <a16:creationId xmlns:a16="http://schemas.microsoft.com/office/drawing/2014/main" id="{85062D13-E803-CBF5-DF3A-DDF72DBE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1" y="2614"/>
                <a:ext cx="136" cy="136"/>
              </a:xfrm>
              <a:prstGeom prst="irregularSeal1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</p:grpSp>
      <p:grpSp>
        <p:nvGrpSpPr>
          <p:cNvPr id="182" name="그룹 181">
            <a:extLst>
              <a:ext uri="{FF2B5EF4-FFF2-40B4-BE49-F238E27FC236}">
                <a16:creationId xmlns:a16="http://schemas.microsoft.com/office/drawing/2014/main" id="{F3540736-DDCE-CFD9-2CFD-8B846DF33FA7}"/>
              </a:ext>
            </a:extLst>
          </p:cNvPr>
          <p:cNvGrpSpPr/>
          <p:nvPr/>
        </p:nvGrpSpPr>
        <p:grpSpPr>
          <a:xfrm>
            <a:off x="6563056" y="4463000"/>
            <a:ext cx="1841847" cy="679656"/>
            <a:chOff x="406600" y="2635251"/>
            <a:chExt cx="3571279" cy="1081781"/>
          </a:xfrm>
        </p:grpSpPr>
        <p:sp>
          <p:nvSpPr>
            <p:cNvPr id="183" name="AutoShape 2">
              <a:extLst>
                <a:ext uri="{FF2B5EF4-FFF2-40B4-BE49-F238E27FC236}">
                  <a16:creationId xmlns:a16="http://schemas.microsoft.com/office/drawing/2014/main" id="{6D05EB09-8184-24AD-0B50-B342CC6372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600" y="2635251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4" name="AutoShape 3">
              <a:extLst>
                <a:ext uri="{FF2B5EF4-FFF2-40B4-BE49-F238E27FC236}">
                  <a16:creationId xmlns:a16="http://schemas.microsoft.com/office/drawing/2014/main" id="{BE99EE0C-FC71-7D4C-24FC-146F5F540D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3557" y="2635251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5" name="AutoShape 4">
              <a:extLst>
                <a:ext uri="{FF2B5EF4-FFF2-40B4-BE49-F238E27FC236}">
                  <a16:creationId xmlns:a16="http://schemas.microsoft.com/office/drawing/2014/main" id="{4F4863F4-8AA1-D27E-743C-CDB887F840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73906" y="2692145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6" name="AutoShape 5">
              <a:extLst>
                <a:ext uri="{FF2B5EF4-FFF2-40B4-BE49-F238E27FC236}">
                  <a16:creationId xmlns:a16="http://schemas.microsoft.com/office/drawing/2014/main" id="{288B9C82-C3DA-104A-402A-E3F8EA05D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3383" y="2692145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7" name="Line 6">
              <a:extLst>
                <a:ext uri="{FF2B5EF4-FFF2-40B4-BE49-F238E27FC236}">
                  <a16:creationId xmlns:a16="http://schemas.microsoft.com/office/drawing/2014/main" id="{A91A5160-E6B6-3001-ED2B-DE287DD48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60863" y="2783176"/>
              <a:ext cx="16367" cy="81674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88" name="Group 7">
              <a:extLst>
                <a:ext uri="{FF2B5EF4-FFF2-40B4-BE49-F238E27FC236}">
                  <a16:creationId xmlns:a16="http://schemas.microsoft.com/office/drawing/2014/main" id="{E3AB041F-836E-A0DB-2C38-FC2374F40E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86367" y="2805934"/>
              <a:ext cx="1644438" cy="911098"/>
              <a:chOff x="793" y="1207"/>
              <a:chExt cx="1316" cy="1089"/>
            </a:xfrm>
          </p:grpSpPr>
          <p:sp>
            <p:nvSpPr>
              <p:cNvPr id="191" name="Line 8">
                <a:extLst>
                  <a:ext uri="{FF2B5EF4-FFF2-40B4-BE49-F238E27FC236}">
                    <a16:creationId xmlns:a16="http://schemas.microsoft.com/office/drawing/2014/main" id="{2D509500-BC61-6A07-EBA2-2386E95ECF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1207"/>
                <a:ext cx="0" cy="1089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2" name="Line 9">
                <a:extLst>
                  <a:ext uri="{FF2B5EF4-FFF2-40B4-BE49-F238E27FC236}">
                    <a16:creationId xmlns:a16="http://schemas.microsoft.com/office/drawing/2014/main" id="{E97252A8-72CE-95ED-52CB-0C2F6876EC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1207"/>
                <a:ext cx="0" cy="1089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93" name="Line 10">
                <a:extLst>
                  <a:ext uri="{FF2B5EF4-FFF2-40B4-BE49-F238E27FC236}">
                    <a16:creationId xmlns:a16="http://schemas.microsoft.com/office/drawing/2014/main" id="{BE36A800-62E0-8D81-DA6B-9319DE04A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2296"/>
                <a:ext cx="1316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189" name="Line 11">
              <a:extLst>
                <a:ext uri="{FF2B5EF4-FFF2-40B4-BE49-F238E27FC236}">
                  <a16:creationId xmlns:a16="http://schemas.microsoft.com/office/drawing/2014/main" id="{04E8E5CB-E8F0-2CE8-5374-77791EC69B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7152" y="3212976"/>
              <a:ext cx="113712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0" name="Line 12">
              <a:extLst>
                <a:ext uri="{FF2B5EF4-FFF2-40B4-BE49-F238E27FC236}">
                  <a16:creationId xmlns:a16="http://schemas.microsoft.com/office/drawing/2014/main" id="{497ABE49-C428-91CA-5397-9B20DB39310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30805" y="3212976"/>
              <a:ext cx="113711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5" name="갈매기형 수장 3">
            <a:extLst>
              <a:ext uri="{FF2B5EF4-FFF2-40B4-BE49-F238E27FC236}">
                <a16:creationId xmlns:a16="http://schemas.microsoft.com/office/drawing/2014/main" id="{7F51B95E-6E32-E779-2287-64EBF64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8715" y="3070503"/>
            <a:ext cx="5067863" cy="360000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ko-KR" altLang="en-US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반복적인 결함 관리의 중요성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16" name="갈매기형 수장 3">
            <a:extLst>
              <a:ext uri="{FF2B5EF4-FFF2-40B4-BE49-F238E27FC236}">
                <a16:creationId xmlns:a16="http://schemas.microsoft.com/office/drawing/2014/main" id="{7F51B95E-6E32-E779-2287-64EBF64B20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2368" y="3077865"/>
            <a:ext cx="5067863" cy="360000"/>
          </a:xfrm>
          <a:prstGeom prst="homePlate">
            <a:avLst>
              <a:gd name="adj" fmla="val 0"/>
            </a:avLst>
          </a:prstGeom>
          <a:solidFill>
            <a:schemeClr val="tx2"/>
          </a:solidFill>
          <a:ln w="9525">
            <a:solidFill>
              <a:schemeClr val="tx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anchor="ctr" anchorCtr="0">
            <a:noAutofit/>
          </a:bodyPr>
          <a:lstStyle/>
          <a:p>
            <a:pPr algn="ctr">
              <a:spcBef>
                <a:spcPct val="0"/>
              </a:spcBef>
            </a:pPr>
            <a:r>
              <a:rPr kumimoji="1" lang="en-US" altLang="ko-KR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Tolerance</a:t>
            </a:r>
            <a:r>
              <a:rPr kumimoji="1" lang="ko-KR" altLang="en-US" sz="1400" b="1" kern="0" dirty="0">
                <a:solidFill>
                  <a:schemeClr val="bg1"/>
                </a:solidFill>
                <a:cs typeface="Arial" panose="020B0604020202020204" pitchFamily="34" charset="0"/>
              </a:rPr>
              <a:t>를 이용한 실측 오차 보정</a:t>
            </a:r>
            <a:endParaRPr kumimoji="1" lang="ko-KR" altLang="en-US" sz="1400" b="1" kern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220" name="Rectangle 27">
            <a:extLst>
              <a:ext uri="{FF2B5EF4-FFF2-40B4-BE49-F238E27FC236}">
                <a16:creationId xmlns:a16="http://schemas.microsoft.com/office/drawing/2014/main" id="{A75DF24D-59C8-F279-A6A0-853470952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28144" y="5324056"/>
            <a:ext cx="2376000" cy="684000"/>
          </a:xfrm>
          <a:prstGeom prst="roundRect">
            <a:avLst>
              <a:gd name="adj" fmla="val 0"/>
            </a:avLst>
          </a:prstGeom>
          <a:solidFill>
            <a:srgbClr val="F6F6F6"/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endParaRPr lang="ko-KR" altLang="en-US" sz="1200" b="1" spc="-50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F798EA63-5C20-E4B5-2194-A721DB6F5285}"/>
              </a:ext>
            </a:extLst>
          </p:cNvPr>
          <p:cNvGrpSpPr/>
          <p:nvPr/>
        </p:nvGrpSpPr>
        <p:grpSpPr>
          <a:xfrm>
            <a:off x="9041101" y="4459639"/>
            <a:ext cx="1841847" cy="655600"/>
            <a:chOff x="373608" y="4689765"/>
            <a:chExt cx="3571280" cy="1043491"/>
          </a:xfrm>
        </p:grpSpPr>
        <p:sp>
          <p:nvSpPr>
            <p:cNvPr id="222" name="AutoShape 14">
              <a:extLst>
                <a:ext uri="{FF2B5EF4-FFF2-40B4-BE49-F238E27FC236}">
                  <a16:creationId xmlns:a16="http://schemas.microsoft.com/office/drawing/2014/main" id="{D216BEDA-731B-BC6C-FDD4-B277946993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08" y="4689765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3" name="AutoShape 15">
              <a:extLst>
                <a:ext uri="{FF2B5EF4-FFF2-40B4-BE49-F238E27FC236}">
                  <a16:creationId xmlns:a16="http://schemas.microsoft.com/office/drawing/2014/main" id="{FADCEE38-9C1D-48B3-974E-A0BE58C121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0566" y="4689765"/>
              <a:ext cx="1984322" cy="802841"/>
            </a:xfrm>
            <a:prstGeom prst="parallelogram">
              <a:avLst>
                <a:gd name="adj" fmla="val 62520"/>
              </a:avLst>
            </a:prstGeom>
            <a:gradFill rotWithShape="1">
              <a:gsLst>
                <a:gs pos="0">
                  <a:schemeClr val="bg1"/>
                </a:gs>
                <a:gs pos="100000">
                  <a:srgbClr val="C0C0C0"/>
                </a:gs>
              </a:gsLst>
              <a:lin ang="2700000" scaled="1"/>
            </a:gradFill>
            <a:ln w="12700">
              <a:solidFill>
                <a:schemeClr val="tx1"/>
              </a:solidFill>
              <a:miter lim="800000"/>
              <a:headEnd/>
              <a:tailEnd/>
            </a:ln>
            <a:effectLst>
              <a:outerShdw dist="35921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4" name="AutoShape 16">
              <a:extLst>
                <a:ext uri="{FF2B5EF4-FFF2-40B4-BE49-F238E27FC236}">
                  <a16:creationId xmlns:a16="http://schemas.microsoft.com/office/drawing/2014/main" id="{6B3C1810-67A5-CB1D-ADEC-D30688E98C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0915" y="4746659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5" name="AutoShape 17">
              <a:extLst>
                <a:ext uri="{FF2B5EF4-FFF2-40B4-BE49-F238E27FC236}">
                  <a16:creationId xmlns:a16="http://schemas.microsoft.com/office/drawing/2014/main" id="{3D76AE47-6C15-025E-092E-27D53299D5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70392" y="4746659"/>
              <a:ext cx="169942" cy="171947"/>
            </a:xfrm>
            <a:prstGeom prst="irregularSeal1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6" name="Line 18">
              <a:extLst>
                <a:ext uri="{FF2B5EF4-FFF2-40B4-BE49-F238E27FC236}">
                  <a16:creationId xmlns:a16="http://schemas.microsoft.com/office/drawing/2014/main" id="{435E8A03-A036-0BAB-91FB-0B8DAB712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27872" y="4837690"/>
              <a:ext cx="0" cy="82355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27" name="Group 19">
              <a:extLst>
                <a:ext uri="{FF2B5EF4-FFF2-40B4-BE49-F238E27FC236}">
                  <a16:creationId xmlns:a16="http://schemas.microsoft.com/office/drawing/2014/main" id="{4C3AFDE1-743C-DF33-31CD-9423C5395D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53376" y="4860447"/>
              <a:ext cx="1644438" cy="872809"/>
              <a:chOff x="793" y="1207"/>
              <a:chExt cx="1316" cy="1089"/>
            </a:xfrm>
          </p:grpSpPr>
          <p:sp>
            <p:nvSpPr>
              <p:cNvPr id="236" name="Line 20">
                <a:extLst>
                  <a:ext uri="{FF2B5EF4-FFF2-40B4-BE49-F238E27FC236}">
                    <a16:creationId xmlns:a16="http://schemas.microsoft.com/office/drawing/2014/main" id="{BF2435CF-2715-092D-2880-CEEEA19B52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1207"/>
                <a:ext cx="0" cy="1089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7" name="Line 21">
                <a:extLst>
                  <a:ext uri="{FF2B5EF4-FFF2-40B4-BE49-F238E27FC236}">
                    <a16:creationId xmlns:a16="http://schemas.microsoft.com/office/drawing/2014/main" id="{ADB16B06-1B11-FF3A-4399-980BBB4BC0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09" y="1207"/>
                <a:ext cx="0" cy="1089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238" name="Line 22">
                <a:extLst>
                  <a:ext uri="{FF2B5EF4-FFF2-40B4-BE49-F238E27FC236}">
                    <a16:creationId xmlns:a16="http://schemas.microsoft.com/office/drawing/2014/main" id="{5A61E09A-7410-8E5F-A3B7-C8B6CE754E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3" y="2296"/>
                <a:ext cx="1316" cy="0"/>
              </a:xfrm>
              <a:prstGeom prst="line">
                <a:avLst/>
              </a:prstGeom>
              <a:noFill/>
              <a:ln w="12700">
                <a:solidFill>
                  <a:schemeClr val="folHlink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28" name="Line 23">
              <a:extLst>
                <a:ext uri="{FF2B5EF4-FFF2-40B4-BE49-F238E27FC236}">
                  <a16:creationId xmlns:a16="http://schemas.microsoft.com/office/drawing/2014/main" id="{92297AA9-42B4-40A9-3B87-B4F7FAD417F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697813" y="5589240"/>
              <a:ext cx="113711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29" name="Oval 24">
              <a:extLst>
                <a:ext uri="{FF2B5EF4-FFF2-40B4-BE49-F238E27FC236}">
                  <a16:creationId xmlns:a16="http://schemas.microsoft.com/office/drawing/2014/main" id="{4F7B8418-4AEF-5BB1-0472-4EFBE815FD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7931" y="4689765"/>
              <a:ext cx="339884" cy="2869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0" name="Oval 25">
              <a:extLst>
                <a:ext uri="{FF2B5EF4-FFF2-40B4-BE49-F238E27FC236}">
                  <a16:creationId xmlns:a16="http://schemas.microsoft.com/office/drawing/2014/main" id="{3C4E157C-3617-F281-D499-8A607119E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84684" y="4689765"/>
              <a:ext cx="339884" cy="2869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1" name="Oval 26">
              <a:extLst>
                <a:ext uri="{FF2B5EF4-FFF2-40B4-BE49-F238E27FC236}">
                  <a16:creationId xmlns:a16="http://schemas.microsoft.com/office/drawing/2014/main" id="{04753710-3360-4EA1-EE2F-904AC04B8E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872" y="4689765"/>
              <a:ext cx="339884" cy="286999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2" name="Line 27">
              <a:extLst>
                <a:ext uri="{FF2B5EF4-FFF2-40B4-BE49-F238E27FC236}">
                  <a16:creationId xmlns:a16="http://schemas.microsoft.com/office/drawing/2014/main" id="{04EEF165-3213-2A34-E13E-FEAD6F9EF1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7930" y="4804819"/>
              <a:ext cx="0" cy="856430"/>
            </a:xfrm>
            <a:prstGeom prst="line">
              <a:avLst/>
            </a:prstGeom>
            <a:noFill/>
            <a:ln w="12700">
              <a:solidFill>
                <a:schemeClr val="folHlink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3" name="Line 28">
              <a:extLst>
                <a:ext uri="{FF2B5EF4-FFF2-40B4-BE49-F238E27FC236}">
                  <a16:creationId xmlns:a16="http://schemas.microsoft.com/office/drawing/2014/main" id="{FAE46E21-7A0B-3801-BCFE-74908C423B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67756" y="4861713"/>
              <a:ext cx="0" cy="799535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4" name="Rectangle 29">
              <a:extLst>
                <a:ext uri="{FF2B5EF4-FFF2-40B4-BE49-F238E27FC236}">
                  <a16:creationId xmlns:a16="http://schemas.microsoft.com/office/drawing/2014/main" id="{0C68AD3C-DE5F-B007-CD0D-823D528282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7872" y="4976764"/>
              <a:ext cx="112751" cy="684485"/>
            </a:xfrm>
            <a:prstGeom prst="rect">
              <a:avLst/>
            </a:prstGeom>
            <a:solidFill>
              <a:srgbClr val="969696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35" name="Line 30">
              <a:extLst>
                <a:ext uri="{FF2B5EF4-FFF2-40B4-BE49-F238E27FC236}">
                  <a16:creationId xmlns:a16="http://schemas.microsoft.com/office/drawing/2014/main" id="{4C7D96BC-3F9E-495E-4A81-06E677E5A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14161" y="5589240"/>
              <a:ext cx="113712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42" name="이등변 삼각형 241"/>
          <p:cNvSpPr/>
          <p:nvPr/>
        </p:nvSpPr>
        <p:spPr>
          <a:xfrm rot="5400000">
            <a:off x="8296772" y="4603322"/>
            <a:ext cx="902255" cy="355904"/>
          </a:xfrm>
          <a:prstGeom prst="triangle">
            <a:avLst/>
          </a:prstGeom>
          <a:gradFill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3" name="Text Box 13">
            <a:extLst>
              <a:ext uri="{FF2B5EF4-FFF2-40B4-BE49-F238E27FC236}">
                <a16:creationId xmlns:a16="http://schemas.microsoft.com/office/drawing/2014/main" id="{2B9B9E34-4039-C972-F221-1D7E80B3B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2786" y="5334741"/>
            <a:ext cx="2383906" cy="68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defTabSz="914400" fontAlgn="ctr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 altLang="ko-KR" sz="1100" dirty="0" smtClean="0">
                <a:latin typeface="+mn-ea"/>
              </a:rPr>
              <a:t>Defect </a:t>
            </a:r>
            <a:r>
              <a:rPr lang="ko-KR" altLang="en-US" sz="1100" dirty="0">
                <a:latin typeface="+mn-ea"/>
              </a:rPr>
              <a:t>의 위치가 실제 같으나 수치상 차이로 동일 </a:t>
            </a:r>
            <a:r>
              <a:rPr lang="en-US" altLang="ko-KR" sz="1100" dirty="0">
                <a:latin typeface="+mn-ea"/>
              </a:rPr>
              <a:t>Defect</a:t>
            </a:r>
            <a:r>
              <a:rPr lang="ko-KR" altLang="en-US" sz="1100" dirty="0">
                <a:latin typeface="+mn-ea"/>
              </a:rPr>
              <a:t>으로 </a:t>
            </a:r>
            <a:r>
              <a:rPr lang="ko-KR" altLang="en-US" sz="1100" dirty="0" err="1" smtClean="0">
                <a:latin typeface="+mn-ea"/>
              </a:rPr>
              <a:t>인식못함</a:t>
            </a:r>
            <a:endParaRPr lang="ko-KR" altLang="en-US" sz="1100" dirty="0">
              <a:latin typeface="+mn-ea"/>
            </a:endParaRPr>
          </a:p>
        </p:txBody>
      </p:sp>
      <p:sp>
        <p:nvSpPr>
          <p:cNvPr id="244" name="Text Box 31">
            <a:extLst>
              <a:ext uri="{FF2B5EF4-FFF2-40B4-BE49-F238E27FC236}">
                <a16:creationId xmlns:a16="http://schemas.microsoft.com/office/drawing/2014/main" id="{0A110B8B-895E-C536-71CA-AE5CF1591E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35823" y="5334741"/>
            <a:ext cx="2417845" cy="68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R="0" lvl="0" defTabSz="914400" font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Tx/>
              <a:tabLst/>
              <a:defRPr/>
            </a:pPr>
            <a:r>
              <a:rPr lang="en-US" altLang="ko-KR" sz="1100" dirty="0" smtClean="0">
                <a:latin typeface="+mn-ea"/>
              </a:rPr>
              <a:t>Tolerance </a:t>
            </a:r>
            <a:r>
              <a:rPr lang="ko-KR" altLang="en-US" sz="1100" dirty="0">
                <a:latin typeface="+mn-ea"/>
              </a:rPr>
              <a:t>적용으로 수치상 차이가 발생한 </a:t>
            </a:r>
            <a:r>
              <a:rPr lang="en-US" altLang="ko-KR" sz="1100" dirty="0">
                <a:latin typeface="+mn-ea"/>
              </a:rPr>
              <a:t>Defect</a:t>
            </a:r>
            <a:r>
              <a:rPr lang="ko-KR" altLang="en-US" sz="1100" dirty="0">
                <a:latin typeface="+mn-ea"/>
              </a:rPr>
              <a:t>을</a:t>
            </a:r>
            <a:r>
              <a:rPr lang="en-US" altLang="ko-KR" sz="1100" dirty="0">
                <a:latin typeface="+mn-ea"/>
              </a:rPr>
              <a:t> </a:t>
            </a:r>
            <a:r>
              <a:rPr lang="ko-KR" altLang="en-US" sz="1100" dirty="0">
                <a:latin typeface="+mn-ea"/>
              </a:rPr>
              <a:t>동일 </a:t>
            </a:r>
            <a:r>
              <a:rPr lang="en-US" altLang="ko-KR" sz="1100" dirty="0">
                <a:latin typeface="+mn-ea"/>
              </a:rPr>
              <a:t>Defect</a:t>
            </a:r>
            <a:r>
              <a:rPr lang="ko-KR" altLang="en-US" sz="1100" dirty="0">
                <a:latin typeface="+mn-ea"/>
              </a:rPr>
              <a:t>로 </a:t>
            </a:r>
            <a:r>
              <a:rPr lang="ko-KR" altLang="en-US" sz="1100" dirty="0" smtClean="0">
                <a:latin typeface="+mn-ea"/>
              </a:rPr>
              <a:t> </a:t>
            </a:r>
            <a:r>
              <a:rPr lang="en-US" altLang="ko-KR" sz="1100" dirty="0" smtClean="0">
                <a:latin typeface="+mn-ea"/>
              </a:rPr>
              <a:t/>
            </a:r>
            <a:br>
              <a:rPr lang="en-US" altLang="ko-KR" sz="1100" dirty="0" smtClean="0">
                <a:latin typeface="+mn-ea"/>
              </a:rPr>
            </a:br>
            <a:r>
              <a:rPr lang="ko-KR" altLang="en-US" sz="1100" dirty="0" smtClean="0">
                <a:latin typeface="+mn-ea"/>
              </a:rPr>
              <a:t>인식하여</a:t>
            </a:r>
            <a:r>
              <a:rPr lang="en-US" altLang="ko-KR" sz="1100" dirty="0" smtClean="0">
                <a:latin typeface="+mn-ea"/>
              </a:rPr>
              <a:t> Repeat </a:t>
            </a:r>
            <a:r>
              <a:rPr lang="en-US" altLang="ko-KR" sz="1100" dirty="0">
                <a:latin typeface="+mn-ea"/>
              </a:rPr>
              <a:t>Defect </a:t>
            </a:r>
            <a:r>
              <a:rPr lang="ko-KR" altLang="en-US" sz="1100" dirty="0">
                <a:latin typeface="+mn-ea"/>
              </a:rPr>
              <a:t>검출</a:t>
            </a:r>
          </a:p>
        </p:txBody>
      </p:sp>
    </p:spTree>
    <p:extLst>
      <p:ext uri="{BB962C8B-B14F-4D97-AF65-F5344CB8AC3E}">
        <p14:creationId xmlns:p14="http://schemas.microsoft.com/office/powerpoint/2010/main" val="2666921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38" name="모서리가 둥근 직사각형 37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39" name="그룹 38"/>
            <p:cNvGrpSpPr/>
            <p:nvPr/>
          </p:nvGrpSpPr>
          <p:grpSpPr>
            <a:xfrm>
              <a:off x="884117" y="2647960"/>
              <a:ext cx="2584797" cy="338554"/>
              <a:chOff x="884117" y="2647960"/>
              <a:chExt cx="2584797" cy="338554"/>
            </a:xfrm>
          </p:grpSpPr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25489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Die Stack Gallery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41" name="그룹 40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31FFE11A-E7E8-85CB-3C00-3C0D202EFFD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4402" y="4453777"/>
            <a:ext cx="1451389" cy="1723807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CAC70CE-5E96-C3AF-73C8-967D77C924F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14894" y="3675229"/>
            <a:ext cx="1490405" cy="54261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E8161E68-40BD-F256-8F33-4652309027C9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401464" y="2907879"/>
            <a:ext cx="717266" cy="531415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B8EFB700-82F5-26BD-DD50-4D859C25621F}"/>
              </a:ext>
            </a:extLst>
          </p:cNvPr>
          <p:cNvSpPr txBox="1"/>
          <p:nvPr/>
        </p:nvSpPr>
        <p:spPr>
          <a:xfrm>
            <a:off x="7494602" y="4270632"/>
            <a:ext cx="5309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rPr>
              <a:t>3 X 5</a:t>
            </a:r>
            <a:endParaRPr lang="ko-KR" altLang="en-US" sz="1100" dirty="0">
              <a:latin typeface="Microsoft YaHei" panose="020B0503020204020204" pitchFamily="34" charset="-122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0D84B7-3D95-CB74-8925-9E4CC7E055DB}"/>
              </a:ext>
            </a:extLst>
          </p:cNvPr>
          <p:cNvSpPr txBox="1"/>
          <p:nvPr/>
        </p:nvSpPr>
        <p:spPr>
          <a:xfrm>
            <a:off x="7494602" y="3486947"/>
            <a:ext cx="5309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solidFill>
                  <a:prstClr val="black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/>
              </a:rPr>
              <a:t>2 X 1</a:t>
            </a:r>
            <a:endParaRPr lang="ko-KR" altLang="en-US" sz="1100" dirty="0">
              <a:latin typeface="Microsoft YaHei" panose="020B0503020204020204" pitchFamily="34" charset="-122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58FAAB5-1F34-EE67-3B43-576AEA61A1A2}"/>
              </a:ext>
            </a:extLst>
          </p:cNvPr>
          <p:cNvSpPr txBox="1"/>
          <p:nvPr/>
        </p:nvSpPr>
        <p:spPr>
          <a:xfrm>
            <a:off x="7494602" y="2670290"/>
            <a:ext cx="53098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Die</a:t>
            </a:r>
            <a:endParaRPr lang="ko-KR" altLang="en-US" sz="1100" dirty="0">
              <a:latin typeface="Microsoft YaHei" panose="020B0503020204020204" pitchFamily="34" charset="-122"/>
              <a:ea typeface="맑은 고딕" panose="020B0503020000020004" pitchFamily="50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6858009-4B40-C157-A9EF-C70779F4E75C}"/>
              </a:ext>
            </a:extLst>
          </p:cNvPr>
          <p:cNvSpPr txBox="1"/>
          <p:nvPr/>
        </p:nvSpPr>
        <p:spPr>
          <a:xfrm>
            <a:off x="902117" y="3061944"/>
            <a:ext cx="5320775" cy="295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 fontAlgn="ctr">
              <a:lnSpc>
                <a:spcPct val="110000"/>
              </a:lnSpc>
              <a:buClr>
                <a:schemeClr val="tx2"/>
              </a:buClr>
              <a:defRPr/>
            </a:pPr>
            <a:r>
              <a:rPr lang="en-US" altLang="ko-KR" sz="1200" dirty="0">
                <a:latin typeface="+mn-ea"/>
              </a:rPr>
              <a:t>※ </a:t>
            </a:r>
            <a:r>
              <a:rPr lang="ko-KR" altLang="en-US" sz="1200" dirty="0" err="1">
                <a:latin typeface="+mn-ea"/>
              </a:rPr>
              <a:t>노광</a:t>
            </a:r>
            <a:r>
              <a:rPr lang="ko-KR" altLang="en-US" sz="1200" dirty="0">
                <a:latin typeface="+mn-ea"/>
              </a:rPr>
              <a:t> </a:t>
            </a:r>
            <a:r>
              <a:rPr lang="en-US" altLang="ko-KR" sz="1200" dirty="0">
                <a:latin typeface="+mn-ea"/>
              </a:rPr>
              <a:t>Shot </a:t>
            </a:r>
            <a:r>
              <a:rPr lang="ko-KR" altLang="en-US" sz="1200" dirty="0">
                <a:latin typeface="+mn-ea"/>
              </a:rPr>
              <a:t>또는 외곽 </a:t>
            </a:r>
            <a:r>
              <a:rPr lang="en-US" altLang="ko-KR" sz="1200" dirty="0">
                <a:latin typeface="+mn-ea"/>
              </a:rPr>
              <a:t>Die </a:t>
            </a:r>
            <a:r>
              <a:rPr lang="ko-KR" altLang="en-US" sz="1200" dirty="0">
                <a:latin typeface="+mn-ea"/>
              </a:rPr>
              <a:t>별로 중첩하여 반복적으로 나타나는 결함 분석</a:t>
            </a:r>
          </a:p>
        </p:txBody>
      </p:sp>
      <p:pic>
        <p:nvPicPr>
          <p:cNvPr id="26" name="그림 25">
            <a:extLst>
              <a:ext uri="{FF2B5EF4-FFF2-40B4-BE49-F238E27FC236}">
                <a16:creationId xmlns:a16="http://schemas.microsoft.com/office/drawing/2014/main" id="{203D14DA-9E98-987D-CE5B-9BD6D66F9E7A}"/>
              </a:ext>
            </a:extLst>
          </p:cNvPr>
          <p:cNvPicPr preferRelativeResize="0"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672" y="4716732"/>
            <a:ext cx="2108787" cy="1359207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0E6C037A-335C-B7AA-029C-68C9E63EDC60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725672" y="2965563"/>
            <a:ext cx="2109476" cy="1358250"/>
          </a:xfrm>
          <a:prstGeom prst="rect">
            <a:avLst/>
          </a:prstGeom>
          <a:ln>
            <a:solidFill>
              <a:schemeClr val="bg1">
                <a:lumMod val="65000"/>
              </a:schemeClr>
            </a:solidFill>
          </a:ln>
        </p:spPr>
      </p:pic>
      <p:sp>
        <p:nvSpPr>
          <p:cNvPr id="28" name="object 46">
            <a:extLst>
              <a:ext uri="{FF2B5EF4-FFF2-40B4-BE49-F238E27FC236}">
                <a16:creationId xmlns:a16="http://schemas.microsoft.com/office/drawing/2014/main" id="{1D07DD0B-E72A-35A9-2877-6417096D0692}"/>
              </a:ext>
            </a:extLst>
          </p:cNvPr>
          <p:cNvSpPr>
            <a:spLocks/>
          </p:cNvSpPr>
          <p:nvPr/>
        </p:nvSpPr>
        <p:spPr>
          <a:xfrm>
            <a:off x="8725672" y="2799237"/>
            <a:ext cx="2108786" cy="153272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5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Die Stack Analysis</a:t>
            </a:r>
            <a:endParaRPr lang="ko-KR" altLang="en-US" sz="105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Microsoft YaHei" panose="020B0503020204020204" pitchFamily="34" charset="-122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29" name="object 46">
            <a:extLst>
              <a:ext uri="{FF2B5EF4-FFF2-40B4-BE49-F238E27FC236}">
                <a16:creationId xmlns:a16="http://schemas.microsoft.com/office/drawing/2014/main" id="{8043B744-1710-E7F0-6E7E-0028877775FB}"/>
              </a:ext>
            </a:extLst>
          </p:cNvPr>
          <p:cNvSpPr>
            <a:spLocks/>
          </p:cNvSpPr>
          <p:nvPr/>
        </p:nvSpPr>
        <p:spPr>
          <a:xfrm>
            <a:off x="8725672" y="4557849"/>
            <a:ext cx="2108786" cy="153272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algn="ctr"/>
            <a:r>
              <a:rPr lang="en-US" altLang="ko-KR" sz="105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Die Stack Gallery</a:t>
            </a:r>
            <a:endParaRPr lang="ko-KR" altLang="en-US" sz="105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Microsoft YaHei" panose="020B0503020204020204" pitchFamily="34" charset="-122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849284" y="3525711"/>
            <a:ext cx="3669324" cy="2470036"/>
            <a:chOff x="1517857" y="3160033"/>
            <a:chExt cx="4549974" cy="3062853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796B9776-8629-F5FF-B198-52F23BB0C71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739316" y="3707655"/>
              <a:ext cx="2947142" cy="2416767"/>
            </a:xfrm>
            <a:prstGeom prst="rect">
              <a:avLst/>
            </a:prstGeom>
            <a:ln>
              <a:noFill/>
            </a:ln>
          </p:spPr>
        </p:pic>
        <p:sp>
          <p:nvSpPr>
            <p:cNvPr id="9" name="오른쪽 화살표 160">
              <a:extLst>
                <a:ext uri="{FF2B5EF4-FFF2-40B4-BE49-F238E27FC236}">
                  <a16:creationId xmlns:a16="http://schemas.microsoft.com/office/drawing/2014/main" id="{D59212FC-D948-D56D-C902-FD9E48D6ED43}"/>
                </a:ext>
              </a:extLst>
            </p:cNvPr>
            <p:cNvSpPr/>
            <p:nvPr/>
          </p:nvSpPr>
          <p:spPr bwMode="auto">
            <a:xfrm rot="16200000">
              <a:off x="2700029" y="3705820"/>
              <a:ext cx="446357" cy="292191"/>
            </a:xfrm>
            <a:prstGeom prst="rightArrow">
              <a:avLst>
                <a:gd name="adj1" fmla="val 52010"/>
                <a:gd name="adj2" fmla="val 156754"/>
              </a:avLst>
            </a:prstGeom>
            <a:gradFill flip="none" rotWithShape="1">
              <a:gsLst>
                <a:gs pos="0">
                  <a:srgbClr val="FFFF99"/>
                </a:gs>
                <a:gs pos="100000">
                  <a:srgbClr val="FFFFCC">
                    <a:alpha val="0"/>
                  </a:srgbClr>
                </a:gs>
              </a:gsLst>
              <a:lin ang="10800000" scaled="1"/>
              <a:tileRect/>
            </a:gradFill>
            <a:ln>
              <a:noFill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endParaRPr lang="ko-KR" altLang="en-US" b="0">
                <a:solidFill>
                  <a:srgbClr val="000000"/>
                </a:solidFill>
                <a:latin typeface="굴림" pitchFamily="50" charset="-127"/>
                <a:ea typeface="굴림" pitchFamily="50" charset="-127"/>
              </a:endParaRPr>
            </a:p>
          </p:txBody>
        </p:sp>
        <p:sp>
          <p:nvSpPr>
            <p:cNvPr id="10" name="Freeform 1368">
              <a:extLst>
                <a:ext uri="{FF2B5EF4-FFF2-40B4-BE49-F238E27FC236}">
                  <a16:creationId xmlns:a16="http://schemas.microsoft.com/office/drawing/2014/main" id="{4A976556-1CE0-7AC1-A074-534C24F2D4E4}"/>
                </a:ext>
              </a:extLst>
            </p:cNvPr>
            <p:cNvSpPr>
              <a:spLocks/>
            </p:cNvSpPr>
            <p:nvPr/>
          </p:nvSpPr>
          <p:spPr bwMode="auto">
            <a:xfrm rot="5400000">
              <a:off x="2902609" y="3459899"/>
              <a:ext cx="41197" cy="292190"/>
            </a:xfrm>
            <a:custGeom>
              <a:avLst/>
              <a:gdLst>
                <a:gd name="T0" fmla="*/ 0 w 81"/>
                <a:gd name="T1" fmla="*/ 0 h 225"/>
                <a:gd name="T2" fmla="*/ 0 w 81"/>
                <a:gd name="T3" fmla="*/ 225 h 225"/>
                <a:gd name="T4" fmla="*/ 81 w 81"/>
                <a:gd name="T5" fmla="*/ 220 h 225"/>
                <a:gd name="T6" fmla="*/ 81 w 81"/>
                <a:gd name="T7" fmla="*/ 0 h 225"/>
                <a:gd name="T8" fmla="*/ 0 w 81"/>
                <a:gd name="T9" fmla="*/ 0 h 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1" h="225">
                  <a:moveTo>
                    <a:pt x="0" y="0"/>
                  </a:moveTo>
                  <a:lnTo>
                    <a:pt x="0" y="225"/>
                  </a:lnTo>
                  <a:lnTo>
                    <a:pt x="81" y="220"/>
                  </a:lnTo>
                  <a:lnTo>
                    <a:pt x="8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19050">
              <a:solidFill>
                <a:srgbClr val="37588E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AutoShape 11">
              <a:extLst>
                <a:ext uri="{FF2B5EF4-FFF2-40B4-BE49-F238E27FC236}">
                  <a16:creationId xmlns:a16="http://schemas.microsoft.com/office/drawing/2014/main" id="{E391C486-E61D-5043-5206-38B4E1DC9B9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 flipV="1">
              <a:off x="2698662" y="3351088"/>
              <a:ext cx="449089" cy="224145"/>
            </a:xfrm>
            <a:prstGeom prst="triangle">
              <a:avLst>
                <a:gd name="adj" fmla="val 49912"/>
              </a:avLst>
            </a:prstGeom>
            <a:gradFill rotWithShape="1">
              <a:gsLst>
                <a:gs pos="10000">
                  <a:srgbClr val="FFFF00"/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lIns="90488" tIns="44450" rIns="90488" bIns="44450" anchor="ctr"/>
            <a:lstStyle/>
            <a:p>
              <a:endParaRPr lang="ko-KR" altLang="en-US" sz="11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5DA48BF1-75D8-403E-66AB-81A3616AE064}"/>
                </a:ext>
              </a:extLst>
            </p:cNvPr>
            <p:cNvGrpSpPr/>
            <p:nvPr/>
          </p:nvGrpSpPr>
          <p:grpSpPr>
            <a:xfrm rot="5400000">
              <a:off x="2807107" y="3051590"/>
              <a:ext cx="232200" cy="449086"/>
              <a:chOff x="12293600" y="1933576"/>
              <a:chExt cx="341313" cy="379413"/>
            </a:xfrm>
          </p:grpSpPr>
          <p:sp>
            <p:nvSpPr>
              <p:cNvPr id="30" name="Freeform 1363">
                <a:extLst>
                  <a:ext uri="{FF2B5EF4-FFF2-40B4-BE49-F238E27FC236}">
                    <a16:creationId xmlns:a16="http://schemas.microsoft.com/office/drawing/2014/main" id="{A3E71A33-DF05-1CDD-83D5-0CFD4BDCCF9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593638" y="2049463"/>
                <a:ext cx="41275" cy="150813"/>
              </a:xfrm>
              <a:custGeom>
                <a:avLst/>
                <a:gdLst>
                  <a:gd name="T0" fmla="*/ 0 w 53"/>
                  <a:gd name="T1" fmla="*/ 0 h 192"/>
                  <a:gd name="T2" fmla="*/ 0 w 53"/>
                  <a:gd name="T3" fmla="*/ 0 h 192"/>
                  <a:gd name="T4" fmla="*/ 5 w 53"/>
                  <a:gd name="T5" fmla="*/ 3 h 192"/>
                  <a:gd name="T6" fmla="*/ 16 w 53"/>
                  <a:gd name="T7" fmla="*/ 15 h 192"/>
                  <a:gd name="T8" fmla="*/ 31 w 53"/>
                  <a:gd name="T9" fmla="*/ 31 h 192"/>
                  <a:gd name="T10" fmla="*/ 38 w 53"/>
                  <a:gd name="T11" fmla="*/ 41 h 192"/>
                  <a:gd name="T12" fmla="*/ 45 w 53"/>
                  <a:gd name="T13" fmla="*/ 53 h 192"/>
                  <a:gd name="T14" fmla="*/ 50 w 53"/>
                  <a:gd name="T15" fmla="*/ 66 h 192"/>
                  <a:gd name="T16" fmla="*/ 53 w 53"/>
                  <a:gd name="T17" fmla="*/ 81 h 192"/>
                  <a:gd name="T18" fmla="*/ 53 w 53"/>
                  <a:gd name="T19" fmla="*/ 97 h 192"/>
                  <a:gd name="T20" fmla="*/ 51 w 53"/>
                  <a:gd name="T21" fmla="*/ 114 h 192"/>
                  <a:gd name="T22" fmla="*/ 45 w 53"/>
                  <a:gd name="T23" fmla="*/ 132 h 192"/>
                  <a:gd name="T24" fmla="*/ 36 w 53"/>
                  <a:gd name="T25" fmla="*/ 150 h 192"/>
                  <a:gd name="T26" fmla="*/ 21 w 53"/>
                  <a:gd name="T27" fmla="*/ 170 h 192"/>
                  <a:gd name="T28" fmla="*/ 2 w 53"/>
                  <a:gd name="T29" fmla="*/ 192 h 192"/>
                  <a:gd name="T30" fmla="*/ 0 w 53"/>
                  <a:gd name="T31" fmla="*/ 0 h 192"/>
                  <a:gd name="T32" fmla="*/ 0 w 53"/>
                  <a:gd name="T33" fmla="*/ 0 h 192"/>
                  <a:gd name="T34" fmla="*/ 0 w 53"/>
                  <a:gd name="T35" fmla="*/ 0 h 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53" h="192">
                    <a:moveTo>
                      <a:pt x="0" y="0"/>
                    </a:moveTo>
                    <a:lnTo>
                      <a:pt x="0" y="0"/>
                    </a:lnTo>
                    <a:lnTo>
                      <a:pt x="5" y="3"/>
                    </a:lnTo>
                    <a:lnTo>
                      <a:pt x="16" y="15"/>
                    </a:lnTo>
                    <a:lnTo>
                      <a:pt x="31" y="31"/>
                    </a:lnTo>
                    <a:lnTo>
                      <a:pt x="38" y="41"/>
                    </a:lnTo>
                    <a:lnTo>
                      <a:pt x="45" y="53"/>
                    </a:lnTo>
                    <a:lnTo>
                      <a:pt x="50" y="66"/>
                    </a:lnTo>
                    <a:lnTo>
                      <a:pt x="53" y="81"/>
                    </a:lnTo>
                    <a:lnTo>
                      <a:pt x="53" y="97"/>
                    </a:lnTo>
                    <a:lnTo>
                      <a:pt x="51" y="114"/>
                    </a:lnTo>
                    <a:lnTo>
                      <a:pt x="45" y="132"/>
                    </a:lnTo>
                    <a:lnTo>
                      <a:pt x="36" y="150"/>
                    </a:lnTo>
                    <a:lnTo>
                      <a:pt x="21" y="170"/>
                    </a:lnTo>
                    <a:lnTo>
                      <a:pt x="2" y="192"/>
                    </a:lnTo>
                    <a:lnTo>
                      <a:pt x="0" y="0"/>
                    </a:lnTo>
                    <a:close/>
                    <a:moveTo>
                      <a:pt x="0" y="0"/>
                    </a:move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1" name="Line 1365">
                <a:extLst>
                  <a:ext uri="{FF2B5EF4-FFF2-40B4-BE49-F238E27FC236}">
                    <a16:creationId xmlns:a16="http://schemas.microsoft.com/office/drawing/2014/main" id="{426CC599-DAEC-935F-40EB-E05D73EC99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593638" y="2049463"/>
                <a:ext cx="0" cy="0"/>
              </a:xfrm>
              <a:prstGeom prst="line">
                <a:avLst/>
              </a:prstGeom>
              <a:noFill/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2" name="Line 1367">
                <a:extLst>
                  <a:ext uri="{FF2B5EF4-FFF2-40B4-BE49-F238E27FC236}">
                    <a16:creationId xmlns:a16="http://schemas.microsoft.com/office/drawing/2014/main" id="{1E479209-99E7-4000-26F4-08434B7770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622213" y="2009776"/>
                <a:ext cx="0" cy="0"/>
              </a:xfrm>
              <a:prstGeom prst="line">
                <a:avLst/>
              </a:prstGeom>
              <a:noFill/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3" name="Freeform 1368">
                <a:extLst>
                  <a:ext uri="{FF2B5EF4-FFF2-40B4-BE49-F238E27FC236}">
                    <a16:creationId xmlns:a16="http://schemas.microsoft.com/office/drawing/2014/main" id="{E1BD1CC3-D6BF-8B1F-98AC-FE642AC805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93600" y="2043113"/>
                <a:ext cx="63500" cy="179388"/>
              </a:xfrm>
              <a:custGeom>
                <a:avLst/>
                <a:gdLst>
                  <a:gd name="T0" fmla="*/ 0 w 81"/>
                  <a:gd name="T1" fmla="*/ 0 h 225"/>
                  <a:gd name="T2" fmla="*/ 0 w 81"/>
                  <a:gd name="T3" fmla="*/ 225 h 225"/>
                  <a:gd name="T4" fmla="*/ 81 w 81"/>
                  <a:gd name="T5" fmla="*/ 220 h 225"/>
                  <a:gd name="T6" fmla="*/ 81 w 81"/>
                  <a:gd name="T7" fmla="*/ 0 h 225"/>
                  <a:gd name="T8" fmla="*/ 0 w 81"/>
                  <a:gd name="T9" fmla="*/ 0 h 2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1" h="225">
                    <a:moveTo>
                      <a:pt x="0" y="0"/>
                    </a:moveTo>
                    <a:lnTo>
                      <a:pt x="0" y="225"/>
                    </a:lnTo>
                    <a:lnTo>
                      <a:pt x="81" y="220"/>
                    </a:lnTo>
                    <a:lnTo>
                      <a:pt x="8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4" name="Freeform 1369">
                <a:extLst>
                  <a:ext uri="{FF2B5EF4-FFF2-40B4-BE49-F238E27FC236}">
                    <a16:creationId xmlns:a16="http://schemas.microsoft.com/office/drawing/2014/main" id="{7DDA58F3-07FB-7854-33B7-041E09C91A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357100" y="1933576"/>
                <a:ext cx="206375" cy="379413"/>
              </a:xfrm>
              <a:custGeom>
                <a:avLst/>
                <a:gdLst>
                  <a:gd name="T0" fmla="*/ 42 w 260"/>
                  <a:gd name="T1" fmla="*/ 138 h 479"/>
                  <a:gd name="T2" fmla="*/ 0 w 260"/>
                  <a:gd name="T3" fmla="*/ 138 h 479"/>
                  <a:gd name="T4" fmla="*/ 0 w 260"/>
                  <a:gd name="T5" fmla="*/ 358 h 479"/>
                  <a:gd name="T6" fmla="*/ 50 w 260"/>
                  <a:gd name="T7" fmla="*/ 356 h 479"/>
                  <a:gd name="T8" fmla="*/ 260 w 260"/>
                  <a:gd name="T9" fmla="*/ 479 h 479"/>
                  <a:gd name="T10" fmla="*/ 260 w 260"/>
                  <a:gd name="T11" fmla="*/ 0 h 479"/>
                  <a:gd name="T12" fmla="*/ 42 w 260"/>
                  <a:gd name="T13" fmla="*/ 138 h 4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60" h="479">
                    <a:moveTo>
                      <a:pt x="42" y="138"/>
                    </a:moveTo>
                    <a:lnTo>
                      <a:pt x="0" y="138"/>
                    </a:lnTo>
                    <a:lnTo>
                      <a:pt x="0" y="358"/>
                    </a:lnTo>
                    <a:lnTo>
                      <a:pt x="50" y="356"/>
                    </a:lnTo>
                    <a:lnTo>
                      <a:pt x="260" y="479"/>
                    </a:lnTo>
                    <a:lnTo>
                      <a:pt x="260" y="0"/>
                    </a:lnTo>
                    <a:lnTo>
                      <a:pt x="42" y="138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37588E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p:grp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3655059E-C867-E379-14C9-AFB1CC7A6B7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4954" y="3392233"/>
              <a:ext cx="822877" cy="626552"/>
            </a:xfrm>
            <a:prstGeom prst="rect">
              <a:avLst/>
            </a:prstGeom>
          </p:spPr>
        </p:pic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628A0D3-3681-0A08-84C4-B47D671069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4954" y="4098343"/>
              <a:ext cx="822877" cy="626552"/>
            </a:xfrm>
            <a:prstGeom prst="rect">
              <a:avLst/>
            </a:prstGeom>
          </p:spPr>
        </p:pic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E8851260-EE79-B291-766A-DBE6AB974D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4954" y="4804454"/>
              <a:ext cx="822877" cy="626552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2EEF28E1-94FB-1CA4-8AB6-813DC4FD92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5244954" y="5510566"/>
              <a:ext cx="822877" cy="626552"/>
            </a:xfrm>
            <a:prstGeom prst="rect">
              <a:avLst/>
            </a:prstGeom>
          </p:spPr>
        </p:pic>
        <p:sp>
          <p:nvSpPr>
            <p:cNvPr id="20" name="도형 4">
              <a:extLst>
                <a:ext uri="{FF2B5EF4-FFF2-40B4-BE49-F238E27FC236}">
                  <a16:creationId xmlns:a16="http://schemas.microsoft.com/office/drawing/2014/main" id="{76538F8A-3A50-01A1-804C-EAAB4EF1A5D7}"/>
                </a:ext>
              </a:extLst>
            </p:cNvPr>
            <p:cNvSpPr/>
            <p:nvPr/>
          </p:nvSpPr>
          <p:spPr>
            <a:xfrm rot="21295439">
              <a:off x="4182811" y="4561419"/>
              <a:ext cx="1022015" cy="518658"/>
            </a:xfrm>
            <a:prstGeom prst="swooshArrow">
              <a:avLst>
                <a:gd name="adj1" fmla="val 25000"/>
                <a:gd name="adj2" fmla="val 25000"/>
              </a:avLst>
            </a:prstGeom>
            <a:gradFill>
              <a:gsLst>
                <a:gs pos="75300">
                  <a:srgbClr val="F5F6F9"/>
                </a:gs>
                <a:gs pos="0">
                  <a:schemeClr val="tx2">
                    <a:lumMod val="75000"/>
                  </a:schemeClr>
                </a:gs>
                <a:gs pos="100000">
                  <a:schemeClr val="bg1">
                    <a:alpha val="0"/>
                  </a:schemeClr>
                </a:gs>
              </a:gsLst>
              <a:lin ang="10800000" scaled="1"/>
            </a:gra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</p: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C8B976FC-32C2-5FAE-52FF-7E80BE7B6CE4}"/>
                </a:ext>
              </a:extLst>
            </p:cNvPr>
            <p:cNvSpPr/>
            <p:nvPr/>
          </p:nvSpPr>
          <p:spPr>
            <a:xfrm>
              <a:off x="1517857" y="5727586"/>
              <a:ext cx="952294" cy="495300"/>
            </a:xfrm>
            <a:custGeom>
              <a:avLst/>
              <a:gdLst>
                <a:gd name="connsiteX0" fmla="*/ 0 w 830547"/>
                <a:gd name="connsiteY0" fmla="*/ 0 h 495300"/>
                <a:gd name="connsiteX1" fmla="*/ 830547 w 830547"/>
                <a:gd name="connsiteY1" fmla="*/ 0 h 495300"/>
                <a:gd name="connsiteX2" fmla="*/ 830547 w 830547"/>
                <a:gd name="connsiteY2" fmla="*/ 495300 h 495300"/>
                <a:gd name="connsiteX3" fmla="*/ 0 w 830547"/>
                <a:gd name="connsiteY3" fmla="*/ 495300 h 495300"/>
                <a:gd name="connsiteX4" fmla="*/ 0 w 830547"/>
                <a:gd name="connsiteY4" fmla="*/ 0 h 495300"/>
                <a:gd name="connsiteX0" fmla="*/ 0 w 830547"/>
                <a:gd name="connsiteY0" fmla="*/ 0 h 495300"/>
                <a:gd name="connsiteX1" fmla="*/ 665447 w 830547"/>
                <a:gd name="connsiteY1" fmla="*/ 82550 h 495300"/>
                <a:gd name="connsiteX2" fmla="*/ 830547 w 830547"/>
                <a:gd name="connsiteY2" fmla="*/ 495300 h 495300"/>
                <a:gd name="connsiteX3" fmla="*/ 0 w 830547"/>
                <a:gd name="connsiteY3" fmla="*/ 495300 h 495300"/>
                <a:gd name="connsiteX4" fmla="*/ 0 w 830547"/>
                <a:gd name="connsiteY4" fmla="*/ 0 h 495300"/>
                <a:gd name="connsiteX0" fmla="*/ 0 w 830547"/>
                <a:gd name="connsiteY0" fmla="*/ 0 h 495300"/>
                <a:gd name="connsiteX1" fmla="*/ 665447 w 830547"/>
                <a:gd name="connsiteY1" fmla="*/ 82550 h 495300"/>
                <a:gd name="connsiteX2" fmla="*/ 755444 w 830547"/>
                <a:gd name="connsiteY2" fmla="*/ 311264 h 495300"/>
                <a:gd name="connsiteX3" fmla="*/ 830547 w 830547"/>
                <a:gd name="connsiteY3" fmla="*/ 495300 h 495300"/>
                <a:gd name="connsiteX4" fmla="*/ 0 w 830547"/>
                <a:gd name="connsiteY4" fmla="*/ 495300 h 495300"/>
                <a:gd name="connsiteX5" fmla="*/ 0 w 830547"/>
                <a:gd name="connsiteY5" fmla="*/ 0 h 495300"/>
                <a:gd name="connsiteX0" fmla="*/ 0 w 952294"/>
                <a:gd name="connsiteY0" fmla="*/ 0 h 495300"/>
                <a:gd name="connsiteX1" fmla="*/ 665447 w 952294"/>
                <a:gd name="connsiteY1" fmla="*/ 82550 h 495300"/>
                <a:gd name="connsiteX2" fmla="*/ 952294 w 952294"/>
                <a:gd name="connsiteY2" fmla="*/ 323964 h 495300"/>
                <a:gd name="connsiteX3" fmla="*/ 830547 w 952294"/>
                <a:gd name="connsiteY3" fmla="*/ 495300 h 495300"/>
                <a:gd name="connsiteX4" fmla="*/ 0 w 952294"/>
                <a:gd name="connsiteY4" fmla="*/ 495300 h 495300"/>
                <a:gd name="connsiteX5" fmla="*/ 0 w 952294"/>
                <a:gd name="connsiteY5" fmla="*/ 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52294" h="495300">
                  <a:moveTo>
                    <a:pt x="0" y="0"/>
                  </a:moveTo>
                  <a:lnTo>
                    <a:pt x="665447" y="82550"/>
                  </a:lnTo>
                  <a:lnTo>
                    <a:pt x="952294" y="323964"/>
                  </a:lnTo>
                  <a:lnTo>
                    <a:pt x="830547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2) RDA (Repeated Defect Analysis)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Die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또는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Shot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단위로 중첩하여 반복된 결함을 찾아 이전 공정의 문제점을 도출</a:t>
            </a:r>
          </a:p>
          <a:p>
            <a:endParaRPr lang="ko-KR" altLang="en-US" dirty="0"/>
          </a:p>
        </p:txBody>
      </p:sp>
      <p:sp>
        <p:nvSpPr>
          <p:cNvPr id="44" name="이등변 삼각형 43"/>
          <p:cNvSpPr/>
          <p:nvPr/>
        </p:nvSpPr>
        <p:spPr>
          <a:xfrm rot="16200000">
            <a:off x="4916659" y="4354029"/>
            <a:ext cx="2673148" cy="701533"/>
          </a:xfrm>
          <a:prstGeom prst="triangle">
            <a:avLst/>
          </a:prstGeom>
          <a:gradFill>
            <a:gsLst>
              <a:gs pos="0">
                <a:schemeClr val="bg2">
                  <a:lumMod val="60000"/>
                  <a:lumOff val="40000"/>
                </a:schemeClr>
              </a:gs>
              <a:gs pos="100000">
                <a:schemeClr val="accent1">
                  <a:lumMod val="30000"/>
                  <a:lumOff val="70000"/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2850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모서리가 둥근 직사각형 37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AutoShape 26">
            <a:extLst>
              <a:ext uri="{FF2B5EF4-FFF2-40B4-BE49-F238E27FC236}">
                <a16:creationId xmlns:a16="http://schemas.microsoft.com/office/drawing/2014/main" id="{BB7CEA28-62A0-C121-1AF0-EAF706C62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3013" y="2636813"/>
            <a:ext cx="4422271" cy="3486599"/>
          </a:xfrm>
          <a:prstGeom prst="roundRect">
            <a:avLst>
              <a:gd name="adj" fmla="val 0"/>
            </a:avLst>
          </a:prstGeom>
          <a:solidFill>
            <a:srgbClr val="EAEAEA"/>
          </a:solidFill>
          <a:ln w="12700" cap="rnd" algn="ctr">
            <a:solidFill>
              <a:schemeClr val="bg1">
                <a:lumMod val="65000"/>
              </a:schemeClr>
            </a:solidFill>
            <a:prstDash val="sysDash"/>
            <a:round/>
            <a:headEnd/>
            <a:tailEnd/>
          </a:ln>
          <a:effectLst/>
        </p:spPr>
        <p:txBody>
          <a:bodyPr lIns="0" tIns="36000" rIns="0" bIns="0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100" b="0" i="0" u="none" strike="noStrike" kern="1200" cap="none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6" name="그룹 5"/>
          <p:cNvGrpSpPr/>
          <p:nvPr/>
        </p:nvGrpSpPr>
        <p:grpSpPr>
          <a:xfrm>
            <a:off x="1327150" y="2793737"/>
            <a:ext cx="4133785" cy="2539641"/>
            <a:chOff x="2236098" y="2839700"/>
            <a:chExt cx="3143854" cy="2539641"/>
          </a:xfrm>
        </p:grpSpPr>
        <p:sp>
          <p:nvSpPr>
            <p:cNvPr id="9" name="AutoShape 55">
              <a:extLst>
                <a:ext uri="{FF2B5EF4-FFF2-40B4-BE49-F238E27FC236}">
                  <a16:creationId xmlns:a16="http://schemas.microsoft.com/office/drawing/2014/main" id="{5EC82385-D6B8-5D2B-FD2A-CE2DF08970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098" y="3045447"/>
              <a:ext cx="3143854" cy="408674"/>
            </a:xfrm>
            <a:prstGeom prst="parallelogram">
              <a:avLst>
                <a:gd name="adj" fmla="val 85692"/>
              </a:avLst>
            </a:prstGeom>
            <a:solidFill>
              <a:srgbClr val="FFC0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AutoShape 56">
              <a:extLst>
                <a:ext uri="{FF2B5EF4-FFF2-40B4-BE49-F238E27FC236}">
                  <a16:creationId xmlns:a16="http://schemas.microsoft.com/office/drawing/2014/main" id="{79BEEF86-757D-CEEE-7817-1B97FCFD6B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098" y="3861510"/>
              <a:ext cx="3143854" cy="408674"/>
            </a:xfrm>
            <a:prstGeom prst="parallelogram">
              <a:avLst>
                <a:gd name="adj" fmla="val 85692"/>
              </a:avLst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AutoShape 57">
              <a:extLst>
                <a:ext uri="{FF2B5EF4-FFF2-40B4-BE49-F238E27FC236}">
                  <a16:creationId xmlns:a16="http://schemas.microsoft.com/office/drawing/2014/main" id="{65CC11C7-B43A-A672-69B0-A0BE15E7149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36098" y="4677573"/>
              <a:ext cx="3143854" cy="408674"/>
            </a:xfrm>
            <a:prstGeom prst="parallelogram">
              <a:avLst>
                <a:gd name="adj" fmla="val 85692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Oval 58">
              <a:extLst>
                <a:ext uri="{FF2B5EF4-FFF2-40B4-BE49-F238E27FC236}">
                  <a16:creationId xmlns:a16="http://schemas.microsoft.com/office/drawing/2014/main" id="{0F0B4737-9E17-F298-487A-DB615E3A40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4793" y="3279342"/>
              <a:ext cx="138946" cy="57831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3" name="AutoShape 59">
              <a:extLst>
                <a:ext uri="{FF2B5EF4-FFF2-40B4-BE49-F238E27FC236}">
                  <a16:creationId xmlns:a16="http://schemas.microsoft.com/office/drawing/2014/main" id="{CD4F2416-83C9-5AFF-5CC2-3948B7452E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519" y="3162394"/>
              <a:ext cx="274874" cy="57832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4" name="Rectangle 60">
              <a:extLst>
                <a:ext uri="{FF2B5EF4-FFF2-40B4-BE49-F238E27FC236}">
                  <a16:creationId xmlns:a16="http://schemas.microsoft.com/office/drawing/2014/main" id="{BB64E7C4-A6EA-BAF8-DBE6-12246E1366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194" y="3978458"/>
              <a:ext cx="138946" cy="57831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5" name="AutoShape 61">
              <a:extLst>
                <a:ext uri="{FF2B5EF4-FFF2-40B4-BE49-F238E27FC236}">
                  <a16:creationId xmlns:a16="http://schemas.microsoft.com/office/drawing/2014/main" id="{33C8CB6C-B54E-FD77-F60F-A1B9C569E7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71519" y="3978458"/>
              <a:ext cx="274874" cy="57831"/>
            </a:xfrm>
            <a:prstGeom prst="triangle">
              <a:avLst>
                <a:gd name="adj" fmla="val 50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6" name="Rectangle 62">
              <a:extLst>
                <a:ext uri="{FF2B5EF4-FFF2-40B4-BE49-F238E27FC236}">
                  <a16:creationId xmlns:a16="http://schemas.microsoft.com/office/drawing/2014/main" id="{3ECE8416-9280-EF00-BE16-21CED11C31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7194" y="4794520"/>
              <a:ext cx="138946" cy="578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7" name="AutoShape 63">
              <a:extLst>
                <a:ext uri="{FF2B5EF4-FFF2-40B4-BE49-F238E27FC236}">
                  <a16:creationId xmlns:a16="http://schemas.microsoft.com/office/drawing/2014/main" id="{6EC21754-A672-0939-858B-FFA9E6EE0A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3920" y="4736690"/>
              <a:ext cx="274874" cy="115662"/>
            </a:xfrm>
            <a:prstGeom prst="plus">
              <a:avLst>
                <a:gd name="adj" fmla="val 25000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Line 64">
              <a:extLst>
                <a:ext uri="{FF2B5EF4-FFF2-40B4-BE49-F238E27FC236}">
                  <a16:creationId xmlns:a16="http://schemas.microsoft.com/office/drawing/2014/main" id="{577BD888-27E2-A7AC-A1F6-3220868090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0468" y="3220227"/>
              <a:ext cx="0" cy="758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Line 65">
              <a:extLst>
                <a:ext uri="{FF2B5EF4-FFF2-40B4-BE49-F238E27FC236}">
                  <a16:creationId xmlns:a16="http://schemas.microsoft.com/office/drawing/2014/main" id="{57ED8BCE-07ED-C0FB-7E3E-5090FB785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06348" y="3337173"/>
              <a:ext cx="0" cy="758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Line 66">
              <a:extLst>
                <a:ext uri="{FF2B5EF4-FFF2-40B4-BE49-F238E27FC236}">
                  <a16:creationId xmlns:a16="http://schemas.microsoft.com/office/drawing/2014/main" id="{B7A5E02E-0513-38D4-26FC-841ED1934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9686" y="4036289"/>
              <a:ext cx="0" cy="7582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Text Box 67">
              <a:extLst>
                <a:ext uri="{FF2B5EF4-FFF2-40B4-BE49-F238E27FC236}">
                  <a16:creationId xmlns:a16="http://schemas.microsoft.com/office/drawing/2014/main" id="{3143D8E5-7A85-A03F-A2C7-EB4E481E2E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9993" y="3225708"/>
              <a:ext cx="459031" cy="20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1pPr>
              <a:lvl2pPr marL="742950" indent="-28575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2pPr>
              <a:lvl3pPr marL="11430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3pPr>
              <a:lvl4pPr marL="16002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4pPr>
              <a:lvl5pPr marL="2057400" indent="-228600" eaLnBrk="0" hangingPunct="0"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solidFill>
                    <a:schemeClr val="tx1"/>
                  </a:solidFill>
                  <a:latin typeface="Arial" pitchFamily="34" charset="0"/>
                  <a:ea typeface="HY헤드라인M" pitchFamily="18" charset="-127"/>
                </a:defRPr>
              </a:lvl9pPr>
            </a:lstStyle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1200" cap="none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Step 1</a:t>
              </a:r>
            </a:p>
          </p:txBody>
        </p:sp>
        <p:sp>
          <p:nvSpPr>
            <p:cNvPr id="22" name="Text Box 68">
              <a:extLst>
                <a:ext uri="{FF2B5EF4-FFF2-40B4-BE49-F238E27FC236}">
                  <a16:creationId xmlns:a16="http://schemas.microsoft.com/office/drawing/2014/main" id="{5FC62AEE-AF6F-7871-F7F5-09F97A848E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025" y="4036289"/>
              <a:ext cx="459031" cy="20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ea"/>
                </a:defRPr>
              </a:lvl1pPr>
              <a:lvl2pPr marL="742950" indent="-28575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2pPr>
              <a:lvl3pPr marL="11430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3pPr>
              <a:lvl4pPr marL="16002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4pPr>
              <a:lvl5pPr marL="20574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9pPr>
            </a:lstStyle>
            <a:p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Step 2</a:t>
              </a:r>
            </a:p>
          </p:txBody>
        </p:sp>
        <p:sp>
          <p:nvSpPr>
            <p:cNvPr id="23" name="Text Box 69">
              <a:extLst>
                <a:ext uri="{FF2B5EF4-FFF2-40B4-BE49-F238E27FC236}">
                  <a16:creationId xmlns:a16="http://schemas.microsoft.com/office/drawing/2014/main" id="{50FAA86A-D3E0-890B-4029-433B14B4D9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72025" y="4852351"/>
              <a:ext cx="459031" cy="201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defPPr>
                <a:defRPr lang="ko-KR"/>
              </a:defPPr>
              <a:lvl1pPr marR="0" lvl="0" indent="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1" sz="1000" b="0" i="0" u="none" strike="noStrike" cap="none" spc="0" normalizeH="0" baseline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ea"/>
                </a:defRPr>
              </a:lvl1pPr>
              <a:lvl2pPr marL="742950" indent="-28575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2pPr>
              <a:lvl3pPr marL="11430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3pPr>
              <a:lvl4pPr marL="16002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4pPr>
              <a:lvl5pPr marL="2057400" indent="-228600" eaLnBrk="0" hangingPunct="0">
                <a:defRPr kumimoji="1" sz="1400">
                  <a:latin typeface="Arial" pitchFamily="34" charset="0"/>
                  <a:ea typeface="HY헤드라인M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400">
                  <a:latin typeface="Arial" pitchFamily="34" charset="0"/>
                  <a:ea typeface="HY헤드라인M" pitchFamily="18" charset="-127"/>
                </a:defRPr>
              </a:lvl9pPr>
            </a:lstStyle>
            <a:p>
              <a:r>
                <a: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Step 3</a:t>
              </a:r>
            </a:p>
          </p:txBody>
        </p:sp>
        <p:sp>
          <p:nvSpPr>
            <p:cNvPr id="24" name="AutoShape 70">
              <a:extLst>
                <a:ext uri="{FF2B5EF4-FFF2-40B4-BE49-F238E27FC236}">
                  <a16:creationId xmlns:a16="http://schemas.microsoft.com/office/drawing/2014/main" id="{02A14679-979A-B983-78D3-7D48B75F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57841" y="2839700"/>
              <a:ext cx="596767" cy="243141"/>
            </a:xfrm>
            <a:prstGeom prst="wedgeRoundRectCallout">
              <a:avLst>
                <a:gd name="adj1" fmla="val 10174"/>
                <a:gd name="adj2" fmla="val 117280"/>
                <a:gd name="adj3" fmla="val 16667"/>
              </a:avLst>
            </a:prstGeom>
            <a:solidFill>
              <a:srgbClr val="FF0000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Missing</a:t>
              </a:r>
            </a:p>
          </p:txBody>
        </p:sp>
        <p:sp>
          <p:nvSpPr>
            <p:cNvPr id="25" name="AutoShape 71">
              <a:extLst>
                <a:ext uri="{FF2B5EF4-FFF2-40B4-BE49-F238E27FC236}">
                  <a16:creationId xmlns:a16="http://schemas.microsoft.com/office/drawing/2014/main" id="{1DB0BE14-03CB-648A-EFCD-F9DC07068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437" y="3589042"/>
              <a:ext cx="757967" cy="220916"/>
            </a:xfrm>
            <a:prstGeom prst="wedgeRoundRectCallout">
              <a:avLst>
                <a:gd name="adj1" fmla="val -50600"/>
                <a:gd name="adj2" fmla="val 124646"/>
                <a:gd name="adj3" fmla="val 16667"/>
              </a:avLst>
            </a:prstGeom>
            <a:solidFill>
              <a:srgbClr val="00206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Carryover</a:t>
              </a:r>
              <a:endParaRPr kumimoji="0" lang="en-US" altLang="ko-KR" sz="800" b="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6" name="AutoShape 72">
              <a:extLst>
                <a:ext uri="{FF2B5EF4-FFF2-40B4-BE49-F238E27FC236}">
                  <a16:creationId xmlns:a16="http://schemas.microsoft.com/office/drawing/2014/main" id="{9F975616-EF95-3DED-14B7-34B19C1EF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0210" y="4052241"/>
              <a:ext cx="586534" cy="215843"/>
            </a:xfrm>
            <a:prstGeom prst="wedgeRoundRectCallout">
              <a:avLst>
                <a:gd name="adj1" fmla="val -66251"/>
                <a:gd name="adj2" fmla="val -48968"/>
                <a:gd name="adj3" fmla="val 16667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Adder</a:t>
              </a:r>
            </a:p>
          </p:txBody>
        </p:sp>
        <p:sp>
          <p:nvSpPr>
            <p:cNvPr id="27" name="AutoShape 73">
              <a:extLst>
                <a:ext uri="{FF2B5EF4-FFF2-40B4-BE49-F238E27FC236}">
                  <a16:creationId xmlns:a16="http://schemas.microsoft.com/office/drawing/2014/main" id="{D10360C0-3040-6B09-134E-CBEDE2E9F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32821" y="4469744"/>
              <a:ext cx="569485" cy="204599"/>
            </a:xfrm>
            <a:prstGeom prst="wedgeRoundRectCallout">
              <a:avLst>
                <a:gd name="adj1" fmla="val 4258"/>
                <a:gd name="adj2" fmla="val 80257"/>
                <a:gd name="adj3" fmla="val 16667"/>
              </a:avLst>
            </a:prstGeom>
            <a:solidFill>
              <a:srgbClr val="92D05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Adder</a:t>
              </a:r>
            </a:p>
          </p:txBody>
        </p:sp>
        <p:sp>
          <p:nvSpPr>
            <p:cNvPr id="28" name="AutoShape 74">
              <a:extLst>
                <a:ext uri="{FF2B5EF4-FFF2-40B4-BE49-F238E27FC236}">
                  <a16:creationId xmlns:a16="http://schemas.microsoft.com/office/drawing/2014/main" id="{0C380E03-3464-59B4-06E3-B15BB65F6E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475" y="5157931"/>
              <a:ext cx="758696" cy="221410"/>
            </a:xfrm>
            <a:prstGeom prst="wedgeRoundRectCallout">
              <a:avLst>
                <a:gd name="adj1" fmla="val 37030"/>
                <a:gd name="adj2" fmla="val -178589"/>
                <a:gd name="adj3" fmla="val 16667"/>
              </a:avLst>
            </a:prstGeom>
            <a:solidFill>
              <a:srgbClr val="00206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Carryover</a:t>
              </a:r>
              <a:endParaRPr kumimoji="0" lang="en-US" altLang="ko-KR" sz="800" b="0" i="0" u="none" strike="noStrike" kern="1200" cap="none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9" name="object 46">
            <a:extLst>
              <a:ext uri="{FF2B5EF4-FFF2-40B4-BE49-F238E27FC236}">
                <a16:creationId xmlns:a16="http://schemas.microsoft.com/office/drawing/2014/main" id="{14CB621B-0C56-FB7A-9033-8B39AF57F4C9}"/>
              </a:ext>
            </a:extLst>
          </p:cNvPr>
          <p:cNvSpPr>
            <a:spLocks/>
          </p:cNvSpPr>
          <p:nvPr/>
        </p:nvSpPr>
        <p:spPr>
          <a:xfrm>
            <a:off x="5921875" y="2557137"/>
            <a:ext cx="5260475" cy="274773"/>
          </a:xfrm>
          <a:custGeom>
            <a:avLst/>
            <a:gdLst/>
            <a:ahLst/>
            <a:cxnLst/>
            <a:rect l="l" t="t" r="r" b="b"/>
            <a:pathLst>
              <a:path w="2952115" h="233680">
                <a:moveTo>
                  <a:pt x="2951988" y="0"/>
                </a:moveTo>
                <a:lnTo>
                  <a:pt x="0" y="0"/>
                </a:lnTo>
                <a:lnTo>
                  <a:pt x="0" y="233172"/>
                </a:lnTo>
                <a:lnTo>
                  <a:pt x="2951988" y="233172"/>
                </a:lnTo>
                <a:lnTo>
                  <a:pt x="2951988" y="0"/>
                </a:lnTo>
                <a:close/>
              </a:path>
            </a:pathLst>
          </a:custGeom>
          <a:solidFill>
            <a:schemeClr val="tx2"/>
          </a:solidFill>
          <a:ln>
            <a:solidFill>
              <a:schemeClr val="tx1"/>
            </a:solidFill>
          </a:ln>
        </p:spPr>
        <p:txBody>
          <a:bodyPr wrap="square" lIns="0" tIns="0" rIns="0" bIns="0" rtlCol="0" anchor="ctr"/>
          <a:lstStyle/>
          <a:p>
            <a:pPr lvl="0" algn="ctr"/>
            <a:r>
              <a:rPr lang="en-US" altLang="ko-KR" sz="13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rPr>
              <a:t>Defect Source Analysis</a:t>
            </a:r>
            <a:endParaRPr lang="ko-KR" altLang="en-US" sz="1300" b="1" dirty="0">
              <a:ln>
                <a:solidFill>
                  <a:srgbClr val="4F81BD">
                    <a:alpha val="0"/>
                  </a:srgbClr>
                </a:solidFill>
              </a:ln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E97E1C-2714-15BE-BC6F-C6E9459B5457}"/>
              </a:ext>
            </a:extLst>
          </p:cNvPr>
          <p:cNvSpPr txBox="1"/>
          <p:nvPr/>
        </p:nvSpPr>
        <p:spPr>
          <a:xfrm>
            <a:off x="1287354" y="5443301"/>
            <a:ext cx="405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Missing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이전 결함이 다시 검출되지 않은 경우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Carryover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이전 결함이 다시 검출되는 경우</a:t>
            </a:r>
            <a:endParaRPr lang="en-US" altLang="ko-KR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Adder(New) :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이전에 없던 결함이 검출되는 경우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6AEC254A-5BBC-FB03-2E0A-59D2EADCDFD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21874" y="2876868"/>
            <a:ext cx="5260476" cy="321891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/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99103226-3166-E7B9-2006-787140AACA83}"/>
              </a:ext>
            </a:extLst>
          </p:cNvPr>
          <p:cNvSpPr/>
          <p:nvPr/>
        </p:nvSpPr>
        <p:spPr>
          <a:xfrm>
            <a:off x="9444291" y="4434931"/>
            <a:ext cx="1426909" cy="430887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spc="-50" dirty="0">
                <a:latin typeface="+mn-ea"/>
              </a:rPr>
              <a:t>New/Carryover</a:t>
            </a:r>
          </a:p>
          <a:p>
            <a:r>
              <a:rPr lang="en-US" altLang="ko-KR" sz="1050" spc="-50" dirty="0">
                <a:latin typeface="+mn-ea"/>
              </a:rPr>
              <a:t>Defect </a:t>
            </a:r>
            <a:r>
              <a:rPr lang="ko-KR" altLang="en-US" sz="1050" spc="-50" dirty="0">
                <a:latin typeface="+mn-ea"/>
              </a:rPr>
              <a:t>확인 가능</a:t>
            </a:r>
            <a:endParaRPr lang="en-US" altLang="ko-KR" sz="1050" spc="-50" dirty="0">
              <a:latin typeface="+mn-ea"/>
            </a:endParaRPr>
          </a:p>
        </p:txBody>
      </p:sp>
      <p:sp>
        <p:nvSpPr>
          <p:cNvPr id="33" name="사각형 설명선 19">
            <a:extLst>
              <a:ext uri="{FF2B5EF4-FFF2-40B4-BE49-F238E27FC236}">
                <a16:creationId xmlns:a16="http://schemas.microsoft.com/office/drawing/2014/main" id="{DC25DC63-B753-3D83-C998-81C04B9CB297}"/>
              </a:ext>
            </a:extLst>
          </p:cNvPr>
          <p:cNvSpPr/>
          <p:nvPr/>
        </p:nvSpPr>
        <p:spPr>
          <a:xfrm>
            <a:off x="8706897" y="5025308"/>
            <a:ext cx="1231260" cy="253916"/>
          </a:xfrm>
          <a:prstGeom prst="wedgeRectCallout">
            <a:avLst>
              <a:gd name="adj1" fmla="val -46609"/>
              <a:gd name="adj2" fmla="val 116586"/>
            </a:avLst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spc="-50" dirty="0">
                <a:solidFill>
                  <a:schemeClr val="tx1"/>
                </a:solidFill>
                <a:latin typeface="+mn-ea"/>
              </a:rPr>
              <a:t>New Defect</a:t>
            </a:r>
            <a:endParaRPr lang="ko-KR" altLang="en-US" sz="105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" name="사각형 설명선 20">
            <a:extLst>
              <a:ext uri="{FF2B5EF4-FFF2-40B4-BE49-F238E27FC236}">
                <a16:creationId xmlns:a16="http://schemas.microsoft.com/office/drawing/2014/main" id="{97D5BBB4-8733-0ACC-AC18-60CB7D7C699C}"/>
              </a:ext>
            </a:extLst>
          </p:cNvPr>
          <p:cNvSpPr/>
          <p:nvPr/>
        </p:nvSpPr>
        <p:spPr>
          <a:xfrm>
            <a:off x="10025554" y="5125628"/>
            <a:ext cx="1093296" cy="415498"/>
          </a:xfrm>
          <a:prstGeom prst="wedgeRectCallout">
            <a:avLst>
              <a:gd name="adj1" fmla="val -72390"/>
              <a:gd name="adj2" fmla="val 124108"/>
            </a:avLst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r>
              <a:rPr lang="en-US" altLang="ko-KR" sz="1050" spc="-50" dirty="0">
                <a:solidFill>
                  <a:schemeClr val="tx1"/>
                </a:solidFill>
                <a:latin typeface="+mn-ea"/>
              </a:rPr>
              <a:t>Carryover Defect</a:t>
            </a:r>
            <a:endParaRPr lang="ko-KR" altLang="en-US" sz="1050" spc="-5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3) DSA (Defect Source Analysis)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결함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발생을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Source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와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Layer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로 구분하여 반복적으로 발생하는 결함에 대한 분석 용이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0161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모서리가 둥근 직사각형 8"/>
          <p:cNvSpPr/>
          <p:nvPr/>
        </p:nvSpPr>
        <p:spPr>
          <a:xfrm>
            <a:off x="698500" y="2449835"/>
            <a:ext cx="10799763" cy="3888000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1490663" y="2631721"/>
            <a:ext cx="8949427" cy="3524228"/>
            <a:chOff x="603689" y="1850497"/>
            <a:chExt cx="10847638" cy="4271731"/>
          </a:xfrm>
        </p:grpSpPr>
        <p:pic>
          <p:nvPicPr>
            <p:cNvPr id="39" name="그림 38">
              <a:extLst>
                <a:ext uri="{FF2B5EF4-FFF2-40B4-BE49-F238E27FC236}">
                  <a16:creationId xmlns:a16="http://schemas.microsoft.com/office/drawing/2014/main" id="{B0924243-B86C-37C7-C585-23C2EB2BE7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03689" y="2146937"/>
              <a:ext cx="5355457" cy="3955414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  <p:sp>
          <p:nvSpPr>
            <p:cNvPr id="40" name="object 46">
              <a:extLst>
                <a:ext uri="{FF2B5EF4-FFF2-40B4-BE49-F238E27FC236}">
                  <a16:creationId xmlns:a16="http://schemas.microsoft.com/office/drawing/2014/main" id="{AC37B960-4715-EAC8-F8F9-2BBA2CF65C0B}"/>
                </a:ext>
              </a:extLst>
            </p:cNvPr>
            <p:cNvSpPr/>
            <p:nvPr/>
          </p:nvSpPr>
          <p:spPr>
            <a:xfrm>
              <a:off x="6095870" y="1850497"/>
              <a:ext cx="5355457" cy="296439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3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Kill Rate Report</a:t>
              </a:r>
              <a:endParaRPr lang="ko-KR" altLang="en-US" sz="13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41" name="object 46">
              <a:extLst>
                <a:ext uri="{FF2B5EF4-FFF2-40B4-BE49-F238E27FC236}">
                  <a16:creationId xmlns:a16="http://schemas.microsoft.com/office/drawing/2014/main" id="{7915712A-B221-A0F9-746B-F16649D48739}"/>
                </a:ext>
              </a:extLst>
            </p:cNvPr>
            <p:cNvSpPr>
              <a:spLocks/>
            </p:cNvSpPr>
            <p:nvPr/>
          </p:nvSpPr>
          <p:spPr>
            <a:xfrm>
              <a:off x="603689" y="1850497"/>
              <a:ext cx="5355457" cy="296439"/>
            </a:xfrm>
            <a:custGeom>
              <a:avLst/>
              <a:gdLst/>
              <a:ahLst/>
              <a:cxnLst/>
              <a:rect l="l" t="t" r="r" b="b"/>
              <a:pathLst>
                <a:path w="2952115" h="233680">
                  <a:moveTo>
                    <a:pt x="2951988" y="0"/>
                  </a:moveTo>
                  <a:lnTo>
                    <a:pt x="0" y="0"/>
                  </a:lnTo>
                  <a:lnTo>
                    <a:pt x="0" y="233172"/>
                  </a:lnTo>
                  <a:lnTo>
                    <a:pt x="2951988" y="233172"/>
                  </a:lnTo>
                  <a:lnTo>
                    <a:pt x="2951988" y="0"/>
                  </a:lnTo>
                  <a:close/>
                </a:path>
              </a:pathLst>
            </a:custGeom>
            <a:solidFill>
              <a:schemeClr val="tx2"/>
            </a:solidFill>
            <a:ln>
              <a:solidFill>
                <a:schemeClr val="tx1"/>
              </a:solidFill>
            </a:ln>
          </p:spPr>
          <p:txBody>
            <a:bodyPr wrap="square" lIns="0" tIns="0" rIns="0" bIns="0" rtlCol="0" anchor="ctr"/>
            <a:lstStyle/>
            <a:p>
              <a:pPr algn="ctr"/>
              <a:r>
                <a:rPr lang="en-US" altLang="ko-KR" sz="1300" b="1" dirty="0">
                  <a:ln>
                    <a:solidFill>
                      <a:srgbClr val="4F81B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Wafer Matching Analysis</a:t>
              </a:r>
              <a:endParaRPr lang="ko-KR" altLang="en-US" sz="1300" b="1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27323784-970E-DB9B-04BA-02518B4DE22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75" r="1"/>
            <a:stretch/>
          </p:blipFill>
          <p:spPr>
            <a:xfrm>
              <a:off x="6095870" y="2166813"/>
              <a:ext cx="5355457" cy="3955415"/>
            </a:xfrm>
            <a:prstGeom prst="rect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</p:pic>
      </p:grp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1. DMS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defTabSz="1219140">
              <a:spcBef>
                <a:spcPts val="400"/>
              </a:spcBef>
              <a:defRPr/>
            </a:pPr>
            <a:r>
              <a:rPr lang="en-US" altLang="ko-KR" b="1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4) Yield Loss Analysis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Fail 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데이터와 결함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데이터를 분석하여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Kill Rate, Yield Loss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등을 분석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2120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3"/>
          <p:cNvSpPr>
            <a:spLocks noGrp="1"/>
          </p:cNvSpPr>
          <p:nvPr>
            <p:ph sz="quarter" idx="11"/>
          </p:nvPr>
        </p:nvSpPr>
        <p:spPr>
          <a:xfrm>
            <a:off x="821352" y="2440868"/>
            <a:ext cx="8113382" cy="539250"/>
          </a:xfrm>
        </p:spPr>
        <p:txBody>
          <a:bodyPr wrap="square" lIns="0" tIns="0" rIns="0" bIns="0">
            <a:spAutoFit/>
          </a:bodyPr>
          <a:lstStyle/>
          <a:p>
            <a:pPr marL="0" indent="0" defTabSz="457383">
              <a:lnSpc>
                <a:spcPct val="120000"/>
              </a:lnSpc>
              <a:spcBef>
                <a:spcPct val="0"/>
              </a:spcBef>
              <a:spcAft>
                <a:spcPts val="600"/>
              </a:spcAft>
              <a:buNone/>
            </a:pP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기타</a:t>
            </a:r>
            <a:r>
              <a:rPr lang="en-US" altLang="ko-KR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. </a:t>
            </a:r>
            <a:r>
              <a:rPr lang="ko-KR" altLang="en-US" sz="3200" b="1" spc="-200" dirty="0">
                <a:gradFill>
                  <a:gsLst>
                    <a:gs pos="0">
                      <a:srgbClr val="006CFF"/>
                    </a:gs>
                    <a:gs pos="100000">
                      <a:srgbClr val="0000A0"/>
                    </a:gs>
                  </a:gsLst>
                  <a:lin ang="5400000" scaled="1"/>
                </a:gra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rPr>
              <a:t>첨부</a:t>
            </a:r>
            <a:endParaRPr lang="en-US" altLang="ko-KR" sz="3200" b="1" spc="-200" dirty="0">
              <a:gradFill>
                <a:gsLst>
                  <a:gs pos="0">
                    <a:srgbClr val="006CFF"/>
                  </a:gs>
                  <a:gs pos="100000">
                    <a:srgbClr val="0000A0"/>
                  </a:gs>
                </a:gsLst>
                <a:lin ang="5400000" scaled="1"/>
              </a:gradFill>
              <a:latin typeface="Microsoft YaHei" panose="020B0503020204020204" pitchFamily="34" charset="-122"/>
              <a:ea typeface="Microsoft YaHei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74947BF1-4FC2-AC64-C83E-829B4B6693FF}"/>
              </a:ext>
            </a:extLst>
          </p:cNvPr>
          <p:cNvSpPr txBox="1">
            <a:spLocks/>
          </p:cNvSpPr>
          <p:nvPr/>
        </p:nvSpPr>
        <p:spPr>
          <a:xfrm>
            <a:off x="1323186" y="3327115"/>
            <a:ext cx="6005662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201240" indent="-201240" defTabSz="457383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/>
              <a:buChar char="•"/>
              <a:defRPr sz="1300">
                <a:solidFill>
                  <a:schemeClr val="tx1">
                    <a:lumMod val="50000"/>
                    <a:lumOff val="50000"/>
                  </a:schemeClr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Lato" charset="0"/>
              </a:defRPr>
            </a:lvl1pPr>
            <a:lvl2pPr marL="743247" indent="-285864" defTabSz="457383">
              <a:spcBef>
                <a:spcPct val="20000"/>
              </a:spcBef>
              <a:buFont typeface="Arial"/>
              <a:buChar char="–"/>
              <a:defRPr sz="2801"/>
            </a:lvl2pPr>
            <a:lvl3pPr marL="1143457" indent="-228691" defTabSz="457383">
              <a:spcBef>
                <a:spcPct val="20000"/>
              </a:spcBef>
              <a:buFont typeface="Arial"/>
              <a:buChar char="•"/>
              <a:defRPr sz="2401"/>
            </a:lvl3pPr>
            <a:lvl4pPr marL="1600840" indent="-228691" defTabSz="457383">
              <a:spcBef>
                <a:spcPct val="20000"/>
              </a:spcBef>
              <a:buFont typeface="Arial"/>
              <a:buChar char="–"/>
              <a:defRPr sz="2001"/>
            </a:lvl4pPr>
            <a:lvl5pPr marL="2058223" indent="-228691" defTabSz="457383">
              <a:spcBef>
                <a:spcPct val="20000"/>
              </a:spcBef>
              <a:buFont typeface="Arial"/>
              <a:buChar char="»"/>
              <a:defRPr sz="2001"/>
            </a:lvl5pPr>
            <a:lvl6pPr marL="2515606" indent="-228691" defTabSz="457383">
              <a:spcBef>
                <a:spcPct val="20000"/>
              </a:spcBef>
              <a:buFont typeface="Arial"/>
              <a:buChar char="•"/>
              <a:defRPr sz="2001"/>
            </a:lvl6pPr>
            <a:lvl7pPr marL="2972989" indent="-228691" defTabSz="457383">
              <a:spcBef>
                <a:spcPct val="20000"/>
              </a:spcBef>
              <a:buFont typeface="Arial"/>
              <a:buChar char="•"/>
              <a:defRPr sz="2001"/>
            </a:lvl7pPr>
            <a:lvl8pPr marL="3430372" indent="-228691" defTabSz="457383">
              <a:spcBef>
                <a:spcPct val="20000"/>
              </a:spcBef>
              <a:buFont typeface="Arial"/>
              <a:buChar char="•"/>
              <a:defRPr sz="2001"/>
            </a:lvl8pPr>
            <a:lvl9pPr marL="3887754" indent="-228691" defTabSz="457383">
              <a:spcBef>
                <a:spcPct val="20000"/>
              </a:spcBef>
              <a:buFont typeface="Arial"/>
              <a:buChar char="•"/>
              <a:defRPr sz="2001"/>
            </a:lvl9pPr>
          </a:lstStyle>
          <a:p>
            <a:pPr marL="457200" indent="-457200">
              <a:spcBef>
                <a:spcPts val="1000"/>
              </a:spcBef>
              <a:spcAft>
                <a:spcPts val="0"/>
              </a:spcAft>
              <a:buFont typeface="+mj-lt"/>
              <a:buAutoNum type="arabicPeriod" startAt="2"/>
            </a:pPr>
            <a:r>
              <a:rPr lang="en-US" altLang="ko-KR" sz="2000" b="1" spc="-50" dirty="0">
                <a:solidFill>
                  <a:srgbClr val="0000A0"/>
                </a:solidFill>
                <a:latin typeface="+mj-ea"/>
                <a:ea typeface="+mj-ea"/>
                <a:cs typeface="Pretendard Light" panose="02000403000000020004" pitchFamily="50" charset="-127"/>
              </a:rPr>
              <a:t>YMS </a:t>
            </a:r>
            <a:r>
              <a:rPr lang="ko-KR" altLang="en-US" sz="2000" b="1" spc="-50" dirty="0">
                <a:solidFill>
                  <a:srgbClr val="0000A0"/>
                </a:solidFill>
                <a:latin typeface="+mj-ea"/>
                <a:ea typeface="+mj-ea"/>
                <a:cs typeface="Pretendard Light" panose="02000403000000020004" pitchFamily="50" charset="-127"/>
              </a:rPr>
              <a:t>주요 기능</a:t>
            </a:r>
          </a:p>
        </p:txBody>
      </p:sp>
    </p:spTree>
    <p:extLst>
      <p:ext uri="{BB962C8B-B14F-4D97-AF65-F5344CB8AC3E}">
        <p14:creationId xmlns:p14="http://schemas.microsoft.com/office/powerpoint/2010/main" val="142144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r>
              <a:rPr lang="ko-KR" altLang="en-US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수집한 데이터를 기반으로 전기적 테스트에 대한 분석을 통해 이전 공정의 문제점을 찾고 개선하여 품질 및 수율 향상 기대 </a:t>
            </a:r>
          </a:p>
          <a:p>
            <a:endParaRPr lang="ko-KR" altLang="en-US" dirty="0"/>
          </a:p>
        </p:txBody>
      </p:sp>
      <p:sp>
        <p:nvSpPr>
          <p:cNvPr id="24" name="모서리가 둥근 직사각형 23"/>
          <p:cNvSpPr/>
          <p:nvPr/>
        </p:nvSpPr>
        <p:spPr>
          <a:xfrm>
            <a:off x="698500" y="2577784"/>
            <a:ext cx="10799763" cy="3767454"/>
          </a:xfrm>
          <a:prstGeom prst="roundRect">
            <a:avLst>
              <a:gd name="adj" fmla="val 949"/>
            </a:avLst>
          </a:prstGeom>
          <a:solidFill>
            <a:schemeClr val="bg1"/>
          </a:solidFill>
          <a:ln w="12700">
            <a:solidFill>
              <a:schemeClr val="bg1">
                <a:lumMod val="75000"/>
              </a:schemeClr>
            </a:solidFill>
          </a:ln>
          <a:effectLst>
            <a:outerShdw blurRad="1270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" rIns="7200" rtlCol="0" anchor="t"/>
          <a:lstStyle/>
          <a:p>
            <a:pPr algn="ctr"/>
            <a:endParaRPr lang="ko-KR" altLang="en-US" sz="1200" b="1" i="1" u="sng" dirty="0">
              <a:solidFill>
                <a:srgbClr val="1428A0">
                  <a:lumMod val="75000"/>
                </a:srgb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타원 24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1005545" y="2868812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01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1008578" y="4673490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03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6398585" y="2868812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02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6C49B60F-8C75-34C6-81E8-AAB82D5013B9}"/>
              </a:ext>
            </a:extLst>
          </p:cNvPr>
          <p:cNvSpPr/>
          <p:nvPr/>
        </p:nvSpPr>
        <p:spPr>
          <a:xfrm>
            <a:off x="6401618" y="4673490"/>
            <a:ext cx="741487" cy="741487"/>
          </a:xfrm>
          <a:prstGeom prst="ellipse">
            <a:avLst/>
          </a:prstGeom>
          <a:solidFill>
            <a:schemeClr val="tx2"/>
          </a:solidFill>
          <a:ln w="63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spc="-50" dirty="0" smtClean="0">
                <a:solidFill>
                  <a:schemeClr val="bg1"/>
                </a:solidFill>
                <a:latin typeface="+mj-lt"/>
                <a:ea typeface="+mj-ea"/>
              </a:rPr>
              <a:t>04</a:t>
            </a:r>
            <a:endParaRPr lang="ko-KR" altLang="en-US" b="1" spc="-50" dirty="0">
              <a:solidFill>
                <a:schemeClr val="bg1"/>
              </a:solidFill>
              <a:latin typeface="+mj-lt"/>
              <a:ea typeface="+mj-ea"/>
            </a:endParaRPr>
          </a:p>
        </p:txBody>
      </p:sp>
      <p:grpSp>
        <p:nvGrpSpPr>
          <p:cNvPr id="29" name="그룹 28"/>
          <p:cNvGrpSpPr/>
          <p:nvPr/>
        </p:nvGrpSpPr>
        <p:grpSpPr>
          <a:xfrm>
            <a:off x="905998" y="2790138"/>
            <a:ext cx="10384767" cy="3342746"/>
            <a:chOff x="893867" y="2690579"/>
            <a:chExt cx="10384767" cy="3342746"/>
          </a:xfrm>
        </p:grpSpPr>
        <p:cxnSp>
          <p:nvCxnSpPr>
            <p:cNvPr id="30" name="Straight Connector 14">
              <a:extLst>
                <a:ext uri="{FF2B5EF4-FFF2-40B4-BE49-F238E27FC236}">
                  <a16:creationId xmlns:a16="http://schemas.microsoft.com/office/drawing/2014/main" id="{FFA97E2C-241F-1157-8CB6-57644347233E}"/>
                </a:ext>
              </a:extLst>
            </p:cNvPr>
            <p:cNvCxnSpPr>
              <a:cxnSpLocks/>
            </p:cNvCxnSpPr>
            <p:nvPr/>
          </p:nvCxnSpPr>
          <p:spPr>
            <a:xfrm>
              <a:off x="6084758" y="2690579"/>
              <a:ext cx="0" cy="3342746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  <p:cxnSp>
          <p:nvCxnSpPr>
            <p:cNvPr id="31" name="Straight Connector 15">
              <a:extLst>
                <a:ext uri="{FF2B5EF4-FFF2-40B4-BE49-F238E27FC236}">
                  <a16:creationId xmlns:a16="http://schemas.microsoft.com/office/drawing/2014/main" id="{04EF522F-A6A2-DC73-C168-075049EB14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3867" y="4365241"/>
              <a:ext cx="10384767" cy="0"/>
            </a:xfrm>
            <a:prstGeom prst="line">
              <a:avLst/>
            </a:prstGeom>
            <a:noFill/>
            <a:ln w="3175" cap="flat" cmpd="sng" algn="ctr">
              <a:solidFill>
                <a:schemeClr val="bg1">
                  <a:lumMod val="75000"/>
                </a:schemeClr>
              </a:solidFill>
              <a:prstDash val="solid"/>
              <a:miter lim="800000"/>
            </a:ln>
            <a:effectLst/>
          </p:spPr>
        </p:cxnSp>
      </p:grpSp>
      <p:sp>
        <p:nvSpPr>
          <p:cNvPr id="32" name="슬라이드 5 형태 11">
            <a:extLst>
              <a:ext uri="{FF2B5EF4-FFF2-40B4-BE49-F238E27FC236}">
                <a16:creationId xmlns:a16="http://schemas.microsoft.com/office/drawing/2014/main" id="{EBAC810A-4B4D-0AAC-351F-373CE574FB3A}"/>
              </a:ext>
            </a:extLst>
          </p:cNvPr>
          <p:cNvSpPr txBox="1">
            <a:spLocks/>
          </p:cNvSpPr>
          <p:nvPr/>
        </p:nvSpPr>
        <p:spPr bwMode="auto">
          <a:xfrm>
            <a:off x="7409613" y="284340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Microsoft YaHei" panose="020B0503020204020204" pitchFamily="34" charset="-122"/>
                <a:sym typeface="Arial" panose="020B0604020202020204" pitchFamily="34" charset="0"/>
              </a:rPr>
              <a:t>Bin Report</a:t>
            </a:r>
          </a:p>
        </p:txBody>
      </p:sp>
      <p:sp>
        <p:nvSpPr>
          <p:cNvPr id="33" name="슬라이드 5 형태 14">
            <a:extLst>
              <a:ext uri="{FF2B5EF4-FFF2-40B4-BE49-F238E27FC236}">
                <a16:creationId xmlns:a16="http://schemas.microsoft.com/office/drawing/2014/main" id="{8922CC7C-1306-EBEB-79B1-E284583EE35B}"/>
              </a:ext>
            </a:extLst>
          </p:cNvPr>
          <p:cNvSpPr txBox="1">
            <a:spLocks/>
          </p:cNvSpPr>
          <p:nvPr/>
        </p:nvSpPr>
        <p:spPr bwMode="auto">
          <a:xfrm>
            <a:off x="1904444" y="469095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Microsoft YaHei" panose="020B0503020204020204" pitchFamily="34" charset="-122"/>
                <a:sym typeface="Arial" panose="020B0604020202020204" pitchFamily="34" charset="0"/>
              </a:rPr>
              <a:t>Test Map </a:t>
            </a:r>
            <a:r>
              <a:rPr lang="ko-KR" altLang="en-US" sz="1600" b="1" dirty="0">
                <a:latin typeface="Microsoft YaHei" panose="020B0503020204020204" pitchFamily="34" charset="-122"/>
                <a:sym typeface="Arial" panose="020B0604020202020204" pitchFamily="34" charset="0"/>
              </a:rPr>
              <a:t>분석</a:t>
            </a:r>
            <a:endParaRPr lang="en-US" altLang="ko-KR" sz="1600" b="1" dirty="0">
              <a:latin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슬라이드 5 형태 11">
            <a:extLst>
              <a:ext uri="{FF2B5EF4-FFF2-40B4-BE49-F238E27FC236}">
                <a16:creationId xmlns:a16="http://schemas.microsoft.com/office/drawing/2014/main" id="{3AF246B7-05F3-4966-CC24-8ED2AA3E81FA}"/>
              </a:ext>
            </a:extLst>
          </p:cNvPr>
          <p:cNvSpPr txBox="1">
            <a:spLocks/>
          </p:cNvSpPr>
          <p:nvPr/>
        </p:nvSpPr>
        <p:spPr bwMode="auto">
          <a:xfrm>
            <a:off x="7409613" y="469095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Microsoft YaHei" panose="020B0503020204020204" pitchFamily="34" charset="-122"/>
                <a:sym typeface="Arial" panose="020B0604020202020204" pitchFamily="34" charset="0"/>
              </a:rPr>
              <a:t>Test Report</a:t>
            </a:r>
          </a:p>
        </p:txBody>
      </p:sp>
      <p:sp>
        <p:nvSpPr>
          <p:cNvPr id="35" name="슬라이드 5 형태 8">
            <a:extLst>
              <a:ext uri="{FF2B5EF4-FFF2-40B4-BE49-F238E27FC236}">
                <a16:creationId xmlns:a16="http://schemas.microsoft.com/office/drawing/2014/main" id="{738484E9-A82E-42DE-B3FE-4C8C36FA586D}"/>
              </a:ext>
            </a:extLst>
          </p:cNvPr>
          <p:cNvSpPr txBox="1">
            <a:spLocks/>
          </p:cNvSpPr>
          <p:nvPr/>
        </p:nvSpPr>
        <p:spPr bwMode="auto">
          <a:xfrm>
            <a:off x="1904444" y="2843403"/>
            <a:ext cx="40320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defRPr/>
            </a:pPr>
            <a:r>
              <a:rPr lang="en-US" altLang="ko-KR" sz="1600" b="1" dirty="0">
                <a:latin typeface="Microsoft YaHei" panose="020B0503020204020204" pitchFamily="34" charset="-122"/>
                <a:sym typeface="Arial" panose="020B0604020202020204" pitchFamily="34" charset="0"/>
              </a:rPr>
              <a:t>Bin Map </a:t>
            </a:r>
            <a:r>
              <a:rPr lang="ko-KR" altLang="en-US" sz="1600" b="1" dirty="0">
                <a:latin typeface="Microsoft YaHei" panose="020B0503020204020204" pitchFamily="34" charset="-122"/>
                <a:sym typeface="Arial" panose="020B0604020202020204" pitchFamily="34" charset="0"/>
              </a:rPr>
              <a:t>분석</a:t>
            </a:r>
            <a:endParaRPr lang="en-US" altLang="ko-KR" sz="1600" b="1" dirty="0">
              <a:latin typeface="Microsoft YaHei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슬라이드 5 형태 7">
            <a:extLst>
              <a:ext uri="{FF2B5EF4-FFF2-40B4-BE49-F238E27FC236}">
                <a16:creationId xmlns:a16="http://schemas.microsoft.com/office/drawing/2014/main" id="{92C30961-9177-EADC-BC9B-99AFAA4CA541}"/>
              </a:ext>
            </a:extLst>
          </p:cNvPr>
          <p:cNvSpPr txBox="1">
            <a:spLocks/>
          </p:cNvSpPr>
          <p:nvPr/>
        </p:nvSpPr>
        <p:spPr bwMode="auto">
          <a:xfrm>
            <a:off x="7423347" y="3323870"/>
            <a:ext cx="3918519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ko-KR" altLang="en-US" dirty="0"/>
              <a:t>각종 분석 기법을 활용한 </a:t>
            </a:r>
            <a:r>
              <a:rPr lang="en-US" altLang="ko-KR" dirty="0"/>
              <a:t>Bin </a:t>
            </a:r>
            <a:r>
              <a:rPr lang="ko-KR" altLang="en-US" dirty="0"/>
              <a:t>데이터 </a:t>
            </a:r>
            <a:r>
              <a:rPr lang="en-US" altLang="ko-KR" dirty="0"/>
              <a:t>Report </a:t>
            </a:r>
            <a:r>
              <a:rPr lang="ko-KR" altLang="en-US" dirty="0"/>
              <a:t>제공</a:t>
            </a:r>
            <a:endParaRPr lang="ko-KR" altLang="en-US" dirty="0"/>
          </a:p>
        </p:txBody>
      </p:sp>
      <p:sp>
        <p:nvSpPr>
          <p:cNvPr id="37" name="슬라이드 5 형태 7">
            <a:extLst>
              <a:ext uri="{FF2B5EF4-FFF2-40B4-BE49-F238E27FC236}">
                <a16:creationId xmlns:a16="http://schemas.microsoft.com/office/drawing/2014/main" id="{C301C228-746E-8348-9B26-B02CF72DC01D}"/>
              </a:ext>
            </a:extLst>
          </p:cNvPr>
          <p:cNvSpPr txBox="1">
            <a:spLocks/>
          </p:cNvSpPr>
          <p:nvPr/>
        </p:nvSpPr>
        <p:spPr bwMode="auto">
          <a:xfrm>
            <a:off x="7547958" y="5142336"/>
            <a:ext cx="3665764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ko-KR" altLang="en-US" dirty="0"/>
              <a:t>각종 분석 기법을 활용한 </a:t>
            </a:r>
            <a:r>
              <a:rPr lang="en-US" altLang="ko-KR" dirty="0"/>
              <a:t>Test </a:t>
            </a:r>
            <a:r>
              <a:rPr lang="ko-KR" altLang="en-US" dirty="0"/>
              <a:t>데이터 </a:t>
            </a:r>
            <a:r>
              <a:rPr lang="en-US" altLang="ko-KR" dirty="0"/>
              <a:t>Report </a:t>
            </a:r>
            <a:r>
              <a:rPr lang="ko-KR" altLang="en-US" dirty="0"/>
              <a:t>제공</a:t>
            </a:r>
            <a:endParaRPr lang="ko-KR" altLang="en-US" dirty="0"/>
          </a:p>
        </p:txBody>
      </p:sp>
      <p:sp>
        <p:nvSpPr>
          <p:cNvPr id="38" name="슬라이드 5 형태 7">
            <a:extLst>
              <a:ext uri="{FF2B5EF4-FFF2-40B4-BE49-F238E27FC236}">
                <a16:creationId xmlns:a16="http://schemas.microsoft.com/office/drawing/2014/main" id="{B396A543-4E87-E018-7044-5B61F64EC2F0}"/>
              </a:ext>
            </a:extLst>
          </p:cNvPr>
          <p:cNvSpPr txBox="1">
            <a:spLocks/>
          </p:cNvSpPr>
          <p:nvPr/>
        </p:nvSpPr>
        <p:spPr bwMode="auto">
          <a:xfrm>
            <a:off x="1942058" y="5142336"/>
            <a:ext cx="3870290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en-US" altLang="ko-KR" dirty="0"/>
              <a:t>Test </a:t>
            </a:r>
            <a:r>
              <a:rPr lang="ko-KR" altLang="en-US" dirty="0"/>
              <a:t>데이터 분석을 위한 맵 컨트롤 및 다양한 차트 표시</a:t>
            </a:r>
            <a:endParaRPr lang="ko-KR" altLang="en-US" dirty="0"/>
          </a:p>
        </p:txBody>
      </p:sp>
      <p:sp>
        <p:nvSpPr>
          <p:cNvPr id="39" name="슬라이드 5 형태 7">
            <a:extLst>
              <a:ext uri="{FF2B5EF4-FFF2-40B4-BE49-F238E27FC236}">
                <a16:creationId xmlns:a16="http://schemas.microsoft.com/office/drawing/2014/main" id="{C5979076-0398-3B84-2071-FDE03F60DF86}"/>
              </a:ext>
            </a:extLst>
          </p:cNvPr>
          <p:cNvSpPr txBox="1">
            <a:spLocks/>
          </p:cNvSpPr>
          <p:nvPr/>
        </p:nvSpPr>
        <p:spPr bwMode="auto">
          <a:xfrm>
            <a:off x="1942058" y="3323871"/>
            <a:ext cx="3994386" cy="609398"/>
          </a:xfrm>
          <a:prstGeom prst="rect">
            <a:avLst/>
          </a:prstGeom>
          <a:extLst/>
        </p:spPr>
        <p:txBody>
          <a:bodyPr wrap="square">
            <a:spAutoFit/>
          </a:bodyPr>
          <a:lstStyle>
            <a:defPPr>
              <a:defRPr lang="en-US"/>
            </a:defPPr>
            <a:lvl1pPr marL="108000" indent="-10800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Clr>
                <a:schemeClr val="tx2">
                  <a:lumMod val="60000"/>
                  <a:lumOff val="40000"/>
                </a:schemeClr>
              </a:buClr>
              <a:buFont typeface="Arial" panose="020B0604020202020204" pitchFamily="34" charset="0"/>
              <a:buChar char="•"/>
              <a:defRPr sz="1400" spc="-50">
                <a:latin typeface="+mn-ea"/>
              </a:defRPr>
            </a:lvl1pPr>
          </a:lstStyle>
          <a:p>
            <a:r>
              <a:rPr lang="en-US" altLang="ko-KR" dirty="0"/>
              <a:t>Bin </a:t>
            </a:r>
            <a:r>
              <a:rPr lang="ko-KR" altLang="en-US" dirty="0"/>
              <a:t>데이터 분석을 위한 맵 컨트롤 및 다양한 차트 표시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2363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884117" y="2647960"/>
              <a:ext cx="2584797" cy="338554"/>
              <a:chOff x="884117" y="2647960"/>
              <a:chExt cx="2584797" cy="33855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25489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Bin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Map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View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7" name="그룹 16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grpSp>
        <p:nvGrpSpPr>
          <p:cNvPr id="5" name="그룹 4"/>
          <p:cNvGrpSpPr/>
          <p:nvPr/>
        </p:nvGrpSpPr>
        <p:grpSpPr>
          <a:xfrm>
            <a:off x="3223630" y="2907237"/>
            <a:ext cx="5857495" cy="3242101"/>
            <a:chOff x="2574306" y="2046353"/>
            <a:chExt cx="7544082" cy="417562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0B59D45F-BC53-436B-877C-EEE03DCA6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574306" y="2046353"/>
              <a:ext cx="5290274" cy="417562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93A32B9D-617F-E514-6A8E-A400F72C7E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013276" y="2046353"/>
              <a:ext cx="2105112" cy="4175620"/>
            </a:xfrm>
            <a:prstGeom prst="rect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</p:pic>
      </p:grpSp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</a:t>
            </a:r>
            <a:r>
              <a:rPr lang="ko-KR" altLang="en-US" dirty="0" smtClean="0">
                <a:latin typeface="Microsoft YaHei" panose="020B0503020204020204" pitchFamily="34" charset="-122"/>
              </a:rPr>
              <a:t>기능</a:t>
            </a:r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10" name="내용 개체 틀 9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데이터를 분석하는 기능을 제공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6969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884117" y="2647960"/>
              <a:ext cx="2584797" cy="338554"/>
              <a:chOff x="884117" y="2647960"/>
              <a:chExt cx="2584797" cy="33855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25489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Bin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Map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Gallery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05979C7-88B9-B0BD-8D16-D20C4B7AF4F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84164" y="3034149"/>
            <a:ext cx="5112000" cy="312520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98C4140D-FB17-9E97-278F-8D85FBF994C1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9875" y="4077887"/>
            <a:ext cx="2417813" cy="1903498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5DEF7E04-6C22-0794-EC43-C27D3DB3FA93}"/>
              </a:ext>
            </a:extLst>
          </p:cNvPr>
          <p:cNvSpPr/>
          <p:nvPr/>
        </p:nvSpPr>
        <p:spPr>
          <a:xfrm>
            <a:off x="8229731" y="3801865"/>
            <a:ext cx="25380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특정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Bin No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만 필터링 적용 시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</a:t>
            </a:r>
            <a:r>
              <a:rPr lang="ko-KR" altLang="en-US" dirty="0" smtClean="0">
                <a:latin typeface="Microsoft YaHei" panose="020B0503020204020204" pitchFamily="34" charset="-122"/>
              </a:rPr>
              <a:t>기능</a:t>
            </a:r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10" name="내용 개체 틀 9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정보를 갤러리 형식으로 표현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193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884117" y="2647960"/>
              <a:ext cx="4551483" cy="338554"/>
              <a:chOff x="884117" y="2647960"/>
              <a:chExt cx="4551483" cy="33855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51566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Wafer Cumulative Analysis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22D51F3-CF0B-8469-46B1-ED179051447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68671" y="3101374"/>
            <a:ext cx="5112000" cy="312160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0735ABE-EB90-A435-8731-692D08B2B8B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87245" y="4139349"/>
            <a:ext cx="2120443" cy="201318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BA9C801D-E08F-76D8-1217-C8E158AF0FC0}"/>
              </a:ext>
            </a:extLst>
          </p:cNvPr>
          <p:cNvSpPr/>
          <p:nvPr/>
        </p:nvSpPr>
        <p:spPr>
          <a:xfrm>
            <a:off x="8719853" y="3838039"/>
            <a:ext cx="185522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누적 수량 확인 시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</a:t>
            </a:r>
            <a:r>
              <a:rPr lang="ko-KR" altLang="en-US" dirty="0" smtClean="0">
                <a:latin typeface="Microsoft YaHei" panose="020B0503020204020204" pitchFamily="34" charset="-122"/>
              </a:rPr>
              <a:t>기능</a:t>
            </a:r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11" name="내용 개체 틀 10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불량을 누적 시켜 분석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8550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4595933" cy="338554"/>
              <a:chOff x="884117" y="2647960"/>
              <a:chExt cx="4595933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560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Shot Cumulative Analysis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8BF3FA59-C3DE-7D3F-BD71-94EF3432AF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5688" y="2823412"/>
            <a:ext cx="5112000" cy="314084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</a:t>
            </a:r>
            <a:r>
              <a:rPr lang="ko-KR" altLang="en-US" dirty="0" smtClean="0">
                <a:latin typeface="Microsoft YaHei" panose="020B0503020204020204" pitchFamily="34" charset="-122"/>
              </a:rPr>
              <a:t>기능</a:t>
            </a:r>
            <a:endParaRPr lang="ko-KR" altLang="en-US" dirty="0">
              <a:latin typeface="Microsoft YaHei" panose="020B0503020204020204" pitchFamily="34" charset="-122"/>
            </a:endParaRP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불량을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Shot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단위로 누적 시켜 분석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83772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2584797" cy="338554"/>
              <a:chOff x="884117" y="2647960"/>
              <a:chExt cx="2584797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2548974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Bin Stack Report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E7311EF7-46F7-A1B9-C3E5-AE19FB114C43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95688" y="2832556"/>
            <a:ext cx="5112000" cy="312255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Stacked Chart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로  분석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0018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4" name="모서리가 둥근 직사각형 13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5" name="그룹 14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Wafer Fail Pattern Search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7" name="그룹 16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2153F45-9083-9C8B-519B-56B49981B29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8907" y="3318524"/>
            <a:ext cx="4675743" cy="28703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415CF29C-6A0B-D951-0F47-1AA326605195}"/>
              </a:ext>
            </a:extLst>
          </p:cNvPr>
          <p:cNvSpPr/>
          <p:nvPr/>
        </p:nvSpPr>
        <p:spPr>
          <a:xfrm>
            <a:off x="953679" y="2986514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1) Source Wafer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선택</a:t>
            </a:r>
            <a:endParaRPr lang="en-US" altLang="ko-KR" sz="1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9845C2B-FFED-D189-3B82-0566F03CBED7}"/>
              </a:ext>
            </a:extLst>
          </p:cNvPr>
          <p:cNvSpPr/>
          <p:nvPr/>
        </p:nvSpPr>
        <p:spPr>
          <a:xfrm>
            <a:off x="6215464" y="2986514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2) Target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이 될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Wafer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리스트 선택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117AE0E-8EF0-7D3B-982A-A1A54CC1741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3516" y="3310967"/>
            <a:ext cx="4723477" cy="2877932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1" name="부제목 10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12" name="내용 개체 틀 11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특정 위치에서 많이 불량이 발생하는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쉽게 찾을 수 있는 기능을 제공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5260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8" name="모서리가 둥근 직사각형 17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9" name="그룹 18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Shot Fail Pattern Search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21" name="그룹 20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22" name="직사각형 21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직사각형 22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11" name="그림 10">
            <a:extLst>
              <a:ext uri="{FF2B5EF4-FFF2-40B4-BE49-F238E27FC236}">
                <a16:creationId xmlns:a16="http://schemas.microsoft.com/office/drawing/2014/main" id="{31B325E6-B8A1-1368-4579-0FB65AD3840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485" y="3310134"/>
            <a:ext cx="4465916" cy="272265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D3D9E27B-7BA9-A255-7818-4E55B7970A8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31076" y="3285926"/>
            <a:ext cx="4578108" cy="274686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lvl="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특정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Shot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위치에서 불량이 많이 발생하는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쉽게 찾을 수 있는 기능을 제공</a:t>
            </a:r>
          </a:p>
          <a:p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415CF29C-6A0B-D951-0F47-1AA326605195}"/>
              </a:ext>
            </a:extLst>
          </p:cNvPr>
          <p:cNvSpPr/>
          <p:nvPr/>
        </p:nvSpPr>
        <p:spPr>
          <a:xfrm>
            <a:off x="953679" y="2986514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1) Source Wafer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선택</a:t>
            </a:r>
            <a:endParaRPr lang="en-US" altLang="ko-KR" sz="12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69845C2B-FFED-D189-3B82-0566F03CBED7}"/>
              </a:ext>
            </a:extLst>
          </p:cNvPr>
          <p:cNvSpPr/>
          <p:nvPr/>
        </p:nvSpPr>
        <p:spPr>
          <a:xfrm>
            <a:off x="6215464" y="2986514"/>
            <a:ext cx="430989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2) Target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이 될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Wafer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리스트 선택</a:t>
            </a:r>
          </a:p>
        </p:txBody>
      </p:sp>
    </p:spTree>
    <p:extLst>
      <p:ext uri="{BB962C8B-B14F-4D97-AF65-F5344CB8AC3E}">
        <p14:creationId xmlns:p14="http://schemas.microsoft.com/office/powerpoint/2010/main" val="3381433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Yield Report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D0FA2DFE-001F-6ACE-0547-576B5792B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3739" y="2986514"/>
            <a:ext cx="5183949" cy="308639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2) Bin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Lot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에 대한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Yield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를 조회할 수 있는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Report</a:t>
            </a:r>
          </a:p>
          <a:p>
            <a:pPr marL="288000" defTabSz="1219140">
              <a:spcBef>
                <a:spcPts val="400"/>
              </a:spcBef>
              <a:defRPr/>
            </a:pPr>
            <a:endParaRPr lang="ko-KR" altLang="en-US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986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2" name="모서리가 둥근 직사각형 11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3" name="그룹 12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Test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Map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View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5" name="그룹 14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7" name="그림 6">
            <a:extLst>
              <a:ext uri="{FF2B5EF4-FFF2-40B4-BE49-F238E27FC236}">
                <a16:creationId xmlns:a16="http://schemas.microsoft.com/office/drawing/2014/main" id="{0BE5C87F-0A9E-A2E3-91B8-F5C16C74639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1333" y="3111499"/>
            <a:ext cx="4271696" cy="3107475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FB5FA43-5244-48DB-6B58-AEEBEAF75A0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63965" y="3111499"/>
            <a:ext cx="2670419" cy="3107476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2" name="부제목 1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3) Test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데이터를 분석하는 기능을 제공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97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그룹 11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3" name="모서리가 둥근 직사각형 12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" name="그룹 13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Test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Map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Gallery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6" name="그룹 15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7" name="직사각형 16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직사각형 17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06E131B6-82A5-FB78-6545-8164F6334CD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49823" y="3034148"/>
            <a:ext cx="4351531" cy="3166627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E75CAF3F-CFBE-1A11-BE5E-F912AC66FCC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63142" y="3055445"/>
            <a:ext cx="3407101" cy="3145330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CC40FBEE-C89F-0E41-ACD6-07CF18587F83}"/>
              </a:ext>
            </a:extLst>
          </p:cNvPr>
          <p:cNvSpPr/>
          <p:nvPr/>
        </p:nvSpPr>
        <p:spPr>
          <a:xfrm>
            <a:off x="7203316" y="2733108"/>
            <a:ext cx="3726755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v"/>
            </a:pP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Wafer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1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장 선택 시 모든 </a:t>
            </a:r>
            <a:r>
              <a:rPr lang="en-US" altLang="ko-KR" sz="1200" b="1" dirty="0">
                <a:solidFill>
                  <a:schemeClr val="tx2">
                    <a:lumMod val="75000"/>
                  </a:schemeClr>
                </a:solidFill>
              </a:rPr>
              <a:t>Parameter </a:t>
            </a:r>
            <a:r>
              <a:rPr lang="ko-KR" altLang="en-US" sz="1200" b="1" dirty="0">
                <a:solidFill>
                  <a:schemeClr val="tx2">
                    <a:lumMod val="75000"/>
                  </a:schemeClr>
                </a:solidFill>
              </a:rPr>
              <a:t>데이터 표시</a:t>
            </a:r>
          </a:p>
        </p:txBody>
      </p:sp>
      <p:sp>
        <p:nvSpPr>
          <p:cNvPr id="7" name="부제목 6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11" name="내용 개체 틀 10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1) Test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Map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분석</a:t>
            </a:r>
            <a:endParaRPr kumimoji="1" lang="en-US" altLang="ko-KR" b="1" kern="0" dirty="0">
              <a:ln>
                <a:solidFill>
                  <a:srgbClr val="FFFFFF"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sym typeface="Wingdings" panose="05000000000000000000" pitchFamily="2" charset="2"/>
            </a:endParaRPr>
          </a:p>
          <a:p>
            <a:pPr marL="288000" defTabSz="1219140">
              <a:spcBef>
                <a:spcPts val="400"/>
              </a:spcBef>
              <a:defRPr/>
            </a:pP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Wafer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의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Bin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데이터를 분석하는 기능을 제공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090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Test</a:t>
                </a:r>
                <a:r>
                  <a:rPr lang="ko-KR" altLang="en-US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 </a:t>
                </a: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Standard View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3808E96F-21A3-2A89-788E-0EDF7480EF4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47327" y="2867204"/>
            <a:ext cx="4560361" cy="3333571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테스트 항목들에 대한 통계 데이터와 함께 간단한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Box Plot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을 이미지로 분석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705296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Measure Data Report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CBD5A623-67D1-069A-27E4-88C0CB45F42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46340" y="2949976"/>
            <a:ext cx="4261348" cy="325079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테스트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 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결과 데이터를 조회하고 각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Parameter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별 데이터 추이를 분석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4748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Box Plot Report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3DC8A41F-CBBF-1DB5-F53A-E47AFEC7A2A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65901" y="3034222"/>
            <a:ext cx="4141788" cy="3166553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marL="288000" defTabSz="1219140">
              <a:spcBef>
                <a:spcPts val="400"/>
              </a:spcBef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선택한 데이터에 대한 데이터 추이를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Box Plot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  <a:sym typeface="Wingdings" panose="05000000000000000000" pitchFamily="2" charset="2"/>
              </a:rPr>
              <a:t>으로 분석</a:t>
            </a:r>
          </a:p>
          <a:p>
            <a:endParaRPr lang="ko-KR" alt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9145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/>
          <p:cNvGrpSpPr/>
          <p:nvPr/>
        </p:nvGrpSpPr>
        <p:grpSpPr>
          <a:xfrm>
            <a:off x="698500" y="2449835"/>
            <a:ext cx="10799763" cy="3888000"/>
            <a:chOff x="698500" y="2449835"/>
            <a:chExt cx="10799763" cy="3888000"/>
          </a:xfrm>
        </p:grpSpPr>
        <p:sp>
          <p:nvSpPr>
            <p:cNvPr id="11" name="모서리가 둥근 직사각형 10"/>
            <p:cNvSpPr/>
            <p:nvPr/>
          </p:nvSpPr>
          <p:spPr>
            <a:xfrm>
              <a:off x="698500" y="2449835"/>
              <a:ext cx="10799763" cy="3888000"/>
            </a:xfrm>
            <a:prstGeom prst="roundRect">
              <a:avLst>
                <a:gd name="adj" fmla="val 949"/>
              </a:avLst>
            </a:prstGeom>
            <a:solidFill>
              <a:schemeClr val="bg1"/>
            </a:solidFill>
            <a:ln w="12700">
              <a:solidFill>
                <a:schemeClr val="bg1">
                  <a:lumMod val="75000"/>
                </a:schemeClr>
              </a:solidFill>
            </a:ln>
            <a:effectLst>
              <a:outerShdw blurRad="127000" dist="38100" dir="5400000" algn="t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" rIns="7200" rtlCol="0" anchor="t"/>
            <a:lstStyle/>
            <a:p>
              <a:pPr algn="ctr"/>
              <a:endParaRPr lang="ko-KR" altLang="en-US" sz="1200" b="1" i="1" u="sng" dirty="0">
                <a:solidFill>
                  <a:srgbClr val="1428A0">
                    <a:lumMod val="75000"/>
                  </a:srgbClr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2" name="그룹 11"/>
            <p:cNvGrpSpPr/>
            <p:nvPr/>
          </p:nvGrpSpPr>
          <p:grpSpPr>
            <a:xfrm>
              <a:off x="884117" y="2647960"/>
              <a:ext cx="4976933" cy="338554"/>
              <a:chOff x="884117" y="2647960"/>
              <a:chExt cx="4976933" cy="338554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478C05-46B7-6699-4766-F0C0C826B216}"/>
                  </a:ext>
                </a:extLst>
              </p:cNvPr>
              <p:cNvSpPr txBox="1"/>
              <p:nvPr/>
            </p:nvSpPr>
            <p:spPr>
              <a:xfrm>
                <a:off x="919940" y="2647960"/>
                <a:ext cx="4941110" cy="3385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 b="1" dirty="0">
                    <a:solidFill>
                      <a:schemeClr val="tx2">
                        <a:lumMod val="75000"/>
                      </a:schemeClr>
                    </a:solidFill>
                    <a:latin typeface="Microsoft YaHei" panose="020B0503020204020204" pitchFamily="34" charset="-122"/>
                  </a:rPr>
                  <a:t>Multi Box Plot Report</a:t>
                </a:r>
                <a:endParaRPr lang="en-US" altLang="ko-KR" sz="1600" b="1" dirty="0">
                  <a:solidFill>
                    <a:schemeClr val="tx2">
                      <a:lumMod val="75000"/>
                    </a:schemeClr>
                  </a:solidFill>
                  <a:latin typeface="Microsoft YaHei" panose="020B0503020204020204" pitchFamily="34" charset="-122"/>
                </a:endParaRPr>
              </a:p>
            </p:txBody>
          </p:sp>
          <p:grpSp>
            <p:nvGrpSpPr>
              <p:cNvPr id="14" name="그룹 13"/>
              <p:cNvGrpSpPr/>
              <p:nvPr/>
            </p:nvGrpSpPr>
            <p:grpSpPr>
              <a:xfrm>
                <a:off x="884117" y="2727237"/>
                <a:ext cx="36000" cy="180000"/>
                <a:chOff x="884117" y="2855186"/>
                <a:chExt cx="36000" cy="180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884117" y="2855186"/>
                  <a:ext cx="36000" cy="180000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6" name="직사각형 15"/>
                <p:cNvSpPr/>
                <p:nvPr/>
              </p:nvSpPr>
              <p:spPr>
                <a:xfrm>
                  <a:off x="884117" y="2855186"/>
                  <a:ext cx="36000" cy="72000"/>
                </a:xfrm>
                <a:prstGeom prst="rect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</p:grp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77B6E7A8-80D9-6C9D-298C-8F049BD3A5F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6652" y="3173647"/>
            <a:ext cx="4401036" cy="302712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</p:pic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 lIns="0" tIns="0" rIns="0" bIns="0" anchor="t">
            <a:normAutofit/>
          </a:bodyPr>
          <a:lstStyle/>
          <a:p>
            <a:r>
              <a:rPr lang="en-US" altLang="ko-KR" dirty="0">
                <a:latin typeface="Microsoft YaHei" panose="020B0503020204020204" pitchFamily="34" charset="-122"/>
              </a:rPr>
              <a:t>2. YMS </a:t>
            </a:r>
            <a:r>
              <a:rPr lang="ko-KR" altLang="en-US" dirty="0">
                <a:latin typeface="Microsoft YaHei" panose="020B0503020204020204" pitchFamily="34" charset="-122"/>
              </a:rPr>
              <a:t>주요 기능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lvl="0" defTabSz="1219140">
              <a:spcBef>
                <a:spcPts val="400"/>
              </a:spcBef>
              <a:defRPr/>
            </a:pP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4) Test</a:t>
            </a:r>
            <a:r>
              <a:rPr kumimoji="1" lang="ko-KR" altLang="en-US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</a:t>
            </a:r>
            <a:r>
              <a:rPr kumimoji="1" lang="en-US" altLang="ko-KR" b="1" kern="0" dirty="0">
                <a:ln>
                  <a:solidFill>
                    <a:srgbClr val="FFFFFF"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Report</a:t>
            </a:r>
          </a:p>
          <a:p>
            <a:pPr marL="288000" defTabSz="1219140" fontAlgn="base">
              <a:spcBef>
                <a:spcPts val="400"/>
              </a:spcBef>
              <a:spcAft>
                <a:spcPct val="0"/>
              </a:spcAft>
              <a:defRPr/>
            </a:pP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선택한 데이터에 대한 데이터 추이를 다중 </a:t>
            </a:r>
            <a:r>
              <a:rPr lang="en-US" altLang="ko-KR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Box Plot</a:t>
            </a:r>
            <a:r>
              <a:rPr lang="ko-KR" altLang="en-US" sz="1600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으로 분석</a:t>
            </a:r>
            <a:endParaRPr lang="en-US" altLang="ko-KR" sz="16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4336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040C17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F6091D2E-E154-40AD-8304-D51760DB4B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5697" y="3890301"/>
            <a:ext cx="9705369" cy="841346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  <p:pic>
        <p:nvPicPr>
          <p:cNvPr id="3" name="图片 13">
            <a:extLst>
              <a:ext uri="{FF2B5EF4-FFF2-40B4-BE49-F238E27FC236}">
                <a16:creationId xmlns:a16="http://schemas.microsoft.com/office/drawing/2014/main" id="{EFC273EF-4387-D14B-B75D-30B325ADE78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41421" y="2658500"/>
            <a:ext cx="3113921" cy="956029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2784158" y="3672586"/>
            <a:ext cx="6628447" cy="0"/>
          </a:xfrm>
          <a:prstGeom prst="line">
            <a:avLst/>
          </a:prstGeom>
          <a:ln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7720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TATS ChipPAC - Light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JCET Group Standard 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ATS ChipPAC - Dark">
  <a:themeElements>
    <a:clrScheme name="JCET Group Standard">
      <a:dk1>
        <a:srgbClr val="1D1D1A"/>
      </a:dk1>
      <a:lt1>
        <a:srgbClr val="FFFFFF"/>
      </a:lt1>
      <a:dk2>
        <a:srgbClr val="0000A0"/>
      </a:dk2>
      <a:lt2>
        <a:srgbClr val="004BFF"/>
      </a:lt2>
      <a:accent1>
        <a:srgbClr val="0098FF"/>
      </a:accent1>
      <a:accent2>
        <a:srgbClr val="00D6FF"/>
      </a:accent2>
      <a:accent3>
        <a:srgbClr val="9900B4"/>
      </a:accent3>
      <a:accent4>
        <a:srgbClr val="CC25B8"/>
      </a:accent4>
      <a:accent5>
        <a:srgbClr val="FF4ABD"/>
      </a:accent5>
      <a:accent6>
        <a:srgbClr val="62BE00"/>
      </a:accent6>
      <a:hlink>
        <a:srgbClr val="34342F"/>
      </a:hlink>
      <a:folHlink>
        <a:srgbClr val="34342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7B69ECED8A7C4C8E6B9EA1866C5F3A" ma:contentTypeVersion="17" ma:contentTypeDescription="Create a new document." ma:contentTypeScope="" ma:versionID="41f8dfe619af236a3b09c82d049a5169">
  <xsd:schema xmlns:xsd="http://www.w3.org/2001/XMLSchema" xmlns:xs="http://www.w3.org/2001/XMLSchema" xmlns:p="http://schemas.microsoft.com/office/2006/metadata/properties" xmlns:ns3="97389cb9-5bc0-4b0c-a4c8-faf6c0ed0a65" xmlns:ns4="cbef9c31-bf91-4fc5-b28d-1ac5d704e1de" targetNamespace="http://schemas.microsoft.com/office/2006/metadata/properties" ma:root="true" ma:fieldsID="3264ef840c4e04a95b67010dee772284" ns3:_="" ns4:_="">
    <xsd:import namespace="97389cb9-5bc0-4b0c-a4c8-faf6c0ed0a65"/>
    <xsd:import namespace="cbef9c31-bf91-4fc5-b28d-1ac5d704e1de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389cb9-5bc0-4b0c-a4c8-faf6c0ed0a65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bef9c31-bf91-4fc5-b28d-1ac5d704e1de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389cb9-5bc0-4b0c-a4c8-faf6c0ed0a6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1044B55-73CB-40D3-A720-757283F8500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389cb9-5bc0-4b0c-a4c8-faf6c0ed0a65"/>
    <ds:schemaRef ds:uri="cbef9c31-bf91-4fc5-b28d-1ac5d704e1d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0A0475A-01DE-45B6-A0A3-55B789B83525}">
  <ds:schemaRefs>
    <ds:schemaRef ds:uri="http://schemas.microsoft.com/office/2006/documentManagement/types"/>
    <ds:schemaRef ds:uri="http://schemas.microsoft.com/office/infopath/2007/PartnerControls"/>
    <ds:schemaRef ds:uri="cbef9c31-bf91-4fc5-b28d-1ac5d704e1de"/>
    <ds:schemaRef ds:uri="97389cb9-5bc0-4b0c-a4c8-faf6c0ed0a65"/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C93B15B8-309D-4718-ABF6-BA3D1B9453A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PPT模板</Template>
  <TotalTime>36398</TotalTime>
  <Words>2460</Words>
  <Application>Microsoft Office PowerPoint</Application>
  <PresentationFormat>사용자 지정</PresentationFormat>
  <Paragraphs>526</Paragraphs>
  <Slides>47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47</vt:i4>
      </vt:variant>
    </vt:vector>
  </HeadingPairs>
  <TitlesOfParts>
    <vt:vector size="66" baseType="lpstr">
      <vt:lpstr>微软雅黑</vt:lpstr>
      <vt:lpstr>微软雅黑</vt:lpstr>
      <vt:lpstr>Monotype Sorts</vt:lpstr>
      <vt:lpstr>ＭＳ Ｐゴシック</vt:lpstr>
      <vt:lpstr>Poppins</vt:lpstr>
      <vt:lpstr>黑体</vt:lpstr>
      <vt:lpstr>굴림</vt:lpstr>
      <vt:lpstr>Arial</vt:lpstr>
      <vt:lpstr>Pretendard</vt:lpstr>
      <vt:lpstr>Pretendard Light</vt:lpstr>
      <vt:lpstr>Pretendard SemiBold</vt:lpstr>
      <vt:lpstr>SDS 산스  Regular</vt:lpstr>
      <vt:lpstr>Segoe UI</vt:lpstr>
      <vt:lpstr>Symbol</vt:lpstr>
      <vt:lpstr>Times New Roman</vt:lpstr>
      <vt:lpstr>Wingdings</vt:lpstr>
      <vt:lpstr>맑은 고딕</vt:lpstr>
      <vt:lpstr>STATS ChipPAC - Light</vt:lpstr>
      <vt:lpstr>STATS ChipPAC - Dark</vt:lpstr>
      <vt:lpstr>Defect/E-Test  자동 분석 시스템 구축 제안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JCET Group Co.,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Wei.Wu@jcetglobal.com</dc:creator>
  <cp:lastModifiedBy>USER</cp:lastModifiedBy>
  <cp:revision>1638</cp:revision>
  <dcterms:created xsi:type="dcterms:W3CDTF">2018-11-29T10:16:29Z</dcterms:created>
  <dcterms:modified xsi:type="dcterms:W3CDTF">2026-07-30T10:05:05Z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(3)m1WSHvjTi8Y1JVaeeVTGXq2VLPvsp98+YXkajCO6VGPgCTSnk+JUa/FPZ24N2LXv0xXN1j0w
XfnEY9WE2szdAhUTjnU3qm7xoBNLW8aqWSGkvDYD0rm8hetcgKe5lx9Wr+B5gdvHFPRhjbRj
NmvtnvdRV1fiBWFDbrvhxswAV7VqaA8DK0D0IDLbZS6YkgaZaaBx+dru0uijXruL4S8Ojdtf
kBHWljaqTLh79nCodJ</vt:lpwstr>
  </property>
  <property fmtid="{D5CDD505-2E9C-101B-9397-08002B2CF9AE}" pid="3" name="_2015_ms_pID_7253431">
    <vt:lpwstr>dVye0hWgHvNaHVj0FDzR7Ch4FkLzzMFf0X92YgAHUWd4Z7jpmpCFnN
lMS3DziRTHFGyo4Qx9Hwc76OFsjhiofeqSCJdEB8gmd43nkg5pv5wgDdfs88tdrzS0uehY/3
qBYgtD9eUXI7CZb5fcIy8kaRBNlIh8djZ2TAek4H9IsE8NwB62L468lFgDxws+jgjE5Oj38g
TwKW3o2ji/D7DmIoiVqr8Ii71XwiNByCV3Vg</vt:lpwstr>
  </property>
  <property fmtid="{D5CDD505-2E9C-101B-9397-08002B2CF9AE}" pid="4" name="_2015_ms_pID_7253432">
    <vt:lpwstr>2g==</vt:lpwstr>
  </property>
  <property fmtid="{D5CDD505-2E9C-101B-9397-08002B2CF9AE}" pid="5" name="ContentTypeId">
    <vt:lpwstr>0x010100EE7B69ECED8A7C4C8E6B9EA1866C5F3A</vt:lpwstr>
  </property>
</Properties>
</file>