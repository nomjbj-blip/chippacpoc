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18"/>
  </p:notesMasterIdLst>
  <p:handoutMasterIdLst>
    <p:handoutMasterId r:id="rId19"/>
  </p:handoutMasterIdLst>
  <p:sldIdLst>
    <p:sldId id="1165" r:id="rId5"/>
    <p:sldId id="1166" r:id="rId6"/>
    <p:sldId id="1167" r:id="rId7"/>
    <p:sldId id="1172" r:id="rId8"/>
    <p:sldId id="1174" r:id="rId9"/>
    <p:sldId id="1175" r:id="rId10"/>
    <p:sldId id="1176" r:id="rId11"/>
    <p:sldId id="1177" r:id="rId12"/>
    <p:sldId id="1179" r:id="rId13"/>
    <p:sldId id="1180" r:id="rId14"/>
    <p:sldId id="1181" r:id="rId15"/>
    <p:sldId id="1182" r:id="rId16"/>
    <p:sldId id="1160" r:id="rId17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93" autoAdjust="0"/>
    <p:restoredTop sz="96339" autoAdjust="0"/>
  </p:normalViewPr>
  <p:slideViewPr>
    <p:cSldViewPr snapToGrid="0">
      <p:cViewPr varScale="1">
        <p:scale>
          <a:sx n="203" d="100"/>
          <a:sy n="203" d="100"/>
        </p:scale>
        <p:origin x="1814" y="144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handoutMaster" Target="handoutMasters/handout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2025-04-14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2025-04-14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987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3" y="321809"/>
            <a:ext cx="6014335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l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901845" y="1618816"/>
            <a:ext cx="1909625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en-US" altLang="ko-KR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총페이지수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sp>
        <p:nvSpPr>
          <p:cNvPr id="17" name="직사각형 16"/>
          <p:cNvSpPr/>
          <p:nvPr userDrawn="1"/>
        </p:nvSpPr>
        <p:spPr>
          <a:xfrm>
            <a:off x="381000" y="1520825"/>
            <a:ext cx="9144000" cy="4968875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380999" y="6498039"/>
            <a:ext cx="5645580" cy="21544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914400" latinLnBrk="0"/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#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본문내용은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점선박스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구역에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작성부탁드립니다</a:t>
            </a:r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.</a:t>
            </a:r>
            <a:endParaRPr lang="en-US" altLang="ko-KR" sz="14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6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491291" y="3432561"/>
            <a:ext cx="2921376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accent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6DCC-97F7-4ACF-97C1-6DBC9656D44A}" type="datetimeFigureOut">
              <a:rPr lang="ko-KR" altLang="en-US" smtClean="0"/>
              <a:t>2025-04-14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29E8-BA52-4248-B1ED-DE1A38AB7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77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8" r:id="rId2"/>
    <p:sldLayoutId id="2147484095" r:id="rId3"/>
    <p:sldLayoutId id="2147484096" r:id="rId4"/>
    <p:sldLayoutId id="2147484097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부서명</a:t>
            </a:r>
            <a:endParaRPr lang="ko-KR" altLang="en-US" dirty="0"/>
          </a:p>
        </p:txBody>
      </p:sp>
      <p:sp>
        <p:nvSpPr>
          <p:cNvPr id="20" name="내용 개체 틀 19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ko-KR" altLang="en-US" dirty="0" err="1" smtClean="0"/>
              <a:t>통합테스트</a:t>
            </a:r>
            <a:r>
              <a:rPr lang="ko-KR" altLang="en-US" dirty="0" smtClean="0"/>
              <a:t> 계획서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019962" y="404813"/>
            <a:ext cx="1499128" cy="276999"/>
          </a:xfrm>
          <a:prstGeom prst="rect">
            <a:avLst/>
          </a:prstGeom>
          <a:ln>
            <a:solidFill>
              <a:srgbClr val="7F7F7F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 </a:t>
            </a:r>
            <a:r>
              <a:rPr lang="en-US" altLang="ko-KR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CI(optional)</a:t>
            </a:r>
          </a:p>
        </p:txBody>
      </p:sp>
      <p:sp>
        <p:nvSpPr>
          <p:cNvPr id="9" name="내용 개체 틀 1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</p:spPr>
        <p:txBody>
          <a:bodyPr/>
          <a:lstStyle/>
          <a:p>
            <a:r>
              <a:rPr lang="ko-KR" altLang="en-US" dirty="0" smtClean="0"/>
              <a:t>부제목을 입력하세요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30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43077" y="599744"/>
            <a:ext cx="8629497" cy="299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10800" rIns="54000" bIns="10800"/>
          <a:lstStyle>
            <a:lvl1pPr marL="342900" indent="-3429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base" latinLnBrk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ko-KR" altLang="en-US" sz="2000" b="1" dirty="0">
                <a:latin typeface="+mn-ea"/>
                <a:ea typeface="+mn-ea"/>
              </a:rPr>
              <a:t>문서 </a:t>
            </a:r>
            <a:r>
              <a:rPr kumimoji="0" lang="ko-KR" altLang="en-US" sz="2000" b="1" dirty="0" err="1">
                <a:latin typeface="+mn-ea"/>
                <a:ea typeface="+mn-ea"/>
              </a:rPr>
              <a:t>개정이력표</a:t>
            </a:r>
            <a:endParaRPr kumimoji="0" lang="en-US" altLang="ko-KR" sz="2000" b="1" dirty="0">
              <a:latin typeface="+mn-ea"/>
              <a:ea typeface="+mn-ea"/>
            </a:endParaRPr>
          </a:p>
        </p:txBody>
      </p:sp>
      <p:graphicFrame>
        <p:nvGraphicFramePr>
          <p:cNvPr id="6" name="Group 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736715"/>
              </p:ext>
            </p:extLst>
          </p:nvPr>
        </p:nvGraphicFramePr>
        <p:xfrm>
          <a:off x="821175" y="1101688"/>
          <a:ext cx="8190640" cy="47120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74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날짜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내용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굴림" pitchFamily="50" charset="-127"/>
                          <a:cs typeface="+mn-cs"/>
                        </a:rPr>
                        <a:t>작성자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굴림" pitchFamily="50" charset="-127"/>
                        <a:cs typeface="+mn-cs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</a:t>
                      </a: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20XX.XX.XX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최초 제정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OOO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4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69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23220670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544925369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946507743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511648706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815606028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170983"/>
                  </a:ext>
                </a:extLst>
              </a:tr>
              <a:tr h="378228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944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테스트 개요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통합 테스트 시스템 구성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</a:t>
            </a:r>
            <a:r>
              <a:rPr lang="ko-KR" altLang="en-US" dirty="0"/>
              <a:t>통합 테스트 사전 점검 항목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4. </a:t>
            </a:r>
            <a:r>
              <a:rPr lang="ko-KR" altLang="en-US" dirty="0" err="1"/>
              <a:t>통합테스트</a:t>
            </a:r>
            <a:r>
              <a:rPr lang="ko-KR" altLang="en-US" dirty="0"/>
              <a:t> 일정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5. </a:t>
            </a:r>
            <a:r>
              <a:rPr lang="ko-KR" altLang="en-US" dirty="0"/>
              <a:t>각 공정</a:t>
            </a:r>
            <a:r>
              <a:rPr lang="en-US" altLang="ko-KR" dirty="0"/>
              <a:t>/</a:t>
            </a:r>
            <a:r>
              <a:rPr lang="ko-KR" altLang="en-US" dirty="0" err="1"/>
              <a:t>설비별</a:t>
            </a:r>
            <a:r>
              <a:rPr lang="ko-KR" altLang="en-US" dirty="0"/>
              <a:t> 생산계획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6. </a:t>
            </a:r>
            <a:r>
              <a:rPr lang="ko-KR" altLang="en-US" dirty="0" err="1"/>
              <a:t>통합테스트</a:t>
            </a:r>
            <a:r>
              <a:rPr lang="ko-KR" altLang="en-US" dirty="0"/>
              <a:t> 항목</a:t>
            </a:r>
            <a:r>
              <a:rPr lang="en-US" altLang="ko-KR" dirty="0"/>
              <a:t>, </a:t>
            </a:r>
            <a:r>
              <a:rPr lang="ko-KR" altLang="en-US" dirty="0"/>
              <a:t>담당자 역할 및 </a:t>
            </a:r>
            <a:r>
              <a:rPr lang="ko-KR" altLang="en-US" dirty="0" smtClean="0"/>
              <a:t>책임</a:t>
            </a:r>
            <a:endParaRPr lang="en-US" altLang="ko-KR" dirty="0" smtClean="0"/>
          </a:p>
          <a:p>
            <a:pPr marL="0" indent="0">
              <a:buNone/>
            </a:pPr>
            <a:r>
              <a:rPr lang="ko-KR" altLang="en-US" dirty="0" smtClean="0"/>
              <a:t>별첨</a:t>
            </a:r>
            <a:r>
              <a:rPr lang="en-US" altLang="ko-KR" dirty="0" smtClean="0"/>
              <a:t>. MES </a:t>
            </a:r>
            <a:r>
              <a:rPr lang="ko-KR" altLang="en-US" dirty="0" smtClean="0"/>
              <a:t>교육일정 및 대상자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83237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ko-KR" altLang="en-US" dirty="0" smtClean="0"/>
              <a:t>통합 테스트 개요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738664"/>
          </a:xfrm>
        </p:spPr>
        <p:txBody>
          <a:bodyPr/>
          <a:lstStyle/>
          <a:p>
            <a:r>
              <a:rPr lang="ko-KR" altLang="en-US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통합테스트는 시스템 정식 오픈 전 실시하는 절차이며</a:t>
            </a:r>
            <a:r>
              <a:rPr lang="en-US" altLang="ko-KR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선행 운영의 의미를 내포함</a:t>
            </a:r>
            <a:r>
              <a:rPr lang="en-US" altLang="ko-KR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  <a:r>
              <a:rPr lang="ko-KR" altLang="en-US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endParaRPr lang="en-US" altLang="ko-KR" dirty="0" smtClean="0">
              <a:solidFill>
                <a:sysClr val="windowText" lastClr="000000">
                  <a:lumMod val="85000"/>
                  <a:lumOff val="15000"/>
                </a:sys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en-US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통합테스트에서 </a:t>
            </a:r>
            <a:r>
              <a:rPr lang="ko-KR" altLang="en-US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제시한 </a:t>
            </a:r>
            <a:r>
              <a:rPr lang="ko-KR" altLang="en-US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목표 달성</a:t>
            </a:r>
            <a:r>
              <a:rPr lang="en-US" altLang="ko-KR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dirty="0" err="1" smtClean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미달시</a:t>
            </a:r>
            <a:r>
              <a:rPr lang="ko-KR" altLang="en-US" dirty="0" smtClean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조치 방안을 수립하여 시스템 운용에 </a:t>
            </a:r>
            <a:r>
              <a:rPr lang="ko-KR" altLang="en-US" dirty="0">
                <a:solidFill>
                  <a:sysClr val="windowText" lastClr="000000">
                    <a:lumMod val="85000"/>
                    <a:lumOff val="15000"/>
                  </a:sys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문제가 없도록 함</a:t>
            </a:r>
          </a:p>
          <a:p>
            <a:endParaRPr lang="en-US" altLang="ko-KR" dirty="0"/>
          </a:p>
        </p:txBody>
      </p:sp>
      <p:sp>
        <p:nvSpPr>
          <p:cNvPr id="5" name="Rectangle 29"/>
          <p:cNvSpPr>
            <a:spLocks noChangeArrowheads="1"/>
          </p:cNvSpPr>
          <p:nvPr/>
        </p:nvSpPr>
        <p:spPr bwMode="auto">
          <a:xfrm>
            <a:off x="594790" y="1637933"/>
            <a:ext cx="1863373" cy="33264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defTabSz="844083" latinLnBrk="0">
              <a:defRPr/>
            </a:pPr>
            <a:r>
              <a:rPr lang="en-US" altLang="ko-KR" sz="1292" b="1" kern="0" dirty="0">
                <a:solidFill>
                  <a:prstClr val="white"/>
                </a:solidFill>
                <a:latin typeface="맑은 고딕 Semilight"/>
                <a:ea typeface="맑은 고딕 Semilight"/>
              </a:rPr>
              <a:t>1) </a:t>
            </a:r>
            <a:r>
              <a:rPr lang="ko-KR" altLang="en-US" sz="1292" b="1" kern="0" dirty="0">
                <a:solidFill>
                  <a:prstClr val="white"/>
                </a:solidFill>
                <a:latin typeface="맑은 고딕 Semilight"/>
                <a:ea typeface="맑은 고딕 Semilight"/>
              </a:rPr>
              <a:t>통합테스트 목적</a:t>
            </a:r>
            <a:endParaRPr lang="en-US" altLang="ko-KR" sz="1292" b="1" kern="0" dirty="0">
              <a:solidFill>
                <a:prstClr val="white"/>
              </a:solidFill>
              <a:latin typeface="맑은 고딕 Semilight"/>
              <a:ea typeface="맑은 고딕 Semilight"/>
            </a:endParaRPr>
          </a:p>
        </p:txBody>
      </p:sp>
      <p:sp>
        <p:nvSpPr>
          <p:cNvPr id="6" name="직사각형 45"/>
          <p:cNvSpPr>
            <a:spLocks noChangeArrowheads="1"/>
          </p:cNvSpPr>
          <p:nvPr/>
        </p:nvSpPr>
        <p:spPr bwMode="auto">
          <a:xfrm>
            <a:off x="606941" y="2121510"/>
            <a:ext cx="1484434" cy="636700"/>
          </a:xfrm>
          <a:prstGeom prst="rect">
            <a:avLst/>
          </a:prstGeom>
          <a:solidFill>
            <a:schemeClr val="accent2"/>
          </a:solidFill>
          <a:ln w="34925" algn="ctr">
            <a:solidFill>
              <a:schemeClr val="accent2"/>
            </a:solidFill>
            <a:round/>
            <a:headEnd/>
            <a:tailEnd/>
          </a:ln>
          <a:extLst/>
        </p:spPr>
        <p:txBody>
          <a:bodyPr wrap="none" anchor="ctr"/>
          <a:lstStyle/>
          <a:p>
            <a:pPr algn="ctr" defTabSz="844083" latinLnBrk="0">
              <a:spcBef>
                <a:spcPct val="0"/>
              </a:spcBef>
              <a:spcAft>
                <a:spcPts val="554"/>
              </a:spcAft>
              <a:buClr>
                <a:prstClr val="black"/>
              </a:buClr>
              <a:buSzPct val="100000"/>
              <a:defRPr/>
            </a:pPr>
            <a:r>
              <a:rPr lang="ko-KR" altLang="en-US" sz="1108" kern="0" dirty="0">
                <a:solidFill>
                  <a:srgbClr val="000000"/>
                </a:solidFill>
                <a:latin typeface="맑은 고딕 Semilight"/>
                <a:ea typeface="맑은 고딕 Semilight"/>
              </a:rPr>
              <a:t>구현 프로세스 </a:t>
            </a:r>
            <a:endParaRPr lang="en-US" altLang="ko-KR" sz="1108" kern="0" dirty="0">
              <a:solidFill>
                <a:srgbClr val="000000"/>
              </a:solidFill>
              <a:latin typeface="맑은 고딕 Semilight"/>
              <a:ea typeface="맑은 고딕 Semilight"/>
            </a:endParaRPr>
          </a:p>
          <a:p>
            <a:pPr algn="ctr" defTabSz="844083" latinLnBrk="0">
              <a:spcBef>
                <a:spcPct val="0"/>
              </a:spcBef>
              <a:spcAft>
                <a:spcPts val="554"/>
              </a:spcAft>
              <a:buClr>
                <a:prstClr val="black"/>
              </a:buClr>
              <a:buSzPct val="100000"/>
              <a:defRPr/>
            </a:pPr>
            <a:r>
              <a:rPr lang="ko-KR" altLang="en-US" sz="1108" kern="0" dirty="0">
                <a:solidFill>
                  <a:srgbClr val="000000"/>
                </a:solidFill>
                <a:latin typeface="맑은 고딕 Semilight"/>
                <a:ea typeface="맑은 고딕 Semilight"/>
              </a:rPr>
              <a:t>및 기능 검토</a:t>
            </a:r>
            <a:endParaRPr lang="en-US" altLang="ko-KR" sz="1108" kern="0" dirty="0">
              <a:solidFill>
                <a:srgbClr val="000000"/>
              </a:solidFill>
              <a:latin typeface="맑은 고딕 Semilight"/>
              <a:ea typeface="맑은 고딕 Semilight"/>
            </a:endParaRPr>
          </a:p>
        </p:txBody>
      </p:sp>
      <p:sp>
        <p:nvSpPr>
          <p:cNvPr id="7" name="직사각형 47"/>
          <p:cNvSpPr>
            <a:spLocks noChangeArrowheads="1"/>
          </p:cNvSpPr>
          <p:nvPr/>
        </p:nvSpPr>
        <p:spPr bwMode="auto">
          <a:xfrm>
            <a:off x="606941" y="2814488"/>
            <a:ext cx="1484434" cy="628803"/>
          </a:xfrm>
          <a:prstGeom prst="rect">
            <a:avLst/>
          </a:prstGeom>
          <a:solidFill>
            <a:schemeClr val="accent2"/>
          </a:solidFill>
          <a:ln w="34925" algn="ctr">
            <a:solidFill>
              <a:schemeClr val="accent2"/>
            </a:solidFill>
            <a:round/>
            <a:headEnd/>
            <a:tailEnd/>
          </a:ln>
          <a:extLst/>
        </p:spPr>
        <p:txBody>
          <a:bodyPr wrap="none" anchor="ctr"/>
          <a:lstStyle/>
          <a:p>
            <a:pPr algn="ctr" defTabSz="844083" latinLnBrk="0">
              <a:spcBef>
                <a:spcPct val="0"/>
              </a:spcBef>
              <a:spcAft>
                <a:spcPts val="554"/>
              </a:spcAft>
              <a:buClr>
                <a:prstClr val="black"/>
              </a:buClr>
              <a:buSzPct val="100000"/>
              <a:defRPr/>
            </a:pPr>
            <a:r>
              <a:rPr lang="ko-KR" altLang="en-US" sz="1108" kern="0" dirty="0">
                <a:solidFill>
                  <a:srgbClr val="000000"/>
                </a:solidFill>
                <a:latin typeface="맑은 고딕 Semilight"/>
                <a:ea typeface="맑은 고딕 Semilight"/>
              </a:rPr>
              <a:t>현장 변화 관리</a:t>
            </a:r>
            <a:endParaRPr lang="en-US" altLang="ko-KR" sz="1108" kern="0" dirty="0">
              <a:solidFill>
                <a:srgbClr val="000000"/>
              </a:solidFill>
              <a:latin typeface="맑은 고딕 Semilight"/>
              <a:ea typeface="맑은 고딕 Semilight"/>
            </a:endParaRPr>
          </a:p>
        </p:txBody>
      </p:sp>
      <p:sp>
        <p:nvSpPr>
          <p:cNvPr id="8" name="직사각형 50"/>
          <p:cNvSpPr>
            <a:spLocks noChangeArrowheads="1"/>
          </p:cNvSpPr>
          <p:nvPr/>
        </p:nvSpPr>
        <p:spPr bwMode="auto">
          <a:xfrm>
            <a:off x="2133872" y="2121511"/>
            <a:ext cx="6244003" cy="636698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" lastClr="FFFFFF">
                <a:lumMod val="50000"/>
              </a:sysClr>
            </a:solidFill>
          </a:ln>
          <a:effectLst/>
          <a:extLst/>
        </p:spPr>
        <p:txBody>
          <a:bodyPr lIns="33231" tIns="43200" rIns="33231" bIns="43200" anchor="ctr"/>
          <a:lstStyle>
            <a:lvl1pPr latinLnBrk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  <a:buFont typeface="Wingdings 2" panose="05020102010507070707" pitchFamily="18" charset="2"/>
              <a:buChar char="•"/>
              <a:defRPr kumimoji="1" sz="1600" b="1">
                <a:solidFill>
                  <a:schemeClr val="tx1"/>
                </a:solidFill>
                <a:latin typeface="Tahoma" panose="020B0604030504040204" pitchFamily="34" charset="0"/>
                <a:ea typeface="돋움" panose="020B0600000101010101" pitchFamily="50" charset="-127"/>
              </a:defRPr>
            </a:lvl1pPr>
            <a:lvl2pPr marL="742950" indent="-285750" latinLnBrk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66699"/>
              </a:buClr>
              <a:buSzPct val="150000"/>
              <a:buFont typeface="Wingdings 2" panose="05020102010507070707" pitchFamily="18" charset="2"/>
              <a:buChar char="–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2pPr>
            <a:lvl3pPr marL="1143000" indent="-228600" latinLnBrk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SzPct val="125000"/>
              <a:buFont typeface="Wingdings" panose="05000000000000000000" pitchFamily="2" charset="2"/>
              <a:buChar char="§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3pPr>
            <a:lvl4pPr marL="1600200" indent="-228600" latinLnBrk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Times New Roman" panose="02020603050405020304" pitchFamily="18" charset="0"/>
              <a:buChar char="–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4pPr>
            <a:lvl5pPr marL="2057400" indent="-228600" latinLnBrk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har char="•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har char="•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har char="•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har char="•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har char="•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9pPr>
          </a:lstStyle>
          <a:p>
            <a:pPr defTabSz="844083" latinLnBrk="0">
              <a:lnSpc>
                <a:spcPct val="100000"/>
              </a:lnSpc>
              <a:spcBef>
                <a:spcPts val="277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ko-KR" altLang="en-US" sz="1108" b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확정된 프로세스를 처리하기 위한 기능 개발 상태 점검의 기회</a:t>
            </a:r>
            <a:endParaRPr kumimoji="0" lang="en-US" altLang="ko-KR" sz="1108" b="0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844083" latinLnBrk="0">
              <a:lnSpc>
                <a:spcPct val="100000"/>
              </a:lnSpc>
              <a:spcBef>
                <a:spcPts val="277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altLang="ko-KR" sz="1108" b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108" b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보완 및 기능 추가 요구에 대한 기회</a:t>
            </a:r>
          </a:p>
        </p:txBody>
      </p:sp>
      <p:sp>
        <p:nvSpPr>
          <p:cNvPr id="9" name="직사각형 51"/>
          <p:cNvSpPr>
            <a:spLocks noChangeArrowheads="1"/>
          </p:cNvSpPr>
          <p:nvPr/>
        </p:nvSpPr>
        <p:spPr bwMode="auto">
          <a:xfrm>
            <a:off x="2133872" y="2798368"/>
            <a:ext cx="6244003" cy="646534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" lastClr="FFFFFF">
                <a:lumMod val="50000"/>
              </a:sysClr>
            </a:solidFill>
          </a:ln>
          <a:effectLst/>
          <a:extLst/>
        </p:spPr>
        <p:txBody>
          <a:bodyPr lIns="33231" tIns="43200" rIns="33231" bIns="43200" anchor="ctr"/>
          <a:lstStyle>
            <a:lvl1pPr latinLnBrk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  <a:buFont typeface="Wingdings 2" panose="05020102010507070707" pitchFamily="18" charset="2"/>
              <a:buChar char="•"/>
              <a:defRPr kumimoji="1" sz="1600" b="1">
                <a:solidFill>
                  <a:schemeClr val="tx1"/>
                </a:solidFill>
                <a:latin typeface="Tahoma" panose="020B0604030504040204" pitchFamily="34" charset="0"/>
                <a:ea typeface="돋움" panose="020B0600000101010101" pitchFamily="50" charset="-127"/>
              </a:defRPr>
            </a:lvl1pPr>
            <a:lvl2pPr marL="742950" indent="-285750" latinLnBrk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66699"/>
              </a:buClr>
              <a:buSzPct val="150000"/>
              <a:buFont typeface="Wingdings 2" panose="05020102010507070707" pitchFamily="18" charset="2"/>
              <a:buChar char="–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2pPr>
            <a:lvl3pPr marL="1143000" indent="-228600" latinLnBrk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SzPct val="125000"/>
              <a:buFont typeface="Wingdings" panose="05000000000000000000" pitchFamily="2" charset="2"/>
              <a:buChar char="§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3pPr>
            <a:lvl4pPr marL="1600200" indent="-228600" latinLnBrk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Times New Roman" panose="02020603050405020304" pitchFamily="18" charset="0"/>
              <a:buChar char="–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4pPr>
            <a:lvl5pPr marL="2057400" indent="-228600" latinLnBrk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har char="•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har char="•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har char="•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har char="•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har char="•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9pPr>
          </a:lstStyle>
          <a:p>
            <a:pPr defTabSz="844083" latinLnBrk="0">
              <a:lnSpc>
                <a:spcPct val="100000"/>
              </a:lnSpc>
              <a:spcBef>
                <a:spcPts val="277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ko-KR" altLang="en-US" sz="1108" b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변화되는 스마트팩토리 업무 환경에 대한 직접</a:t>
            </a:r>
            <a:r>
              <a:rPr kumimoji="0" lang="en-US" altLang="ko-KR" sz="1108" b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108" b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사전</a:t>
            </a:r>
            <a:r>
              <a:rPr kumimoji="0" lang="en-US" altLang="ko-KR" sz="1108" b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1108" b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체험의 기회</a:t>
            </a:r>
            <a:endParaRPr kumimoji="0" lang="en-US" altLang="ko-KR" sz="1108" b="0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defTabSz="844083" latinLnBrk="0">
              <a:lnSpc>
                <a:spcPct val="100000"/>
              </a:lnSpc>
              <a:spcBef>
                <a:spcPts val="277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altLang="ko-KR" sz="1108" b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kumimoji="0" lang="ko-KR" altLang="en-US" sz="1108" b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시스템을 통한 업무 처리에 대한 사전 교육의 기회</a:t>
            </a:r>
            <a:endParaRPr kumimoji="0" lang="en-US" altLang="ko-KR" sz="1108" b="0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Rectangle 29"/>
          <p:cNvSpPr>
            <a:spLocks noChangeArrowheads="1"/>
          </p:cNvSpPr>
          <p:nvPr/>
        </p:nvSpPr>
        <p:spPr bwMode="auto">
          <a:xfrm>
            <a:off x="594790" y="3690820"/>
            <a:ext cx="1863373" cy="33264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defTabSz="844083" latinLnBrk="0">
              <a:defRPr/>
            </a:pPr>
            <a:r>
              <a:rPr lang="en-US" altLang="ko-KR" sz="1292" b="1" kern="0" dirty="0">
                <a:solidFill>
                  <a:prstClr val="white"/>
                </a:solidFill>
                <a:latin typeface="맑은 고딕 Semilight"/>
                <a:ea typeface="맑은 고딕 Semilight"/>
              </a:rPr>
              <a:t>2) </a:t>
            </a:r>
            <a:r>
              <a:rPr lang="ko-KR" altLang="en-US" sz="1292" b="1" kern="0" dirty="0">
                <a:solidFill>
                  <a:prstClr val="white"/>
                </a:solidFill>
                <a:latin typeface="맑은 고딕 Semilight"/>
                <a:ea typeface="맑은 고딕 Semilight"/>
              </a:rPr>
              <a:t>통합테스트 목표</a:t>
            </a:r>
            <a:endParaRPr lang="en-US" altLang="ko-KR" sz="1292" b="1" kern="0" dirty="0">
              <a:solidFill>
                <a:prstClr val="white"/>
              </a:solidFill>
              <a:latin typeface="맑은 고딕 Semilight"/>
              <a:ea typeface="맑은 고딕 Semilight"/>
            </a:endParaRPr>
          </a:p>
        </p:txBody>
      </p:sp>
      <p:sp>
        <p:nvSpPr>
          <p:cNvPr id="11" name="직사각형 45"/>
          <p:cNvSpPr>
            <a:spLocks noChangeArrowheads="1"/>
          </p:cNvSpPr>
          <p:nvPr/>
        </p:nvSpPr>
        <p:spPr bwMode="auto">
          <a:xfrm>
            <a:off x="606941" y="4174397"/>
            <a:ext cx="1484434" cy="636700"/>
          </a:xfrm>
          <a:prstGeom prst="rect">
            <a:avLst/>
          </a:prstGeom>
          <a:solidFill>
            <a:schemeClr val="accent2"/>
          </a:solidFill>
          <a:ln w="34925" algn="ctr">
            <a:solidFill>
              <a:schemeClr val="accent2"/>
            </a:solidFill>
            <a:round/>
            <a:headEnd/>
            <a:tailEnd/>
          </a:ln>
          <a:extLst/>
        </p:spPr>
        <p:txBody>
          <a:bodyPr wrap="none" anchor="ctr"/>
          <a:lstStyle/>
          <a:p>
            <a:pPr algn="ctr" defTabSz="844083" latinLnBrk="0">
              <a:spcBef>
                <a:spcPct val="0"/>
              </a:spcBef>
              <a:spcAft>
                <a:spcPts val="554"/>
              </a:spcAft>
              <a:buClr>
                <a:prstClr val="black"/>
              </a:buClr>
              <a:buSzPct val="100000"/>
              <a:defRPr/>
            </a:pPr>
            <a:r>
              <a:rPr lang="ko-KR" altLang="en-US" sz="1108" kern="0" dirty="0">
                <a:solidFill>
                  <a:srgbClr val="000000"/>
                </a:solidFill>
                <a:latin typeface="맑은 고딕 Semilight"/>
                <a:ea typeface="맑은 고딕 Semilight"/>
              </a:rPr>
              <a:t>안정성 및 정합성</a:t>
            </a:r>
            <a:endParaRPr lang="en-US" altLang="ko-KR" sz="1108" kern="0" dirty="0">
              <a:solidFill>
                <a:srgbClr val="000000"/>
              </a:solidFill>
              <a:latin typeface="맑은 고딕 Semilight"/>
              <a:ea typeface="맑은 고딕 Semilight"/>
            </a:endParaRPr>
          </a:p>
        </p:txBody>
      </p:sp>
      <p:sp>
        <p:nvSpPr>
          <p:cNvPr id="12" name="직사각형 47"/>
          <p:cNvSpPr>
            <a:spLocks noChangeArrowheads="1"/>
          </p:cNvSpPr>
          <p:nvPr/>
        </p:nvSpPr>
        <p:spPr bwMode="auto">
          <a:xfrm>
            <a:off x="606941" y="4867375"/>
            <a:ext cx="1484434" cy="628803"/>
          </a:xfrm>
          <a:prstGeom prst="rect">
            <a:avLst/>
          </a:prstGeom>
          <a:solidFill>
            <a:schemeClr val="accent2"/>
          </a:solidFill>
          <a:ln w="34925" algn="ctr">
            <a:solidFill>
              <a:schemeClr val="accent2"/>
            </a:solidFill>
            <a:round/>
            <a:headEnd/>
            <a:tailEnd/>
          </a:ln>
          <a:extLst/>
        </p:spPr>
        <p:txBody>
          <a:bodyPr wrap="none" anchor="ctr"/>
          <a:lstStyle/>
          <a:p>
            <a:pPr algn="ctr" defTabSz="844083" latinLnBrk="0">
              <a:spcBef>
                <a:spcPct val="0"/>
              </a:spcBef>
              <a:spcAft>
                <a:spcPts val="554"/>
              </a:spcAft>
              <a:buClr>
                <a:prstClr val="black"/>
              </a:buClr>
              <a:buSzPct val="100000"/>
              <a:defRPr/>
            </a:pPr>
            <a:r>
              <a:rPr lang="ko-KR" altLang="en-US" sz="1108" kern="0" dirty="0">
                <a:solidFill>
                  <a:srgbClr val="000000"/>
                </a:solidFill>
                <a:latin typeface="맑은 고딕 Semilight"/>
                <a:ea typeface="맑은 고딕 Semilight"/>
              </a:rPr>
              <a:t>지속운영</a:t>
            </a:r>
            <a:endParaRPr lang="en-US" altLang="ko-KR" sz="1108" kern="0" dirty="0">
              <a:solidFill>
                <a:srgbClr val="000000"/>
              </a:solidFill>
              <a:latin typeface="맑은 고딕 Semilight"/>
              <a:ea typeface="맑은 고딕 Semilight"/>
            </a:endParaRPr>
          </a:p>
        </p:txBody>
      </p:sp>
      <p:sp>
        <p:nvSpPr>
          <p:cNvPr id="13" name="직사각형 50"/>
          <p:cNvSpPr>
            <a:spLocks noChangeArrowheads="1"/>
          </p:cNvSpPr>
          <p:nvPr/>
        </p:nvSpPr>
        <p:spPr bwMode="auto">
          <a:xfrm>
            <a:off x="2133872" y="4174398"/>
            <a:ext cx="6244003" cy="636698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" lastClr="FFFFFF">
                <a:lumMod val="50000"/>
              </a:sysClr>
            </a:solidFill>
          </a:ln>
          <a:effectLst/>
          <a:extLst/>
        </p:spPr>
        <p:txBody>
          <a:bodyPr lIns="33231" tIns="43200" rIns="33231" bIns="43200" anchor="ctr"/>
          <a:lstStyle>
            <a:lvl1pPr latinLnBrk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  <a:buFont typeface="Wingdings 2" panose="05020102010507070707" pitchFamily="18" charset="2"/>
              <a:buChar char="•"/>
              <a:defRPr kumimoji="1" sz="1600" b="1">
                <a:solidFill>
                  <a:schemeClr val="tx1"/>
                </a:solidFill>
                <a:latin typeface="Tahoma" panose="020B0604030504040204" pitchFamily="34" charset="0"/>
                <a:ea typeface="돋움" panose="020B0600000101010101" pitchFamily="50" charset="-127"/>
              </a:defRPr>
            </a:lvl1pPr>
            <a:lvl2pPr marL="742950" indent="-285750" latinLnBrk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66699"/>
              </a:buClr>
              <a:buSzPct val="150000"/>
              <a:buFont typeface="Wingdings 2" panose="05020102010507070707" pitchFamily="18" charset="2"/>
              <a:buChar char="–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2pPr>
            <a:lvl3pPr marL="1143000" indent="-228600" latinLnBrk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SzPct val="125000"/>
              <a:buFont typeface="Wingdings" panose="05000000000000000000" pitchFamily="2" charset="2"/>
              <a:buChar char="§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3pPr>
            <a:lvl4pPr marL="1600200" indent="-228600" latinLnBrk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Times New Roman" panose="02020603050405020304" pitchFamily="18" charset="0"/>
              <a:buChar char="–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4pPr>
            <a:lvl5pPr marL="2057400" indent="-228600" latinLnBrk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har char="•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har char="•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har char="•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har char="•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har char="•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9pPr>
          </a:lstStyle>
          <a:p>
            <a:pPr defTabSz="844083" latinLnBrk="0">
              <a:lnSpc>
                <a:spcPct val="100000"/>
              </a:lnSpc>
              <a:spcBef>
                <a:spcPts val="277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ko-KR" altLang="en-US" sz="1108" b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오퍼레이션 및 데이터 처리에 문제가 없어야 함 </a:t>
            </a:r>
            <a:r>
              <a:rPr kumimoji="0" lang="en-US" altLang="ko-KR" sz="1108" b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kumimoji="0" lang="ko-KR" altLang="en-US" sz="1108" b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전체항목대비 수정 </a:t>
            </a:r>
            <a:r>
              <a:rPr kumimoji="0" lang="en-US" altLang="ko-KR" sz="1108" b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5% </a:t>
            </a:r>
            <a:r>
              <a:rPr kumimoji="0" lang="ko-KR" altLang="en-US" sz="1108" b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이내</a:t>
            </a:r>
            <a:r>
              <a:rPr kumimoji="0" lang="en-US" altLang="ko-KR" sz="1108" b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2~3</a:t>
            </a:r>
            <a:r>
              <a:rPr kumimoji="0" lang="ko-KR" altLang="en-US" sz="1108" b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일 내 수정가능 범위</a:t>
            </a:r>
            <a:r>
              <a:rPr kumimoji="0" lang="en-US" altLang="ko-KR" sz="1108" b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kumimoji="0" lang="ko-KR" altLang="en-US" sz="1108" b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</a:p>
        </p:txBody>
      </p:sp>
      <p:sp>
        <p:nvSpPr>
          <p:cNvPr id="14" name="직사각형 51"/>
          <p:cNvSpPr>
            <a:spLocks noChangeArrowheads="1"/>
          </p:cNvSpPr>
          <p:nvPr/>
        </p:nvSpPr>
        <p:spPr bwMode="auto">
          <a:xfrm>
            <a:off x="2133872" y="4851256"/>
            <a:ext cx="6244003" cy="646534"/>
          </a:xfrm>
          <a:prstGeom prst="rect">
            <a:avLst/>
          </a:prstGeom>
          <a:solidFill>
            <a:sysClr val="window" lastClr="FFFFFF"/>
          </a:solidFill>
          <a:ln>
            <a:solidFill>
              <a:sysClr val="window" lastClr="FFFFFF">
                <a:lumMod val="50000"/>
              </a:sysClr>
            </a:solidFill>
          </a:ln>
          <a:effectLst/>
          <a:extLst/>
        </p:spPr>
        <p:txBody>
          <a:bodyPr lIns="33231" tIns="43200" rIns="33231" bIns="43200" anchor="ctr"/>
          <a:lstStyle>
            <a:lvl1pPr latinLnBrk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000066"/>
              </a:buClr>
              <a:buSzPct val="120000"/>
              <a:buFont typeface="Wingdings 2" panose="05020102010507070707" pitchFamily="18" charset="2"/>
              <a:buChar char="•"/>
              <a:defRPr kumimoji="1" sz="1600" b="1">
                <a:solidFill>
                  <a:schemeClr val="tx1"/>
                </a:solidFill>
                <a:latin typeface="Tahoma" panose="020B0604030504040204" pitchFamily="34" charset="0"/>
                <a:ea typeface="돋움" panose="020B0600000101010101" pitchFamily="50" charset="-127"/>
              </a:defRPr>
            </a:lvl1pPr>
            <a:lvl2pPr marL="742950" indent="-285750" latinLnBrk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lr>
                <a:srgbClr val="666699"/>
              </a:buClr>
              <a:buSzPct val="150000"/>
              <a:buFont typeface="Wingdings 2" panose="05020102010507070707" pitchFamily="18" charset="2"/>
              <a:buChar char="–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2pPr>
            <a:lvl3pPr marL="1143000" indent="-228600" latinLnBrk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SzPct val="125000"/>
              <a:buFont typeface="Wingdings" panose="05000000000000000000" pitchFamily="2" charset="2"/>
              <a:buChar char="§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3pPr>
            <a:lvl4pPr marL="1600200" indent="-228600" latinLnBrk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Font typeface="Times New Roman" panose="02020603050405020304" pitchFamily="18" charset="0"/>
              <a:buChar char="–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4pPr>
            <a:lvl5pPr marL="2057400" indent="-228600" latinLnBrk="1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har char="•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5pPr>
            <a:lvl6pPr marL="25146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har char="•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6pPr>
            <a:lvl7pPr marL="29718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har char="•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7pPr>
            <a:lvl8pPr marL="34290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har char="•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8pPr>
            <a:lvl9pPr marL="3886200" indent="-228600" eaLnBrk="0" fontAlgn="base" hangingPunct="0">
              <a:lnSpc>
                <a:spcPct val="110000"/>
              </a:lnSpc>
              <a:spcBef>
                <a:spcPct val="10000"/>
              </a:spcBef>
              <a:spcAft>
                <a:spcPct val="10000"/>
              </a:spcAft>
              <a:buChar char="•"/>
              <a:defRPr kumimoji="1" sz="1600" b="1">
                <a:solidFill>
                  <a:schemeClr val="tx1"/>
                </a:solidFill>
                <a:latin typeface="Arial" panose="020B0604020202020204" pitchFamily="34" charset="0"/>
                <a:ea typeface="돋움체" panose="020B0609000101010101" pitchFamily="49" charset="-127"/>
              </a:defRPr>
            </a:lvl9pPr>
          </a:lstStyle>
          <a:p>
            <a:pPr defTabSz="844083" latinLnBrk="0">
              <a:lnSpc>
                <a:spcPct val="100000"/>
              </a:lnSpc>
              <a:spcBef>
                <a:spcPts val="277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ko-KR" altLang="en-US" sz="1108" b="0" kern="0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통합테스트 기간 종료와 상관없이 정식 오픈 시점까지 중단없는 턴 오버되도록 함</a:t>
            </a:r>
            <a:endParaRPr kumimoji="0" lang="en-US" altLang="ko-KR" sz="1108" b="0" kern="0" dirty="0"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85974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통합테스트</a:t>
            </a:r>
            <a:r>
              <a:rPr lang="ko-KR" altLang="en-US" dirty="0" smtClean="0"/>
              <a:t> 시스템 구성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Rectangle 29"/>
          <p:cNvSpPr>
            <a:spLocks noChangeArrowheads="1"/>
          </p:cNvSpPr>
          <p:nvPr/>
        </p:nvSpPr>
        <p:spPr bwMode="auto">
          <a:xfrm>
            <a:off x="937718" y="2756582"/>
            <a:ext cx="1915659" cy="332642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844083" latinLnBrk="0">
              <a:defRPr/>
            </a:pPr>
            <a:r>
              <a:rPr lang="en-US" altLang="ko-KR" sz="1292" b="1" kern="0" dirty="0">
                <a:solidFill>
                  <a:prstClr val="white"/>
                </a:solidFill>
              </a:rPr>
              <a:t>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38364" y="3382130"/>
            <a:ext cx="3309521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8265" indent="-158265" defTabSz="844083" latinLnBrk="0">
              <a:buFont typeface="Arial" panose="020B0604020202020204" pitchFamily="34" charset="0"/>
              <a:buChar char="•"/>
              <a:defRPr/>
            </a:pPr>
            <a:r>
              <a:rPr lang="en-US" altLang="ko-KR" sz="1108" kern="0" dirty="0">
                <a:solidFill>
                  <a:prstClr val="black"/>
                </a:solidFill>
              </a:rPr>
              <a:t>MES UI </a:t>
            </a:r>
            <a:r>
              <a:rPr lang="ko-KR" altLang="en-US" sz="1108" kern="0" dirty="0">
                <a:solidFill>
                  <a:prstClr val="black"/>
                </a:solidFill>
              </a:rPr>
              <a:t>사무직 </a:t>
            </a:r>
            <a:r>
              <a:rPr lang="en-US" altLang="ko-KR" sz="1108" kern="0" dirty="0">
                <a:solidFill>
                  <a:prstClr val="black"/>
                </a:solidFill>
              </a:rPr>
              <a:t>PC</a:t>
            </a:r>
            <a:endParaRPr lang="ko-KR" altLang="en-US" sz="1108" kern="0" dirty="0">
              <a:solidFill>
                <a:prstClr val="black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38364" y="3702076"/>
            <a:ext cx="3309521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8265" indent="-158265" defTabSz="844083" latinLnBrk="0">
              <a:buFont typeface="Arial" panose="020B0604020202020204" pitchFamily="34" charset="0"/>
              <a:buChar char="•"/>
              <a:defRPr/>
            </a:pPr>
            <a:r>
              <a:rPr lang="en-US" altLang="ko-KR" sz="1108" kern="0" dirty="0">
                <a:solidFill>
                  <a:prstClr val="black"/>
                </a:solidFill>
              </a:rPr>
              <a:t>MES UI </a:t>
            </a:r>
            <a:r>
              <a:rPr lang="ko-KR" altLang="en-US" sz="1108" kern="0" dirty="0">
                <a:solidFill>
                  <a:prstClr val="black"/>
                </a:solidFill>
              </a:rPr>
              <a:t>현장 </a:t>
            </a:r>
            <a:r>
              <a:rPr lang="en-US" altLang="ko-KR" sz="1108" kern="0" dirty="0">
                <a:solidFill>
                  <a:prstClr val="black"/>
                </a:solidFill>
              </a:rPr>
              <a:t>PC</a:t>
            </a:r>
            <a:endParaRPr lang="ko-KR" altLang="en-US" sz="1108" kern="0" dirty="0">
              <a:solidFill>
                <a:prstClr val="black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38364" y="4022023"/>
            <a:ext cx="3309521" cy="262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58265" indent="-158265" defTabSz="844083" latinLnBrk="0">
              <a:buFont typeface="Arial" panose="020B0604020202020204" pitchFamily="34" charset="0"/>
              <a:buChar char="•"/>
              <a:defRPr/>
            </a:pPr>
            <a:r>
              <a:rPr lang="en-US" altLang="ko-KR" sz="1108" kern="0" dirty="0">
                <a:solidFill>
                  <a:prstClr val="black"/>
                </a:solidFill>
              </a:rPr>
              <a:t>MES UI </a:t>
            </a:r>
            <a:r>
              <a:rPr lang="ko-KR" altLang="en-US" sz="1108" kern="0" dirty="0" err="1">
                <a:solidFill>
                  <a:prstClr val="black"/>
                </a:solidFill>
              </a:rPr>
              <a:t>테블릿</a:t>
            </a:r>
            <a:r>
              <a:rPr lang="ko-KR" altLang="en-US" sz="1108" kern="0" dirty="0">
                <a:solidFill>
                  <a:prstClr val="black"/>
                </a:solidFill>
              </a:rPr>
              <a:t> </a:t>
            </a:r>
            <a:r>
              <a:rPr lang="en-US" altLang="ko-KR" sz="1108" kern="0" dirty="0">
                <a:solidFill>
                  <a:prstClr val="black"/>
                </a:solidFill>
              </a:rPr>
              <a:t>PC</a:t>
            </a:r>
            <a:endParaRPr lang="ko-KR" altLang="en-US" sz="1108" kern="0" dirty="0">
              <a:solidFill>
                <a:prstClr val="black"/>
              </a:solidFill>
            </a:endParaRPr>
          </a:p>
        </p:txBody>
      </p:sp>
      <p:cxnSp>
        <p:nvCxnSpPr>
          <p:cNvPr id="9" name="꺾인 연결선 8"/>
          <p:cNvCxnSpPr>
            <a:stCxn id="5" idx="2"/>
            <a:endCxn id="6" idx="1"/>
          </p:cNvCxnSpPr>
          <p:nvPr/>
        </p:nvCxnSpPr>
        <p:spPr>
          <a:xfrm rot="16200000" flipH="1">
            <a:off x="2104796" y="2879976"/>
            <a:ext cx="424321" cy="842816"/>
          </a:xfrm>
          <a:prstGeom prst="bentConnector2">
            <a:avLst/>
          </a:prstGeom>
          <a:noFill/>
          <a:ln w="190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10" name="꺾인 연결선 9"/>
          <p:cNvCxnSpPr>
            <a:stCxn id="5" idx="2"/>
            <a:endCxn id="7" idx="1"/>
          </p:cNvCxnSpPr>
          <p:nvPr/>
        </p:nvCxnSpPr>
        <p:spPr>
          <a:xfrm rot="16200000" flipH="1">
            <a:off x="1944823" y="3039949"/>
            <a:ext cx="744267" cy="842816"/>
          </a:xfrm>
          <a:prstGeom prst="bentConnector2">
            <a:avLst/>
          </a:prstGeom>
          <a:noFill/>
          <a:ln w="190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11" name="꺾인 연결선 10"/>
          <p:cNvCxnSpPr>
            <a:stCxn id="5" idx="2"/>
            <a:endCxn id="8" idx="1"/>
          </p:cNvCxnSpPr>
          <p:nvPr/>
        </p:nvCxnSpPr>
        <p:spPr>
          <a:xfrm rot="16200000" flipH="1">
            <a:off x="1784849" y="3199923"/>
            <a:ext cx="1064214" cy="842816"/>
          </a:xfrm>
          <a:prstGeom prst="bentConnector2">
            <a:avLst/>
          </a:prstGeom>
          <a:noFill/>
          <a:ln w="19050" cap="flat" cmpd="sng" algn="ctr">
            <a:solidFill>
              <a:sysClr val="window" lastClr="FFFFFF">
                <a:lumMod val="50000"/>
              </a:sysClr>
            </a:solidFill>
            <a:prstDash val="solid"/>
            <a:miter lim="800000"/>
          </a:ln>
          <a:effectLst/>
        </p:spPr>
      </p:cxnSp>
      <p:sp>
        <p:nvSpPr>
          <p:cNvPr id="12" name="Rectangle 29"/>
          <p:cNvSpPr>
            <a:spLocks noChangeArrowheads="1"/>
          </p:cNvSpPr>
          <p:nvPr/>
        </p:nvSpPr>
        <p:spPr bwMode="auto">
          <a:xfrm>
            <a:off x="6445070" y="2756582"/>
            <a:ext cx="1915659" cy="332642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844083" latinLnBrk="0">
              <a:defRPr/>
            </a:pPr>
            <a:r>
              <a:rPr lang="ko-KR" altLang="en-US" sz="1292" b="1" kern="0">
                <a:solidFill>
                  <a:prstClr val="white"/>
                </a:solidFill>
              </a:rPr>
              <a:t>설비</a:t>
            </a:r>
            <a:endParaRPr lang="en-US" altLang="ko-KR" sz="1292" b="1" kern="0" dirty="0">
              <a:solidFill>
                <a:prstClr val="white"/>
              </a:solidFill>
            </a:endParaRPr>
          </a:p>
        </p:txBody>
      </p:sp>
      <p:sp>
        <p:nvSpPr>
          <p:cNvPr id="13" name="Rectangle 29"/>
          <p:cNvSpPr>
            <a:spLocks noChangeArrowheads="1"/>
          </p:cNvSpPr>
          <p:nvPr/>
        </p:nvSpPr>
        <p:spPr bwMode="auto">
          <a:xfrm>
            <a:off x="3741139" y="2756582"/>
            <a:ext cx="1915659" cy="332642"/>
          </a:xfrm>
          <a:prstGeom prst="roundRect">
            <a:avLst>
              <a:gd name="adj" fmla="val 16667"/>
            </a:avLst>
          </a:prstGeom>
          <a:solidFill>
            <a:schemeClr val="accent4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844083" latinLnBrk="0">
              <a:defRPr/>
            </a:pPr>
            <a:r>
              <a:rPr lang="en-US" altLang="ko-KR" sz="1292" b="1" kern="0" dirty="0">
                <a:solidFill>
                  <a:prstClr val="white"/>
                </a:solidFill>
              </a:rPr>
              <a:t>EAP</a:t>
            </a:r>
          </a:p>
        </p:txBody>
      </p:sp>
      <p:cxnSp>
        <p:nvCxnSpPr>
          <p:cNvPr id="14" name="직선 화살표 연결선 13"/>
          <p:cNvCxnSpPr>
            <a:stCxn id="5" idx="3"/>
            <a:endCxn id="13" idx="1"/>
          </p:cNvCxnSpPr>
          <p:nvPr/>
        </p:nvCxnSpPr>
        <p:spPr>
          <a:xfrm>
            <a:off x="2853377" y="2922903"/>
            <a:ext cx="887762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13" idx="3"/>
            <a:endCxn id="12" idx="1"/>
          </p:cNvCxnSpPr>
          <p:nvPr/>
        </p:nvCxnSpPr>
        <p:spPr>
          <a:xfrm>
            <a:off x="5656797" y="2922903"/>
            <a:ext cx="788273" cy="0"/>
          </a:xfrm>
          <a:prstGeom prst="straightConnector1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16" name="모서리가 둥근 직사각형 15"/>
          <p:cNvSpPr/>
          <p:nvPr/>
        </p:nvSpPr>
        <p:spPr>
          <a:xfrm>
            <a:off x="944922" y="2765883"/>
            <a:ext cx="504298" cy="306949"/>
          </a:xfrm>
          <a:prstGeom prst="roundRect">
            <a:avLst/>
          </a:prstGeom>
          <a:solidFill>
            <a:schemeClr val="accent5"/>
          </a:solidFill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844083" latinLnBrk="0">
              <a:defRPr/>
            </a:pPr>
            <a:r>
              <a:rPr lang="ko-KR" altLang="en-US" sz="1108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운영</a:t>
            </a:r>
          </a:p>
        </p:txBody>
      </p:sp>
      <p:sp>
        <p:nvSpPr>
          <p:cNvPr id="17" name="모서리가 둥근 직사각형 16"/>
          <p:cNvSpPr/>
          <p:nvPr/>
        </p:nvSpPr>
        <p:spPr>
          <a:xfrm>
            <a:off x="3748173" y="2761657"/>
            <a:ext cx="504298" cy="306949"/>
          </a:xfrm>
          <a:prstGeom prst="roundRect">
            <a:avLst/>
          </a:prstGeom>
          <a:solidFill>
            <a:schemeClr val="accent5"/>
          </a:solidFill>
          <a:ln w="6350" cap="flat" cmpd="sng" algn="ctr">
            <a:solidFill>
              <a:srgbClr val="5B9BD5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algn="ctr" defTabSz="844083" latinLnBrk="0">
              <a:defRPr/>
            </a:pPr>
            <a:r>
              <a:rPr lang="ko-KR" altLang="en-US" sz="1108" kern="0" dirty="0">
                <a:solidFill>
                  <a:prstClr val="black"/>
                </a:solidFill>
                <a:latin typeface="Calibri" panose="020F0502020204030204"/>
                <a:ea typeface="맑은 고딕" panose="020B0503020000020004" pitchFamily="50" charset="-127"/>
              </a:rPr>
              <a:t>운영</a:t>
            </a:r>
          </a:p>
        </p:txBody>
      </p:sp>
    </p:spTree>
    <p:extLst>
      <p:ext uri="{BB962C8B-B14F-4D97-AF65-F5344CB8AC3E}">
        <p14:creationId xmlns:p14="http://schemas.microsoft.com/office/powerpoint/2010/main" val="2015404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</a:t>
            </a:r>
            <a:r>
              <a:rPr lang="ko-KR" altLang="en-US" dirty="0" err="1" smtClean="0"/>
              <a:t>통합테스트</a:t>
            </a:r>
            <a:r>
              <a:rPr lang="ko-KR" altLang="en-US" dirty="0" smtClean="0"/>
              <a:t> 사전 점검 항목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918992"/>
              </p:ext>
            </p:extLst>
          </p:nvPr>
        </p:nvGraphicFramePr>
        <p:xfrm>
          <a:off x="650934" y="1562218"/>
          <a:ext cx="8681215" cy="3596805"/>
        </p:xfrm>
        <a:graphic>
          <a:graphicData uri="http://schemas.openxmlformats.org/drawingml/2006/table">
            <a:tbl>
              <a:tblPr firstRow="1" bandRow="1"/>
              <a:tblGrid>
                <a:gridCol w="1274668">
                  <a:extLst>
                    <a:ext uri="{9D8B030D-6E8A-4147-A177-3AD203B41FA5}">
                      <a16:colId xmlns:a16="http://schemas.microsoft.com/office/drawing/2014/main" val="4273918525"/>
                    </a:ext>
                  </a:extLst>
                </a:gridCol>
                <a:gridCol w="3719167">
                  <a:extLst>
                    <a:ext uri="{9D8B030D-6E8A-4147-A177-3AD203B41FA5}">
                      <a16:colId xmlns:a16="http://schemas.microsoft.com/office/drawing/2014/main" val="3296492774"/>
                    </a:ext>
                  </a:extLst>
                </a:gridCol>
                <a:gridCol w="1843690">
                  <a:extLst>
                    <a:ext uri="{9D8B030D-6E8A-4147-A177-3AD203B41FA5}">
                      <a16:colId xmlns:a16="http://schemas.microsoft.com/office/drawing/2014/main" val="238195728"/>
                    </a:ext>
                  </a:extLst>
                </a:gridCol>
                <a:gridCol w="1843690">
                  <a:extLst>
                    <a:ext uri="{9D8B030D-6E8A-4147-A177-3AD203B41FA5}">
                      <a16:colId xmlns:a16="http://schemas.microsoft.com/office/drawing/2014/main" val="930574924"/>
                    </a:ext>
                  </a:extLst>
                </a:gridCol>
              </a:tblGrid>
              <a:tr h="56791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사전 점검 </a:t>
                      </a:r>
                      <a:endParaRPr lang="en-US" altLang="ko-KR" sz="1200" b="1" dirty="0" smtClean="0">
                        <a:latin typeface="+mn-ea"/>
                        <a:ea typeface="+mn-ea"/>
                      </a:endParaRPr>
                    </a:p>
                    <a:p>
                      <a:pPr algn="ctr" latinLnBrk="1"/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항목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사전 점검 내용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수량</a:t>
                      </a:r>
                      <a:endParaRPr lang="ko-KR" altLang="en-US" sz="1200" b="1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9pPr>
                    </a:lstStyle>
                    <a:p>
                      <a:pPr marL="0" marR="0" lvl="0" indent="0" algn="ctr" defTabSz="91429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테스트 지원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200" b="1" dirty="0" smtClean="0">
                          <a:latin typeface="+mn-ea"/>
                          <a:ea typeface="+mn-ea"/>
                        </a:rPr>
                        <a:t>부</a:t>
                      </a:r>
                      <a:r>
                        <a:rPr lang="en-US" altLang="ko-KR" sz="1200" b="1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200" b="1" dirty="0" smtClean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7445893"/>
                  </a:ext>
                </a:extLst>
              </a:tr>
              <a:tr h="94652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err="1" smtClean="0">
                          <a:latin typeface="+mn-ea"/>
                          <a:ea typeface="+mn-ea"/>
                        </a:rPr>
                        <a:t>테블릿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PC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dirty="0" err="1" smtClean="0">
                          <a:latin typeface="+mn-ea"/>
                          <a:ea typeface="+mn-ea"/>
                        </a:rPr>
                        <a:t>테블릿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PC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가 사용되는 장소에서 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MES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에 로그인 될 수 있도록 네트워크에 연결되어 있는지 점검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25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 smtClean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0111168"/>
                  </a:ext>
                </a:extLst>
              </a:tr>
              <a:tr h="94652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baseline="0" dirty="0" smtClean="0">
                          <a:latin typeface="+mn-ea"/>
                          <a:ea typeface="+mn-ea"/>
                        </a:rPr>
                        <a:t>현장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 PC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baseline="0" dirty="0" smtClean="0">
                          <a:latin typeface="+mn-ea"/>
                          <a:ea typeface="+mn-ea"/>
                        </a:rPr>
                        <a:t>제조 현장에 설치되어 있고 </a:t>
                      </a:r>
                      <a:r>
                        <a:rPr lang="en-US" altLang="ko-KR" sz="1100" baseline="0" dirty="0" smtClean="0">
                          <a:latin typeface="+mn-ea"/>
                          <a:ea typeface="+mn-ea"/>
                        </a:rPr>
                        <a:t>MES</a:t>
                      </a:r>
                      <a:r>
                        <a:rPr lang="ko-KR" altLang="en-US" sz="1100" baseline="0" dirty="0" smtClean="0">
                          <a:latin typeface="+mn-ea"/>
                          <a:ea typeface="+mn-ea"/>
                        </a:rPr>
                        <a:t>에 로그인 될 수 있도록 네트워크에 연결되어 있는지 점검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33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 smtClean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878686"/>
                  </a:ext>
                </a:extLst>
              </a:tr>
              <a:tr h="56791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바코드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100" dirty="0" err="1" smtClean="0">
                          <a:latin typeface="+mn-ea"/>
                          <a:ea typeface="+mn-ea"/>
                        </a:rPr>
                        <a:t>스케너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9pPr>
                    </a:lstStyle>
                    <a:p>
                      <a:pPr algn="l" latinLnBrk="1"/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MES UI</a:t>
                      </a:r>
                      <a:r>
                        <a:rPr lang="ko-KR" altLang="en-US" sz="1100" baseline="0" dirty="0" smtClean="0">
                          <a:latin typeface="+mn-ea"/>
                          <a:ea typeface="+mn-ea"/>
                        </a:rPr>
                        <a:t>에서 정상 동작 가능하도록 연결되어 있는지 점검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5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 smtClean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97654402"/>
                  </a:ext>
                </a:extLst>
              </a:tr>
              <a:tr h="567917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9pPr>
                    </a:lstStyle>
                    <a:p>
                      <a:pPr algn="ctr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라벨 프린터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9pPr>
                    </a:lstStyle>
                    <a:p>
                      <a:pPr algn="l" latinLnBrk="1"/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제조 현장에 라벨 프린터와 현장</a:t>
                      </a:r>
                      <a:r>
                        <a:rPr lang="en-US" altLang="ko-KR" sz="1100" dirty="0" smtClean="0">
                          <a:latin typeface="+mn-ea"/>
                          <a:ea typeface="+mn-ea"/>
                        </a:rPr>
                        <a:t> PC</a:t>
                      </a:r>
                      <a:r>
                        <a:rPr lang="ko-KR" altLang="en-US" sz="1100" dirty="0" smtClean="0">
                          <a:latin typeface="+mn-ea"/>
                          <a:ea typeface="+mn-ea"/>
                        </a:rPr>
                        <a:t>가 연결되어 있는지 점검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  <a:ea typeface="맑은 고딕 Semi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>
                          <a:latin typeface="+mn-ea"/>
                          <a:ea typeface="+mn-ea"/>
                        </a:rPr>
                        <a:t>2</a:t>
                      </a:r>
                      <a:endParaRPr lang="ko-KR" altLang="en-US" sz="1100" dirty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맑은 고딕 Semilight"/>
                          <a:ea typeface="맑은 고딕 Semilight"/>
                        </a:defRPr>
                      </a:lvl9pPr>
                    </a:lstStyle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100" dirty="0" smtClean="0">
                        <a:latin typeface="+mn-ea"/>
                        <a:ea typeface="+mn-ea"/>
                      </a:endParaRPr>
                    </a:p>
                  </a:txBody>
                  <a:tcPr marL="84406" marR="84406" marT="42203" marB="42203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489472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21302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</a:t>
            </a:r>
            <a:r>
              <a:rPr lang="ko-KR" altLang="en-US" dirty="0" smtClean="0"/>
              <a:t>통합 테스트 사전 점검 항목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1118262"/>
              </p:ext>
            </p:extLst>
          </p:nvPr>
        </p:nvGraphicFramePr>
        <p:xfrm>
          <a:off x="681038" y="1573507"/>
          <a:ext cx="8440612" cy="4841587"/>
        </p:xfrm>
        <a:graphic>
          <a:graphicData uri="http://schemas.openxmlformats.org/drawingml/2006/table">
            <a:tbl>
              <a:tblPr/>
              <a:tblGrid>
                <a:gridCol w="650028">
                  <a:extLst>
                    <a:ext uri="{9D8B030D-6E8A-4147-A177-3AD203B41FA5}">
                      <a16:colId xmlns:a16="http://schemas.microsoft.com/office/drawing/2014/main" val="1927753932"/>
                    </a:ext>
                  </a:extLst>
                </a:gridCol>
                <a:gridCol w="2330350">
                  <a:extLst>
                    <a:ext uri="{9D8B030D-6E8A-4147-A177-3AD203B41FA5}">
                      <a16:colId xmlns:a16="http://schemas.microsoft.com/office/drawing/2014/main" val="4214381229"/>
                    </a:ext>
                  </a:extLst>
                </a:gridCol>
                <a:gridCol w="653278">
                  <a:extLst>
                    <a:ext uri="{9D8B030D-6E8A-4147-A177-3AD203B41FA5}">
                      <a16:colId xmlns:a16="http://schemas.microsoft.com/office/drawing/2014/main" val="3905977749"/>
                    </a:ext>
                  </a:extLst>
                </a:gridCol>
                <a:gridCol w="533023">
                  <a:extLst>
                    <a:ext uri="{9D8B030D-6E8A-4147-A177-3AD203B41FA5}">
                      <a16:colId xmlns:a16="http://schemas.microsoft.com/office/drawing/2014/main" val="453605067"/>
                    </a:ext>
                  </a:extLst>
                </a:gridCol>
                <a:gridCol w="526522">
                  <a:extLst>
                    <a:ext uri="{9D8B030D-6E8A-4147-A177-3AD203B41FA5}">
                      <a16:colId xmlns:a16="http://schemas.microsoft.com/office/drawing/2014/main" val="3105074182"/>
                    </a:ext>
                  </a:extLst>
                </a:gridCol>
                <a:gridCol w="555774">
                  <a:extLst>
                    <a:ext uri="{9D8B030D-6E8A-4147-A177-3AD203B41FA5}">
                      <a16:colId xmlns:a16="http://schemas.microsoft.com/office/drawing/2014/main" val="839652635"/>
                    </a:ext>
                  </a:extLst>
                </a:gridCol>
                <a:gridCol w="533023">
                  <a:extLst>
                    <a:ext uri="{9D8B030D-6E8A-4147-A177-3AD203B41FA5}">
                      <a16:colId xmlns:a16="http://schemas.microsoft.com/office/drawing/2014/main" val="2503299640"/>
                    </a:ext>
                  </a:extLst>
                </a:gridCol>
                <a:gridCol w="533023">
                  <a:extLst>
                    <a:ext uri="{9D8B030D-6E8A-4147-A177-3AD203B41FA5}">
                      <a16:colId xmlns:a16="http://schemas.microsoft.com/office/drawing/2014/main" val="543733802"/>
                    </a:ext>
                  </a:extLst>
                </a:gridCol>
                <a:gridCol w="533023">
                  <a:extLst>
                    <a:ext uri="{9D8B030D-6E8A-4147-A177-3AD203B41FA5}">
                      <a16:colId xmlns:a16="http://schemas.microsoft.com/office/drawing/2014/main" val="3807793909"/>
                    </a:ext>
                  </a:extLst>
                </a:gridCol>
                <a:gridCol w="533023">
                  <a:extLst>
                    <a:ext uri="{9D8B030D-6E8A-4147-A177-3AD203B41FA5}">
                      <a16:colId xmlns:a16="http://schemas.microsoft.com/office/drawing/2014/main" val="622989864"/>
                    </a:ext>
                  </a:extLst>
                </a:gridCol>
                <a:gridCol w="533023">
                  <a:extLst>
                    <a:ext uri="{9D8B030D-6E8A-4147-A177-3AD203B41FA5}">
                      <a16:colId xmlns:a16="http://schemas.microsoft.com/office/drawing/2014/main" val="3224225188"/>
                    </a:ext>
                  </a:extLst>
                </a:gridCol>
                <a:gridCol w="526522">
                  <a:extLst>
                    <a:ext uri="{9D8B030D-6E8A-4147-A177-3AD203B41FA5}">
                      <a16:colId xmlns:a16="http://schemas.microsoft.com/office/drawing/2014/main" val="234830980"/>
                    </a:ext>
                  </a:extLst>
                </a:gridCol>
              </a:tblGrid>
              <a:tr h="216766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공정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현장 </a:t>
                      </a:r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테블릿 </a:t>
                      </a:r>
                      <a:r>
                        <a:rPr 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바코드 스케너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라벨 프린터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8762406"/>
                  </a:ext>
                </a:extLst>
              </a:tr>
              <a:tr h="27221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PC</a:t>
                      </a: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수량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</a:t>
                      </a:r>
                      <a:br>
                        <a:rPr 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</a:br>
                      <a:r>
                        <a:rPr lang="ko-KR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0449476"/>
                  </a:ext>
                </a:extLst>
              </a:tr>
              <a:tr h="3005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78099342"/>
                  </a:ext>
                </a:extLst>
              </a:tr>
              <a:tr h="3005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29671393"/>
                  </a:ext>
                </a:extLst>
              </a:tr>
              <a:tr h="3005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4629280"/>
                  </a:ext>
                </a:extLst>
              </a:tr>
              <a:tr h="3005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2814902"/>
                  </a:ext>
                </a:extLst>
              </a:tr>
              <a:tr h="3005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9659598"/>
                  </a:ext>
                </a:extLst>
              </a:tr>
              <a:tr h="3005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2795078"/>
                  </a:ext>
                </a:extLst>
              </a:tr>
              <a:tr h="3005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32423230"/>
                  </a:ext>
                </a:extLst>
              </a:tr>
              <a:tr h="3005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6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9964016"/>
                  </a:ext>
                </a:extLst>
              </a:tr>
              <a:tr h="3005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80934049"/>
                  </a:ext>
                </a:extLst>
              </a:tr>
              <a:tr h="3005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8946768"/>
                  </a:ext>
                </a:extLst>
              </a:tr>
              <a:tr h="3005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0499349"/>
                  </a:ext>
                </a:extLst>
              </a:tr>
              <a:tr h="3005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01718797"/>
                  </a:ext>
                </a:extLst>
              </a:tr>
              <a:tr h="3005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01548944"/>
                  </a:ext>
                </a:extLst>
              </a:tr>
              <a:tr h="30055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2958250"/>
                  </a:ext>
                </a:extLst>
              </a:tr>
              <a:tr h="10885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TOTAL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TOTAL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en-US" altLang="ko-KR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6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6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3407" marR="3407" marT="3407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CE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2321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1675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</a:t>
            </a:r>
            <a:r>
              <a:rPr lang="ko-KR" altLang="en-US" dirty="0" smtClean="0"/>
              <a:t>통합 테스트 사전 점검 항목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951317"/>
              </p:ext>
            </p:extLst>
          </p:nvPr>
        </p:nvGraphicFramePr>
        <p:xfrm>
          <a:off x="689768" y="1565980"/>
          <a:ext cx="8526462" cy="4354905"/>
        </p:xfrm>
        <a:graphic>
          <a:graphicData uri="http://schemas.openxmlformats.org/drawingml/2006/table">
            <a:tbl>
              <a:tblPr firstRow="1" bandRow="1"/>
              <a:tblGrid>
                <a:gridCol w="544242">
                  <a:extLst>
                    <a:ext uri="{9D8B030D-6E8A-4147-A177-3AD203B41FA5}">
                      <a16:colId xmlns:a16="http://schemas.microsoft.com/office/drawing/2014/main" val="1045012890"/>
                    </a:ext>
                  </a:extLst>
                </a:gridCol>
                <a:gridCol w="1596444">
                  <a:extLst>
                    <a:ext uri="{9D8B030D-6E8A-4147-A177-3AD203B41FA5}">
                      <a16:colId xmlns:a16="http://schemas.microsoft.com/office/drawing/2014/main" val="3889790184"/>
                    </a:ext>
                  </a:extLst>
                </a:gridCol>
                <a:gridCol w="1596444">
                  <a:extLst>
                    <a:ext uri="{9D8B030D-6E8A-4147-A177-3AD203B41FA5}">
                      <a16:colId xmlns:a16="http://schemas.microsoft.com/office/drawing/2014/main" val="2518288749"/>
                    </a:ext>
                  </a:extLst>
                </a:gridCol>
                <a:gridCol w="1596444">
                  <a:extLst>
                    <a:ext uri="{9D8B030D-6E8A-4147-A177-3AD203B41FA5}">
                      <a16:colId xmlns:a16="http://schemas.microsoft.com/office/drawing/2014/main" val="512832632"/>
                    </a:ext>
                  </a:extLst>
                </a:gridCol>
                <a:gridCol w="1596444">
                  <a:extLst>
                    <a:ext uri="{9D8B030D-6E8A-4147-A177-3AD203B41FA5}">
                      <a16:colId xmlns:a16="http://schemas.microsoft.com/office/drawing/2014/main" val="1494765884"/>
                    </a:ext>
                  </a:extLst>
                </a:gridCol>
                <a:gridCol w="1596444">
                  <a:extLst>
                    <a:ext uri="{9D8B030D-6E8A-4147-A177-3AD203B41FA5}">
                      <a16:colId xmlns:a16="http://schemas.microsoft.com/office/drawing/2014/main" val="4042513840"/>
                    </a:ext>
                  </a:extLst>
                </a:gridCol>
              </a:tblGrid>
              <a:tr h="416265"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시간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7/3 (</a:t>
                      </a:r>
                      <a:r>
                        <a:rPr lang="ko-KR" altLang="en-US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lang="en-US" altLang="ko-KR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7/4 (</a:t>
                      </a:r>
                      <a:r>
                        <a:rPr lang="ko-KR" altLang="en-US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</a:t>
                      </a:r>
                      <a:r>
                        <a:rPr lang="en-US" altLang="ko-KR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7/5 (</a:t>
                      </a:r>
                      <a:r>
                        <a:rPr lang="ko-KR" altLang="en-US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7/6 (</a:t>
                      </a:r>
                      <a:r>
                        <a:rPr lang="ko-KR" altLang="en-US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</a:t>
                      </a:r>
                      <a:r>
                        <a:rPr lang="en-US" altLang="ko-KR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7/7 (</a:t>
                      </a:r>
                      <a:r>
                        <a:rPr lang="ko-KR" altLang="en-US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  <a:r>
                        <a:rPr lang="en-US" altLang="ko-KR" sz="1200" b="1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200" b="1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19568868"/>
                  </a:ext>
                </a:extLst>
              </a:tr>
              <a:tr h="416265">
                <a:tc>
                  <a:txBody>
                    <a:bodyPr/>
                    <a:lstStyle/>
                    <a:p>
                      <a:pPr algn="ctr" latinLnBrk="0"/>
                      <a:endParaRPr lang="ko-KR" altLang="en-US" sz="11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</a:t>
                      </a:r>
                      <a:r>
                        <a:rPr lang="en-US" altLang="ko-KR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</a:t>
                      </a:r>
                      <a:endParaRPr lang="en-US" altLang="ko-KR" sz="1100" baseline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테스트 준비</a:t>
                      </a:r>
                      <a:endParaRPr lang="en-US" altLang="ko-KR" sz="1100" baseline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</a:t>
                      </a:r>
                      <a:r>
                        <a:rPr lang="en-US" altLang="ko-KR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</a:t>
                      </a:r>
                      <a:endParaRPr lang="en-US" altLang="ko-KR" sz="1100" baseline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테스트 준비</a:t>
                      </a:r>
                      <a:endParaRPr lang="en-US" altLang="ko-KR" sz="1100" baseline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</a:t>
                      </a:r>
                      <a:r>
                        <a:rPr lang="en-US" altLang="ko-KR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</a:t>
                      </a:r>
                      <a:endParaRPr lang="en-US" altLang="ko-KR" sz="1100" baseline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테스트 준비</a:t>
                      </a:r>
                      <a:endParaRPr lang="en-US" altLang="ko-KR" sz="1100" baseline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</a:t>
                      </a:r>
                      <a:r>
                        <a:rPr lang="en-US" altLang="ko-KR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</a:t>
                      </a:r>
                      <a:endParaRPr lang="en-US" altLang="ko-KR" sz="1100" baseline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테스트 준비</a:t>
                      </a:r>
                      <a:endParaRPr lang="en-US" altLang="ko-KR" sz="1100" baseline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</a:t>
                      </a:r>
                      <a:r>
                        <a:rPr lang="en-US" altLang="ko-KR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교육</a:t>
                      </a:r>
                      <a:endParaRPr lang="en-US" altLang="ko-KR" sz="1100" baseline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테스트 준비</a:t>
                      </a:r>
                      <a:endParaRPr lang="en-US" altLang="ko-KR" sz="1100" baseline="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9404429"/>
                  </a:ext>
                </a:extLst>
              </a:tr>
              <a:tr h="391375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en-US" altLang="ko-KR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25232608"/>
                  </a:ext>
                </a:extLst>
              </a:tr>
              <a:tr h="391375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품질팀</a:t>
                      </a:r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</a:t>
                      </a:r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lang="en-US" altLang="ko-KR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9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제조팀</a:t>
                      </a:r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Group B 11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3489676"/>
                  </a:ext>
                </a:extLst>
              </a:tr>
              <a:tr h="391375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제품개발팀</a:t>
                      </a:r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품질팀</a:t>
                      </a: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명</a:t>
                      </a:r>
                      <a:endParaRPr kumimoji="0" lang="en-US" altLang="ko-KR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9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제조팀</a:t>
                      </a:r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Group B 11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8768234"/>
                  </a:ext>
                </a:extLst>
              </a:tr>
              <a:tr h="391375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9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재품개발팀</a:t>
                      </a:r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0" normalizeH="0" baseline="0" noProof="0" dirty="0" err="1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품질팀</a:t>
                      </a: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 </a:t>
                      </a:r>
                      <a:r>
                        <a:rPr kumimoji="0" lang="en-US" altLang="ko-KR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6</a:t>
                      </a:r>
                      <a:r>
                        <a:rPr kumimoji="0" lang="ko-KR" altLang="en-US" sz="9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명</a:t>
                      </a:r>
                      <a:endParaRPr kumimoji="0" lang="en-US" altLang="ko-KR" sz="900" b="0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9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제조팀</a:t>
                      </a:r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Group B 11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3443179"/>
                  </a:ext>
                </a:extLst>
              </a:tr>
              <a:tr h="391375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3011782"/>
                  </a:ext>
                </a:extLst>
              </a:tr>
              <a:tr h="391375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53267690"/>
                  </a:ext>
                </a:extLst>
              </a:tr>
              <a:tr h="391375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9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제조팀</a:t>
                      </a:r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Group A 11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3722796"/>
                  </a:ext>
                </a:extLst>
              </a:tr>
              <a:tr h="391375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9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제조팀</a:t>
                      </a:r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Group A 11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22674732"/>
                  </a:ext>
                </a:extLst>
              </a:tr>
              <a:tr h="391375"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예정</a:t>
                      </a:r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r>
                        <a:rPr lang="ko-KR" altLang="en-US" sz="9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제조팀</a:t>
                      </a:r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Group A 11</a:t>
                      </a:r>
                      <a:r>
                        <a:rPr lang="ko-KR" altLang="en-US" sz="90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</a:t>
                      </a: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52592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215457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ko-KR" altLang="en-US" dirty="0" smtClean="0"/>
              <a:t>통합 테스트 일정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1913684"/>
              </p:ext>
            </p:extLst>
          </p:nvPr>
        </p:nvGraphicFramePr>
        <p:xfrm>
          <a:off x="689768" y="1573507"/>
          <a:ext cx="8526461" cy="4721936"/>
        </p:xfrm>
        <a:graphic>
          <a:graphicData uri="http://schemas.openxmlformats.org/drawingml/2006/table">
            <a:tbl>
              <a:tblPr firstRow="1" bandRow="1"/>
              <a:tblGrid>
                <a:gridCol w="315258">
                  <a:extLst>
                    <a:ext uri="{9D8B030D-6E8A-4147-A177-3AD203B41FA5}">
                      <a16:colId xmlns:a16="http://schemas.microsoft.com/office/drawing/2014/main" val="385317283"/>
                    </a:ext>
                  </a:extLst>
                </a:gridCol>
                <a:gridCol w="717668">
                  <a:extLst>
                    <a:ext uri="{9D8B030D-6E8A-4147-A177-3AD203B41FA5}">
                      <a16:colId xmlns:a16="http://schemas.microsoft.com/office/drawing/2014/main" val="3485404562"/>
                    </a:ext>
                  </a:extLst>
                </a:gridCol>
                <a:gridCol w="1498707">
                  <a:extLst>
                    <a:ext uri="{9D8B030D-6E8A-4147-A177-3AD203B41FA5}">
                      <a16:colId xmlns:a16="http://schemas.microsoft.com/office/drawing/2014/main" val="1560443095"/>
                    </a:ext>
                  </a:extLst>
                </a:gridCol>
                <a:gridCol w="1498707">
                  <a:extLst>
                    <a:ext uri="{9D8B030D-6E8A-4147-A177-3AD203B41FA5}">
                      <a16:colId xmlns:a16="http://schemas.microsoft.com/office/drawing/2014/main" val="1029287511"/>
                    </a:ext>
                  </a:extLst>
                </a:gridCol>
                <a:gridCol w="1498707">
                  <a:extLst>
                    <a:ext uri="{9D8B030D-6E8A-4147-A177-3AD203B41FA5}">
                      <a16:colId xmlns:a16="http://schemas.microsoft.com/office/drawing/2014/main" val="206323799"/>
                    </a:ext>
                  </a:extLst>
                </a:gridCol>
                <a:gridCol w="1498707">
                  <a:extLst>
                    <a:ext uri="{9D8B030D-6E8A-4147-A177-3AD203B41FA5}">
                      <a16:colId xmlns:a16="http://schemas.microsoft.com/office/drawing/2014/main" val="1680979165"/>
                    </a:ext>
                  </a:extLst>
                </a:gridCol>
                <a:gridCol w="1498707">
                  <a:extLst>
                    <a:ext uri="{9D8B030D-6E8A-4147-A177-3AD203B41FA5}">
                      <a16:colId xmlns:a16="http://schemas.microsoft.com/office/drawing/2014/main" val="2706824499"/>
                    </a:ext>
                  </a:extLst>
                </a:gridCol>
              </a:tblGrid>
              <a:tr h="249523">
                <a:tc>
                  <a:txBody>
                    <a:bodyPr/>
                    <a:lstStyle/>
                    <a:p>
                      <a:pPr algn="ctr" latinLnBrk="0"/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7/10 (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월</a:t>
                      </a: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7/11 (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화</a:t>
                      </a: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7/12 (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</a:t>
                      </a: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7/13 (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목</a:t>
                      </a: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7/14 (</a:t>
                      </a: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금</a:t>
                      </a:r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51401737"/>
                  </a:ext>
                </a:extLst>
              </a:tr>
              <a:tr h="249523">
                <a:tc>
                  <a:txBody>
                    <a:bodyPr/>
                    <a:lstStyle/>
                    <a:p>
                      <a:pPr algn="ctr" latinLnBrk="0"/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ko-KR" altLang="en-US" sz="11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테스트 수행</a:t>
                      </a:r>
                      <a:endParaRPr lang="en-US" altLang="ko-KR" sz="1100" b="1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테스트 수행</a:t>
                      </a:r>
                      <a:endParaRPr lang="en-US" altLang="ko-KR" sz="1100" b="1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테스트 수행</a:t>
                      </a:r>
                      <a:endParaRPr lang="en-US" altLang="ko-KR" sz="1100" b="1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테스트 수행</a:t>
                      </a:r>
                      <a:endParaRPr lang="en-US" altLang="ko-KR" sz="1100" b="1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통합 테스트 결과 확인</a:t>
                      </a:r>
                      <a:endParaRPr lang="en-US" altLang="ko-KR" sz="1100" b="1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0424743"/>
                  </a:ext>
                </a:extLst>
              </a:tr>
              <a:tr h="234605"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 ~ 29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en-US" altLang="ko-KR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997948"/>
                  </a:ext>
                </a:extLst>
              </a:tr>
              <a:tr h="234605"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 ~ 59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9306944"/>
                  </a:ext>
                </a:extLst>
              </a:tr>
              <a:tr h="234605"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l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00 ~ 29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en-US" altLang="ko-KR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08781626"/>
                  </a:ext>
                </a:extLst>
              </a:tr>
              <a:tr h="234605"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r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30 ~ 59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3117464"/>
                  </a:ext>
                </a:extLst>
              </a:tr>
              <a:tr h="234605"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00 ~ 29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en-US" altLang="ko-KR" sz="900" b="1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0"/>
                      <a:endParaRPr lang="en-US" altLang="ko-KR" sz="900" b="1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6993900"/>
                  </a:ext>
                </a:extLst>
              </a:tr>
              <a:tr h="234605"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latinLnBrk="0" hangingPunct="1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 ~ 59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231" marR="33231" marT="33231" marB="33231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en-US" altLang="ko-KR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en-US" altLang="ko-KR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4164225"/>
                  </a:ext>
                </a:extLst>
              </a:tr>
              <a:tr h="234605"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11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00 ~ 29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2570960"/>
                  </a:ext>
                </a:extLst>
              </a:tr>
              <a:tr h="234605"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latinLnBrk="0" hangingPunct="1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 ~ 59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715575"/>
                  </a:ext>
                </a:extLst>
              </a:tr>
              <a:tr h="234605"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12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00 ~ 29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0999388"/>
                  </a:ext>
                </a:extLst>
              </a:tr>
              <a:tr h="234605"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latinLnBrk="0" hangingPunct="1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 ~ 59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5755276"/>
                  </a:ext>
                </a:extLst>
              </a:tr>
              <a:tr h="234605"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13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00 ~ 29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404848"/>
                  </a:ext>
                </a:extLst>
              </a:tr>
              <a:tr h="234605"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latinLnBrk="0" hangingPunct="1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 ~ 59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8692669"/>
                  </a:ext>
                </a:extLst>
              </a:tr>
              <a:tr h="234605"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00 ~ 29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2735032"/>
                  </a:ext>
                </a:extLst>
              </a:tr>
              <a:tr h="234605"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latinLnBrk="0" hangingPunct="1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 ~ 59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34237577"/>
                  </a:ext>
                </a:extLst>
              </a:tr>
              <a:tr h="234605"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00 ~ 29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2772423"/>
                  </a:ext>
                </a:extLst>
              </a:tr>
              <a:tr h="234605"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latinLnBrk="0" hangingPunct="1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 ~ 59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3740497"/>
                  </a:ext>
                </a:extLst>
              </a:tr>
              <a:tr h="234605">
                <a:tc rowSpan="2">
                  <a:txBody>
                    <a:bodyPr/>
                    <a:lstStyle/>
                    <a:p>
                      <a:pPr algn="ctr" latinLnBrk="0"/>
                      <a:r>
                        <a:rPr lang="en-US" altLang="ko-KR" sz="10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00 ~ 29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5632293"/>
                  </a:ext>
                </a:extLst>
              </a:tr>
              <a:tr h="234605"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2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algn="r" defTabSz="914400" rtl="0" eaLnBrk="1" latinLnBrk="0" hangingPunct="1"/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30 ~ 59</a:t>
                      </a:r>
                      <a:endParaRPr lang="ko-KR" altLang="en-US" sz="1000" kern="120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3231" marB="33231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5665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442969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5</a:t>
            </a:r>
            <a:r>
              <a:rPr lang="en-US" altLang="ko-KR" dirty="0" smtClean="0"/>
              <a:t>. </a:t>
            </a:r>
            <a:r>
              <a:rPr lang="ko-KR" altLang="en-US" dirty="0" smtClean="0"/>
              <a:t>각 공정 </a:t>
            </a:r>
            <a:r>
              <a:rPr lang="en-US" altLang="ko-KR" dirty="0" smtClean="0"/>
              <a:t>/ </a:t>
            </a:r>
            <a:r>
              <a:rPr lang="ko-KR" altLang="en-US" dirty="0" err="1" smtClean="0"/>
              <a:t>설비별</a:t>
            </a:r>
            <a:r>
              <a:rPr lang="ko-KR" altLang="en-US" dirty="0" smtClean="0"/>
              <a:t> 생산 계획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7440663"/>
              </p:ext>
            </p:extLst>
          </p:nvPr>
        </p:nvGraphicFramePr>
        <p:xfrm>
          <a:off x="681038" y="1565978"/>
          <a:ext cx="8681214" cy="3939237"/>
        </p:xfrm>
        <a:graphic>
          <a:graphicData uri="http://schemas.openxmlformats.org/drawingml/2006/table">
            <a:tbl>
              <a:tblPr/>
              <a:tblGrid>
                <a:gridCol w="1339063">
                  <a:extLst>
                    <a:ext uri="{9D8B030D-6E8A-4147-A177-3AD203B41FA5}">
                      <a16:colId xmlns:a16="http://schemas.microsoft.com/office/drawing/2014/main" val="549172620"/>
                    </a:ext>
                  </a:extLst>
                </a:gridCol>
                <a:gridCol w="646836">
                  <a:extLst>
                    <a:ext uri="{9D8B030D-6E8A-4147-A177-3AD203B41FA5}">
                      <a16:colId xmlns:a16="http://schemas.microsoft.com/office/drawing/2014/main" val="3674358502"/>
                    </a:ext>
                  </a:extLst>
                </a:gridCol>
                <a:gridCol w="1339063">
                  <a:extLst>
                    <a:ext uri="{9D8B030D-6E8A-4147-A177-3AD203B41FA5}">
                      <a16:colId xmlns:a16="http://schemas.microsoft.com/office/drawing/2014/main" val="1743961114"/>
                    </a:ext>
                  </a:extLst>
                </a:gridCol>
                <a:gridCol w="1339063">
                  <a:extLst>
                    <a:ext uri="{9D8B030D-6E8A-4147-A177-3AD203B41FA5}">
                      <a16:colId xmlns:a16="http://schemas.microsoft.com/office/drawing/2014/main" val="3643602400"/>
                    </a:ext>
                  </a:extLst>
                </a:gridCol>
                <a:gridCol w="1339063">
                  <a:extLst>
                    <a:ext uri="{9D8B030D-6E8A-4147-A177-3AD203B41FA5}">
                      <a16:colId xmlns:a16="http://schemas.microsoft.com/office/drawing/2014/main" val="1358621781"/>
                    </a:ext>
                  </a:extLst>
                </a:gridCol>
                <a:gridCol w="1339063">
                  <a:extLst>
                    <a:ext uri="{9D8B030D-6E8A-4147-A177-3AD203B41FA5}">
                      <a16:colId xmlns:a16="http://schemas.microsoft.com/office/drawing/2014/main" val="2603389484"/>
                    </a:ext>
                  </a:extLst>
                </a:gridCol>
                <a:gridCol w="1339063">
                  <a:extLst>
                    <a:ext uri="{9D8B030D-6E8A-4147-A177-3AD203B41FA5}">
                      <a16:colId xmlns:a16="http://schemas.microsoft.com/office/drawing/2014/main" val="2661809091"/>
                    </a:ext>
                  </a:extLst>
                </a:gridCol>
              </a:tblGrid>
              <a:tr h="2173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공정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설비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100" b="1" dirty="0" smtClean="0">
                          <a:latin typeface="+mn-ea"/>
                          <a:ea typeface="+mn-ea"/>
                        </a:rPr>
                        <a:t>X/XX(</a:t>
                      </a:r>
                      <a:r>
                        <a:rPr lang="ko-KR" altLang="en-US" sz="1100" b="1" dirty="0" smtClean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100" b="1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dirty="0">
                        <a:latin typeface="+mn-ea"/>
                        <a:ea typeface="+mn-ea"/>
                      </a:endParaRP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latin typeface="+mn-ea"/>
                          <a:ea typeface="+mn-ea"/>
                        </a:rPr>
                        <a:t>X/XX(</a:t>
                      </a:r>
                      <a:r>
                        <a:rPr lang="ko-KR" altLang="en-US" sz="1100" b="1" dirty="0" smtClean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100" b="1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dirty="0" smtClean="0">
                        <a:latin typeface="+mn-ea"/>
                        <a:ea typeface="+mn-ea"/>
                      </a:endParaRP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latin typeface="+mn-ea"/>
                          <a:ea typeface="+mn-ea"/>
                        </a:rPr>
                        <a:t>X/XX(</a:t>
                      </a:r>
                      <a:r>
                        <a:rPr lang="ko-KR" altLang="en-US" sz="1100" b="1" dirty="0" smtClean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100" b="1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dirty="0" smtClean="0">
                        <a:latin typeface="+mn-ea"/>
                        <a:ea typeface="+mn-ea"/>
                      </a:endParaRP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latin typeface="+mn-ea"/>
                          <a:ea typeface="+mn-ea"/>
                        </a:rPr>
                        <a:t>X/XX(</a:t>
                      </a:r>
                      <a:r>
                        <a:rPr lang="ko-KR" altLang="en-US" sz="1100" b="1" dirty="0" smtClean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100" b="1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dirty="0" smtClean="0">
                        <a:latin typeface="+mn-ea"/>
                        <a:ea typeface="+mn-ea"/>
                      </a:endParaRP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296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1" dirty="0" smtClean="0">
                          <a:latin typeface="+mn-ea"/>
                          <a:ea typeface="+mn-ea"/>
                        </a:rPr>
                        <a:t>X/XX(</a:t>
                      </a:r>
                      <a:r>
                        <a:rPr lang="ko-KR" altLang="en-US" sz="1100" b="1" dirty="0" smtClean="0">
                          <a:latin typeface="+mn-ea"/>
                          <a:ea typeface="+mn-ea"/>
                        </a:rPr>
                        <a:t>월</a:t>
                      </a:r>
                      <a:r>
                        <a:rPr lang="en-US" altLang="ko-KR" sz="1100" b="1" dirty="0" smtClean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1100" b="1" dirty="0" smtClean="0">
                        <a:latin typeface="+mn-ea"/>
                        <a:ea typeface="+mn-ea"/>
                      </a:endParaRP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0901171"/>
                  </a:ext>
                </a:extLst>
              </a:tr>
              <a:tr h="4321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통합 테스트 수행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통합 테스트 수행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통합 테스트 수행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통합 테스트 수행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ko-KR" altLang="en-US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통합 테스트 </a:t>
                      </a:r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결과</a:t>
                      </a:r>
                      <a:endParaRPr lang="en-US" altLang="ko-KR" sz="1100" b="1" i="0" u="none" strike="noStrike" dirty="0" smtClean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algn="ctr" rtl="0" fontAlgn="ctr"/>
                      <a:r>
                        <a:rPr lang="ko-KR" altLang="en-US" sz="1100" b="1" i="0" u="none" strike="noStrike" dirty="0" smtClean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확인</a:t>
                      </a:r>
                      <a:endParaRPr lang="ko-KR" altLang="en-US" sz="1100" b="1" i="0" u="none" strike="noStrike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89583705"/>
                  </a:ext>
                </a:extLst>
              </a:tr>
              <a:tr h="182763">
                <a:tc rowSpan="4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2598103"/>
                  </a:ext>
                </a:extLst>
              </a:tr>
              <a:tr h="1827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95814688"/>
                  </a:ext>
                </a:extLst>
              </a:tr>
              <a:tr h="1827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42205"/>
                  </a:ext>
                </a:extLst>
              </a:tr>
              <a:tr h="1827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0431896"/>
                  </a:ext>
                </a:extLst>
              </a:tr>
              <a:tr h="182763">
                <a:tc rowSpan="4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2769274"/>
                  </a:ext>
                </a:extLst>
              </a:tr>
              <a:tr h="1827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53594611"/>
                  </a:ext>
                </a:extLst>
              </a:tr>
              <a:tr h="1827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07345756"/>
                  </a:ext>
                </a:extLst>
              </a:tr>
              <a:tr h="1827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97311644"/>
                  </a:ext>
                </a:extLst>
              </a:tr>
              <a:tr h="182763">
                <a:tc rowSpan="6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4301132"/>
                  </a:ext>
                </a:extLst>
              </a:tr>
              <a:tr h="1827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6371898"/>
                  </a:ext>
                </a:extLst>
              </a:tr>
              <a:tr h="1827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3450287"/>
                  </a:ext>
                </a:extLst>
              </a:tr>
              <a:tr h="1827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68116347"/>
                  </a:ext>
                </a:extLst>
              </a:tr>
              <a:tr h="1827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01209293"/>
                  </a:ext>
                </a:extLst>
              </a:tr>
              <a:tr h="1827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03949507"/>
                  </a:ext>
                </a:extLst>
              </a:tr>
              <a:tr h="182763">
                <a:tc rowSpan="4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88101249"/>
                  </a:ext>
                </a:extLst>
              </a:tr>
              <a:tr h="1827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22546569"/>
                  </a:ext>
                </a:extLst>
              </a:tr>
              <a:tr h="1827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4335250"/>
                  </a:ext>
                </a:extLst>
              </a:tr>
              <a:tr h="18276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　</a:t>
                      </a:r>
                    </a:p>
                  </a:txBody>
                  <a:tcPr marL="1919" marR="1919" marT="191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0205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143178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6. </a:t>
            </a:r>
            <a:r>
              <a:rPr lang="ko-KR" altLang="en-US" dirty="0" smtClean="0"/>
              <a:t>통합 테스트 항목</a:t>
            </a:r>
            <a:r>
              <a:rPr lang="en-US" altLang="ko-KR" dirty="0" smtClean="0"/>
              <a:t>, </a:t>
            </a:r>
            <a:r>
              <a:rPr lang="ko-KR" altLang="en-US" dirty="0" smtClean="0"/>
              <a:t>담당자 역할 및 책임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6598672"/>
              </p:ext>
            </p:extLst>
          </p:nvPr>
        </p:nvGraphicFramePr>
        <p:xfrm>
          <a:off x="666230" y="1558018"/>
          <a:ext cx="8573537" cy="2694128"/>
        </p:xfrm>
        <a:graphic>
          <a:graphicData uri="http://schemas.openxmlformats.org/drawingml/2006/table">
            <a:tbl>
              <a:tblPr firstRow="1" bandRow="1"/>
              <a:tblGrid>
                <a:gridCol w="56492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9692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923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30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307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76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307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75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2984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557876">
                <a:tc>
                  <a:txBody>
                    <a:bodyPr/>
                    <a:lstStyle>
                      <a:lvl1pPr marL="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14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29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445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592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574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288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03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184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시나리오</a:t>
                      </a: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번호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14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29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445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592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574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288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03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184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시나리오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번호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항목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실행자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 시스템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14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29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445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592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574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288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03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184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환경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장소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테스트 시간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>
                      <a:lvl1pPr marL="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14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29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445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592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574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288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03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184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ko-KR" altLang="en-US" sz="1000" b="1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4063">
                <a:tc rowSpan="4">
                  <a:txBody>
                    <a:bodyPr/>
                    <a:lstStyle>
                      <a:lvl1pPr marL="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14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29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445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592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574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288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03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184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P.1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4">
                  <a:txBody>
                    <a:bodyPr/>
                    <a:lstStyle>
                      <a:lvl1pPr marL="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14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29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445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592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574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288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03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184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계획 관리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P.1.1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생산 계획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9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영업팀</a:t>
                      </a:r>
                      <a:endParaRPr lang="en-US" altLang="ko-KR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algn="ctr" latinLnBrk="0"/>
                      <a:r>
                        <a:rPr lang="ko-KR" altLang="en-US" sz="9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제조팀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14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29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445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592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574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288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03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184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Off-Line</a:t>
                      </a:r>
                    </a:p>
                    <a:p>
                      <a:pPr algn="ctr"/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사전</a:t>
                      </a:r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등록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ysClr val="windowText" lastClr="000000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14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29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445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592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574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288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03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184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4063"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7148" marB="37148" anchor="ctr">
                    <a:lnL w="12700" cmpd="sng">
                      <a:solidFill>
                        <a:sysClr val="windowText" lastClr="000000"/>
                      </a:solidFill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7148" marB="37148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P.1.2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작업 지시 </a:t>
                      </a:r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(W/O)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9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제조팀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14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29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445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592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574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288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03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184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8:20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ysClr val="windowText" lastClr="000000"/>
                      </a:solidFill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14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29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445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592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574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288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03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184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34063"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7148" marB="37148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7148" marB="37148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14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29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445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592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574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288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03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184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P.1.3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14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29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445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592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574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288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03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184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 계획 </a:t>
                      </a:r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발주계획</a:t>
                      </a:r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9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제조팀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14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29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445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592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574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288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03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184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aseline="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14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29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445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592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574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288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03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184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14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29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445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592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574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288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03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184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14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29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445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592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574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288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03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184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ysClr val="windowText" lastClr="000000"/>
                      </a:solidFill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4063"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7148" marB="37148" anchor="ctr">
                    <a:lnL w="12700" cmpd="sng">
                      <a:solidFill>
                        <a:sysClr val="windowText" lastClr="000000"/>
                      </a:solidFill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latinLnBrk="0"/>
                      <a:endParaRPr lang="ko-KR" altLang="en-US" sz="10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6000" marR="36000" marT="37148" marB="37148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P.1.4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실적 보고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구매</a:t>
                      </a:r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</a:t>
                      </a:r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</a:t>
                      </a:r>
                    </a:p>
                    <a:p>
                      <a:pPr algn="ctr" latinLnBrk="0"/>
                      <a:r>
                        <a:rPr lang="ko-KR" altLang="en-US" sz="900" dirty="0" err="1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영업팀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14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29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445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592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574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288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03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184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/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MES</a:t>
                      </a:r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dirty="0" smtClean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UI</a:t>
                      </a: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latinLnBrk="0"/>
                      <a:endParaRPr lang="ko-KR" altLang="en-US" sz="90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1pPr>
                      <a:lvl2pPr marL="45714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2pPr>
                      <a:lvl3pPr marL="91429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3pPr>
                      <a:lvl4pPr marL="1371445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4pPr>
                      <a:lvl5pPr marL="1828592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5pPr>
                      <a:lvl6pPr marL="2285740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6pPr>
                      <a:lvl7pPr marL="2742888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7pPr>
                      <a:lvl8pPr marL="3200036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8pPr>
                      <a:lvl9pPr marL="3657184" algn="l" defTabSz="914296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dirty="0" smtClean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33231" marR="33231" marT="34290" marB="34290" anchor="ctr"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34709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71007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별첨</a:t>
            </a:r>
            <a:r>
              <a:rPr lang="en-US" altLang="ko-KR" dirty="0" smtClean="0"/>
              <a:t>. </a:t>
            </a:r>
            <a:r>
              <a:rPr lang="en-US" altLang="ko-KR" dirty="0" smtClean="0"/>
              <a:t>MES </a:t>
            </a:r>
            <a:r>
              <a:rPr lang="ko-KR" altLang="en-US" dirty="0" smtClean="0"/>
              <a:t>교육 일정 및 대상자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ko-KR" alt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/>
          </p:nvPr>
        </p:nvGraphicFramePr>
        <p:xfrm>
          <a:off x="681038" y="1558455"/>
          <a:ext cx="8549510" cy="4606810"/>
        </p:xfrm>
        <a:graphic>
          <a:graphicData uri="http://schemas.openxmlformats.org/drawingml/2006/table">
            <a:tbl>
              <a:tblPr/>
              <a:tblGrid>
                <a:gridCol w="284273">
                  <a:extLst>
                    <a:ext uri="{9D8B030D-6E8A-4147-A177-3AD203B41FA5}">
                      <a16:colId xmlns:a16="http://schemas.microsoft.com/office/drawing/2014/main" val="3763710452"/>
                    </a:ext>
                  </a:extLst>
                </a:gridCol>
                <a:gridCol w="795965">
                  <a:extLst>
                    <a:ext uri="{9D8B030D-6E8A-4147-A177-3AD203B41FA5}">
                      <a16:colId xmlns:a16="http://schemas.microsoft.com/office/drawing/2014/main" val="4108342437"/>
                    </a:ext>
                  </a:extLst>
                </a:gridCol>
                <a:gridCol w="890722">
                  <a:extLst>
                    <a:ext uri="{9D8B030D-6E8A-4147-A177-3AD203B41FA5}">
                      <a16:colId xmlns:a16="http://schemas.microsoft.com/office/drawing/2014/main" val="2657983508"/>
                    </a:ext>
                  </a:extLst>
                </a:gridCol>
                <a:gridCol w="1677209">
                  <a:extLst>
                    <a:ext uri="{9D8B030D-6E8A-4147-A177-3AD203B41FA5}">
                      <a16:colId xmlns:a16="http://schemas.microsoft.com/office/drawing/2014/main" val="1425418683"/>
                    </a:ext>
                  </a:extLst>
                </a:gridCol>
                <a:gridCol w="2473174">
                  <a:extLst>
                    <a:ext uri="{9D8B030D-6E8A-4147-A177-3AD203B41FA5}">
                      <a16:colId xmlns:a16="http://schemas.microsoft.com/office/drawing/2014/main" val="2482339917"/>
                    </a:ext>
                  </a:extLst>
                </a:gridCol>
                <a:gridCol w="533013">
                  <a:extLst>
                    <a:ext uri="{9D8B030D-6E8A-4147-A177-3AD203B41FA5}">
                      <a16:colId xmlns:a16="http://schemas.microsoft.com/office/drawing/2014/main" val="3396318149"/>
                    </a:ext>
                  </a:extLst>
                </a:gridCol>
                <a:gridCol w="530644">
                  <a:extLst>
                    <a:ext uri="{9D8B030D-6E8A-4147-A177-3AD203B41FA5}">
                      <a16:colId xmlns:a16="http://schemas.microsoft.com/office/drawing/2014/main" val="2336205172"/>
                    </a:ext>
                  </a:extLst>
                </a:gridCol>
                <a:gridCol w="1364510">
                  <a:extLst>
                    <a:ext uri="{9D8B030D-6E8A-4147-A177-3AD203B41FA5}">
                      <a16:colId xmlns:a16="http://schemas.microsoft.com/office/drawing/2014/main" val="2847524002"/>
                    </a:ext>
                  </a:extLst>
                </a:gridCol>
              </a:tblGrid>
              <a:tr h="51736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No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소속팀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ID Code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Name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Working position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Goup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Goup</a:t>
                      </a: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B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교육 완료 여부</a:t>
                      </a:r>
                      <a:endParaRPr lang="en-US" altLang="ko-KR" sz="1200" b="1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3068516"/>
                  </a:ext>
                </a:extLst>
              </a:tr>
              <a:tr h="354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제조기술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83403072"/>
                  </a:ext>
                </a:extLst>
              </a:tr>
              <a:tr h="354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53233673"/>
                  </a:ext>
                </a:extLst>
              </a:tr>
              <a:tr h="354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19517394"/>
                  </a:ext>
                </a:extLst>
              </a:tr>
              <a:tr h="354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39301341"/>
                  </a:ext>
                </a:extLst>
              </a:tr>
              <a:tr h="354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4827433"/>
                  </a:ext>
                </a:extLst>
              </a:tr>
              <a:tr h="354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16088140"/>
                  </a:ext>
                </a:extLst>
              </a:tr>
              <a:tr h="354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130459"/>
                  </a:ext>
                </a:extLst>
              </a:tr>
              <a:tr h="354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69086670"/>
                  </a:ext>
                </a:extLst>
              </a:tr>
              <a:tr h="354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2019830"/>
                  </a:ext>
                </a:extLst>
              </a:tr>
              <a:tr h="35408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품질팀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0839408"/>
                  </a:ext>
                </a:extLst>
              </a:tr>
              <a:tr h="200625">
                <a:tc rowSpan="2"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총합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endParaRPr lang="ko-KR" altLang="en-US"/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53148838"/>
                  </a:ext>
                </a:extLst>
              </a:tr>
              <a:tr h="199726">
                <a:tc gridSpan="5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fontAlgn="b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l" fontAlgn="b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273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51648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617474"/>
      </p:ext>
    </p:extLst>
  </p:cSld>
  <p:clrMapOvr>
    <a:masterClrMapping/>
  </p:clrMapOvr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92C52DB-E9E3-46CD-811C-803D077AD9CA}">
  <ds:schemaRefs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purl.org/dc/terms/"/>
    <ds:schemaRef ds:uri="http://www.w3.org/XML/1998/namespace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28005</TotalTime>
  <Words>717</Words>
  <Application>Microsoft Office PowerPoint</Application>
  <PresentationFormat>A4 용지(210x297mm)</PresentationFormat>
  <Paragraphs>351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21" baseType="lpstr">
      <vt:lpstr>굴림</vt:lpstr>
      <vt:lpstr>맑은 고딕</vt:lpstr>
      <vt:lpstr>맑은 고딕 Semilight</vt:lpstr>
      <vt:lpstr>Arial</vt:lpstr>
      <vt:lpstr>Calibri</vt:lpstr>
      <vt:lpstr>Segoe UI</vt:lpstr>
      <vt:lpstr>Wingdings</vt:lpstr>
      <vt:lpstr>문서템플릿</vt:lpstr>
      <vt:lpstr>PowerPoint 프레젠테이션</vt:lpstr>
      <vt:lpstr>PowerPoint 프레젠테이션</vt:lpstr>
      <vt:lpstr>PowerPoint 프레젠테이션</vt:lpstr>
      <vt:lpstr>1. 통합 테스트 개요</vt:lpstr>
      <vt:lpstr>2. 통합테스트 시스템 구성</vt:lpstr>
      <vt:lpstr>3. 통합테스트 사전 점검 항목</vt:lpstr>
      <vt:lpstr>3. 통합 테스트 사전 점검 항목</vt:lpstr>
      <vt:lpstr>3. 통합 테스트 사전 점검 항목</vt:lpstr>
      <vt:lpstr>4. 통합 테스트 일정</vt:lpstr>
      <vt:lpstr>5. 각 공정 / 설비별 생산 계획</vt:lpstr>
      <vt:lpstr>6. 통합 테스트 항목, 담당자 역할 및 책임</vt:lpstr>
      <vt:lpstr>별첨. MES 교육 일정 및 대상자</vt:lpstr>
      <vt:lpstr>PowerPoint 프레젠테이션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prof</dc:creator>
  <cp:lastModifiedBy>Miracom</cp:lastModifiedBy>
  <cp:revision>1566</cp:revision>
  <cp:lastPrinted>2019-06-21T07:56:14Z</cp:lastPrinted>
  <dcterms:created xsi:type="dcterms:W3CDTF">2013-11-13T01:08:07Z</dcterms:created>
  <dcterms:modified xsi:type="dcterms:W3CDTF">2025-04-14T01:25:27Z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