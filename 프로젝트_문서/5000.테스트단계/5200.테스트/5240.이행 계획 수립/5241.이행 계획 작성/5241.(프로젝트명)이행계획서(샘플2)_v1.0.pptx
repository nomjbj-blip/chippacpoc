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2"/>
  </p:notesMasterIdLst>
  <p:handoutMasterIdLst>
    <p:handoutMasterId r:id="rId23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89" r:id="rId14"/>
    <p:sldId id="1178" r:id="rId15"/>
    <p:sldId id="1182" r:id="rId16"/>
    <p:sldId id="1186" r:id="rId17"/>
    <p:sldId id="1185" r:id="rId18"/>
    <p:sldId id="1184" r:id="rId19"/>
    <p:sldId id="1183" r:id="rId20"/>
    <p:sldId id="1160" r:id="rId21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3" autoAdjust="0"/>
    <p:restoredTop sz="95245" autoAdjust="0"/>
  </p:normalViewPr>
  <p:slideViewPr>
    <p:cSldViewPr snapToGrid="0">
      <p:cViewPr varScale="1">
        <p:scale>
          <a:sx n="194" d="100"/>
          <a:sy n="194" d="100"/>
        </p:scale>
        <p:origin x="2102" y="130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3408" y="330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6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테이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개체 틀 1"/>
          <p:cNvSpPr>
            <a:spLocks noGrp="1"/>
          </p:cNvSpPr>
          <p:nvPr>
            <p:ph type="title"/>
          </p:nvPr>
        </p:nvSpPr>
        <p:spPr>
          <a:xfrm>
            <a:off x="381000" y="327600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>
              <a:defRPr lang="ko-KR" altLang="en-US" sz="26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marL="0" lvl="0" algn="l"/>
            <a:endParaRPr lang="en-US" altLang="ko-KR" dirty="0"/>
          </a:p>
        </p:txBody>
      </p:sp>
      <p:sp>
        <p:nvSpPr>
          <p:cNvPr id="12" name="Rectangle 15"/>
          <p:cNvSpPr>
            <a:spLocks noChangeArrowheads="1"/>
          </p:cNvSpPr>
          <p:nvPr userDrawn="1"/>
        </p:nvSpPr>
        <p:spPr bwMode="auto">
          <a:xfrm>
            <a:off x="4770281" y="6545556"/>
            <a:ext cx="349775" cy="246221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/>
          <a:p>
            <a:pPr algn="ctr" defTabSz="912813"/>
            <a:fld id="{D937E0E5-A56D-4372-A39D-FA63A08071CF}" type="slidenum">
              <a:rPr lang="en-US" altLang="ko-KR" sz="1000" b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ctr" defTabSz="912813"/>
              <a:t>‹#›</a:t>
            </a:fld>
            <a:endParaRPr lang="en-US" altLang="ko-KR" sz="800" b="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1183197" y="6589319"/>
            <a:ext cx="1714208" cy="107722"/>
          </a:xfrm>
          <a:prstGeom prst="rect">
            <a:avLst/>
          </a:prstGeom>
          <a:noFill/>
          <a:ln w="9525" cap="sq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l" defTabSz="914400" eaLnBrk="0" hangingPunct="0">
              <a:defRPr/>
            </a:pPr>
            <a:r>
              <a:rPr lang="en-US" altLang="ko-KR" sz="700" b="0" spc="0" baseline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I  </a:t>
            </a:r>
            <a:r>
              <a:rPr lang="ko-KR" altLang="en-US" sz="700" b="0" spc="0" baseline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 대상웰라이프 </a:t>
            </a:r>
            <a:r>
              <a:rPr lang="en-US" altLang="ko-KR" sz="700" b="0" spc="0" baseline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MES </a:t>
            </a:r>
            <a:r>
              <a:rPr lang="ko-KR" altLang="en-US" sz="700" b="0" spc="0" baseline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Segoe UI" panose="020B0502040204020203" pitchFamily="34" charset="0"/>
              </a:rPr>
              <a:t>구축</a:t>
            </a: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45" y="6524821"/>
            <a:ext cx="649833" cy="236718"/>
          </a:xfrm>
          <a:prstGeom prst="rect">
            <a:avLst/>
          </a:prstGeom>
        </p:spPr>
      </p:pic>
      <p:sp>
        <p:nvSpPr>
          <p:cNvPr id="11" name="Text Box 9"/>
          <p:cNvSpPr txBox="1">
            <a:spLocks noChangeArrowheads="1"/>
          </p:cNvSpPr>
          <p:nvPr userDrawn="1"/>
        </p:nvSpPr>
        <p:spPr bwMode="auto">
          <a:xfrm>
            <a:off x="6832634" y="6649035"/>
            <a:ext cx="2000549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dirty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dirty="0" smtClean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2025 </a:t>
            </a:r>
            <a:r>
              <a:rPr lang="en-US" altLang="ko-KR" sz="600" dirty="0">
                <a:solidFill>
                  <a:srgbClr val="7F7F7F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 Inc Co., Ltd All rights reserved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484" y="6645204"/>
            <a:ext cx="601024" cy="9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9731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pos="6023">
          <p15:clr>
            <a:srgbClr val="FBAE40"/>
          </p15:clr>
        </p15:guide>
        <p15:guide id="3" orient="horz" pos="4065">
          <p15:clr>
            <a:srgbClr val="FBAE40"/>
          </p15:clr>
        </p15:guide>
        <p15:guide id="4" orient="horz" pos="210">
          <p15:clr>
            <a:srgbClr val="FBAE40"/>
          </p15:clr>
        </p15:guide>
        <p15:guide id="5" orient="horz" pos="45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4098" r:id="rId2"/>
    <p:sldLayoutId id="2147484096" r:id="rId3"/>
    <p:sldLayoutId id="2147483956" r:id="rId4"/>
    <p:sldLayoutId id="2147484095" r:id="rId5"/>
    <p:sldLayoutId id="2147484097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20XX.XX.XX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㈜</a:t>
            </a:r>
            <a:r>
              <a:rPr lang="ko-KR" altLang="en-US" dirty="0" err="1"/>
              <a:t>미라콤아이앤씨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>
          <a:xfrm>
            <a:off x="1079999" y="1952625"/>
            <a:ext cx="5411591" cy="1260351"/>
          </a:xfrm>
        </p:spPr>
        <p:txBody>
          <a:bodyPr/>
          <a:lstStyle/>
          <a:p>
            <a:r>
              <a:rPr lang="ko-KR" altLang="en-US" dirty="0" smtClean="0"/>
              <a:t>이행계획서</a:t>
            </a:r>
            <a:r>
              <a:rPr lang="en-US" altLang="ko-KR" dirty="0" smtClean="0"/>
              <a:t>(Cut-Over</a:t>
            </a:r>
            <a:r>
              <a:rPr lang="ko-KR" altLang="en-US" dirty="0" smtClean="0"/>
              <a:t>계획서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en-US" altLang="ko-KR" dirty="0" smtClean="0"/>
              <a:t>OOOO </a:t>
            </a:r>
            <a:r>
              <a:rPr lang="en-US" altLang="ko-KR" dirty="0" err="1" smtClean="0"/>
              <a:t>OOOO</a:t>
            </a:r>
            <a:r>
              <a:rPr lang="en-US" altLang="ko-KR" dirty="0" smtClean="0"/>
              <a:t> MES </a:t>
            </a:r>
            <a:r>
              <a:rPr lang="ko-KR" altLang="en-US" dirty="0"/>
              <a:t>구축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407727" y="1041424"/>
            <a:ext cx="1060765" cy="669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>
            <a:off x="8469322" y="1041424"/>
            <a:ext cx="1064652" cy="6695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7407727" y="794353"/>
            <a:ext cx="1060765" cy="2534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미라콤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470982" y="794353"/>
            <a:ext cx="1064652" cy="2534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ko-KR" altLang="en-US" sz="110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고객사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407727" y="1685056"/>
            <a:ext cx="1060765" cy="2534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>
                <a:solidFill>
                  <a:sysClr val="windowText" lastClr="000000"/>
                </a:solidFill>
              </a:rPr>
              <a:t>/</a:t>
            </a:r>
            <a:endParaRPr lang="ko-KR" altLang="en-US" sz="110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470982" y="1685056"/>
            <a:ext cx="1064652" cy="25345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US" altLang="ko-KR" sz="110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/</a:t>
            </a:r>
            <a:endParaRPr lang="ko-KR" altLang="en-US" sz="110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113950" y="794353"/>
            <a:ext cx="308392" cy="11441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ko-KR" altLang="en-US" sz="110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결</a:t>
            </a:r>
            <a:endParaRPr lang="en-US" altLang="ko-KR" sz="110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  <a:p>
            <a:pPr marL="0" indent="0" algn="ctr"/>
            <a:r>
              <a:rPr lang="ko-KR" altLang="en-US" sz="110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재</a:t>
            </a:r>
            <a:endParaRPr lang="en-US" altLang="ko-KR" sz="1100">
              <a:solidFill>
                <a:sysClr val="windowText" lastClr="00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48827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1. Cut-Over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</a:t>
            </a:r>
            <a:r>
              <a:rPr lang="ko-KR" altLang="en-US" dirty="0"/>
              <a:t>데이터 이관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Cutover </a:t>
            </a:r>
            <a:r>
              <a:rPr lang="ko-KR" altLang="en-US" dirty="0"/>
              <a:t>일정 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상황실 운영 방안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ko-KR" altLang="en-US" dirty="0" err="1" smtClean="0"/>
              <a:t>가오픈후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OOOO </a:t>
            </a:r>
            <a:r>
              <a:rPr lang="en-US" altLang="ko-KR" dirty="0" err="1" smtClean="0"/>
              <a:t>OOOO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 </a:t>
            </a:r>
            <a:r>
              <a:rPr lang="ko-KR" altLang="en-US" dirty="0" smtClean="0"/>
              <a:t>오픈함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Cut-Over </a:t>
            </a:r>
            <a:r>
              <a:rPr lang="ko-KR" altLang="en-US" dirty="0" smtClean="0"/>
              <a:t>정의 및 대상</a:t>
            </a:r>
            <a:endParaRPr lang="ko-KR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2585" y="1511453"/>
            <a:ext cx="9234487" cy="378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Wingdings" panose="05000000000000000000" pitchFamily="2" charset="2"/>
              <a:buNone/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정의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시스템의 안정적 운영 시작을 위해 필요한 일련의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상세히 정의하고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담당자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선후관계 정의 및  실행 일정 계획을 수립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시행 함</a:t>
            </a: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사업장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 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공장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센터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kumimoji="0"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defTabSz="914400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tabLst/>
            </a:pPr>
            <a:r>
              <a:rPr kumimoji="0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kumimoji="0" lang="en-US" altLang="ko-KR" sz="1600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kumimoji="0"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 시스템</a:t>
            </a:r>
          </a:p>
          <a:p>
            <a:pPr indent="-161925"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공장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센터 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NexPlant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CE MES/</a:t>
            </a:r>
            <a:r>
              <a:rPr lang="en-US" altLang="ko-KR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SmartReport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/FMB, Higway101, </a:t>
            </a:r>
            <a:r>
              <a:rPr lang="en-US" altLang="ko-KR" sz="12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NexPlant</a:t>
            </a:r>
            <a:r>
              <a:rPr lang="en-US" altLang="ko-KR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MC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100"/>
              </a:spcBef>
              <a:buClr>
                <a:srgbClr val="333333"/>
              </a:buClr>
            </a:pPr>
            <a:endParaRPr kumimoji="0"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Cut-Over </a:t>
            </a:r>
            <a:r>
              <a:rPr lang="ko-KR" altLang="en-US" dirty="0" smtClean="0"/>
              <a:t>수행 주체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99102" y="1488835"/>
            <a:ext cx="8524142" cy="4518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defTabSz="187325" eaLnBrk="0" hangingPunct="0"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defTabSz="187325" eaLnBrk="0" fontAlgn="base" hangingPunct="0">
              <a:spcBef>
                <a:spcPct val="0"/>
              </a:spcBef>
              <a:spcAft>
                <a:spcPct val="0"/>
              </a:spcAft>
              <a:tabLst>
                <a:tab pos="265113" algn="l"/>
              </a:tabLst>
              <a:defRPr kumimoji="1" sz="30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r>
              <a:rPr lang="en-US" altLang="ko-KR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1477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주체</a:t>
            </a:r>
          </a:p>
          <a:p>
            <a:pPr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수행은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사업부 및 공장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주도하에 수행을 원칙으로 함 </a:t>
            </a: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endParaRPr lang="en-US" altLang="ko-KR" sz="1108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r>
              <a:rPr lang="en-US" altLang="ko-KR" sz="1477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ko-KR" altLang="en-US" sz="1477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중단 최소화</a:t>
            </a:r>
          </a:p>
          <a:p>
            <a:pPr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업무에 피해가 없도록 기존 시스템 중단 최소화를 원칙으로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  <a:endParaRPr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endParaRPr kumimoji="0"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defTabSz="84408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tabLst/>
            </a:pPr>
            <a:r>
              <a:rPr kumimoji="0" lang="en-US" altLang="ko-KR" sz="1477" b="1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kumimoji="0" lang="en-US" altLang="ko-KR" sz="1477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Cutover </a:t>
            </a:r>
            <a:r>
              <a:rPr kumimoji="0" lang="ko-KR" altLang="en-US" sz="1477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時 이관 대상 데이터의 최소화</a:t>
            </a:r>
          </a:p>
          <a:p>
            <a:pPr marL="316531" lvl="1" indent="-149473"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  <a:buFont typeface="Arial" panose="020B0604020202020204" pitchFamily="34" charset="0"/>
              <a:buChar char="•"/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Open 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원칙</a:t>
            </a: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MES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관리시스템이 없는 상태로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Lot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관리해야 할 대상은 없음</a:t>
            </a:r>
            <a:endParaRPr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WMOO</a:t>
            </a:r>
            <a:r>
              <a:rPr lang="ko-KR" altLang="en-US" sz="1108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자재창고의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보유재고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공장내의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공정대기창고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8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재고창고내에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재고정보는 동기화를 실시함</a:t>
            </a:r>
            <a:endParaRPr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내에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누적된 </a:t>
            </a:r>
            <a:r>
              <a:rPr lang="ko-KR" altLang="en-US" sz="1108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시계열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이관은 지속적으로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MIG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실시함</a:t>
            </a:r>
            <a:endParaRPr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77376" lvl="2">
              <a:spcBef>
                <a:spcPts val="554"/>
              </a:spcBef>
              <a:tabLst>
                <a:tab pos="244726" algn="l"/>
                <a:tab pos="577376" algn="l"/>
              </a:tabLst>
            </a:pP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공장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XXXX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데이터는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중단시점까지 별개시스템에서 수집하며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종료결정시점까지 발생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Data MIG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진행함</a:t>
            </a:r>
            <a:endParaRPr lang="en-US" altLang="ko-KR" sz="1108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lnSpc>
                <a:spcPct val="150000"/>
              </a:lnSpc>
              <a:spcBef>
                <a:spcPts val="92"/>
              </a:spcBef>
              <a:buClr>
                <a:srgbClr val="333333"/>
              </a:buClr>
            </a:pP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SAP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108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기준성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자재마스터</a:t>
            </a:r>
            <a:r>
              <a:rPr lang="en-US" altLang="ko-KR" sz="1108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BOM, 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품질기준 등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108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수율실적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정보는 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Cut-Over</a:t>
            </a:r>
            <a:r>
              <a:rPr lang="ko-KR" altLang="en-US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이전에 동기화 진행함</a:t>
            </a:r>
            <a:r>
              <a:rPr lang="en-US" altLang="ko-KR" sz="1108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10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Cut-Over </a:t>
            </a:r>
            <a:r>
              <a:rPr lang="ko-KR" altLang="en-US" dirty="0" smtClean="0"/>
              <a:t>수행 조직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4314471" y="6409860"/>
            <a:ext cx="662361" cy="207749"/>
          </a:xfrm>
          <a:prstGeom prst="rect">
            <a:avLst/>
          </a:prstGeom>
          <a:extLst/>
        </p:spPr>
        <p:txBody>
          <a:bodyPr wrap="none" anchor="ctr">
            <a:spAutoFit/>
          </a:bodyPr>
          <a:lstStyle/>
          <a:p>
            <a:pPr algn="ctr" defTabSz="684610"/>
            <a:fld id="{D937E0E5-A56D-4372-A39D-FA63A08071CF}" type="slidenum">
              <a:rPr lang="en-US" altLang="ko-KR" sz="750" b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ctr" defTabSz="684610"/>
              <a:t>5</a:t>
            </a:fld>
            <a:r>
              <a:rPr lang="en-US" altLang="ko-KR" sz="7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ko-KR" altLang="en-US" sz="6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rPr>
              <a:t>전체페이지</a:t>
            </a:r>
            <a:endParaRPr lang="en-US" altLang="ko-KR" sz="6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직선 연결선 43"/>
          <p:cNvCxnSpPr>
            <a:stCxn id="9" idx="2"/>
            <a:endCxn id="21" idx="1"/>
          </p:cNvCxnSpPr>
          <p:nvPr/>
        </p:nvCxnSpPr>
        <p:spPr>
          <a:xfrm rot="16200000" flipH="1">
            <a:off x="5101226" y="3287131"/>
            <a:ext cx="375166" cy="960907"/>
          </a:xfrm>
          <a:prstGeom prst="bentConnector2">
            <a:avLst/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stCxn id="15" idx="2"/>
            <a:endCxn id="10" idx="0"/>
          </p:cNvCxnSpPr>
          <p:nvPr/>
        </p:nvCxnSpPr>
        <p:spPr>
          <a:xfrm>
            <a:off x="4811286" y="2184767"/>
            <a:ext cx="940" cy="93996"/>
          </a:xfrm>
          <a:prstGeom prst="line">
            <a:avLst/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utoShape 15"/>
          <p:cNvSpPr>
            <a:spLocks noChangeArrowheads="1"/>
          </p:cNvSpPr>
          <p:nvPr/>
        </p:nvSpPr>
        <p:spPr bwMode="gray">
          <a:xfrm>
            <a:off x="3719397" y="2278763"/>
            <a:ext cx="2177918" cy="1301239"/>
          </a:xfrm>
          <a:prstGeom prst="rect">
            <a:avLst/>
          </a:prstGeom>
          <a:noFill/>
          <a:ln w="12700">
            <a:solidFill>
              <a:srgbClr val="009C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10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724207" y="2278763"/>
            <a:ext cx="2176038" cy="265846"/>
          </a:xfrm>
          <a:prstGeom prst="rect">
            <a:avLst/>
          </a:prstGeom>
          <a:solidFill>
            <a:srgbClr val="009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92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굴림" charset="-127"/>
              </a:rPr>
              <a:t>상황실 </a:t>
            </a:r>
            <a:endParaRPr lang="en-US" altLang="ko-KR" sz="1292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굴림" charset="-127"/>
            </a:endParaRPr>
          </a:p>
        </p:txBody>
      </p:sp>
      <p:cxnSp>
        <p:nvCxnSpPr>
          <p:cNvPr id="12" name="꺾인 연결선 11"/>
          <p:cNvCxnSpPr>
            <a:stCxn id="9" idx="2"/>
            <a:endCxn id="20" idx="3"/>
          </p:cNvCxnSpPr>
          <p:nvPr/>
        </p:nvCxnSpPr>
        <p:spPr>
          <a:xfrm rot="5400000">
            <a:off x="4262113" y="3406299"/>
            <a:ext cx="372540" cy="719946"/>
          </a:xfrm>
          <a:prstGeom prst="bentConnector2">
            <a:avLst/>
          </a:prstGeom>
          <a:ln w="9525">
            <a:solidFill>
              <a:srgbClr val="80808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3659632" y="1559158"/>
            <a:ext cx="2240614" cy="625609"/>
            <a:chOff x="3703120" y="1880828"/>
            <a:chExt cx="2427331" cy="677743"/>
          </a:xfrm>
        </p:grpSpPr>
        <p:sp>
          <p:nvSpPr>
            <p:cNvPr id="14" name="AutoShape 15"/>
            <p:cNvSpPr>
              <a:spLocks noChangeArrowheads="1"/>
            </p:cNvSpPr>
            <p:nvPr/>
          </p:nvSpPr>
          <p:spPr bwMode="gray">
            <a:xfrm>
              <a:off x="3771040" y="1880828"/>
              <a:ext cx="2359411" cy="288000"/>
            </a:xfrm>
            <a:prstGeom prst="rect">
              <a:avLst/>
            </a:prstGeom>
            <a:solidFill>
              <a:srgbClr val="014DA2"/>
            </a:solidFill>
            <a:ln>
              <a:noFill/>
            </a:ln>
          </p:spPr>
          <p:txBody>
            <a:bodyPr vert="horz" wrap="square" lIns="33231" tIns="33231" rIns="33231" bIns="33231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r>
                <a:rPr lang="en-US" altLang="ko-KR" sz="1292" b="1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굴림" charset="-127"/>
                </a:rPr>
                <a:t> Project Owner</a:t>
              </a: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gray">
            <a:xfrm>
              <a:off x="3771040" y="1881188"/>
              <a:ext cx="2359411" cy="677383"/>
            </a:xfrm>
            <a:prstGeom prst="rect">
              <a:avLst/>
            </a:prstGeom>
            <a:noFill/>
            <a:ln w="12700">
              <a:solidFill>
                <a:srgbClr val="014DA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108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굴림" charset="-127"/>
                </a:rPr>
                <a:t> </a:t>
              </a:r>
              <a:endParaRPr kumimoji="1" lang="en-US" altLang="ko-KR" sz="1108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굴림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703120" y="2202003"/>
              <a:ext cx="2359411" cy="315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ko-KR" altLang="en-US" sz="1292" b="1" kern="0" dirty="0">
                <a:latin typeface="맑은 고딕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" name="직사각형 17"/>
          <p:cNvSpPr/>
          <p:nvPr/>
        </p:nvSpPr>
        <p:spPr bwMode="gray">
          <a:xfrm>
            <a:off x="1396718" y="4122718"/>
            <a:ext cx="2691692" cy="42238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66462" tIns="0" rIns="66462" bIns="0" anchor="ctr">
            <a:noAutofit/>
          </a:bodyPr>
          <a:lstStyle/>
          <a:p>
            <a:pPr marL="82064" indent="-82064" latinLnBrk="0">
              <a:spcBef>
                <a:spcPct val="10000"/>
              </a:spcBef>
              <a:buFontTx/>
              <a:buChar char="•"/>
            </a:pP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사용자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현장포함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교육 및 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Cutover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수행</a:t>
            </a:r>
          </a:p>
        </p:txBody>
      </p:sp>
      <p:sp>
        <p:nvSpPr>
          <p:cNvPr id="19" name="직사각형 18"/>
          <p:cNvSpPr/>
          <p:nvPr/>
        </p:nvSpPr>
        <p:spPr bwMode="gray">
          <a:xfrm>
            <a:off x="5769263" y="4136864"/>
            <a:ext cx="2592288" cy="40824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accent3"/>
            </a:solidFill>
            <a:miter lim="800000"/>
            <a:headEnd/>
            <a:tailEnd/>
          </a:ln>
        </p:spPr>
        <p:txBody>
          <a:bodyPr wrap="square" lIns="66462" tIns="0" rIns="66462" bIns="0" anchor="ctr">
            <a:noAutofit/>
          </a:bodyPr>
          <a:lstStyle/>
          <a:p>
            <a:pPr marL="82064" indent="-82064" latinLnBrk="0">
              <a:spcBef>
                <a:spcPct val="10000"/>
              </a:spcBef>
              <a:buFontTx/>
              <a:buChar char="•"/>
            </a:pP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Cutover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수행 및 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Data 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점검</a:t>
            </a:r>
            <a:r>
              <a:rPr lang="en-US" altLang="ko-KR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/</a:t>
            </a:r>
            <a:r>
              <a:rPr lang="ko-KR" altLang="en-US" sz="1108" kern="0" dirty="0">
                <a:solidFill>
                  <a:srgbClr val="000000"/>
                </a:solidFill>
                <a:latin typeface="맑은 고딕" panose="020B0503020000020004" pitchFamily="50" charset="-127"/>
                <a:cs typeface="Arial" pitchFamily="34" charset="0"/>
              </a:rPr>
              <a:t>긴급패치</a:t>
            </a:r>
          </a:p>
        </p:txBody>
      </p:sp>
      <p:sp>
        <p:nvSpPr>
          <p:cNvPr id="20" name="Rectangle 69"/>
          <p:cNvSpPr>
            <a:spLocks noChangeArrowheads="1"/>
          </p:cNvSpPr>
          <p:nvPr/>
        </p:nvSpPr>
        <p:spPr bwMode="auto">
          <a:xfrm>
            <a:off x="1396718" y="3786388"/>
            <a:ext cx="2691692" cy="332308"/>
          </a:xfrm>
          <a:prstGeom prst="rect">
            <a:avLst/>
          </a:prstGeom>
          <a:solidFill>
            <a:srgbClr val="009CE1"/>
          </a:solidFill>
          <a:ln>
            <a:solidFill>
              <a:schemeClr val="accent3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92" b="1" dirty="0" err="1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대상웰라이프</a:t>
            </a:r>
            <a:r>
              <a:rPr lang="ko-KR" altLang="en-US" sz="1292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 현업 </a:t>
            </a:r>
            <a:r>
              <a:rPr lang="en-US" altLang="ko-KR" sz="1292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TF</a:t>
            </a:r>
            <a:endParaRPr lang="ko-KR" altLang="en-US" sz="1292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charset="-127"/>
              <a:sym typeface="Wingdings" pitchFamily="2" charset="2"/>
            </a:endParaRPr>
          </a:p>
        </p:txBody>
      </p:sp>
      <p:sp>
        <p:nvSpPr>
          <p:cNvPr id="21" name="Rectangle 69"/>
          <p:cNvSpPr>
            <a:spLocks noChangeArrowheads="1"/>
          </p:cNvSpPr>
          <p:nvPr/>
        </p:nvSpPr>
        <p:spPr bwMode="auto">
          <a:xfrm>
            <a:off x="5769263" y="3789014"/>
            <a:ext cx="2592288" cy="332308"/>
          </a:xfrm>
          <a:prstGeom prst="rect">
            <a:avLst/>
          </a:prstGeom>
          <a:solidFill>
            <a:srgbClr val="009CE1"/>
          </a:solidFill>
          <a:ln>
            <a:solidFill>
              <a:schemeClr val="accent3"/>
            </a:solidFill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92" b="1" dirty="0" err="1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미라콤</a:t>
            </a:r>
            <a:r>
              <a:rPr lang="ko-KR" altLang="en-US" sz="1292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 </a:t>
            </a:r>
            <a:r>
              <a:rPr lang="ko-KR" altLang="en-US" sz="1292" b="1" dirty="0" err="1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아이앤씨</a:t>
            </a:r>
            <a:r>
              <a:rPr lang="ko-KR" altLang="en-US" sz="1292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 </a:t>
            </a:r>
            <a:r>
              <a:rPr lang="ko-KR" altLang="en-US" sz="1292" b="1" dirty="0" err="1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굴림" charset="-127"/>
                <a:sym typeface="Wingdings" pitchFamily="2" charset="2"/>
              </a:rPr>
              <a:t>수행팀</a:t>
            </a:r>
            <a:endParaRPr lang="ko-KR" altLang="en-US" sz="1292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charset="-127"/>
              <a:sym typeface="Wingdings" pitchFamily="2" charset="2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598332"/>
              </p:ext>
            </p:extLst>
          </p:nvPr>
        </p:nvGraphicFramePr>
        <p:xfrm>
          <a:off x="4976833" y="4735360"/>
          <a:ext cx="3883236" cy="19975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4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49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 업무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49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부문 </a:t>
                      </a: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</a:t>
                      </a:r>
                      <a:endParaRPr lang="ko-KR" altLang="en-US" sz="1100" b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649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클라우드인프라부문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297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자재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생산 등 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649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시스템간 연계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649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649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시계열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현장디바이스부문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03778"/>
              </p:ext>
            </p:extLst>
          </p:nvPr>
        </p:nvGraphicFramePr>
        <p:xfrm>
          <a:off x="800945" y="4739608"/>
          <a:ext cx="3883237" cy="1836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2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547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 업무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13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자재</a:t>
                      </a: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창고</a:t>
                      </a:r>
                      <a:r>
                        <a:rPr lang="en-US" altLang="ko-KR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7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093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QA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7">
                <a:tc>
                  <a:txBody>
                    <a:bodyPr/>
                    <a:lstStyle/>
                    <a:p>
                      <a:pPr marL="0" marR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설비</a:t>
                      </a:r>
                      <a:endParaRPr lang="ko-KR" altLang="en-US" sz="1100" b="0" i="0" u="none" strike="noStrike" kern="1200" dirty="0" smtClean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7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SAP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2.1 </a:t>
            </a:r>
            <a:r>
              <a:rPr lang="ko-KR" altLang="en-US" dirty="0" smtClean="0"/>
              <a:t>데이터 이관 대상 및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585528"/>
              </p:ext>
            </p:extLst>
          </p:nvPr>
        </p:nvGraphicFramePr>
        <p:xfrm>
          <a:off x="467029" y="1579190"/>
          <a:ext cx="8988255" cy="4617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392">
                  <a:extLst>
                    <a:ext uri="{9D8B030D-6E8A-4147-A177-3AD203B41FA5}">
                      <a16:colId xmlns:a16="http://schemas.microsoft.com/office/drawing/2014/main" val="1421701513"/>
                    </a:ext>
                  </a:extLst>
                </a:gridCol>
                <a:gridCol w="2208097">
                  <a:extLst>
                    <a:ext uri="{9D8B030D-6E8A-4147-A177-3AD203B41FA5}">
                      <a16:colId xmlns:a16="http://schemas.microsoft.com/office/drawing/2014/main" val="3353463436"/>
                    </a:ext>
                  </a:extLst>
                </a:gridCol>
                <a:gridCol w="2983912">
                  <a:extLst>
                    <a:ext uri="{9D8B030D-6E8A-4147-A177-3AD203B41FA5}">
                      <a16:colId xmlns:a16="http://schemas.microsoft.com/office/drawing/2014/main" val="534313941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1375147342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2470083304"/>
                    </a:ext>
                  </a:extLst>
                </a:gridCol>
                <a:gridCol w="815620">
                  <a:extLst>
                    <a:ext uri="{9D8B030D-6E8A-4147-A177-3AD203B41FA5}">
                      <a16:colId xmlns:a16="http://schemas.microsoft.com/office/drawing/2014/main" val="310404155"/>
                    </a:ext>
                  </a:extLst>
                </a:gridCol>
              </a:tblGrid>
              <a:tr h="3343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이관 대상 및 기준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이관절차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59323"/>
                  </a:ext>
                </a:extLst>
              </a:tr>
              <a:tr h="28336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Master Data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기준정보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공통코드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SAP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인사정보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검사항목카탈로그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검사특성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선택세트 카탈로그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설비마스터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BOM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자재마스터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자재단위마스터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공급업체마스터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BOM</a:t>
                      </a:r>
                    </a:p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플랜트정보</a:t>
                      </a: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통합테스트 이후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운영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클라우드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프로비저닝실시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후 시스템간 연계를 통하여 일괄이관실시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이관테이터는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네크워크및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연계서버메모리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한계범위내에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수량으로 조정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가오픈일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-1</a:t>
                      </a:r>
                    </a:p>
                    <a:p>
                      <a:pPr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실오픈일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-3</a:t>
                      </a: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435477"/>
                  </a:ext>
                </a:extLst>
              </a:tr>
              <a:tr h="5209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History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Data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레벨별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구성부품 수율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발생년월부터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순차적으로 시스템간 연계를 통하여 이관실시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실오픈일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-3</a:t>
                      </a:r>
                      <a:r>
                        <a:rPr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20486"/>
                  </a:ext>
                </a:extLst>
              </a:tr>
              <a:tr h="5209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Transaction Data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현재고 조회용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SAP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자료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SAP 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현재고 기준으로 시스템간의 연계로 </a:t>
                      </a: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매일동기화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실오픈일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75267"/>
                  </a:ext>
                </a:extLst>
              </a:tr>
              <a:tr h="3343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시계열데이터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공장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DT </a:t>
                      </a: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시계열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데이터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월별 </a:t>
                      </a:r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백업분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파일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MIG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29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2.2 Data </a:t>
            </a:r>
            <a:r>
              <a:rPr lang="ko-KR" altLang="en-US" dirty="0" smtClean="0"/>
              <a:t>이관 시 주요 점검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264607"/>
              </p:ext>
            </p:extLst>
          </p:nvPr>
        </p:nvGraphicFramePr>
        <p:xfrm>
          <a:off x="467029" y="1579190"/>
          <a:ext cx="8988255" cy="40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392">
                  <a:extLst>
                    <a:ext uri="{9D8B030D-6E8A-4147-A177-3AD203B41FA5}">
                      <a16:colId xmlns:a16="http://schemas.microsoft.com/office/drawing/2014/main" val="1421701513"/>
                    </a:ext>
                  </a:extLst>
                </a:gridCol>
                <a:gridCol w="5192009">
                  <a:extLst>
                    <a:ext uri="{9D8B030D-6E8A-4147-A177-3AD203B41FA5}">
                      <a16:colId xmlns:a16="http://schemas.microsoft.com/office/drawing/2014/main" val="3353463436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1375147342"/>
                    </a:ext>
                  </a:extLst>
                </a:gridCol>
                <a:gridCol w="928117">
                  <a:extLst>
                    <a:ext uri="{9D8B030D-6E8A-4147-A177-3AD203B41FA5}">
                      <a16:colId xmlns:a16="http://schemas.microsoft.com/office/drawing/2014/main" val="2470083304"/>
                    </a:ext>
                  </a:extLst>
                </a:gridCol>
                <a:gridCol w="815620">
                  <a:extLst>
                    <a:ext uri="{9D8B030D-6E8A-4147-A177-3AD203B41FA5}">
                      <a16:colId xmlns:a16="http://schemas.microsoft.com/office/drawing/2014/main" val="310404155"/>
                    </a:ext>
                  </a:extLst>
                </a:gridCol>
              </a:tblGrid>
              <a:tr h="4573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점검사항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담당자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확인자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59323"/>
                  </a:ext>
                </a:extLst>
              </a:tr>
              <a:tr h="124092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자재마스터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공급업체마스터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자재마스터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공급업체마스터 등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웰라이프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비관리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데이터 여부 점검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1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435477"/>
                  </a:ext>
                </a:extLst>
              </a:tr>
              <a:tr h="7132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레벨별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구성품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수율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중복데이터 이관으로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인한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저장시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오류여부 점검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이관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누락년월여부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점검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이관일</a:t>
                      </a: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현재고 조회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SAP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시스템의 재고와 현장 내 실물재고와의 차이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420486"/>
                  </a:ext>
                </a:extLst>
              </a:tr>
              <a:tr h="96908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시계열데이터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MIG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누락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Tag</a:t>
                      </a:r>
                      <a:r>
                        <a:rPr lang="ko-KR" altLang="en-US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여부 및 </a:t>
                      </a:r>
                      <a:r>
                        <a:rPr lang="en-US" altLang="ko-KR" sz="11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Tag</a:t>
                      </a:r>
                      <a:r>
                        <a:rPr lang="en-US" altLang="ko-KR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Value</a:t>
                      </a:r>
                      <a:r>
                        <a:rPr lang="ko-KR" altLang="en-US" sz="11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대사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231" marR="33231" marT="66462" marB="66462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75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Open</a:t>
            </a:r>
            <a:r>
              <a:rPr lang="ko-KR" altLang="en-US" dirty="0" smtClean="0"/>
              <a:t>후 주요 점검 사항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865298"/>
              </p:ext>
            </p:extLst>
          </p:nvPr>
        </p:nvGraphicFramePr>
        <p:xfrm>
          <a:off x="499455" y="1618101"/>
          <a:ext cx="8884494" cy="4424785"/>
        </p:xfrm>
        <a:graphic>
          <a:graphicData uri="http://schemas.openxmlformats.org/drawingml/2006/table">
            <a:tbl>
              <a:tblPr/>
              <a:tblGrid>
                <a:gridCol w="1407079">
                  <a:extLst>
                    <a:ext uri="{9D8B030D-6E8A-4147-A177-3AD203B41FA5}">
                      <a16:colId xmlns:a16="http://schemas.microsoft.com/office/drawing/2014/main" val="1257912928"/>
                    </a:ext>
                  </a:extLst>
                </a:gridCol>
                <a:gridCol w="2953348">
                  <a:extLst>
                    <a:ext uri="{9D8B030D-6E8A-4147-A177-3AD203B41FA5}">
                      <a16:colId xmlns:a16="http://schemas.microsoft.com/office/drawing/2014/main" val="3748086529"/>
                    </a:ext>
                  </a:extLst>
                </a:gridCol>
                <a:gridCol w="2992058">
                  <a:extLst>
                    <a:ext uri="{9D8B030D-6E8A-4147-A177-3AD203B41FA5}">
                      <a16:colId xmlns:a16="http://schemas.microsoft.com/office/drawing/2014/main" val="1005499544"/>
                    </a:ext>
                  </a:extLst>
                </a:gridCol>
                <a:gridCol w="778352">
                  <a:extLst>
                    <a:ext uri="{9D8B030D-6E8A-4147-A177-3AD203B41FA5}">
                      <a16:colId xmlns:a16="http://schemas.microsoft.com/office/drawing/2014/main" val="2746186586"/>
                    </a:ext>
                  </a:extLst>
                </a:gridCol>
                <a:gridCol w="753657">
                  <a:extLst>
                    <a:ext uri="{9D8B030D-6E8A-4147-A177-3AD203B41FA5}">
                      <a16:colId xmlns:a16="http://schemas.microsoft.com/office/drawing/2014/main" val="2480931038"/>
                    </a:ext>
                  </a:extLst>
                </a:gridCol>
              </a:tblGrid>
              <a:tr h="1773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점검사항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점검대상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85079"/>
                  </a:ext>
                </a:extLst>
              </a:tr>
              <a:tr h="457657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수집대상 설비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공장 전환대상 서버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OT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망 정상 작동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서버 정상 작동 및 관리실 제어 가능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657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공장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Kepware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서버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공장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KepWare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정상작동 및 데이터 수집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가오픈이후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Kepware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로그 축적여부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MC Admin/EAP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와 정상통신여부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설비의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Tag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데이터 수신여부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156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각 공장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EAP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서버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EAP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서버 프로세스 작동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Kepware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와 정상연결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Highway101 </a:t>
                      </a: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Stationx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와 통신여부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수집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Tag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정보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MES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서비스에 정상전달여부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EAP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라이선스 및 서버 자원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사용율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EAP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실행로그 및 데이터 모니터링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453290"/>
                  </a:ext>
                </a:extLst>
              </a:tr>
              <a:tr h="423677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시계열서버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Kepware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Log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정보기반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시계열정보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수집확인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시계열정보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Tag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별 저장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가시화확인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설비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Tag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수집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저장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가시화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97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연계서버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연계시스템간 정상연결 및 양방향 통신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연계서버와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SAP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양방향통신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연계서버와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MES Cloud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양방향통신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연계서버와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WMS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양방향 통신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2.3 Open</a:t>
            </a:r>
            <a:r>
              <a:rPr lang="ko-KR" altLang="en-US" dirty="0" smtClean="0"/>
              <a:t>후 주요 점검 사항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723239"/>
              </p:ext>
            </p:extLst>
          </p:nvPr>
        </p:nvGraphicFramePr>
        <p:xfrm>
          <a:off x="499455" y="1627979"/>
          <a:ext cx="8884494" cy="4106148"/>
        </p:xfrm>
        <a:graphic>
          <a:graphicData uri="http://schemas.openxmlformats.org/drawingml/2006/table">
            <a:tbl>
              <a:tblPr/>
              <a:tblGrid>
                <a:gridCol w="1407079">
                  <a:extLst>
                    <a:ext uri="{9D8B030D-6E8A-4147-A177-3AD203B41FA5}">
                      <a16:colId xmlns:a16="http://schemas.microsoft.com/office/drawing/2014/main" val="1257912928"/>
                    </a:ext>
                  </a:extLst>
                </a:gridCol>
                <a:gridCol w="2953348">
                  <a:extLst>
                    <a:ext uri="{9D8B030D-6E8A-4147-A177-3AD203B41FA5}">
                      <a16:colId xmlns:a16="http://schemas.microsoft.com/office/drawing/2014/main" val="3748086529"/>
                    </a:ext>
                  </a:extLst>
                </a:gridCol>
                <a:gridCol w="2992058">
                  <a:extLst>
                    <a:ext uri="{9D8B030D-6E8A-4147-A177-3AD203B41FA5}">
                      <a16:colId xmlns:a16="http://schemas.microsoft.com/office/drawing/2014/main" val="1005499544"/>
                    </a:ext>
                  </a:extLst>
                </a:gridCol>
                <a:gridCol w="778352">
                  <a:extLst>
                    <a:ext uri="{9D8B030D-6E8A-4147-A177-3AD203B41FA5}">
                      <a16:colId xmlns:a16="http://schemas.microsoft.com/office/drawing/2014/main" val="2746186586"/>
                    </a:ext>
                  </a:extLst>
                </a:gridCol>
                <a:gridCol w="753657">
                  <a:extLst>
                    <a:ext uri="{9D8B030D-6E8A-4147-A177-3AD203B41FA5}">
                      <a16:colId xmlns:a16="http://schemas.microsoft.com/office/drawing/2014/main" val="2480931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점검사항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점검대상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85079"/>
                  </a:ext>
                </a:extLst>
              </a:tr>
              <a:tr h="34543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생산계획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실적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생산확정 계획수신 및 생산실적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SAP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반영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생산실적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반제품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완제품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생산출고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원포자재 사용량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오픈후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투입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생산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마감 오더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3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품질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원포자재 수입검사 판정 결과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완제품 품질검사 결과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(SAP &amp; WMS)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오픈후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발생한 품질 검사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53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설비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설비 가동 정보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 EDC Data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확인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오픈후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발생한 설비 가동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물류 이동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Data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재고 이동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요청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ERP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전달 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 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창고간 이동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구매입고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기타 입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출고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)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사업장간 이동  정보 확인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오픈후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발생한 물류 정보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38"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현장디바이스 작동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Kiosk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장비정상 가동 및 부속장비 상태점검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-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라벨프린터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바코드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웨어러블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Scanner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PDA, TV, Tablet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sym typeface="Wingdings" pitchFamily="2" charset="2"/>
                        </a:rPr>
                        <a:t>장비정상 가동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현장 배치 디바이스 </a:t>
                      </a: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33231" marR="33231" marT="66462" marB="66462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7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 Cut-Over </a:t>
            </a:r>
            <a:r>
              <a:rPr lang="ko-KR" altLang="en-US" dirty="0" smtClean="0"/>
              <a:t>주요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39179" y="1567870"/>
            <a:ext cx="8387130" cy="5088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2025.08.04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MES Cloud Tenant Provisioning</a:t>
            </a:r>
            <a:r>
              <a:rPr lang="ko-KR" altLang="en-US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실시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2025.08.11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Highway101, SAP, WMS, Cloud MES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연계 접점 연결완료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2025.08.11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각 공장 현장설비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수집단말간 연결 및 수집서버와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Cloud MES </a:t>
            </a:r>
            <a:r>
              <a:rPr lang="en-US" altLang="ko-KR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PrivateLink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연결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2025.08.17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각공장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 WM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창고 재고조사 및 확정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2025.08.17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현장내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Picking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완료및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불출대기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재고창고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미부착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식별라벨 발행부착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2025.08.17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기준성정보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수율이력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데이터 이관완료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2025.08.17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DT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병행 불가 설비 절취 및 수집서버 연결실시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2025.08.17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EAP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수집서버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현장디바이스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연계서버 재점검 실시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2025.08.18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08:30 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시스템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가오픈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(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천안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1,2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공장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,WM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안성창고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>
                <a:solidFill>
                  <a:srgbClr val="000000"/>
                </a:solidFill>
                <a:latin typeface="+mn-ea"/>
                <a:cs typeface="Arial" pitchFamily="34" charset="0"/>
              </a:rPr>
              <a:t>2025.08.18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– 08.31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가오픈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기간 수집 오류 및 비정상 데이터 삭제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. </a:t>
            </a:r>
            <a:r>
              <a:rPr lang="ko-KR" altLang="en-US" sz="1400" b="1" kern="0" dirty="0" err="1" smtClean="0">
                <a:solidFill>
                  <a:srgbClr val="000000"/>
                </a:solidFill>
                <a:latin typeface="+mn-ea"/>
                <a:cs typeface="Arial" pitchFamily="34" charset="0"/>
              </a:rPr>
              <a:t>기준성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 정보 재정비</a:t>
            </a:r>
            <a:endParaRPr lang="en-US" altLang="ko-KR" sz="1400" b="1" kern="0" dirty="0" smtClean="0">
              <a:solidFill>
                <a:srgbClr val="000000"/>
              </a:solidFill>
              <a:latin typeface="+mn-ea"/>
              <a:cs typeface="Arial" pitchFamily="34" charset="0"/>
            </a:endParaRPr>
          </a:p>
          <a:p>
            <a:pPr marL="177316" lvl="1" latinLnBrk="0">
              <a:lnSpc>
                <a:spcPct val="200000"/>
              </a:lnSpc>
              <a:spcAft>
                <a:spcPts val="185"/>
              </a:spcAft>
            </a:pP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2025.09.01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일 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08:30 Go Live(</a:t>
            </a:r>
            <a:r>
              <a:rPr lang="ko-KR" altLang="en-US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신규 계획생산기반 작업지시실행</a:t>
            </a:r>
            <a:r>
              <a:rPr lang="en-US" altLang="ko-KR" sz="1400" b="1" kern="0" dirty="0" smtClean="0">
                <a:solidFill>
                  <a:srgbClr val="000000"/>
                </a:solidFill>
                <a:latin typeface="+mn-ea"/>
                <a:cs typeface="Arial" pitchFamily="34" charset="0"/>
              </a:rPr>
              <a:t>)</a:t>
            </a:r>
            <a:endParaRPr lang="en-US" altLang="ko-KR" sz="1400" b="1" kern="0" dirty="0">
              <a:solidFill>
                <a:srgbClr val="000000"/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08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3.2 Cut-Over </a:t>
            </a:r>
            <a:r>
              <a:rPr lang="ko-KR" altLang="en-US" dirty="0" smtClean="0"/>
              <a:t>상세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23935"/>
              </p:ext>
            </p:extLst>
          </p:nvPr>
        </p:nvGraphicFramePr>
        <p:xfrm>
          <a:off x="528626" y="1536969"/>
          <a:ext cx="8708360" cy="4903919"/>
        </p:xfrm>
        <a:graphic>
          <a:graphicData uri="http://schemas.openxmlformats.org/drawingml/2006/table">
            <a:tbl>
              <a:tblPr/>
              <a:tblGrid>
                <a:gridCol w="1156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77643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</a:tblGrid>
              <a:tr h="242197">
                <a:tc rowSpan="2" gridSpan="2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XX.02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XX.03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XX.04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20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맑은 고딕"/>
                        </a:rPr>
                        <a:t>   2  4  6  8 10 12 14 16 18 20 22 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 2  4  6  8 10 12 14 16 18 20 22</a:t>
                      </a:r>
                      <a:r>
                        <a:rPr lang="en-US" altLang="ko-KR" sz="11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</a:rPr>
                        <a:t>    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  2  4  6  8 10 12 14 16 18 20 22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700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271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531"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0" marR="0" marT="33231" marB="3323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 bwMode="auto">
          <a:xfrm>
            <a:off x="7731779" y="2286391"/>
            <a:ext cx="0" cy="41119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/>
          <p:cNvCxnSpPr/>
          <p:nvPr/>
        </p:nvCxnSpPr>
        <p:spPr bwMode="auto">
          <a:xfrm>
            <a:off x="5432336" y="2280702"/>
            <a:ext cx="0" cy="41119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83"/>
          <p:cNvSpPr>
            <a:spLocks noChangeArrowheads="1"/>
          </p:cNvSpPr>
          <p:nvPr/>
        </p:nvSpPr>
        <p:spPr bwMode="auto">
          <a:xfrm>
            <a:off x="5826453" y="2179077"/>
            <a:ext cx="763029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dirty="0">
                <a:solidFill>
                  <a:srgbClr val="FF0000"/>
                </a:solidFill>
                <a:latin typeface="+mn-ea"/>
              </a:rPr>
              <a:t>(12:00)</a:t>
            </a: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재고확정</a:t>
            </a:r>
          </a:p>
        </p:txBody>
      </p:sp>
      <p:sp>
        <p:nvSpPr>
          <p:cNvPr id="10" name="직사각형 9"/>
          <p:cNvSpPr/>
          <p:nvPr/>
        </p:nvSpPr>
        <p:spPr bwMode="auto">
          <a:xfrm>
            <a:off x="3768608" y="4507343"/>
            <a:ext cx="769805" cy="49502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현장창고 원부원료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/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반제품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라벨 </a:t>
            </a:r>
            <a:r>
              <a:rPr kumimoji="1" lang="ko-KR" altLang="en-US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재발행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및 부착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미부착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자재 대상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572124" y="2293294"/>
            <a:ext cx="1030154" cy="443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계획수립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15:00</a:t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 ~09.03 07:00)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663561" y="4035339"/>
            <a:ext cx="1030154" cy="2243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09.02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舊작지서 발행</a:t>
            </a:r>
          </a:p>
        </p:txBody>
      </p:sp>
      <p:cxnSp>
        <p:nvCxnSpPr>
          <p:cNvPr id="13" name="직선 화살표 연결선 149"/>
          <p:cNvCxnSpPr>
            <a:stCxn id="11" idx="2"/>
            <a:endCxn id="12" idx="0"/>
          </p:cNvCxnSpPr>
          <p:nvPr/>
        </p:nvCxnSpPr>
        <p:spPr bwMode="auto">
          <a:xfrm rot="16200000" flipH="1">
            <a:off x="483537" y="3340237"/>
            <a:ext cx="1298765" cy="9143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4" name="직사각형 13"/>
          <p:cNvSpPr/>
          <p:nvPr/>
        </p:nvSpPr>
        <p:spPr bwMode="auto">
          <a:xfrm>
            <a:off x="6870267" y="5125207"/>
            <a:ext cx="2357884" cy="173126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DB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6551743" y="5901500"/>
            <a:ext cx="2676408" cy="206833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TI-Gate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설비공정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Data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6551742" y="6229317"/>
            <a:ext cx="2676408" cy="163375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</a:t>
            </a:r>
          </a:p>
        </p:txBody>
      </p:sp>
      <p:cxnSp>
        <p:nvCxnSpPr>
          <p:cNvPr id="17" name="직선 화살표 연결선 16"/>
          <p:cNvCxnSpPr>
            <a:stCxn id="15" idx="0"/>
            <a:endCxn id="14" idx="2"/>
          </p:cNvCxnSpPr>
          <p:nvPr/>
        </p:nvCxnSpPr>
        <p:spPr bwMode="auto">
          <a:xfrm flipV="1">
            <a:off x="7889947" y="5298333"/>
            <a:ext cx="159262" cy="6031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" name="직선 화살표 연결선 17"/>
          <p:cNvCxnSpPr>
            <a:stCxn id="16" idx="0"/>
            <a:endCxn id="15" idx="2"/>
          </p:cNvCxnSpPr>
          <p:nvPr/>
        </p:nvCxnSpPr>
        <p:spPr bwMode="auto">
          <a:xfrm flipV="1">
            <a:off x="7889946" y="6108333"/>
            <a:ext cx="1" cy="1209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9" name="직사각형 18"/>
          <p:cNvSpPr/>
          <p:nvPr/>
        </p:nvSpPr>
        <p:spPr bwMode="auto">
          <a:xfrm>
            <a:off x="7731778" y="4697160"/>
            <a:ext cx="1515294" cy="28029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이후 생산 분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 I/F(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실적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)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7724824" y="4046766"/>
            <a:ext cx="1541006" cy="28576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이후 생산품 품질판정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528163" y="5635989"/>
            <a:ext cx="4902829" cy="160221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운영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DB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28163" y="5934873"/>
            <a:ext cx="4902829" cy="160221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 err="1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Proface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설비공정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Data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528164" y="6253769"/>
            <a:ext cx="4890933" cy="150470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</a:t>
            </a:r>
          </a:p>
        </p:txBody>
      </p:sp>
      <p:cxnSp>
        <p:nvCxnSpPr>
          <p:cNvPr id="24" name="직선 화살표 연결선 23"/>
          <p:cNvCxnSpPr>
            <a:stCxn id="22" idx="0"/>
            <a:endCxn id="21" idx="2"/>
          </p:cNvCxnSpPr>
          <p:nvPr/>
        </p:nvCxnSpPr>
        <p:spPr bwMode="auto">
          <a:xfrm flipV="1">
            <a:off x="2979578" y="5796210"/>
            <a:ext cx="0" cy="1386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5" name="직선 화살표 연결선 24"/>
          <p:cNvCxnSpPr>
            <a:stCxn id="23" idx="0"/>
            <a:endCxn id="22" idx="2"/>
          </p:cNvCxnSpPr>
          <p:nvPr/>
        </p:nvCxnSpPr>
        <p:spPr bwMode="auto">
          <a:xfrm flipV="1">
            <a:off x="2973631" y="6095094"/>
            <a:ext cx="5947" cy="1586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직사각형 25"/>
          <p:cNvSpPr/>
          <p:nvPr/>
        </p:nvSpPr>
        <p:spPr bwMode="auto">
          <a:xfrm>
            <a:off x="4734653" y="5219569"/>
            <a:ext cx="677401" cy="379757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수불 보고 에러 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조치 완료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5432977" y="4069561"/>
            <a:ext cx="471877" cy="31575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8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月 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생산결산</a:t>
            </a:r>
            <a:endParaRPr kumimoji="1" lang="en-US" altLang="ko-KR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(ERP)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5440626" y="5657726"/>
            <a:ext cx="392816" cy="74714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16615" tIns="16615" rIns="16615" bIns="16615" numCol="1" rtlCol="0" anchor="b" anchorCtr="1" compatLnSpc="1">
            <a:prstTxWarp prst="textNoShape">
              <a:avLst/>
            </a:prstTxWarp>
          </a:bodyPr>
          <a:lstStyle/>
          <a:p>
            <a:pPr defTabSz="844083" fontAlgn="base">
              <a:lnSpc>
                <a:spcPts val="831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FA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新체제전환시작</a:t>
            </a:r>
          </a:p>
        </p:txBody>
      </p:sp>
      <p:sp>
        <p:nvSpPr>
          <p:cNvPr id="29" name="직사각형 28"/>
          <p:cNvSpPr/>
          <p:nvPr/>
        </p:nvSpPr>
        <p:spPr bwMode="auto">
          <a:xfrm>
            <a:off x="4384769" y="2461384"/>
            <a:ext cx="1595077" cy="224308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8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月 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PO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마감 및 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실적 전송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,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물류 이동 마감</a:t>
            </a:r>
          </a:p>
        </p:txBody>
      </p:sp>
      <p:sp>
        <p:nvSpPr>
          <p:cNvPr id="30" name="Rectangle 883"/>
          <p:cNvSpPr>
            <a:spLocks noChangeArrowheads="1"/>
          </p:cNvSpPr>
          <p:nvPr/>
        </p:nvSpPr>
        <p:spPr bwMode="auto">
          <a:xfrm>
            <a:off x="7709450" y="4436104"/>
            <a:ext cx="977832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b="1" dirty="0">
                <a:solidFill>
                  <a:srgbClr val="FF0000"/>
                </a:solidFill>
                <a:latin typeface="+mn-ea"/>
              </a:rPr>
              <a:t>(07:00)ERP I/F Start</a:t>
            </a:r>
            <a:endParaRPr lang="ko-KR" altLang="en-US" sz="738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5441975" y="3946748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32" name="모서리가 둥근 직사각형 31"/>
          <p:cNvSpPr/>
          <p:nvPr/>
        </p:nvSpPr>
        <p:spPr bwMode="auto">
          <a:xfrm>
            <a:off x="653089" y="4002205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33" name="포인트가 5개인 별 32"/>
          <p:cNvSpPr/>
          <p:nvPr/>
        </p:nvSpPr>
        <p:spPr bwMode="auto">
          <a:xfrm>
            <a:off x="7650651" y="4609481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4" name="모서리가 둥근 직사각형 33"/>
          <p:cNvSpPr/>
          <p:nvPr/>
        </p:nvSpPr>
        <p:spPr bwMode="auto">
          <a:xfrm>
            <a:off x="571640" y="2206138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cxnSp>
        <p:nvCxnSpPr>
          <p:cNvPr id="35" name="직선 화살표 연결선 125"/>
          <p:cNvCxnSpPr>
            <a:stCxn id="65" idx="2"/>
            <a:endCxn id="37" idx="0"/>
          </p:cNvCxnSpPr>
          <p:nvPr/>
        </p:nvCxnSpPr>
        <p:spPr bwMode="auto">
          <a:xfrm rot="16200000" flipH="1">
            <a:off x="3861416" y="2685732"/>
            <a:ext cx="1136181" cy="57785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포인트가 5개인 별 35"/>
          <p:cNvSpPr/>
          <p:nvPr/>
        </p:nvSpPr>
        <p:spPr bwMode="auto">
          <a:xfrm>
            <a:off x="4374917" y="3765972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7" name="직사각형 36"/>
          <p:cNvSpPr/>
          <p:nvPr/>
        </p:nvSpPr>
        <p:spPr bwMode="auto">
          <a:xfrm>
            <a:off x="4583015" y="3542752"/>
            <a:ext cx="270839" cy="621260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新작지서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발행</a:t>
            </a: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4405737" y="3937469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2249360" y="3355033"/>
            <a:ext cx="1503978" cy="243556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09.02~09.04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원부자재 현장창고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이동처리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(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MES, </a:t>
            </a:r>
            <a:r>
              <a:rPr kumimoji="1" lang="ko-KR" altLang="en-US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舊</a:t>
            </a:r>
            <a:r>
              <a:rPr kumimoji="1" lang="en-US" altLang="ko-KR" sz="738" dirty="0"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ERP)</a:t>
            </a:r>
            <a:endParaRPr kumimoji="1" lang="ko-KR" altLang="en-US" sz="738" dirty="0"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40" name="모서리가 둥근 직사각형 39"/>
          <p:cNvSpPr/>
          <p:nvPr/>
        </p:nvSpPr>
        <p:spPr bwMode="auto">
          <a:xfrm>
            <a:off x="2148861" y="3340812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cxnSp>
        <p:nvCxnSpPr>
          <p:cNvPr id="41" name="직선 화살표 연결선 140"/>
          <p:cNvCxnSpPr>
            <a:stCxn id="39" idx="2"/>
            <a:endCxn id="10" idx="1"/>
          </p:cNvCxnSpPr>
          <p:nvPr/>
        </p:nvCxnSpPr>
        <p:spPr bwMode="auto">
          <a:xfrm rot="16200000" flipH="1">
            <a:off x="2806845" y="3793092"/>
            <a:ext cx="1156267" cy="76725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2" name="모서리가 둥근 직사각형 41"/>
          <p:cNvSpPr/>
          <p:nvPr/>
        </p:nvSpPr>
        <p:spPr bwMode="auto">
          <a:xfrm>
            <a:off x="3686845" y="4386129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3" name="Rectangle 883"/>
          <p:cNvSpPr>
            <a:spLocks noChangeArrowheads="1"/>
          </p:cNvSpPr>
          <p:nvPr/>
        </p:nvSpPr>
        <p:spPr bwMode="auto">
          <a:xfrm>
            <a:off x="7677051" y="2150097"/>
            <a:ext cx="973023" cy="142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923" b="1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923" b="1" dirty="0">
                <a:solidFill>
                  <a:srgbClr val="FF0000"/>
                </a:solidFill>
                <a:latin typeface="+mn-ea"/>
              </a:rPr>
              <a:t>(07:00) Go Live</a:t>
            </a:r>
            <a:endParaRPr lang="ko-KR" altLang="en-US" sz="923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Rectangle 935"/>
          <p:cNvSpPr>
            <a:spLocks noChangeArrowheads="1"/>
          </p:cNvSpPr>
          <p:nvPr/>
        </p:nvSpPr>
        <p:spPr bwMode="auto">
          <a:xfrm>
            <a:off x="5645340" y="6015504"/>
            <a:ext cx="1081400" cy="38936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47" tIns="35974" rIns="71947" bIns="35974" anchor="ctr"/>
          <a:lstStyle/>
          <a:p>
            <a:pPr latinLnBrk="0"/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정상 이관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  <a:p>
            <a:pPr latinLnBrk="0"/>
            <a:r>
              <a:rPr lang="en-US" altLang="ko-KR" sz="738" dirty="0">
                <a:solidFill>
                  <a:srgbClr val="000000"/>
                </a:solidFill>
                <a:latin typeface="+mn-ea"/>
              </a:rPr>
              <a:t>TI-Gate </a:t>
            </a:r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연계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  <a:p>
            <a:pPr latinLnBrk="0"/>
            <a:r>
              <a:rPr lang="en-US" altLang="ko-KR" sz="738" dirty="0">
                <a:solidFill>
                  <a:srgbClr val="000000"/>
                </a:solidFill>
                <a:latin typeface="+mn-ea"/>
              </a:rPr>
              <a:t>.</a:t>
            </a:r>
            <a:r>
              <a:rPr lang="ko-KR" altLang="en-US" sz="738" dirty="0">
                <a:solidFill>
                  <a:srgbClr val="000000"/>
                </a:solidFill>
                <a:latin typeface="+mn-ea"/>
              </a:rPr>
              <a:t>프로그램 점검</a:t>
            </a:r>
            <a:endParaRPr lang="en-US" altLang="ko-KR" sz="738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5671956" y="5888450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6" name="포인트가 5개인 별 45"/>
          <p:cNvSpPr/>
          <p:nvPr/>
        </p:nvSpPr>
        <p:spPr bwMode="auto">
          <a:xfrm>
            <a:off x="5845117" y="5864462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7645578" y="4019952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5223622" y="2277840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49" name="직사각형 48"/>
          <p:cNvSpPr/>
          <p:nvPr/>
        </p:nvSpPr>
        <p:spPr bwMode="auto">
          <a:xfrm>
            <a:off x="6056389" y="4469232"/>
            <a:ext cx="754496" cy="35272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데이터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Upload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및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Conversion</a:t>
            </a: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재고 데이터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트랜잭션 데이터</a:t>
            </a:r>
          </a:p>
        </p:txBody>
      </p:sp>
      <p:sp>
        <p:nvSpPr>
          <p:cNvPr id="50" name="타원 49"/>
          <p:cNvSpPr/>
          <p:nvPr/>
        </p:nvSpPr>
        <p:spPr bwMode="auto">
          <a:xfrm>
            <a:off x="5976780" y="4446185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1" name="Rectangle 883"/>
          <p:cNvSpPr>
            <a:spLocks noChangeArrowheads="1"/>
          </p:cNvSpPr>
          <p:nvPr/>
        </p:nvSpPr>
        <p:spPr bwMode="auto">
          <a:xfrm>
            <a:off x="6700796" y="2359408"/>
            <a:ext cx="1147750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▼</a:t>
            </a:r>
            <a:r>
              <a:rPr lang="en-US" altLang="ko-KR" sz="738" dirty="0">
                <a:solidFill>
                  <a:srgbClr val="FF0000"/>
                </a:solidFill>
                <a:latin typeface="+mn-ea"/>
              </a:rPr>
              <a:t>(20:00)ERP </a:t>
            </a:r>
            <a:r>
              <a:rPr lang="ko-KR" altLang="en-US" sz="738" dirty="0">
                <a:solidFill>
                  <a:srgbClr val="FF0000"/>
                </a:solidFill>
                <a:latin typeface="+mn-ea"/>
              </a:rPr>
              <a:t>재고등록완료</a:t>
            </a:r>
          </a:p>
        </p:txBody>
      </p:sp>
      <p:sp>
        <p:nvSpPr>
          <p:cNvPr id="52" name="Rectangle 883"/>
          <p:cNvSpPr>
            <a:spLocks noChangeArrowheads="1"/>
          </p:cNvSpPr>
          <p:nvPr/>
        </p:nvSpPr>
        <p:spPr bwMode="auto">
          <a:xfrm>
            <a:off x="5581210" y="5237054"/>
            <a:ext cx="1679947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▼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(09:00)OPC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→新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MES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운영</a:t>
            </a:r>
            <a:r>
              <a:rPr lang="en-US" altLang="ko-KR" sz="738" b="1" dirty="0">
                <a:solidFill>
                  <a:srgbClr val="0000FF"/>
                </a:solidFill>
                <a:latin typeface="+mn-ea"/>
              </a:rPr>
              <a:t>DB</a:t>
            </a:r>
            <a:r>
              <a:rPr lang="ko-KR" altLang="en-US" sz="738" b="1" dirty="0">
                <a:solidFill>
                  <a:srgbClr val="0000FF"/>
                </a:solidFill>
                <a:latin typeface="+mn-ea"/>
              </a:rPr>
              <a:t>연계시점</a:t>
            </a:r>
          </a:p>
        </p:txBody>
      </p:sp>
      <p:sp>
        <p:nvSpPr>
          <p:cNvPr id="53" name="타원 52"/>
          <p:cNvSpPr/>
          <p:nvPr/>
        </p:nvSpPr>
        <p:spPr bwMode="auto">
          <a:xfrm>
            <a:off x="6064889" y="5910503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7641746" y="4861768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5186110" y="4650234"/>
            <a:ext cx="675232" cy="4789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462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교체 작업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OI / PDA</a:t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프로그램 등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56" name="모서리가 둥근 직사각형 55"/>
          <p:cNvSpPr/>
          <p:nvPr/>
        </p:nvSpPr>
        <p:spPr bwMode="auto">
          <a:xfrm>
            <a:off x="5147208" y="4550253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sp>
        <p:nvSpPr>
          <p:cNvPr id="57" name="Text Box 234"/>
          <p:cNvSpPr txBox="1">
            <a:spLocks noChangeArrowheads="1"/>
          </p:cNvSpPr>
          <p:nvPr/>
        </p:nvSpPr>
        <p:spPr bwMode="auto">
          <a:xfrm>
            <a:off x="5374248" y="3130716"/>
            <a:ext cx="1492287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▼07:00 8</a:t>
            </a:r>
            <a:r>
              <a:rPr lang="ko-KR" altLang="en-US" sz="738" b="1" dirty="0">
                <a:latin typeface="+mj-lt"/>
              </a:rPr>
              <a:t>月 생산</a:t>
            </a:r>
            <a:r>
              <a:rPr lang="en-US" altLang="ko-KR" sz="738" b="1" dirty="0">
                <a:latin typeface="+mj-lt"/>
              </a:rPr>
              <a:t>/</a:t>
            </a:r>
            <a:r>
              <a:rPr lang="ko-KR" altLang="en-US" sz="738" b="1" dirty="0">
                <a:latin typeface="+mj-lt"/>
              </a:rPr>
              <a:t>판정 마감</a:t>
            </a:r>
            <a:r>
              <a:rPr lang="en-US" altLang="ko-KR" sz="738" b="1" dirty="0">
                <a:latin typeface="+mj-lt"/>
              </a:rPr>
              <a:t>(MES)</a:t>
            </a:r>
          </a:p>
        </p:txBody>
      </p:sp>
      <p:sp>
        <p:nvSpPr>
          <p:cNvPr id="58" name="Text Box 234"/>
          <p:cNvSpPr txBox="1">
            <a:spLocks noChangeArrowheads="1"/>
          </p:cNvSpPr>
          <p:nvPr/>
        </p:nvSpPr>
        <p:spPr bwMode="auto">
          <a:xfrm>
            <a:off x="5912322" y="3292509"/>
            <a:ext cx="2640037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▼13:00 8</a:t>
            </a:r>
            <a:r>
              <a:rPr lang="ko-KR" altLang="en-US" sz="738" b="1" dirty="0">
                <a:latin typeface="+mj-lt"/>
              </a:rPr>
              <a:t>月 생산 </a:t>
            </a:r>
            <a:r>
              <a:rPr lang="en-US" altLang="ko-KR" sz="738" b="1" dirty="0">
                <a:latin typeface="+mj-lt"/>
              </a:rPr>
              <a:t>(</a:t>
            </a:r>
            <a:r>
              <a:rPr lang="ko-KR" altLang="en-US" sz="738" b="1" dirty="0">
                <a:latin typeface="+mj-lt"/>
              </a:rPr>
              <a:t>반</a:t>
            </a:r>
            <a:r>
              <a:rPr lang="en-US" altLang="ko-KR" sz="738" b="1" dirty="0">
                <a:latin typeface="+mj-lt"/>
              </a:rPr>
              <a:t>)</a:t>
            </a:r>
            <a:r>
              <a:rPr lang="ko-KR" altLang="en-US" sz="738" b="1" dirty="0">
                <a:latin typeface="+mj-lt"/>
              </a:rPr>
              <a:t>제품입고</a:t>
            </a:r>
            <a:r>
              <a:rPr lang="en-US" altLang="ko-KR" sz="738" b="1" dirty="0">
                <a:latin typeface="+mj-lt"/>
              </a:rPr>
              <a:t>/</a:t>
            </a:r>
            <a:r>
              <a:rPr lang="ko-KR" altLang="en-US" sz="738" b="1" dirty="0">
                <a:latin typeface="+mj-lt"/>
              </a:rPr>
              <a:t>원료출고 물동마감</a:t>
            </a:r>
            <a:r>
              <a:rPr lang="en-US" altLang="ko-KR" sz="738" b="1" dirty="0">
                <a:latin typeface="+mj-lt"/>
              </a:rPr>
              <a:t>(MES,ERP)</a:t>
            </a:r>
          </a:p>
        </p:txBody>
      </p:sp>
      <p:sp>
        <p:nvSpPr>
          <p:cNvPr id="59" name="Text Box 236"/>
          <p:cNvSpPr txBox="1">
            <a:spLocks noChangeArrowheads="1"/>
          </p:cNvSpPr>
          <p:nvPr/>
        </p:nvSpPr>
        <p:spPr bwMode="auto">
          <a:xfrm>
            <a:off x="5908347" y="3594394"/>
            <a:ext cx="1105964" cy="13614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>
              <a:lnSpc>
                <a:spcPts val="831"/>
              </a:lnSpc>
            </a:pPr>
            <a:r>
              <a:rPr lang="en-US" altLang="ko-KR" sz="738" b="1" dirty="0">
                <a:latin typeface="+mj-lt"/>
              </a:rPr>
              <a:t>▼13:00 MES</a:t>
            </a:r>
            <a:r>
              <a:rPr lang="ko-KR" altLang="en-US" sz="738" b="1" dirty="0">
                <a:latin typeface="+mj-lt"/>
              </a:rPr>
              <a:t>서비스 중단</a:t>
            </a:r>
            <a:endParaRPr lang="en-US" altLang="ko-KR" sz="738" b="1" dirty="0">
              <a:latin typeface="+mj-lt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6726740" y="4860604"/>
            <a:ext cx="511890" cy="237104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데이터 이관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최종 점검</a:t>
            </a:r>
          </a:p>
        </p:txBody>
      </p:sp>
      <p:sp>
        <p:nvSpPr>
          <p:cNvPr id="61" name="타원 60"/>
          <p:cNvSpPr/>
          <p:nvPr/>
        </p:nvSpPr>
        <p:spPr bwMode="auto">
          <a:xfrm>
            <a:off x="6556837" y="4886308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2" name="포인트가 5개인 별 61"/>
          <p:cNvSpPr/>
          <p:nvPr/>
        </p:nvSpPr>
        <p:spPr bwMode="auto">
          <a:xfrm>
            <a:off x="6542189" y="5009488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3" name="Text Box 234"/>
          <p:cNvSpPr txBox="1">
            <a:spLocks noChangeArrowheads="1"/>
          </p:cNvSpPr>
          <p:nvPr/>
        </p:nvSpPr>
        <p:spPr bwMode="auto">
          <a:xfrm>
            <a:off x="1585946" y="2174192"/>
            <a:ext cx="1679839" cy="147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pPr algn="l">
              <a:buNone/>
            </a:pPr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▼09.01 </a:t>
            </a:r>
            <a:r>
              <a:rPr lang="ko-KR" altLang="en-US" sz="738" b="1" dirty="0">
                <a:solidFill>
                  <a:srgbClr val="0000CC"/>
                </a:solidFill>
                <a:latin typeface="+mj-lt"/>
              </a:rPr>
              <a:t>新</a:t>
            </a:r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MES </a:t>
            </a:r>
            <a:r>
              <a:rPr lang="ko-KR" altLang="en-US" sz="738" b="1" dirty="0">
                <a:solidFill>
                  <a:srgbClr val="0000CC"/>
                </a:solidFill>
                <a:latin typeface="+mj-lt"/>
              </a:rPr>
              <a:t>일반 사용자 접속 차단</a:t>
            </a:r>
            <a:endParaRPr lang="en-US" altLang="ko-KR" sz="738" b="1" dirty="0">
              <a:solidFill>
                <a:srgbClr val="0000CC"/>
              </a:solidFill>
              <a:latin typeface="+mj-lt"/>
            </a:endParaRPr>
          </a:p>
        </p:txBody>
      </p:sp>
      <p:sp>
        <p:nvSpPr>
          <p:cNvPr id="64" name="Rectangle 883"/>
          <p:cNvSpPr>
            <a:spLocks noChangeArrowheads="1"/>
          </p:cNvSpPr>
          <p:nvPr/>
        </p:nvSpPr>
        <p:spPr bwMode="auto">
          <a:xfrm>
            <a:off x="5388049" y="3460115"/>
            <a:ext cx="2390078" cy="113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latinLnBrk="0">
              <a:lnSpc>
                <a:spcPct val="100000"/>
              </a:lnSpc>
            </a:pPr>
            <a:r>
              <a:rPr lang="ko-KR" altLang="en-US" sz="738" b="1" dirty="0">
                <a:latin typeface="+mn-ea"/>
              </a:rPr>
              <a:t>▼</a:t>
            </a:r>
            <a:r>
              <a:rPr lang="en-US" altLang="ko-KR" sz="738" b="1" dirty="0">
                <a:latin typeface="+mn-ea"/>
              </a:rPr>
              <a:t>(07:00)</a:t>
            </a:r>
            <a:r>
              <a:rPr lang="ko-KR" altLang="en-US" sz="738" b="1" dirty="0">
                <a:latin typeface="+mn-ea"/>
              </a:rPr>
              <a:t>舊 </a:t>
            </a:r>
            <a:r>
              <a:rPr lang="en-US" altLang="ko-KR" sz="738" b="1" dirty="0">
                <a:latin typeface="+mn-ea"/>
              </a:rPr>
              <a:t>MES UI </a:t>
            </a:r>
            <a:r>
              <a:rPr lang="ko-KR" altLang="en-US" sz="738" b="1" dirty="0">
                <a:latin typeface="+mn-ea"/>
              </a:rPr>
              <a:t>일반사용자 차단 </a:t>
            </a:r>
            <a:r>
              <a:rPr lang="en-US" altLang="ko-KR" sz="738" b="1" dirty="0">
                <a:latin typeface="+mn-ea"/>
              </a:rPr>
              <a:t>PDA Service </a:t>
            </a:r>
            <a:r>
              <a:rPr lang="ko-KR" altLang="en-US" sz="738" b="1" dirty="0">
                <a:latin typeface="+mn-ea"/>
              </a:rPr>
              <a:t>중단</a:t>
            </a:r>
          </a:p>
        </p:txBody>
      </p:sp>
      <p:sp>
        <p:nvSpPr>
          <p:cNvPr id="65" name="직사각형 64"/>
          <p:cNvSpPr/>
          <p:nvPr/>
        </p:nvSpPr>
        <p:spPr bwMode="auto">
          <a:xfrm>
            <a:off x="3615065" y="2182263"/>
            <a:ext cx="1051026" cy="2243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新주간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계획수립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09.04 07:00 ~ 09.05 07:00)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6" name="모서리가 둥근 직사각형 65"/>
          <p:cNvSpPr/>
          <p:nvPr/>
        </p:nvSpPr>
        <p:spPr bwMode="auto">
          <a:xfrm>
            <a:off x="3589811" y="2156364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G</a:t>
            </a:r>
            <a:endParaRPr kumimoji="1" lang="ko-KR" altLang="en-US" sz="83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7" name="Text Box 234"/>
          <p:cNvSpPr txBox="1">
            <a:spLocks noChangeArrowheads="1"/>
          </p:cNvSpPr>
          <p:nvPr/>
        </p:nvSpPr>
        <p:spPr bwMode="auto">
          <a:xfrm>
            <a:off x="5853375" y="5344257"/>
            <a:ext cx="1293515" cy="147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16615" tIns="16615" rIns="16615" bIns="16615" anchor="t" anchorCtr="0">
            <a:spAutoFit/>
          </a:bodyPr>
          <a:lstStyle/>
          <a:p>
            <a:r>
              <a:rPr lang="en-US" altLang="ko-KR" sz="738" b="1" dirty="0">
                <a:solidFill>
                  <a:srgbClr val="0000CC"/>
                </a:solidFill>
                <a:latin typeface="+mj-lt"/>
              </a:rPr>
              <a:t>▼</a:t>
            </a:r>
            <a:r>
              <a:rPr lang="en-US" altLang="ko-KR" sz="738" b="1" dirty="0">
                <a:solidFill>
                  <a:srgbClr val="0000CC"/>
                </a:solidFill>
              </a:rPr>
              <a:t> 14:00 </a:t>
            </a:r>
            <a:r>
              <a:rPr lang="ko-KR" altLang="en-US" sz="738" b="1" dirty="0">
                <a:solidFill>
                  <a:srgbClr val="0000CC"/>
                </a:solidFill>
              </a:rPr>
              <a:t>新</a:t>
            </a:r>
            <a:r>
              <a:rPr lang="en-US" altLang="ko-KR" sz="738" b="1" dirty="0">
                <a:solidFill>
                  <a:srgbClr val="0000CC"/>
                </a:solidFill>
              </a:rPr>
              <a:t>MES-FA( I/F </a:t>
            </a:r>
            <a:r>
              <a:rPr lang="ko-KR" altLang="en-US" sz="738" b="1" dirty="0" err="1">
                <a:solidFill>
                  <a:srgbClr val="0000CC"/>
                </a:solidFill>
              </a:rPr>
              <a:t>절체</a:t>
            </a:r>
            <a:endParaRPr lang="en-US" altLang="ko-KR" sz="738" b="1" dirty="0">
              <a:solidFill>
                <a:srgbClr val="0000CC"/>
              </a:solidFill>
              <a:latin typeface="+mj-lt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637339" y="4469232"/>
            <a:ext cx="1886300" cy="352728"/>
          </a:xfrm>
          <a:prstGeom prst="rect">
            <a:avLst/>
          </a:prstGeom>
          <a:solidFill>
            <a:srgbClr val="CCECFF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데이터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Upload </a:t>
            </a: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및 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  <a:p>
            <a:pPr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    Conversion</a:t>
            </a:r>
          </a:p>
          <a:p>
            <a:pPr marL="158265" indent="-158265" defTabSz="844083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기준정보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 </a:t>
            </a:r>
            <a:endParaRPr kumimoji="1" lang="ko-KR" altLang="en-US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9" name="타원 68"/>
          <p:cNvSpPr/>
          <p:nvPr/>
        </p:nvSpPr>
        <p:spPr bwMode="auto">
          <a:xfrm>
            <a:off x="557731" y="4446185"/>
            <a:ext cx="166154" cy="147937"/>
          </a:xfrm>
          <a:prstGeom prst="ellipse">
            <a:avLst/>
          </a:prstGeom>
          <a:solidFill>
            <a:srgbClr val="0000FF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S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0" name="포인트가 5개인 별 69"/>
          <p:cNvSpPr/>
          <p:nvPr/>
        </p:nvSpPr>
        <p:spPr bwMode="auto">
          <a:xfrm>
            <a:off x="4641955" y="5085694"/>
            <a:ext cx="208097" cy="192265"/>
          </a:xfrm>
          <a:prstGeom prst="star5">
            <a:avLst/>
          </a:prstGeom>
          <a:solidFill>
            <a:srgbClr val="FF0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P</a:t>
            </a:r>
            <a:endParaRPr kumimoji="1" lang="ko-KR" altLang="en-US" sz="1015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1" name="직사각형 70"/>
          <p:cNvSpPr/>
          <p:nvPr/>
        </p:nvSpPr>
        <p:spPr bwMode="auto">
          <a:xfrm>
            <a:off x="2296665" y="4920593"/>
            <a:ext cx="675232" cy="54474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6615" tIns="16615" rIns="16615" bIns="16615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sym typeface="Wingdings" pitchFamily="2" charset="2"/>
              </a:rPr>
              <a:t>新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sym typeface="Wingdings" pitchFamily="2" charset="2"/>
              </a:rPr>
              <a:t>MES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OI / PDA</a:t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프로그램 </a:t>
            </a:r>
            <a: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/>
            </a:r>
            <a:br>
              <a:rPr kumimoji="1" lang="en-US" altLang="ko-KR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</a:br>
            <a:r>
              <a:rPr kumimoji="1" lang="ko-KR" altLang="en-US" sz="738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설치 확인</a:t>
            </a:r>
            <a:endParaRPr kumimoji="1" lang="en-US" altLang="ko-KR" sz="738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2257763" y="4818177"/>
            <a:ext cx="163527" cy="147937"/>
          </a:xfrm>
          <a:prstGeom prst="roundRect">
            <a:avLst/>
          </a:prstGeom>
          <a:solidFill>
            <a:srgbClr val="FFFF99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844083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rPr>
              <a:t>제</a:t>
            </a:r>
          </a:p>
        </p:txBody>
      </p:sp>
      <p:grpSp>
        <p:nvGrpSpPr>
          <p:cNvPr id="74" name="그룹 73"/>
          <p:cNvGrpSpPr/>
          <p:nvPr/>
        </p:nvGrpSpPr>
        <p:grpSpPr>
          <a:xfrm>
            <a:off x="7146890" y="113926"/>
            <a:ext cx="2477353" cy="798561"/>
            <a:chOff x="6943303" y="270364"/>
            <a:chExt cx="2683799" cy="925974"/>
          </a:xfrm>
        </p:grpSpPr>
        <p:sp>
          <p:nvSpPr>
            <p:cNvPr id="75" name="직사각형 74"/>
            <p:cNvSpPr/>
            <p:nvPr/>
          </p:nvSpPr>
          <p:spPr bwMode="auto">
            <a:xfrm>
              <a:off x="6943303" y="296200"/>
              <a:ext cx="2540209" cy="85802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84406" tIns="42203" rIns="84406" bIns="42203" numCol="1" rtlCol="0" anchor="t" anchorCtr="0" compatLnSpc="1">
              <a:prstTxWarp prst="textNoShape">
                <a:avLst/>
              </a:prstTxWarp>
            </a:bodyPr>
            <a:lstStyle/>
            <a:p>
              <a:pPr defTabSz="844083" fontAlgn="base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1015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76" name="Rectangle 935"/>
            <p:cNvSpPr>
              <a:spLocks noChangeArrowheads="1"/>
            </p:cNvSpPr>
            <p:nvPr/>
          </p:nvSpPr>
          <p:spPr bwMode="auto">
            <a:xfrm>
              <a:off x="7105563" y="521977"/>
              <a:ext cx="339637" cy="1440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7" name="Rectangle 935"/>
            <p:cNvSpPr>
              <a:spLocks noChangeArrowheads="1"/>
            </p:cNvSpPr>
            <p:nvPr/>
          </p:nvSpPr>
          <p:spPr bwMode="auto">
            <a:xfrm>
              <a:off x="7105563" y="727183"/>
              <a:ext cx="339637" cy="14400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8" name="Rectangle 935"/>
            <p:cNvSpPr>
              <a:spLocks noChangeArrowheads="1"/>
            </p:cNvSpPr>
            <p:nvPr/>
          </p:nvSpPr>
          <p:spPr bwMode="auto">
            <a:xfrm>
              <a:off x="7105563" y="932389"/>
              <a:ext cx="339637" cy="144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947" tIns="35974" rIns="71947" bIns="35974" anchor="ctr"/>
            <a:lstStyle/>
            <a:p>
              <a:pPr latinLnBrk="0"/>
              <a:endParaRPr lang="en-US" altLang="ko-KR" sz="738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9" name="Rectangle 883"/>
            <p:cNvSpPr>
              <a:spLocks noChangeArrowheads="1"/>
            </p:cNvSpPr>
            <p:nvPr/>
          </p:nvSpPr>
          <p:spPr bwMode="auto">
            <a:xfrm>
              <a:off x="7484112" y="437994"/>
              <a:ext cx="1008045" cy="716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舊 시스템 대상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新 시스템 대상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5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현장 </a:t>
              </a: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Activity</a:t>
              </a:r>
              <a:endParaRPr lang="ko-KR" altLang="en-US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0" name="Rectangle 883"/>
            <p:cNvSpPr>
              <a:spLocks noChangeArrowheads="1"/>
            </p:cNvSpPr>
            <p:nvPr/>
          </p:nvSpPr>
          <p:spPr bwMode="auto">
            <a:xfrm>
              <a:off x="6943303" y="270364"/>
              <a:ext cx="1008045" cy="231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범례 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1. </a:t>
              </a: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작업구분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1" name="Rectangle 883"/>
            <p:cNvSpPr>
              <a:spLocks noChangeArrowheads="1"/>
            </p:cNvSpPr>
            <p:nvPr/>
          </p:nvSpPr>
          <p:spPr bwMode="auto">
            <a:xfrm>
              <a:off x="8619057" y="438474"/>
              <a:ext cx="1008045" cy="757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2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생산관리</a:t>
              </a: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제조 현업수행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PU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  <a:p>
              <a:pPr latinLnBrk="0">
                <a:lnSpc>
                  <a:spcPct val="120000"/>
                </a:lnSpc>
              </a:pPr>
              <a:r>
                <a:rPr lang="en-US" altLang="ko-KR" sz="831" dirty="0">
                  <a:solidFill>
                    <a:srgbClr val="000000"/>
                  </a:solidFill>
                  <a:latin typeface="+mn-ea"/>
                </a:rPr>
                <a:t>SI </a:t>
              </a:r>
              <a:r>
                <a:rPr lang="ko-KR" altLang="en-US" sz="831" dirty="0">
                  <a:solidFill>
                    <a:srgbClr val="000000"/>
                  </a:solidFill>
                  <a:latin typeface="+mn-ea"/>
                </a:rPr>
                <a:t>수행</a:t>
              </a:r>
              <a:endParaRPr lang="en-US" altLang="ko-KR" sz="831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82" name="포인트가 5개인 별 81"/>
            <p:cNvSpPr/>
            <p:nvPr/>
          </p:nvSpPr>
          <p:spPr bwMode="auto">
            <a:xfrm>
              <a:off x="8447114" y="816979"/>
              <a:ext cx="144000" cy="144000"/>
            </a:xfrm>
            <a:prstGeom prst="star5">
              <a:avLst/>
            </a:prstGeom>
            <a:solidFill>
              <a:srgbClr val="FF000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15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P</a:t>
              </a:r>
              <a:endParaRPr kumimoji="1" lang="ko-KR" altLang="en-US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83" name="모서리가 둥근 직사각형 82"/>
            <p:cNvSpPr/>
            <p:nvPr/>
          </p:nvSpPr>
          <p:spPr bwMode="auto">
            <a:xfrm>
              <a:off x="8447114" y="653594"/>
              <a:ext cx="144000" cy="144000"/>
            </a:xfrm>
            <a:prstGeom prst="roundRect">
              <a:avLst/>
            </a:prstGeom>
            <a:solidFill>
              <a:srgbClr val="FFFF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83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제</a:t>
              </a:r>
            </a:p>
          </p:txBody>
        </p:sp>
        <p:sp>
          <p:nvSpPr>
            <p:cNvPr id="84" name="타원 83"/>
            <p:cNvSpPr/>
            <p:nvPr/>
          </p:nvSpPr>
          <p:spPr bwMode="auto">
            <a:xfrm>
              <a:off x="8447114" y="980363"/>
              <a:ext cx="144000" cy="144000"/>
            </a:xfrm>
            <a:prstGeom prst="ellipse">
              <a:avLst/>
            </a:prstGeom>
            <a:solidFill>
              <a:srgbClr val="0000FF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015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S</a:t>
              </a:r>
              <a:endParaRPr kumimoji="1" lang="ko-KR" altLang="en-US" sz="1015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  <p:sp>
          <p:nvSpPr>
            <p:cNvPr id="85" name="Rectangle 883"/>
            <p:cNvSpPr>
              <a:spLocks noChangeArrowheads="1"/>
            </p:cNvSpPr>
            <p:nvPr/>
          </p:nvSpPr>
          <p:spPr bwMode="auto">
            <a:xfrm>
              <a:off x="8359767" y="274624"/>
              <a:ext cx="1008045" cy="231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28326" tIns="28326" rIns="28326" bIns="56652" anchor="ctr">
              <a:spAutoFit/>
            </a:bodyPr>
            <a:lstStyle/>
            <a:p>
              <a:pPr latinLnBrk="0">
                <a:lnSpc>
                  <a:spcPct val="100000"/>
                </a:lnSpc>
              </a:pP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범례 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2. </a:t>
              </a:r>
              <a:r>
                <a:rPr lang="ko-KR" altLang="en-US" sz="831" b="1" dirty="0">
                  <a:solidFill>
                    <a:srgbClr val="000000"/>
                  </a:solidFill>
                  <a:latin typeface="+mn-ea"/>
                </a:rPr>
                <a:t>수행구분</a:t>
              </a:r>
              <a:r>
                <a:rPr lang="en-US" altLang="ko-KR" sz="831" b="1" dirty="0">
                  <a:solidFill>
                    <a:srgbClr val="000000"/>
                  </a:solidFill>
                  <a:latin typeface="+mn-ea"/>
                </a:rPr>
                <a:t> 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 bwMode="auto">
            <a:xfrm>
              <a:off x="8447114" y="490209"/>
              <a:ext cx="144000" cy="144000"/>
            </a:xfrm>
            <a:prstGeom prst="roundRect">
              <a:avLst/>
            </a:prstGeom>
            <a:solidFill>
              <a:srgbClr val="FFFF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4083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831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sym typeface="Wingdings" pitchFamily="2" charset="2"/>
                </a:rPr>
                <a:t>G</a:t>
              </a:r>
              <a:endParaRPr kumimoji="1" lang="ko-KR" altLang="en-US" sz="83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itchFamily="2" charset="2"/>
              </a:endParaRPr>
            </a:p>
          </p:txBody>
        </p:sp>
      </p:grpSp>
      <p:sp>
        <p:nvSpPr>
          <p:cNvPr id="3" name="직사각형 2"/>
          <p:cNvSpPr/>
          <p:nvPr/>
        </p:nvSpPr>
        <p:spPr>
          <a:xfrm rot="20513433">
            <a:off x="-2527140" y="1378685"/>
            <a:ext cx="37779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수정필요</a:t>
            </a:r>
            <a:endParaRPr lang="en-US" altLang="ko-KR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048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3.3 Cut-Over </a:t>
            </a:r>
            <a:r>
              <a:rPr lang="ko-KR" altLang="en-US" dirty="0" smtClean="0"/>
              <a:t>관련 선결 사항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50451"/>
              </p:ext>
            </p:extLst>
          </p:nvPr>
        </p:nvGraphicFramePr>
        <p:xfrm>
          <a:off x="467029" y="1546766"/>
          <a:ext cx="9007710" cy="4317342"/>
        </p:xfrm>
        <a:graphic>
          <a:graphicData uri="http://schemas.openxmlformats.org/drawingml/2006/table">
            <a:tbl>
              <a:tblPr firstRow="1" bandRow="1"/>
              <a:tblGrid>
                <a:gridCol w="2001712">
                  <a:extLst>
                    <a:ext uri="{9D8B030D-6E8A-4147-A177-3AD203B41FA5}">
                      <a16:colId xmlns:a16="http://schemas.microsoft.com/office/drawing/2014/main" val="2187892180"/>
                    </a:ext>
                  </a:extLst>
                </a:gridCol>
                <a:gridCol w="714542">
                  <a:extLst>
                    <a:ext uri="{9D8B030D-6E8A-4147-A177-3AD203B41FA5}">
                      <a16:colId xmlns:a16="http://schemas.microsoft.com/office/drawing/2014/main" val="1985797070"/>
                    </a:ext>
                  </a:extLst>
                </a:gridCol>
                <a:gridCol w="693953">
                  <a:extLst>
                    <a:ext uri="{9D8B030D-6E8A-4147-A177-3AD203B41FA5}">
                      <a16:colId xmlns:a16="http://schemas.microsoft.com/office/drawing/2014/main" val="1074000237"/>
                    </a:ext>
                  </a:extLst>
                </a:gridCol>
                <a:gridCol w="1263800">
                  <a:extLst>
                    <a:ext uri="{9D8B030D-6E8A-4147-A177-3AD203B41FA5}">
                      <a16:colId xmlns:a16="http://schemas.microsoft.com/office/drawing/2014/main" val="1081480415"/>
                    </a:ext>
                  </a:extLst>
                </a:gridCol>
                <a:gridCol w="3408980">
                  <a:extLst>
                    <a:ext uri="{9D8B030D-6E8A-4147-A177-3AD203B41FA5}">
                      <a16:colId xmlns:a16="http://schemas.microsoft.com/office/drawing/2014/main" val="2851307732"/>
                    </a:ext>
                  </a:extLst>
                </a:gridCol>
                <a:gridCol w="924723">
                  <a:extLst>
                    <a:ext uri="{9D8B030D-6E8A-4147-A177-3AD203B41FA5}">
                      <a16:colId xmlns:a16="http://schemas.microsoft.com/office/drawing/2014/main" val="3476289980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선결사항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Cut-over</a:t>
                      </a:r>
                      <a:r>
                        <a:rPr lang="en-US" altLang="ko-KR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세부 일정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4408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중점 점검사항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완료여부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일시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Activity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담당자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lt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33231" marT="66462" marB="66462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5539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100" b="1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NexPlant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CE 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서버구성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완료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~08.14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Application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서버 점검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(DB,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어플리케이션서버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887023"/>
                  </a:ext>
                </a:extLst>
              </a:tr>
              <a:tr h="1171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현장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인프라 점검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~08.25</a:t>
                      </a:r>
                      <a:endParaRPr lang="ko-KR" altLang="en-US" sz="11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고정식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웨어러블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BCR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인식률 재고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latinLnBrk="1">
                        <a:buFontTx/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PDA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및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OI PC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정상 작동 확인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웝포자재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 위치 라벨부착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529307"/>
                  </a:ext>
                </a:extLst>
              </a:tr>
              <a:tr h="25475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기준정보 변경 내용 확정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08.25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14:00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buFontTx/>
                        <a:buNone/>
                      </a:pP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기준성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정보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Table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등록완료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제품 코드 및 추가속성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배합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BOM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코드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Location/BIN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코드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 기준 정보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49527"/>
                  </a:ext>
                </a:extLst>
              </a:tr>
              <a:tr h="16301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이관 리허설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08.25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09:00 ~ 18:00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이관 최종 리허설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Import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신규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Schema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적용 및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데이터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Conversion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algn="ctr" defTabSz="914400" rtl="0" eaLnBrk="1" latinLnBrk="1" hangingPunct="1">
                        <a:buFontTx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93282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 재고 조사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itchFamily="34" charset="0"/>
                        </a:rPr>
                        <a:t>예정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12:00 ~ 15:00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 원부자재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반제품 재고 조사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b="1" dirty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63832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원부자재 이동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09.01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19:00 ~ 24:00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09.04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생산을 위한 안전 재고 이동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원료창고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공정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1520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라벨 재발행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00:00 ~ 07:00</a:t>
                      </a: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제품에 대해서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재발행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미부착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 자재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  <a:cs typeface="Arial" pitchFamily="34" charset="0"/>
                        </a:rPr>
                        <a:t>)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52042"/>
                  </a:ext>
                </a:extLst>
              </a:tr>
              <a:tr h="1171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작업조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스케줄 확정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09.04 07:00 Go live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시점의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작업장별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작업조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선정 및 사전교육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31743"/>
                  </a:ext>
                </a:extLst>
              </a:tr>
              <a:tr h="11714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>
                        <a:spcAft>
                          <a:spcPts val="4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품질검사 미완료 처리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Arial" pitchFamily="34" charset="0"/>
                        </a:rPr>
                        <a:t>예정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 typeface="Wingdings" pitchFamily="2" charset="2"/>
                        <a:buNone/>
                      </a:pP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09.02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0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0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품질검사가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09.03 0700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까지 완료 되지 않는 </a:t>
                      </a: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</a:b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판정대기품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Arial" pitchFamily="34" charset="0"/>
                        </a:rPr>
                        <a:t> 처리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buFontTx/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Arial" pitchFamily="34" charset="0"/>
                      </a:endParaRPr>
                    </a:p>
                  </a:txBody>
                  <a:tcPr marL="33231" marR="84406" marT="42203" marB="42203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A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122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245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.1 </a:t>
            </a:r>
            <a:r>
              <a:rPr lang="ko-KR" altLang="en-US" dirty="0" smtClean="0"/>
              <a:t>상황실 운영 원칙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1"/>
          <p:cNvSpPr txBox="1">
            <a:spLocks/>
          </p:cNvSpPr>
          <p:nvPr/>
        </p:nvSpPr>
        <p:spPr>
          <a:xfrm>
            <a:off x="633045" y="1546367"/>
            <a:ext cx="8639908" cy="7674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44083" rtl="0" eaLnBrk="1" latinLnBrk="0" hangingPunct="1">
              <a:spcBef>
                <a:spcPct val="20000"/>
              </a:spcBef>
              <a:buFont typeface="Arial" pitchFamily="34" charset="0"/>
              <a:buNone/>
              <a:defRPr sz="1477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2204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66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83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24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65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207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48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89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3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776" marR="0" lvl="0" indent="-263776" algn="l" defTabSz="8440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비상 상황실 구성</a:t>
            </a:r>
            <a:endParaRPr kumimoji="0" lang="en-US" altLang="ko-KR" sz="1477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근무 장소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1" lang="ko-KR" altLang="en-US" sz="1292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대상웰라이프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공장 </a:t>
            </a:r>
            <a:r>
              <a:rPr kumimoji="1" lang="ko-KR" altLang="en-US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대회의실</a:t>
            </a:r>
            <a:r>
              <a:rPr kumimoji="1" lang="en-US" altLang="ko-KR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kumimoji="1" lang="ko-KR" altLang="en-US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프로젝트 </a:t>
            </a:r>
            <a:r>
              <a:rPr kumimoji="1" lang="en-US" altLang="ko-KR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Room, </a:t>
            </a:r>
            <a:r>
              <a:rPr kumimoji="1" lang="ko-KR" altLang="en-US" sz="1292" b="1" kern="0" dirty="0" smtClean="0">
                <a:solidFill>
                  <a:srgbClr val="000000"/>
                </a:solidFill>
                <a:latin typeface="맑은 고딕"/>
                <a:ea typeface="맑은 고딕"/>
              </a:rPr>
              <a:t>각 공장 생산관리실</a:t>
            </a:r>
            <a:endParaRPr kumimoji="1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조직 구성 </a:t>
            </a:r>
            <a:endParaRPr kumimoji="1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751762" marR="0" lvl="2" indent="0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상황실장 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차장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▶ 현장 기동대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과장 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en-US" altLang="ko-KR" sz="1292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</a:t>
            </a: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수석컨설턴트</a:t>
            </a:r>
          </a:p>
          <a:p>
            <a:pPr marL="751762" marR="0" lvl="2" indent="0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ko-KR" altLang="en-US" sz="1477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92177"/>
              </p:ext>
            </p:extLst>
          </p:nvPr>
        </p:nvGraphicFramePr>
        <p:xfrm>
          <a:off x="1015513" y="2632112"/>
          <a:ext cx="7261712" cy="3501982"/>
        </p:xfrm>
        <a:graphic>
          <a:graphicData uri="http://schemas.openxmlformats.org/drawingml/2006/table">
            <a:tbl>
              <a:tblPr/>
              <a:tblGrid>
                <a:gridCol w="83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6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천안 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천안 야간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9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N/A</a:t>
                      </a:r>
                      <a:endParaRPr lang="ko-KR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OOO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6462" marR="33231" marT="8792" marB="996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015513" y="6286467"/>
            <a:ext cx="7794380" cy="262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※.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근무시간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: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주간 근무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07:30~21:00, 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야간근무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: 19:00~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익일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08:30  (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주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/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야 교대시간에는 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2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개 </a:t>
            </a:r>
            <a:r>
              <a:rPr kumimoji="1" lang="ko-KR" altLang="en-US" sz="1108" kern="0" dirty="0" err="1">
                <a:solidFill>
                  <a:srgbClr val="000000"/>
                </a:solidFill>
                <a:latin typeface="맑은 고딕"/>
              </a:rPr>
              <a:t>근무조</a:t>
            </a:r>
            <a:r>
              <a:rPr kumimoji="1" lang="ko-KR" altLang="en-US" sz="1108" kern="0" dirty="0">
                <a:solidFill>
                  <a:srgbClr val="000000"/>
                </a:solidFill>
                <a:latin typeface="맑은 고딕"/>
              </a:rPr>
              <a:t> 공동근무</a:t>
            </a:r>
            <a:r>
              <a:rPr kumimoji="1" lang="en-US" altLang="ko-KR" sz="1108" kern="0" dirty="0">
                <a:solidFill>
                  <a:srgbClr val="000000"/>
                </a:solidFill>
                <a:latin typeface="맑은 고딕"/>
              </a:rPr>
              <a:t>)</a:t>
            </a:r>
            <a:endParaRPr lang="ko-KR" altLang="en-US" sz="1108" dirty="0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49724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4.2 </a:t>
            </a:r>
            <a:r>
              <a:rPr lang="ko-KR" altLang="en-US" dirty="0" smtClean="0"/>
              <a:t>상황실 운영 계획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53265" y="3713105"/>
            <a:ext cx="1909497" cy="319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3776" marR="0" lvl="0" indent="-263776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회의체 운영 계획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07908"/>
              </p:ext>
            </p:extLst>
          </p:nvPr>
        </p:nvGraphicFramePr>
        <p:xfrm>
          <a:off x="836770" y="4062123"/>
          <a:ext cx="7976270" cy="2368062"/>
        </p:xfrm>
        <a:graphic>
          <a:graphicData uri="http://schemas.openxmlformats.org/drawingml/2006/table">
            <a:tbl>
              <a:tblPr firstRow="1" bandRow="1"/>
              <a:tblGrid>
                <a:gridCol w="1329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31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운영 시간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참석대상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운영 내용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0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 미팅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08:00 ~ 08:30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 모듈 파워유저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전일 야간 특이사항 공유 및 문제점 협의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당일 수행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계획 공유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8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일일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Wrap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매일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19:00 ~ 19:30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모듈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PU/IT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당일 수행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실적 공유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집계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미결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 항목 대책 협의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(Wrap Up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별도 회의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각 부문별 일일 실적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문제점 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17:30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분까지 보고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0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주간 회의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매주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08:30 ~ 09:30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PMO</a:t>
                      </a: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모듈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PU/IT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리더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주 단위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Activity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계획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실적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문제점 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현업 지원 사항 협의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8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비상 대책 회의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 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PMO</a:t>
                      </a: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상황실 근무자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발생업무 관련자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필요 시 현업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Conference Call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회의 수행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발생 내역 정리 보고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텍스트 개체 틀 1"/>
          <p:cNvSpPr txBox="1">
            <a:spLocks/>
          </p:cNvSpPr>
          <p:nvPr/>
        </p:nvSpPr>
        <p:spPr>
          <a:xfrm>
            <a:off x="633045" y="1580267"/>
            <a:ext cx="8639908" cy="7674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844083" rtl="0" eaLnBrk="1" latinLnBrk="0" hangingPunct="1">
              <a:spcBef>
                <a:spcPct val="20000"/>
              </a:spcBef>
              <a:buFont typeface="Arial" pitchFamily="34" charset="0"/>
              <a:buNone/>
              <a:defRPr sz="1477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2204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66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83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124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165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207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248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289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331" indent="0" algn="l" defTabSz="844083" rtl="0" eaLnBrk="1" latinLnBrk="1" hangingPunct="1">
              <a:spcBef>
                <a:spcPct val="20000"/>
              </a:spcBef>
              <a:buFont typeface="Arial" pitchFamily="34" charset="0"/>
              <a:buNone/>
              <a:defRPr sz="12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776" marR="0" lvl="0" indent="-263776" algn="l" defTabSz="84408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▣"/>
              <a:tabLst/>
              <a:defRPr/>
            </a:pPr>
            <a:r>
              <a:rPr kumimoji="0" lang="ko-KR" altLang="en-US" sz="1477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상황실 활동 내역</a:t>
            </a:r>
            <a:endParaRPr kumimoji="0" lang="en-US" altLang="ko-KR" sz="1477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활동 기간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’25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09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월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01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~ 09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월 </a:t>
            </a:r>
            <a:r>
              <a:rPr kumimoji="1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19</a:t>
            </a: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</a:p>
          <a:p>
            <a:pPr marL="411784" marR="0" lvl="1" indent="-171455" algn="l" defTabSz="844083" rtl="0" eaLnBrk="0" fontAlgn="base" latinLnBrk="1" hangingPunct="0">
              <a:lnSpc>
                <a:spcPct val="12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1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상황실 근무자 역할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Cutover Activity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점검 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진행 계획 대비 실적 관리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Master/Transaction Data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이관 계획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실적 관리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 가동 준비 현황 점검 및 구 시스템 중단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再가동 상황 모니터링 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중대 장애 발생시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비상대책회의 소집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주관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보고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先 보고 원칙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비상연락체계유지 및 관련부서 협조체제 유지 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지원</a:t>
            </a:r>
          </a:p>
          <a:p>
            <a:pPr marL="580307" marR="0" lvl="2" indent="-152404" algn="l" defTabSz="844083" rtl="0" eaLnBrk="0" fontAlgn="base" latinLnBrk="1" hangingPunct="0">
              <a:lnSpc>
                <a:spcPct val="100000"/>
              </a:lnSpc>
              <a:spcBef>
                <a:spcPts val="323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Open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후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일일 가동 현황 모니터링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사용자별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1" lang="ko-KR" altLang="en-US" sz="1108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접속현황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집계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문제점 조사</a:t>
            </a:r>
            <a:r>
              <a:rPr kumimoji="1" lang="en-US" altLang="ko-KR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1" lang="ko-KR" altLang="en-US" sz="1108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지원</a:t>
            </a:r>
            <a:endParaRPr kumimoji="0" lang="ko-KR" altLang="en-US" sz="1292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tint val="75000"/>
                </a:sys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266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4.3 Open</a:t>
            </a:r>
            <a:r>
              <a:rPr lang="ko-KR" altLang="en-US" dirty="0" smtClean="0"/>
              <a:t>후 장애 대응 방안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16777"/>
              </p:ext>
            </p:extLst>
          </p:nvPr>
        </p:nvGraphicFramePr>
        <p:xfrm>
          <a:off x="455454" y="1539217"/>
          <a:ext cx="8922010" cy="39443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3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2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9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64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예상 장애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Contingency Plan (</a:t>
                      </a: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대응방안</a:t>
                      </a:r>
                      <a:r>
                        <a:rPr kumimoji="1" lang="en-US" altLang="ko-KR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가능성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영향도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조치</a:t>
                      </a:r>
                      <a:b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>
                          <a:srgbClr val="0000FF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에 수신된 납품서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(BOX)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정보에 주요 정보가 누락된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MES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구매포탈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계확인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Middle</a:t>
                      </a:r>
                      <a:endParaRPr kumimoji="1" lang="ko-KR" altLang="en-US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생산실적이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에</a:t>
                      </a:r>
                      <a:r>
                        <a:rPr lang="ko-KR" alt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반영이 </a:t>
                      </a:r>
                      <a:r>
                        <a:rPr lang="ko-KR" altLang="en-US" sz="1000" u="none" strike="noStrike" baseline="0" dirty="0" err="1" smtClean="0">
                          <a:effectLst/>
                          <a:latin typeface="+mn-ea"/>
                          <a:ea typeface="+mn-ea"/>
                        </a:rPr>
                        <a:t>안되는</a:t>
                      </a:r>
                      <a:r>
                        <a:rPr lang="ko-KR" altLang="en-US" sz="1000" u="none" strike="noStrike" baseline="0" dirty="0" smtClean="0">
                          <a:effectLst/>
                          <a:latin typeface="+mn-ea"/>
                          <a:ea typeface="+mn-ea"/>
                        </a:rPr>
                        <a:t>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MES 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2. 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연계확인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Middle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1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자재이동실적이 </a:t>
                      </a:r>
                      <a:r>
                        <a:rPr lang="en-US" altLang="ko-KR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ERP </a:t>
                      </a:r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에 반영이 안 되는 경우</a:t>
                      </a:r>
                      <a:endParaRPr lang="en-US" altLang="ko-KR" sz="1000" b="0" i="0" u="none" strike="noStrike" baseline="0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Tx/>
                        <a:buChar char="-"/>
                      </a:pPr>
                      <a:r>
                        <a:rPr lang="ko-KR" altLang="en-US" sz="1000" b="0" i="0" u="none" strike="noStrike" baseline="0" dirty="0" smtClean="0">
                          <a:effectLst/>
                          <a:latin typeface="+mn-ea"/>
                          <a:ea typeface="+mn-ea"/>
                        </a:rPr>
                        <a:t>이동 실적 전송 및 처리 실패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MES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담당자 확인</a:t>
                      </a:r>
                      <a:b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2. ERP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연계확인 및 담당자 연락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Middle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9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1000" b="0" i="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마이그레이션이</a:t>
                      </a:r>
                      <a:r>
                        <a:rPr lang="ko-KR" altLang="en-US" sz="1000" b="0" i="0" u="none" strike="noStrike" dirty="0" smtClean="0">
                          <a:effectLst/>
                          <a:latin typeface="+mn-ea"/>
                          <a:ea typeface="+mn-ea"/>
                        </a:rPr>
                        <a:t> 안 되는 경우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해당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프로그램 실행 및 데이터 생성 확인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마이그레이션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프로그램 </a:t>
                      </a:r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오류시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 해당 프로그램 설계자에게 조치 요청</a:t>
                      </a:r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Low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High</a:t>
                      </a:r>
                    </a:p>
                  </a:txBody>
                  <a:tcPr marL="33231" marR="33231" marT="33231" marB="33231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33231" marB="33231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513149" y="5626896"/>
            <a:ext cx="9060736" cy="6037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831" dirty="0">
                <a:latin typeface="+mn-ea"/>
              </a:rPr>
              <a:t>※ </a:t>
            </a:r>
            <a:r>
              <a:rPr lang="ko-KR" altLang="en-US" sz="831" dirty="0">
                <a:latin typeface="+mn-ea"/>
              </a:rPr>
              <a:t>유형 </a:t>
            </a:r>
            <a:r>
              <a:rPr lang="en-US" altLang="ko-KR" sz="831" dirty="0">
                <a:latin typeface="+mn-ea"/>
              </a:rPr>
              <a:t>: (1. Business Process/</a:t>
            </a:r>
            <a:r>
              <a:rPr lang="en-US" altLang="ko-KR" sz="831" dirty="0" err="1">
                <a:latin typeface="+mn-ea"/>
              </a:rPr>
              <a:t>Funcation</a:t>
            </a:r>
            <a:r>
              <a:rPr lang="en-US" altLang="ko-KR" sz="831" dirty="0">
                <a:latin typeface="+mn-ea"/>
              </a:rPr>
              <a:t>, 2. Interface/Integration, 3. Data)</a:t>
            </a:r>
          </a:p>
          <a:p>
            <a:r>
              <a:rPr lang="en-US" altLang="ko-KR" sz="831" dirty="0">
                <a:latin typeface="+mn-ea"/>
              </a:rPr>
              <a:t>   </a:t>
            </a:r>
            <a:r>
              <a:rPr lang="ko-KR" altLang="en-US" sz="831" dirty="0">
                <a:latin typeface="+mn-ea"/>
              </a:rPr>
              <a:t>발생가능성</a:t>
            </a:r>
            <a:r>
              <a:rPr lang="en-US" altLang="ko-KR" sz="831" dirty="0">
                <a:latin typeface="+mn-ea"/>
              </a:rPr>
              <a:t>(High  : </a:t>
            </a:r>
            <a:r>
              <a:rPr lang="ko-KR" altLang="en-US" sz="831" dirty="0">
                <a:latin typeface="+mn-ea"/>
              </a:rPr>
              <a:t>발생 가능성 높음</a:t>
            </a:r>
            <a:r>
              <a:rPr lang="en-US" altLang="ko-KR" sz="831" dirty="0">
                <a:latin typeface="+mn-ea"/>
              </a:rPr>
              <a:t>, Middle :  </a:t>
            </a:r>
            <a:r>
              <a:rPr lang="ko-KR" altLang="en-US" sz="831" dirty="0">
                <a:latin typeface="+mn-ea"/>
              </a:rPr>
              <a:t>발생 가능성 중간</a:t>
            </a:r>
            <a:r>
              <a:rPr lang="en-US" altLang="ko-KR" sz="831" dirty="0">
                <a:latin typeface="+mn-ea"/>
              </a:rPr>
              <a:t>, Low  : </a:t>
            </a:r>
            <a:r>
              <a:rPr lang="ko-KR" altLang="en-US" sz="831" dirty="0">
                <a:latin typeface="+mn-ea"/>
              </a:rPr>
              <a:t>발생 가능성 낮음</a:t>
            </a:r>
            <a:r>
              <a:rPr lang="en-US" altLang="ko-KR" sz="831" dirty="0">
                <a:latin typeface="+mn-ea"/>
              </a:rPr>
              <a:t>)</a:t>
            </a:r>
          </a:p>
          <a:p>
            <a:r>
              <a:rPr lang="en-US" altLang="ko-KR" sz="831" dirty="0">
                <a:latin typeface="+mn-ea"/>
              </a:rPr>
              <a:t>   </a:t>
            </a:r>
            <a:r>
              <a:rPr lang="ko-KR" altLang="en-US" sz="831" dirty="0">
                <a:latin typeface="+mn-ea"/>
              </a:rPr>
              <a:t>영향도 </a:t>
            </a:r>
            <a:r>
              <a:rPr lang="en-US" altLang="ko-KR" sz="831" dirty="0">
                <a:latin typeface="+mn-ea"/>
              </a:rPr>
              <a:t>: (Critical : Open </a:t>
            </a:r>
            <a:r>
              <a:rPr lang="ko-KR" altLang="en-US" sz="831" dirty="0">
                <a:latin typeface="+mn-ea"/>
              </a:rPr>
              <a:t>연기 및 시스템 운영 중단</a:t>
            </a:r>
            <a:r>
              <a:rPr lang="en-US" altLang="ko-KR" sz="831" dirty="0">
                <a:latin typeface="+mn-ea"/>
              </a:rPr>
              <a:t>, High  : </a:t>
            </a:r>
            <a:r>
              <a:rPr lang="ko-KR" altLang="en-US" sz="831" dirty="0">
                <a:latin typeface="+mn-ea"/>
              </a:rPr>
              <a:t>여러 부문에 걸친 문제로 긴급 의사결정을 요함</a:t>
            </a:r>
            <a:r>
              <a:rPr lang="en-US" altLang="ko-KR" sz="831" dirty="0">
                <a:latin typeface="+mn-ea"/>
              </a:rPr>
              <a:t>, Middle  : </a:t>
            </a:r>
            <a:r>
              <a:rPr lang="ko-KR" altLang="en-US" sz="831" dirty="0">
                <a:latin typeface="+mn-ea"/>
              </a:rPr>
              <a:t>모둘 자체 문제로 </a:t>
            </a:r>
            <a:r>
              <a:rPr lang="ko-KR" altLang="en-US" sz="831" dirty="0" err="1">
                <a:latin typeface="+mn-ea"/>
              </a:rPr>
              <a:t>모듈내</a:t>
            </a:r>
            <a:r>
              <a:rPr lang="ko-KR" altLang="en-US" sz="831" dirty="0">
                <a:latin typeface="+mn-ea"/>
              </a:rPr>
              <a:t> 계획 </a:t>
            </a:r>
            <a:r>
              <a:rPr lang="ko-KR" altLang="en-US" sz="831" dirty="0" err="1">
                <a:latin typeface="+mn-ea"/>
              </a:rPr>
              <a:t>수립후</a:t>
            </a:r>
            <a:r>
              <a:rPr lang="ko-KR" altLang="en-US" sz="831" dirty="0">
                <a:latin typeface="+mn-ea"/>
              </a:rPr>
              <a:t> 대처함</a:t>
            </a:r>
            <a:r>
              <a:rPr lang="en-US" altLang="ko-KR" sz="831" dirty="0">
                <a:latin typeface="+mn-ea"/>
              </a:rPr>
              <a:t>,</a:t>
            </a:r>
          </a:p>
          <a:p>
            <a:r>
              <a:rPr lang="en-US" altLang="ko-KR" sz="831" dirty="0">
                <a:latin typeface="+mn-ea"/>
              </a:rPr>
              <a:t>                Low : </a:t>
            </a:r>
            <a:r>
              <a:rPr lang="ko-KR" altLang="en-US" sz="831" dirty="0">
                <a:latin typeface="+mn-ea"/>
              </a:rPr>
              <a:t>일상 에러 수준으로 단순 조치를 함</a:t>
            </a:r>
            <a:r>
              <a:rPr lang="en-US" altLang="ko-KR" sz="831" dirty="0">
                <a:latin typeface="+mn-ea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08929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28788</TotalTime>
  <Words>1970</Words>
  <Application>Microsoft Office PowerPoint</Application>
  <PresentationFormat>A4 용지(210x297mm)</PresentationFormat>
  <Paragraphs>515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KoPub돋움체 Medium</vt:lpstr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1.1 Cut-Over 정의 및 대상</vt:lpstr>
      <vt:lpstr>1.2 Cut-Over 수행 주체</vt:lpstr>
      <vt:lpstr>1.3 Cut-Over 수행 조직</vt:lpstr>
      <vt:lpstr>2.1 데이터 이관 대상 및 일정</vt:lpstr>
      <vt:lpstr>2.2 Data 이관 시 주요 점검 사항</vt:lpstr>
      <vt:lpstr>2.3 Open후 주요 점검 사항(1/2)</vt:lpstr>
      <vt:lpstr>2.3 Open후 주요 점검 사항(2/2)</vt:lpstr>
      <vt:lpstr>3.1 Cut-Over 주요 일정</vt:lpstr>
      <vt:lpstr>3.2 Cut-Over 상세 일정</vt:lpstr>
      <vt:lpstr>3.3 Cut-Over 관련 선결 사항</vt:lpstr>
      <vt:lpstr>4.1 상황실 운영 원칙</vt:lpstr>
      <vt:lpstr>4.2 상황실 운영 계획</vt:lpstr>
      <vt:lpstr>4.3 Open후 장애 대응 방안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1626</cp:revision>
  <cp:lastPrinted>2019-06-21T07:56:14Z</cp:lastPrinted>
  <dcterms:created xsi:type="dcterms:W3CDTF">2013-11-13T01:08:07Z</dcterms:created>
  <dcterms:modified xsi:type="dcterms:W3CDTF">2025-08-29T04:55:17Z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