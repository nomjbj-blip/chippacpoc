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21"/>
  </p:notesMasterIdLst>
  <p:handoutMasterIdLst>
    <p:handoutMasterId r:id="rId22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9" r:id="rId11"/>
    <p:sldId id="1180" r:id="rId12"/>
    <p:sldId id="1181" r:id="rId13"/>
    <p:sldId id="1178" r:id="rId14"/>
    <p:sldId id="1182" r:id="rId15"/>
    <p:sldId id="1186" r:id="rId16"/>
    <p:sldId id="1185" r:id="rId17"/>
    <p:sldId id="1184" r:id="rId18"/>
    <p:sldId id="1183" r:id="rId19"/>
    <p:sldId id="1160" r:id="rId20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118" d="100"/>
          <a:sy n="118" d="100"/>
        </p:scale>
        <p:origin x="106" y="970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>
          <a:xfrm>
            <a:off x="1079999" y="1952625"/>
            <a:ext cx="5411591" cy="1260351"/>
          </a:xfrm>
        </p:spPr>
        <p:txBody>
          <a:bodyPr/>
          <a:lstStyle/>
          <a:p>
            <a:r>
              <a:rPr lang="ko-KR" altLang="en-US" dirty="0" smtClean="0"/>
              <a:t>이행계획서</a:t>
            </a:r>
            <a:r>
              <a:rPr lang="en-US" altLang="ko-KR" dirty="0" smtClean="0"/>
              <a:t>(Cut-Over</a:t>
            </a:r>
            <a:r>
              <a:rPr lang="ko-KR" altLang="en-US" dirty="0" smtClean="0"/>
              <a:t>계획서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1. Cut-Over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2. </a:t>
            </a:r>
            <a:r>
              <a:rPr lang="ko-KR" altLang="en-US" dirty="0"/>
              <a:t>데이터 이관 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Cutover </a:t>
            </a:r>
            <a:r>
              <a:rPr lang="ko-KR" altLang="en-US" dirty="0"/>
              <a:t>일정 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상황실 운영 방안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Cut-Over </a:t>
            </a:r>
            <a:r>
              <a:rPr lang="ko-KR" altLang="en-US" dirty="0" smtClean="0"/>
              <a:t>정의 및 대상</a:t>
            </a:r>
            <a:endParaRPr lang="ko-KR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72585" y="1511454"/>
            <a:ext cx="9234487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Wingdings" panose="05000000000000000000" pitchFamily="2" charset="2"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정의</a:t>
            </a:r>
          </a:p>
          <a:p>
            <a:pPr indent="-161925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시스템의 안정적 운영 시작을 위해 필요한 일련의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Activity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상세히 정의하고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Activity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담당자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선후관계 정의 및  실행 일정 계획을 수립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시행 함</a:t>
            </a: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사업장</a:t>
            </a:r>
          </a:p>
          <a:p>
            <a:pPr indent="-161925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계양전기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전장사업부 천안 공장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계양전기 전장사업부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안산공장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kumimoji="0"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defTabSz="914400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tabLst/>
            </a:pPr>
            <a:r>
              <a:rPr kumimoji="0"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kumimoji="0"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kumimoji="0"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 시스템</a:t>
            </a:r>
          </a:p>
          <a:p>
            <a:pPr indent="-161925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계양전기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전장사업부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스마트공장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MES, FMB(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현황판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), EMI(</a:t>
            </a:r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레포트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en-US" altLang="ko-KR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TiGate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kumimoji="0"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Cut-Over </a:t>
            </a:r>
            <a:r>
              <a:rPr lang="ko-KR" altLang="en-US" dirty="0" smtClean="0"/>
              <a:t>수행 주체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32969" y="1480368"/>
            <a:ext cx="8524142" cy="451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r>
              <a:rPr lang="en-US" altLang="ko-KR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1477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lang="ko-KR" altLang="en-US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 주체</a:t>
            </a:r>
          </a:p>
          <a:p>
            <a:pPr indent="-14947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수행은  사업부 및 공장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주도하에 수행을 원칙으로 함 </a:t>
            </a: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endParaRPr lang="en-US" altLang="ko-KR" sz="1108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r>
              <a:rPr lang="en-US" altLang="ko-KR" sz="1477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</a:t>
            </a:r>
            <a:r>
              <a:rPr lang="ko-KR" altLang="en-US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중단 최소화</a:t>
            </a:r>
          </a:p>
          <a:p>
            <a:pPr indent="-14947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업무에 피해가 없도록 기존 시스템 중단 최소화를 원칙으로 함</a:t>
            </a: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endParaRPr kumimoji="0" lang="en-US" altLang="ko-KR" sz="1108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84408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tabLst/>
            </a:pPr>
            <a:r>
              <a:rPr kumimoji="0" lang="en-US" altLang="ko-KR" sz="1477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kumimoji="0" lang="en-US" altLang="ko-KR" sz="1477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477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kumimoji="0" lang="ko-KR" altLang="en-US" sz="1477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時 이관 대상 데이터의 최소화</a:t>
            </a:r>
          </a:p>
          <a:p>
            <a:pPr marL="316531" lvl="1" indent="-14947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Open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원칙</a:t>
            </a:r>
          </a:p>
          <a:p>
            <a:pPr marL="577376" lvl="2">
              <a:spcBef>
                <a:spcPts val="554"/>
              </a:spcBef>
              <a:tabLst>
                <a:tab pos="244726" algn="l"/>
                <a:tab pos="577376" algn="l"/>
              </a:tabLst>
            </a:pP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舊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MES(POP)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內 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Open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된 업무는 없는 상태로 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Migration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실시</a:t>
            </a:r>
            <a:endParaRPr lang="en-US" altLang="ko-KR" sz="1108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7376" lvl="2">
              <a:spcBef>
                <a:spcPts val="554"/>
              </a:spcBef>
              <a:tabLst>
                <a:tab pos="244726" algn="l"/>
                <a:tab pos="577376" algn="l"/>
              </a:tabLst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ERP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연계 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Open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된 업무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발주 等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ERP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기준으로 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Legacy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시스템에 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Migration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실시</a:t>
            </a:r>
            <a:endParaRPr lang="en-US" altLang="ko-KR" sz="1108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2">
              <a:spcBef>
                <a:spcPts val="554"/>
              </a:spcBef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데이터의 사전정비로 불필요한 이관 최소화</a:t>
            </a:r>
            <a:endParaRPr lang="en-US" altLang="ko-KR" sz="1108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554"/>
              </a:spcBef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History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원칙</a:t>
            </a:r>
          </a:p>
          <a:p>
            <a:pPr lvl="2">
              <a:spcBef>
                <a:spcPts val="554"/>
              </a:spcBef>
            </a:pP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스마트공장 구축 시스템은 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To-Be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체계로 舊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MES(POP)  History Data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기본적으로 이관하지 않는 것을 원칙으로 함</a:t>
            </a: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endParaRPr lang="en-US" altLang="ko-KR" sz="1108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Cut-Over </a:t>
            </a:r>
            <a:r>
              <a:rPr lang="ko-KR" altLang="en-US" dirty="0" smtClean="0"/>
              <a:t>수행 조직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4314471" y="6409860"/>
            <a:ext cx="662361" cy="207749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/>
          <a:p>
            <a:pPr algn="ctr" defTabSz="684610"/>
            <a:fld id="{D937E0E5-A56D-4372-A39D-FA63A08071CF}" type="slidenum">
              <a:rPr lang="en-US" altLang="ko-KR" sz="75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ctr" defTabSz="684610"/>
              <a:t>6</a:t>
            </a:fld>
            <a:r>
              <a:rPr lang="en-US" altLang="ko-KR" sz="7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ko-KR" altLang="en-US" sz="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전체페이지</a:t>
            </a:r>
            <a:endParaRPr lang="en-US" altLang="ko-KR" sz="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직선 연결선 43"/>
          <p:cNvCxnSpPr/>
          <p:nvPr/>
        </p:nvCxnSpPr>
        <p:spPr>
          <a:xfrm rot="16200000" flipH="1">
            <a:off x="5391124" y="2556178"/>
            <a:ext cx="398814" cy="1564350"/>
          </a:xfrm>
          <a:prstGeom prst="bentConnector3">
            <a:avLst>
              <a:gd name="adj1" fmla="val 50000"/>
            </a:avLst>
          </a:prstGeom>
          <a:ln w="9525">
            <a:solidFill>
              <a:srgbClr val="80808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>
            <a:endCxn id="10" idx="0"/>
          </p:cNvCxnSpPr>
          <p:nvPr/>
        </p:nvCxnSpPr>
        <p:spPr>
          <a:xfrm>
            <a:off x="4811287" y="1981447"/>
            <a:ext cx="940" cy="297317"/>
          </a:xfrm>
          <a:prstGeom prst="line">
            <a:avLst/>
          </a:prstGeom>
          <a:ln w="9525">
            <a:solidFill>
              <a:srgbClr val="80808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15"/>
          <p:cNvSpPr>
            <a:spLocks noChangeArrowheads="1"/>
          </p:cNvSpPr>
          <p:nvPr/>
        </p:nvSpPr>
        <p:spPr bwMode="gray">
          <a:xfrm>
            <a:off x="3719397" y="2278763"/>
            <a:ext cx="2177918" cy="922665"/>
          </a:xfrm>
          <a:prstGeom prst="rect">
            <a:avLst/>
          </a:prstGeom>
          <a:noFill/>
          <a:ln w="12700">
            <a:solidFill>
              <a:srgbClr val="009C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110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24207" y="2278763"/>
            <a:ext cx="2176038" cy="265846"/>
          </a:xfrm>
          <a:prstGeom prst="rect">
            <a:avLst/>
          </a:prstGeom>
          <a:solidFill>
            <a:srgbClr val="009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92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charset="-127"/>
              </a:rPr>
              <a:t>상황실 </a:t>
            </a:r>
            <a:endParaRPr lang="en-US" altLang="ko-KR" sz="1292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75143" y="2540725"/>
            <a:ext cx="1927355" cy="688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92" b="1" kern="0">
                <a:latin typeface="맑은 고딕" pitchFamily="50" charset="-127"/>
                <a:ea typeface="맑은 고딕" panose="020B0503020000020004" pitchFamily="50" charset="-127"/>
              </a:rPr>
              <a:t>OOO</a:t>
            </a:r>
            <a:r>
              <a:rPr lang="ko-KR" altLang="en-US" sz="1292" b="1" kern="0">
                <a:latin typeface="맑은 고딕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292" b="1" kern="0">
                <a:latin typeface="맑은 고딕" pitchFamily="50" charset="-127"/>
                <a:ea typeface="맑은 고딕" panose="020B0503020000020004" pitchFamily="50" charset="-127"/>
              </a:rPr>
              <a:t>OOO</a:t>
            </a:r>
            <a:r>
              <a:rPr lang="ko-KR" altLang="en-US" sz="1292" b="1" kern="0">
                <a:latin typeface="맑은 고딕" pitchFamily="50" charset="-127"/>
                <a:ea typeface="맑은 고딕" panose="020B0503020000020004" pitchFamily="50" charset="-127"/>
              </a:rPr>
              <a:t> 차장</a:t>
            </a:r>
            <a:endParaRPr lang="en-US" altLang="ko-KR" sz="1292" b="1" kern="0">
              <a:latin typeface="맑은 고딕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92" b="1" kern="0">
                <a:latin typeface="맑은 고딕" pitchFamily="50" charset="-127"/>
                <a:ea typeface="맑은 고딕" panose="020B0503020000020004" pitchFamily="50" charset="-127"/>
              </a:rPr>
              <a:t>OOO  OOO </a:t>
            </a:r>
            <a:r>
              <a:rPr lang="ko-KR" altLang="en-US" sz="1292" b="1" kern="0" dirty="0">
                <a:latin typeface="맑은 고딕" pitchFamily="50" charset="-127"/>
                <a:ea typeface="맑은 고딕" panose="020B0503020000020004" pitchFamily="50" charset="-127"/>
              </a:rPr>
              <a:t>수석</a:t>
            </a:r>
            <a:endParaRPr lang="en-US" altLang="ko-KR" sz="1292" b="1" kern="0" dirty="0">
              <a:latin typeface="맑은 고딕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92" b="1" kern="0">
                <a:latin typeface="맑은 고딕" pitchFamily="50" charset="-127"/>
              </a:rPr>
              <a:t>OOO</a:t>
            </a:r>
            <a:r>
              <a:rPr lang="ko-KR" altLang="en-US" sz="1292" b="1" kern="0">
                <a:latin typeface="맑은 고딕" pitchFamily="50" charset="-127"/>
              </a:rPr>
              <a:t>  </a:t>
            </a:r>
            <a:r>
              <a:rPr lang="en-US" altLang="ko-KR" sz="1292" b="1" kern="0">
                <a:latin typeface="맑은 고딕" pitchFamily="50" charset="-127"/>
              </a:rPr>
              <a:t>OOO</a:t>
            </a:r>
            <a:r>
              <a:rPr lang="ko-KR" altLang="en-US" sz="1292" b="1" kern="0">
                <a:latin typeface="맑은 고딕" pitchFamily="50" charset="-127"/>
              </a:rPr>
              <a:t> </a:t>
            </a:r>
            <a:r>
              <a:rPr lang="ko-KR" altLang="en-US" sz="1292" b="1" kern="0" dirty="0">
                <a:latin typeface="맑은 고딕" pitchFamily="50" charset="-127"/>
              </a:rPr>
              <a:t>과장</a:t>
            </a:r>
          </a:p>
        </p:txBody>
      </p:sp>
      <p:cxnSp>
        <p:nvCxnSpPr>
          <p:cNvPr id="12" name="꺾인 연결선 11"/>
          <p:cNvCxnSpPr/>
          <p:nvPr/>
        </p:nvCxnSpPr>
        <p:spPr>
          <a:xfrm rot="5400000">
            <a:off x="3792984" y="2522387"/>
            <a:ext cx="398814" cy="1631930"/>
          </a:xfrm>
          <a:prstGeom prst="bentConnector3">
            <a:avLst/>
          </a:prstGeom>
          <a:ln w="9525">
            <a:solidFill>
              <a:srgbClr val="80808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3719396" y="1559158"/>
            <a:ext cx="2180849" cy="625609"/>
            <a:chOff x="3767865" y="1880828"/>
            <a:chExt cx="2362586" cy="677743"/>
          </a:xfrm>
        </p:grpSpPr>
        <p:sp>
          <p:nvSpPr>
            <p:cNvPr id="14" name="AutoShape 15"/>
            <p:cNvSpPr>
              <a:spLocks noChangeArrowheads="1"/>
            </p:cNvSpPr>
            <p:nvPr/>
          </p:nvSpPr>
          <p:spPr bwMode="gray">
            <a:xfrm>
              <a:off x="3771040" y="1880828"/>
              <a:ext cx="2359411" cy="288000"/>
            </a:xfrm>
            <a:prstGeom prst="rect">
              <a:avLst/>
            </a:prstGeom>
            <a:solidFill>
              <a:srgbClr val="014DA2"/>
            </a:solidFill>
            <a:ln>
              <a:noFill/>
            </a:ln>
          </p:spPr>
          <p:txBody>
            <a:bodyPr vert="horz" wrap="square" lIns="33231" tIns="33231" rIns="33231" bIns="33231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1292" b="1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굴림" charset="-127"/>
                </a:rPr>
                <a:t> Project Owner</a:t>
              </a:r>
            </a:p>
          </p:txBody>
        </p:sp>
        <p:sp>
          <p:nvSpPr>
            <p:cNvPr id="15" name="AutoShape 15"/>
            <p:cNvSpPr>
              <a:spLocks noChangeArrowheads="1"/>
            </p:cNvSpPr>
            <p:nvPr/>
          </p:nvSpPr>
          <p:spPr bwMode="gray">
            <a:xfrm>
              <a:off x="3771040" y="1881188"/>
              <a:ext cx="2359411" cy="677383"/>
            </a:xfrm>
            <a:prstGeom prst="rect">
              <a:avLst/>
            </a:prstGeom>
            <a:noFill/>
            <a:ln w="12700">
              <a:solidFill>
                <a:srgbClr val="014D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108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굴림" charset="-127"/>
                </a:rPr>
                <a:t> </a:t>
              </a:r>
              <a:endParaRPr kumimoji="1" lang="en-US" altLang="ko-KR" sz="1108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굴림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767865" y="2221124"/>
              <a:ext cx="2359411" cy="315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92" b="1" kern="0">
                  <a:latin typeface="맑은 고딕" pitchFamily="50" charset="-127"/>
                </a:rPr>
                <a:t>OOO</a:t>
              </a:r>
              <a:r>
                <a:rPr lang="ko-KR" altLang="en-US" sz="1292" b="1" kern="0">
                  <a:latin typeface="맑은 고딕" pitchFamily="50" charset="-127"/>
                </a:rPr>
                <a:t> </a:t>
              </a:r>
              <a:r>
                <a:rPr lang="ko-KR" altLang="en-US" sz="1292" b="1" kern="0" dirty="0">
                  <a:latin typeface="맑은 고딕" pitchFamily="50" charset="-127"/>
                </a:rPr>
                <a:t>이사</a:t>
              </a:r>
              <a:r>
                <a:rPr lang="en-US" altLang="ko-KR" sz="1292" b="1" kern="0" dirty="0">
                  <a:latin typeface="맑은 고딕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92" b="1" kern="0" dirty="0">
                  <a:latin typeface="맑은 고딕" pitchFamily="50" charset="-127"/>
                  <a:ea typeface="맑은 고딕" panose="020B0503020000020004" pitchFamily="50" charset="-127"/>
                </a:rPr>
                <a:t>천안공장장</a:t>
              </a:r>
              <a:r>
                <a:rPr lang="en-US" altLang="ko-KR" sz="1292" b="1" kern="0" dirty="0">
                  <a:latin typeface="맑은 고딕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92" b="1" kern="0" dirty="0">
                <a:latin typeface="맑은 고딕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 159"/>
          <p:cNvCxnSpPr/>
          <p:nvPr/>
        </p:nvCxnSpPr>
        <p:spPr bwMode="auto">
          <a:xfrm rot="5400000" flipH="1">
            <a:off x="6373754" y="1606781"/>
            <a:ext cx="1532" cy="3132329"/>
          </a:xfrm>
          <a:prstGeom prst="bentConnector3">
            <a:avLst>
              <a:gd name="adj1" fmla="val -6885542"/>
            </a:avLst>
          </a:prstGeom>
          <a:ln w="9525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 bwMode="gray">
          <a:xfrm>
            <a:off x="1547877" y="3774385"/>
            <a:ext cx="2691692" cy="42238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66462" tIns="0" rIns="66462" bIns="0" anchor="ctr">
            <a:noAutofit/>
          </a:bodyPr>
          <a:lstStyle/>
          <a:p>
            <a:pPr marL="82064" indent="-82064" latinLnBrk="0">
              <a:spcBef>
                <a:spcPct val="10000"/>
              </a:spcBef>
              <a:buFontTx/>
              <a:buChar char="•"/>
            </a:pP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사용자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현장포함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교육 및 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Cutover 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수행</a:t>
            </a:r>
          </a:p>
        </p:txBody>
      </p:sp>
      <p:sp>
        <p:nvSpPr>
          <p:cNvPr id="19" name="직사각형 18"/>
          <p:cNvSpPr/>
          <p:nvPr/>
        </p:nvSpPr>
        <p:spPr bwMode="gray">
          <a:xfrm>
            <a:off x="5769262" y="3774387"/>
            <a:ext cx="2592288" cy="48490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66462" tIns="0" rIns="66462" bIns="0" anchor="ctr">
            <a:noAutofit/>
          </a:bodyPr>
          <a:lstStyle/>
          <a:p>
            <a:pPr marL="82064" indent="-82064" latinLnBrk="0">
              <a:spcBef>
                <a:spcPct val="10000"/>
              </a:spcBef>
              <a:buFontTx/>
              <a:buChar char="•"/>
            </a:pP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Cutover 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수행 및 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Data 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점검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긴급패치</a:t>
            </a:r>
          </a:p>
        </p:txBody>
      </p:sp>
      <p:sp>
        <p:nvSpPr>
          <p:cNvPr id="20" name="Rectangle 69"/>
          <p:cNvSpPr>
            <a:spLocks noChangeArrowheads="1"/>
          </p:cNvSpPr>
          <p:nvPr/>
        </p:nvSpPr>
        <p:spPr bwMode="auto">
          <a:xfrm>
            <a:off x="1547877" y="3438055"/>
            <a:ext cx="2691692" cy="332308"/>
          </a:xfrm>
          <a:prstGeom prst="rect">
            <a:avLst/>
          </a:prstGeom>
          <a:solidFill>
            <a:srgbClr val="009CE1"/>
          </a:solidFill>
          <a:ln>
            <a:solidFill>
              <a:schemeClr val="accent3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92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OOO</a:t>
            </a:r>
            <a:r>
              <a:rPr lang="ko-KR" altLang="en-US" sz="1292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 </a:t>
            </a:r>
            <a:r>
              <a:rPr lang="ko-KR" altLang="en-US" sz="1292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현업 </a:t>
            </a:r>
            <a:r>
              <a:rPr lang="en-US" altLang="ko-KR" sz="1292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TF</a:t>
            </a:r>
            <a:endParaRPr lang="ko-KR" altLang="en-US" sz="1292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굴림" charset="-127"/>
              <a:sym typeface="Wingdings" pitchFamily="2" charset="2"/>
            </a:endParaRPr>
          </a:p>
        </p:txBody>
      </p:sp>
      <p:sp>
        <p:nvSpPr>
          <p:cNvPr id="21" name="Rectangle 69"/>
          <p:cNvSpPr>
            <a:spLocks noChangeArrowheads="1"/>
          </p:cNvSpPr>
          <p:nvPr/>
        </p:nvSpPr>
        <p:spPr bwMode="auto">
          <a:xfrm>
            <a:off x="5769262" y="3438055"/>
            <a:ext cx="2592288" cy="332308"/>
          </a:xfrm>
          <a:prstGeom prst="rect">
            <a:avLst/>
          </a:prstGeom>
          <a:solidFill>
            <a:srgbClr val="009CE1"/>
          </a:solidFill>
          <a:ln>
            <a:solidFill>
              <a:schemeClr val="accent3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92" b="1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OOO</a:t>
            </a:r>
            <a:r>
              <a:rPr lang="ko-KR" altLang="en-US" sz="1292" b="1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수행팀</a:t>
            </a:r>
            <a:endParaRPr lang="ko-KR" altLang="en-US" sz="1292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굴림" charset="-127"/>
              <a:sym typeface="Wingdings" pitchFamily="2" charset="2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638708"/>
              </p:ext>
            </p:extLst>
          </p:nvPr>
        </p:nvGraphicFramePr>
        <p:xfrm>
          <a:off x="684918" y="4340989"/>
          <a:ext cx="2359120" cy="1858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646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담당자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100" b="1" i="0" u="none" strike="noStrike" dirty="0" smtClean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43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생산관리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과장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06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경영정보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646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차장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과장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646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생산기술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646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915604"/>
              </p:ext>
            </p:extLst>
          </p:nvPr>
        </p:nvGraphicFramePr>
        <p:xfrm>
          <a:off x="5769263" y="4340987"/>
          <a:ext cx="3090805" cy="1858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2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548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 업무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548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ko-KR" altLang="en-US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부문 </a:t>
                      </a:r>
                      <a:r>
                        <a:rPr lang="en-US" altLang="ko-KR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  <a:endParaRPr lang="ko-KR" altLang="en-US" sz="1100" b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수석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48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r>
                        <a:rPr lang="en-US" altLang="ko-KR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수석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96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천안 상황실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책임</a:t>
                      </a: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OOO</a:t>
                      </a: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선임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사원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548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안산 상황실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수석</a:t>
                      </a: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OOO</a:t>
                      </a: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선임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548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대리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49661"/>
              </p:ext>
            </p:extLst>
          </p:nvPr>
        </p:nvGraphicFramePr>
        <p:xfrm>
          <a:off x="3111034" y="4340301"/>
          <a:ext cx="2359120" cy="18595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542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담당자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100" b="1" i="0" u="none" strike="noStrike" dirty="0" smtClean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42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설비보전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42">
                <a:tc rowSpan="3"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542"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90"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590"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안산공장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1100" b="0" i="0" u="none" strike="noStrike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en-US" altLang="ko-KR" dirty="0" smtClean="0"/>
              <a:t>.1 </a:t>
            </a:r>
            <a:r>
              <a:rPr lang="ko-KR" altLang="en-US" dirty="0" smtClean="0"/>
              <a:t>데이터 이관 대상 및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3582"/>
              </p:ext>
            </p:extLst>
          </p:nvPr>
        </p:nvGraphicFramePr>
        <p:xfrm>
          <a:off x="467029" y="1579190"/>
          <a:ext cx="8988255" cy="4750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392">
                  <a:extLst>
                    <a:ext uri="{9D8B030D-6E8A-4147-A177-3AD203B41FA5}">
                      <a16:colId xmlns:a16="http://schemas.microsoft.com/office/drawing/2014/main" val="1421701513"/>
                    </a:ext>
                  </a:extLst>
                </a:gridCol>
                <a:gridCol w="2208097">
                  <a:extLst>
                    <a:ext uri="{9D8B030D-6E8A-4147-A177-3AD203B41FA5}">
                      <a16:colId xmlns:a16="http://schemas.microsoft.com/office/drawing/2014/main" val="3353463436"/>
                    </a:ext>
                  </a:extLst>
                </a:gridCol>
                <a:gridCol w="2983912">
                  <a:extLst>
                    <a:ext uri="{9D8B030D-6E8A-4147-A177-3AD203B41FA5}">
                      <a16:colId xmlns:a16="http://schemas.microsoft.com/office/drawing/2014/main" val="534313941"/>
                    </a:ext>
                  </a:extLst>
                </a:gridCol>
                <a:gridCol w="928117">
                  <a:extLst>
                    <a:ext uri="{9D8B030D-6E8A-4147-A177-3AD203B41FA5}">
                      <a16:colId xmlns:a16="http://schemas.microsoft.com/office/drawing/2014/main" val="1375147342"/>
                    </a:ext>
                  </a:extLst>
                </a:gridCol>
                <a:gridCol w="928117">
                  <a:extLst>
                    <a:ext uri="{9D8B030D-6E8A-4147-A177-3AD203B41FA5}">
                      <a16:colId xmlns:a16="http://schemas.microsoft.com/office/drawing/2014/main" val="2470083304"/>
                    </a:ext>
                  </a:extLst>
                </a:gridCol>
                <a:gridCol w="815620">
                  <a:extLst>
                    <a:ext uri="{9D8B030D-6E8A-4147-A177-3AD203B41FA5}">
                      <a16:colId xmlns:a16="http://schemas.microsoft.com/office/drawing/2014/main" val="310404155"/>
                    </a:ext>
                  </a:extLst>
                </a:gridCol>
              </a:tblGrid>
              <a:tr h="4573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이관 대상 및 기준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이관절차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159323"/>
                  </a:ext>
                </a:extLst>
              </a:tr>
              <a:tr h="26106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Master Data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기준정보</a:t>
                      </a:r>
                      <a:r>
                        <a:rPr lang="en-US" altLang="ko-KR" sz="11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자재마스터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BOM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워크센터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라우팅</a:t>
                      </a:r>
                      <a:endParaRPr lang="ko-KR" altLang="en-US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생산버젼</a:t>
                      </a:r>
                      <a:endParaRPr lang="ko-KR" altLang="en-US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Vendor Master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Customer Master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거래처별품목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소스리스트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고객포장정보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설비마스터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설비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자재 마스터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ERP I/F (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실적 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물류 이동 등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후 시스템 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Shutdown 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기간 중 일괄 이관</a:t>
                      </a:r>
                      <a:endParaRPr lang="en-US" altLang="ko-KR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29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29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435477"/>
                  </a:ext>
                </a:extLst>
              </a:tr>
              <a:tr h="713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History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Data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비대상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29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420486"/>
                  </a:ext>
                </a:extLst>
              </a:tr>
              <a:tr h="9690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Transaction Data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Transaction 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 전체</a:t>
                      </a: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기준정보를 제외한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Update 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 일어나는 모든 데이터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ERP</a:t>
                      </a:r>
                      <a:r>
                        <a:rPr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I/F (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실적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물류 이동 등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후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테이블별로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新서버에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29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575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9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en-US" altLang="ko-KR" dirty="0" smtClean="0"/>
              <a:t>.2 Data </a:t>
            </a:r>
            <a:r>
              <a:rPr lang="ko-KR" altLang="en-US" dirty="0" smtClean="0"/>
              <a:t>이관 시 주요 점검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31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en-US" altLang="ko-KR" dirty="0" smtClean="0"/>
              <a:t>.3 </a:t>
            </a:r>
            <a:r>
              <a:rPr lang="en-US" altLang="ko-KR" dirty="0" smtClean="0"/>
              <a:t>Open</a:t>
            </a:r>
            <a:r>
              <a:rPr lang="ko-KR" altLang="en-US" dirty="0" smtClean="0"/>
              <a:t>후 주요 점검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497836"/>
              </p:ext>
            </p:extLst>
          </p:nvPr>
        </p:nvGraphicFramePr>
        <p:xfrm>
          <a:off x="499455" y="1618101"/>
          <a:ext cx="8884494" cy="4789186"/>
        </p:xfrm>
        <a:graphic>
          <a:graphicData uri="http://schemas.openxmlformats.org/drawingml/2006/table">
            <a:tbl>
              <a:tblPr/>
              <a:tblGrid>
                <a:gridCol w="1407079">
                  <a:extLst>
                    <a:ext uri="{9D8B030D-6E8A-4147-A177-3AD203B41FA5}">
                      <a16:colId xmlns:a16="http://schemas.microsoft.com/office/drawing/2014/main" val="1257912928"/>
                    </a:ext>
                  </a:extLst>
                </a:gridCol>
                <a:gridCol w="2953348">
                  <a:extLst>
                    <a:ext uri="{9D8B030D-6E8A-4147-A177-3AD203B41FA5}">
                      <a16:colId xmlns:a16="http://schemas.microsoft.com/office/drawing/2014/main" val="3748086529"/>
                    </a:ext>
                  </a:extLst>
                </a:gridCol>
                <a:gridCol w="2992058">
                  <a:extLst>
                    <a:ext uri="{9D8B030D-6E8A-4147-A177-3AD203B41FA5}">
                      <a16:colId xmlns:a16="http://schemas.microsoft.com/office/drawing/2014/main" val="1005499544"/>
                    </a:ext>
                  </a:extLst>
                </a:gridCol>
                <a:gridCol w="662180">
                  <a:extLst>
                    <a:ext uri="{9D8B030D-6E8A-4147-A177-3AD203B41FA5}">
                      <a16:colId xmlns:a16="http://schemas.microsoft.com/office/drawing/2014/main" val="2746186586"/>
                    </a:ext>
                  </a:extLst>
                </a:gridCol>
                <a:gridCol w="869829">
                  <a:extLst>
                    <a:ext uri="{9D8B030D-6E8A-4147-A177-3AD203B41FA5}">
                      <a16:colId xmlns:a16="http://schemas.microsoft.com/office/drawing/2014/main" val="2480931038"/>
                    </a:ext>
                  </a:extLst>
                </a:gridCol>
              </a:tblGrid>
              <a:tr h="3620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점검사항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점검대상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85079"/>
                  </a:ext>
                </a:extLst>
              </a:tr>
              <a:tr h="934429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영업출하지시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납품서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(BOX)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정보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확인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고객코드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입고창고 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점검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09.04 07:00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이후 다운로드 오더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453290"/>
                  </a:ext>
                </a:extLst>
              </a:tr>
              <a:tr h="865050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생산오더정보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itchFamily="2" charset="2"/>
                        </a:rPr>
                        <a:t>생산오더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itchFamily="2" charset="2"/>
                        </a:rPr>
                        <a:t> 정보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itchFamily="2" charset="2"/>
                        </a:rPr>
                        <a:t> ERP 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itchFamily="2" charset="2"/>
                        </a:rPr>
                        <a:t>반영 확인 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itchFamily="2" charset="2"/>
                        </a:rPr>
                        <a:t/>
                      </a:r>
                      <a:b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생산오더생성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작업지시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)</a:t>
                      </a:r>
                      <a:b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MES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주간생산계획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09.04 07:00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이후 생성 오더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03785"/>
                  </a:ext>
                </a:extLst>
              </a:tr>
              <a:tr h="934429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실적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Data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생산실적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ERP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반영 확인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 -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생산실적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생산출고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자재사용량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09.04 07:00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이후 투입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마감 오더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987598"/>
                  </a:ext>
                </a:extLst>
              </a:tr>
              <a:tr h="934429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물류 이동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Data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재고 이동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요청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ERP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전달 확인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  (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창고간이동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구매입고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기타 입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출고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사업장간 이동  정보 확인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09.04 07:00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이후 발생한 물류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464146"/>
                  </a:ext>
                </a:extLst>
              </a:tr>
              <a:tr h="379398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품질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Data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판정 결과 및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EDC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확인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09.04 07:00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이후 발생한 품질 검사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23165"/>
                  </a:ext>
                </a:extLst>
              </a:tr>
              <a:tr h="379398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설비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Data 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설비 가동 정보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 EDC Data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확인 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09.04 07:00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이후 발생한 설비 가동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504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00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Cut-Over </a:t>
            </a:r>
            <a:r>
              <a:rPr lang="ko-KR" altLang="en-US" dirty="0" smtClean="0"/>
              <a:t>주요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39179" y="1567870"/>
            <a:ext cx="8387130" cy="319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2017.09.03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07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재고 조사 및 이동 요청 완료 </a:t>
            </a: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2017.09.03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07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생산마감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재고 라벨 </a:t>
            </a:r>
            <a:r>
              <a:rPr lang="ko-KR" altLang="en-US" sz="1400" b="1" kern="0" dirty="0" err="1">
                <a:solidFill>
                  <a:srgbClr val="000000"/>
                </a:solidFill>
                <a:latin typeface="+mn-ea"/>
                <a:cs typeface="Arial" pitchFamily="34" charset="0"/>
              </a:rPr>
              <a:t>재발행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400" b="1" kern="0" dirty="0" err="1">
                <a:solidFill>
                  <a:srgbClr val="000000"/>
                </a:solidFill>
                <a:latin typeface="+mn-ea"/>
                <a:cs typeface="Arial" pitchFamily="34" charset="0"/>
              </a:rPr>
              <a:t>미부착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자재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및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부착</a:t>
            </a:r>
            <a:endParaRPr lang="ko-KR" altLang="en-US" sz="1400" b="1" kern="0" dirty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2017.09.03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07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~ 09.04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03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新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/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舊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MES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서비스 중단 </a:t>
            </a: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2017.09.04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03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데이터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400" b="1" kern="0" dirty="0" err="1">
                <a:solidFill>
                  <a:srgbClr val="000000"/>
                </a:solidFill>
                <a:latin typeface="+mn-ea"/>
                <a:cs typeface="Arial" pitchFamily="34" charset="0"/>
              </a:rPr>
              <a:t>운영성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기준정보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이력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트랜잭션 데이터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이관 완료</a:t>
            </a: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2017.09.04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06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데이터 및 연계 시스템 점검 완료</a:t>
            </a: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2017.09.04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06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오픈 데이터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(MES Down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기간 중 발생한 수불 데이터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) </a:t>
            </a:r>
            <a:r>
              <a:rPr lang="ko-KR" altLang="en-US" sz="1400" b="1" kern="0" dirty="0" err="1">
                <a:solidFill>
                  <a:srgbClr val="000000"/>
                </a:solidFill>
                <a:latin typeface="+mn-ea"/>
                <a:cs typeface="Arial" pitchFamily="34" charset="0"/>
              </a:rPr>
              <a:t>新시스템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적용 완료</a:t>
            </a: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2017.09.04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07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시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Go Live</a:t>
            </a:r>
          </a:p>
        </p:txBody>
      </p:sp>
    </p:spTree>
    <p:extLst>
      <p:ext uri="{BB962C8B-B14F-4D97-AF65-F5344CB8AC3E}">
        <p14:creationId xmlns:p14="http://schemas.microsoft.com/office/powerpoint/2010/main" val="377508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Cut-Over </a:t>
            </a:r>
            <a:r>
              <a:rPr lang="ko-KR" altLang="en-US" dirty="0" smtClean="0"/>
              <a:t>상세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23935"/>
              </p:ext>
            </p:extLst>
          </p:nvPr>
        </p:nvGraphicFramePr>
        <p:xfrm>
          <a:off x="528626" y="1536969"/>
          <a:ext cx="8708360" cy="4903919"/>
        </p:xfrm>
        <a:graphic>
          <a:graphicData uri="http://schemas.openxmlformats.org/drawingml/2006/table">
            <a:tbl>
              <a:tblPr/>
              <a:tblGrid>
                <a:gridCol w="1156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</a:tblGrid>
              <a:tr h="242197">
                <a:tc rowSpan="2" gridSpan="2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XX.02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XX.03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XX.04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20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   2  4  6  8 10 12 14 16 18 20 22 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</a:rPr>
                        <a:t> 2  4  6  8 10 12 14 16 18 20 22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</a:rPr>
                        <a:t>    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  2  4  6  8 10 12 14 16 18 20 22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700"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271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7531"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" name="직선 연결선 6"/>
          <p:cNvCxnSpPr/>
          <p:nvPr/>
        </p:nvCxnSpPr>
        <p:spPr bwMode="auto">
          <a:xfrm>
            <a:off x="7731779" y="2286391"/>
            <a:ext cx="0" cy="41119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직선 연결선 7"/>
          <p:cNvCxnSpPr/>
          <p:nvPr/>
        </p:nvCxnSpPr>
        <p:spPr bwMode="auto">
          <a:xfrm>
            <a:off x="5432336" y="2280702"/>
            <a:ext cx="0" cy="41119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83"/>
          <p:cNvSpPr>
            <a:spLocks noChangeArrowheads="1"/>
          </p:cNvSpPr>
          <p:nvPr/>
        </p:nvSpPr>
        <p:spPr bwMode="auto">
          <a:xfrm>
            <a:off x="5826453" y="2179077"/>
            <a:ext cx="763029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738" dirty="0">
                <a:solidFill>
                  <a:srgbClr val="FF0000"/>
                </a:solidFill>
                <a:latin typeface="+mn-ea"/>
              </a:rPr>
              <a:t>(12:00)</a:t>
            </a: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재고확정</a:t>
            </a:r>
          </a:p>
        </p:txBody>
      </p:sp>
      <p:sp>
        <p:nvSpPr>
          <p:cNvPr id="10" name="직사각형 9"/>
          <p:cNvSpPr/>
          <p:nvPr/>
        </p:nvSpPr>
        <p:spPr bwMode="auto">
          <a:xfrm>
            <a:off x="3768608" y="4507343"/>
            <a:ext cx="769805" cy="49502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현장창고 원부원료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/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반제품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라벨 </a:t>
            </a:r>
            <a:r>
              <a:rPr kumimoji="1" lang="ko-KR" altLang="en-US" sz="738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재발행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및 부착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kumimoji="1" lang="ko-KR" altLang="en-US" sz="738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미부착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자재 대상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572124" y="2293294"/>
            <a:ext cx="1030154" cy="443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계획수립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15:00</a:t>
            </a:r>
            <a:b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 ~09.03 07:00)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663561" y="4035339"/>
            <a:ext cx="1030154" cy="2243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09.02 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舊작지서 발행</a:t>
            </a:r>
          </a:p>
        </p:txBody>
      </p:sp>
      <p:cxnSp>
        <p:nvCxnSpPr>
          <p:cNvPr id="13" name="직선 화살표 연결선 149"/>
          <p:cNvCxnSpPr>
            <a:stCxn id="11" idx="2"/>
            <a:endCxn id="12" idx="0"/>
          </p:cNvCxnSpPr>
          <p:nvPr/>
        </p:nvCxnSpPr>
        <p:spPr bwMode="auto">
          <a:xfrm rot="16200000" flipH="1">
            <a:off x="483537" y="3340237"/>
            <a:ext cx="1298765" cy="9143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4" name="직사각형 13"/>
          <p:cNvSpPr/>
          <p:nvPr/>
        </p:nvSpPr>
        <p:spPr bwMode="auto">
          <a:xfrm>
            <a:off x="6870267" y="5125207"/>
            <a:ext cx="2357884" cy="173126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DB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6551743" y="5901500"/>
            <a:ext cx="2676408" cy="206833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TI-Gate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설비공정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Data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6551742" y="6229317"/>
            <a:ext cx="2676408" cy="163375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생산</a:t>
            </a:r>
          </a:p>
        </p:txBody>
      </p:sp>
      <p:cxnSp>
        <p:nvCxnSpPr>
          <p:cNvPr id="17" name="직선 화살표 연결선 16"/>
          <p:cNvCxnSpPr>
            <a:stCxn id="15" idx="0"/>
            <a:endCxn id="14" idx="2"/>
          </p:cNvCxnSpPr>
          <p:nvPr/>
        </p:nvCxnSpPr>
        <p:spPr bwMode="auto">
          <a:xfrm flipV="1">
            <a:off x="7889947" y="5298333"/>
            <a:ext cx="159262" cy="6031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" name="직선 화살표 연결선 17"/>
          <p:cNvCxnSpPr>
            <a:stCxn id="16" idx="0"/>
            <a:endCxn id="15" idx="2"/>
          </p:cNvCxnSpPr>
          <p:nvPr/>
        </p:nvCxnSpPr>
        <p:spPr bwMode="auto">
          <a:xfrm flipV="1">
            <a:off x="7889946" y="6108333"/>
            <a:ext cx="1" cy="1209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9" name="직사각형 18"/>
          <p:cNvSpPr/>
          <p:nvPr/>
        </p:nvSpPr>
        <p:spPr bwMode="auto">
          <a:xfrm>
            <a:off x="7731778" y="4697160"/>
            <a:ext cx="1515294" cy="280298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09.04 07:00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이후 생산 분 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ERP I/F(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실적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)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7724824" y="4046766"/>
            <a:ext cx="1541006" cy="28576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09.04 07:00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이후 생산품 품질판정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528163" y="5635989"/>
            <a:ext cx="4902829" cy="160221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DB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528163" y="5934873"/>
            <a:ext cx="4902829" cy="160221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Proface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설비공정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Data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528164" y="6253769"/>
            <a:ext cx="4890933" cy="150470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생산</a:t>
            </a:r>
          </a:p>
        </p:txBody>
      </p:sp>
      <p:cxnSp>
        <p:nvCxnSpPr>
          <p:cNvPr id="24" name="직선 화살표 연결선 23"/>
          <p:cNvCxnSpPr>
            <a:stCxn id="22" idx="0"/>
            <a:endCxn id="21" idx="2"/>
          </p:cNvCxnSpPr>
          <p:nvPr/>
        </p:nvCxnSpPr>
        <p:spPr bwMode="auto">
          <a:xfrm flipV="1">
            <a:off x="2979578" y="5796210"/>
            <a:ext cx="0" cy="138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5" name="직선 화살표 연결선 24"/>
          <p:cNvCxnSpPr>
            <a:stCxn id="23" idx="0"/>
            <a:endCxn id="22" idx="2"/>
          </p:cNvCxnSpPr>
          <p:nvPr/>
        </p:nvCxnSpPr>
        <p:spPr bwMode="auto">
          <a:xfrm flipV="1">
            <a:off x="2973631" y="6095094"/>
            <a:ext cx="5947" cy="1586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6" name="직사각형 25"/>
          <p:cNvSpPr/>
          <p:nvPr/>
        </p:nvSpPr>
        <p:spPr bwMode="auto">
          <a:xfrm>
            <a:off x="4734653" y="5219569"/>
            <a:ext cx="677401" cy="379757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수불 보고 에러 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조치 완료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5432977" y="4069561"/>
            <a:ext cx="471877" cy="31575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8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月 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생산결산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(ERP)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5440626" y="5657726"/>
            <a:ext cx="392816" cy="74714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16615" tIns="16615" rIns="16615" bIns="16615" numCol="1" rtlCol="0" anchor="b" anchorCtr="1" compatLnSpc="1">
            <a:prstTxWarp prst="textNoShape">
              <a:avLst/>
            </a:prstTxWarp>
          </a:bodyPr>
          <a:lstStyle/>
          <a:p>
            <a:pPr defTabSz="844083" fontAlgn="base">
              <a:lnSpc>
                <a:spcPts val="831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FA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新체제전환시작</a:t>
            </a:r>
          </a:p>
        </p:txBody>
      </p:sp>
      <p:sp>
        <p:nvSpPr>
          <p:cNvPr id="29" name="직사각형 28"/>
          <p:cNvSpPr/>
          <p:nvPr/>
        </p:nvSpPr>
        <p:spPr bwMode="auto">
          <a:xfrm>
            <a:off x="4384769" y="2461384"/>
            <a:ext cx="1595077" cy="224308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8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月 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PO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마감 및 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ERP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실적 전송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,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물류 이동 마감</a:t>
            </a:r>
          </a:p>
        </p:txBody>
      </p:sp>
      <p:sp>
        <p:nvSpPr>
          <p:cNvPr id="30" name="Rectangle 883"/>
          <p:cNvSpPr>
            <a:spLocks noChangeArrowheads="1"/>
          </p:cNvSpPr>
          <p:nvPr/>
        </p:nvSpPr>
        <p:spPr bwMode="auto">
          <a:xfrm>
            <a:off x="7709450" y="4436104"/>
            <a:ext cx="977832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b="1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738" b="1" dirty="0">
                <a:solidFill>
                  <a:srgbClr val="FF0000"/>
                </a:solidFill>
                <a:latin typeface="+mn-ea"/>
              </a:rPr>
              <a:t>(07:00)ERP I/F Start</a:t>
            </a:r>
            <a:endParaRPr lang="ko-KR" altLang="en-US" sz="738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1" name="모서리가 둥근 직사각형 30"/>
          <p:cNvSpPr/>
          <p:nvPr/>
        </p:nvSpPr>
        <p:spPr bwMode="auto">
          <a:xfrm>
            <a:off x="5441975" y="3946748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32" name="모서리가 둥근 직사각형 31"/>
          <p:cNvSpPr/>
          <p:nvPr/>
        </p:nvSpPr>
        <p:spPr bwMode="auto">
          <a:xfrm>
            <a:off x="653089" y="4002205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33" name="포인트가 5개인 별 32"/>
          <p:cNvSpPr/>
          <p:nvPr/>
        </p:nvSpPr>
        <p:spPr bwMode="auto">
          <a:xfrm>
            <a:off x="7650651" y="4609481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4" name="모서리가 둥근 직사각형 33"/>
          <p:cNvSpPr/>
          <p:nvPr/>
        </p:nvSpPr>
        <p:spPr bwMode="auto">
          <a:xfrm>
            <a:off x="571640" y="2206138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G</a:t>
            </a:r>
            <a:endParaRPr kumimoji="1" lang="ko-KR" altLang="en-US" sz="83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35" name="직선 화살표 연결선 125"/>
          <p:cNvCxnSpPr>
            <a:stCxn id="65" idx="2"/>
            <a:endCxn id="37" idx="0"/>
          </p:cNvCxnSpPr>
          <p:nvPr/>
        </p:nvCxnSpPr>
        <p:spPr bwMode="auto">
          <a:xfrm rot="16200000" flipH="1">
            <a:off x="3861416" y="2685732"/>
            <a:ext cx="1136181" cy="57785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포인트가 5개인 별 35"/>
          <p:cNvSpPr/>
          <p:nvPr/>
        </p:nvSpPr>
        <p:spPr bwMode="auto">
          <a:xfrm>
            <a:off x="4374917" y="3765972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4583015" y="3542752"/>
            <a:ext cx="270839" cy="621260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新작지서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발행</a:t>
            </a: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4405737" y="3937469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G</a:t>
            </a:r>
            <a:endParaRPr kumimoji="1" lang="ko-KR" altLang="en-US" sz="83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2249360" y="3355033"/>
            <a:ext cx="1503978" cy="243556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09.02~09.04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원부자재 현장창고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이동처리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MES,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ERP)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40" name="모서리가 둥근 직사각형 39"/>
          <p:cNvSpPr/>
          <p:nvPr/>
        </p:nvSpPr>
        <p:spPr bwMode="auto">
          <a:xfrm>
            <a:off x="2148861" y="3340812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cxnSp>
        <p:nvCxnSpPr>
          <p:cNvPr id="41" name="직선 화살표 연결선 140"/>
          <p:cNvCxnSpPr>
            <a:stCxn id="39" idx="2"/>
            <a:endCxn id="10" idx="1"/>
          </p:cNvCxnSpPr>
          <p:nvPr/>
        </p:nvCxnSpPr>
        <p:spPr bwMode="auto">
          <a:xfrm rot="16200000" flipH="1">
            <a:off x="2806845" y="3793092"/>
            <a:ext cx="1156267" cy="76725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2" name="모서리가 둥근 직사각형 41"/>
          <p:cNvSpPr/>
          <p:nvPr/>
        </p:nvSpPr>
        <p:spPr bwMode="auto">
          <a:xfrm>
            <a:off x="3686845" y="4386129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3" name="Rectangle 883"/>
          <p:cNvSpPr>
            <a:spLocks noChangeArrowheads="1"/>
          </p:cNvSpPr>
          <p:nvPr/>
        </p:nvSpPr>
        <p:spPr bwMode="auto">
          <a:xfrm>
            <a:off x="7677051" y="2150097"/>
            <a:ext cx="973023" cy="142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923" b="1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923" b="1" dirty="0">
                <a:solidFill>
                  <a:srgbClr val="FF0000"/>
                </a:solidFill>
                <a:latin typeface="+mn-ea"/>
              </a:rPr>
              <a:t>(07:00) Go Live</a:t>
            </a:r>
            <a:endParaRPr lang="ko-KR" altLang="en-US" sz="923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4" name="Rectangle 935"/>
          <p:cNvSpPr>
            <a:spLocks noChangeArrowheads="1"/>
          </p:cNvSpPr>
          <p:nvPr/>
        </p:nvSpPr>
        <p:spPr bwMode="auto">
          <a:xfrm>
            <a:off x="5645340" y="6015504"/>
            <a:ext cx="1081400" cy="389362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47" tIns="35974" rIns="71947" bIns="35974" anchor="ctr"/>
          <a:lstStyle/>
          <a:p>
            <a:pPr latinLnBrk="0"/>
            <a:r>
              <a:rPr lang="ko-KR" altLang="en-US" sz="738" dirty="0">
                <a:solidFill>
                  <a:srgbClr val="000000"/>
                </a:solidFill>
                <a:latin typeface="+mn-ea"/>
              </a:rPr>
              <a:t>정상 이관 점검</a:t>
            </a:r>
            <a:endParaRPr lang="en-US" altLang="ko-KR" sz="738" dirty="0">
              <a:solidFill>
                <a:srgbClr val="000000"/>
              </a:solidFill>
              <a:latin typeface="+mn-ea"/>
            </a:endParaRPr>
          </a:p>
          <a:p>
            <a:pPr latinLnBrk="0"/>
            <a:r>
              <a:rPr lang="en-US" altLang="ko-KR" sz="738" dirty="0">
                <a:solidFill>
                  <a:srgbClr val="000000"/>
                </a:solidFill>
                <a:latin typeface="+mn-ea"/>
              </a:rPr>
              <a:t>TI-Gate </a:t>
            </a:r>
            <a:r>
              <a:rPr lang="ko-KR" altLang="en-US" sz="738" dirty="0">
                <a:solidFill>
                  <a:srgbClr val="000000"/>
                </a:solidFill>
                <a:latin typeface="+mn-ea"/>
              </a:rPr>
              <a:t>연계 점검</a:t>
            </a:r>
            <a:endParaRPr lang="en-US" altLang="ko-KR" sz="738" dirty="0">
              <a:solidFill>
                <a:srgbClr val="000000"/>
              </a:solidFill>
              <a:latin typeface="+mn-ea"/>
            </a:endParaRPr>
          </a:p>
          <a:p>
            <a:pPr latinLnBrk="0"/>
            <a:r>
              <a:rPr lang="en-US" altLang="ko-KR" sz="738" dirty="0">
                <a:solidFill>
                  <a:srgbClr val="000000"/>
                </a:solidFill>
                <a:latin typeface="+mn-ea"/>
              </a:rPr>
              <a:t>.</a:t>
            </a:r>
            <a:r>
              <a:rPr lang="ko-KR" altLang="en-US" sz="738" dirty="0">
                <a:solidFill>
                  <a:srgbClr val="000000"/>
                </a:solidFill>
                <a:latin typeface="+mn-ea"/>
              </a:rPr>
              <a:t>프로그램 점검</a:t>
            </a:r>
            <a:endParaRPr lang="en-US" altLang="ko-KR" sz="738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5671956" y="5888450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6" name="포인트가 5개인 별 45"/>
          <p:cNvSpPr/>
          <p:nvPr/>
        </p:nvSpPr>
        <p:spPr bwMode="auto">
          <a:xfrm>
            <a:off x="5845117" y="5864462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47" name="모서리가 둥근 직사각형 46"/>
          <p:cNvSpPr/>
          <p:nvPr/>
        </p:nvSpPr>
        <p:spPr bwMode="auto">
          <a:xfrm>
            <a:off x="7645578" y="4019952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8" name="모서리가 둥근 직사각형 47"/>
          <p:cNvSpPr/>
          <p:nvPr/>
        </p:nvSpPr>
        <p:spPr bwMode="auto">
          <a:xfrm>
            <a:off x="5223622" y="2277840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9" name="직사각형 48"/>
          <p:cNvSpPr/>
          <p:nvPr/>
        </p:nvSpPr>
        <p:spPr bwMode="auto">
          <a:xfrm>
            <a:off x="6056389" y="4469232"/>
            <a:ext cx="754496" cy="352728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데이터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Upload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및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Conversion</a:t>
            </a:r>
          </a:p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재고 데이터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트랜잭션 데이터</a:t>
            </a:r>
          </a:p>
        </p:txBody>
      </p:sp>
      <p:sp>
        <p:nvSpPr>
          <p:cNvPr id="50" name="타원 49"/>
          <p:cNvSpPr/>
          <p:nvPr/>
        </p:nvSpPr>
        <p:spPr bwMode="auto">
          <a:xfrm>
            <a:off x="5976780" y="4446185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1" name="Rectangle 883"/>
          <p:cNvSpPr>
            <a:spLocks noChangeArrowheads="1"/>
          </p:cNvSpPr>
          <p:nvPr/>
        </p:nvSpPr>
        <p:spPr bwMode="auto">
          <a:xfrm>
            <a:off x="6700796" y="2359408"/>
            <a:ext cx="1147750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738" dirty="0">
                <a:solidFill>
                  <a:srgbClr val="FF0000"/>
                </a:solidFill>
                <a:latin typeface="+mn-ea"/>
              </a:rPr>
              <a:t>(20:00)ERP </a:t>
            </a: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재고등록완료</a:t>
            </a:r>
          </a:p>
        </p:txBody>
      </p:sp>
      <p:sp>
        <p:nvSpPr>
          <p:cNvPr id="52" name="Rectangle 883"/>
          <p:cNvSpPr>
            <a:spLocks noChangeArrowheads="1"/>
          </p:cNvSpPr>
          <p:nvPr/>
        </p:nvSpPr>
        <p:spPr bwMode="auto">
          <a:xfrm>
            <a:off x="5581210" y="5237054"/>
            <a:ext cx="1679947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▼</a:t>
            </a:r>
            <a:r>
              <a:rPr lang="en-US" altLang="ko-KR" sz="738" b="1" dirty="0">
                <a:solidFill>
                  <a:srgbClr val="0000FF"/>
                </a:solidFill>
                <a:latin typeface="+mn-ea"/>
              </a:rPr>
              <a:t>(09:00)OPC</a:t>
            </a: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→新</a:t>
            </a:r>
            <a:r>
              <a:rPr lang="en-US" altLang="ko-KR" sz="738" b="1" dirty="0">
                <a:solidFill>
                  <a:srgbClr val="0000FF"/>
                </a:solidFill>
                <a:latin typeface="+mn-ea"/>
              </a:rPr>
              <a:t>MES</a:t>
            </a: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운영</a:t>
            </a:r>
            <a:r>
              <a:rPr lang="en-US" altLang="ko-KR" sz="738" b="1" dirty="0">
                <a:solidFill>
                  <a:srgbClr val="0000FF"/>
                </a:solidFill>
                <a:latin typeface="+mn-ea"/>
              </a:rPr>
              <a:t>DB</a:t>
            </a: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연계시점</a:t>
            </a:r>
          </a:p>
        </p:txBody>
      </p:sp>
      <p:sp>
        <p:nvSpPr>
          <p:cNvPr id="53" name="타원 52"/>
          <p:cNvSpPr/>
          <p:nvPr/>
        </p:nvSpPr>
        <p:spPr bwMode="auto">
          <a:xfrm>
            <a:off x="6064889" y="5910503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7641746" y="4861768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5186110" y="4650234"/>
            <a:ext cx="675232" cy="4789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462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교체 작업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OI / PDA</a:t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프로그램 등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6" name="모서리가 둥근 직사각형 55"/>
          <p:cNvSpPr/>
          <p:nvPr/>
        </p:nvSpPr>
        <p:spPr bwMode="auto">
          <a:xfrm>
            <a:off x="5147208" y="4550253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57" name="Text Box 234"/>
          <p:cNvSpPr txBox="1">
            <a:spLocks noChangeArrowheads="1"/>
          </p:cNvSpPr>
          <p:nvPr/>
        </p:nvSpPr>
        <p:spPr bwMode="auto">
          <a:xfrm>
            <a:off x="5374248" y="3130716"/>
            <a:ext cx="1492287" cy="13614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>
              <a:lnSpc>
                <a:spcPts val="831"/>
              </a:lnSpc>
            </a:pPr>
            <a:r>
              <a:rPr lang="en-US" altLang="ko-KR" sz="738" b="1" dirty="0">
                <a:latin typeface="+mj-lt"/>
              </a:rPr>
              <a:t>▼07:00 8</a:t>
            </a:r>
            <a:r>
              <a:rPr lang="ko-KR" altLang="en-US" sz="738" b="1" dirty="0">
                <a:latin typeface="+mj-lt"/>
              </a:rPr>
              <a:t>月 생산</a:t>
            </a:r>
            <a:r>
              <a:rPr lang="en-US" altLang="ko-KR" sz="738" b="1" dirty="0">
                <a:latin typeface="+mj-lt"/>
              </a:rPr>
              <a:t>/</a:t>
            </a:r>
            <a:r>
              <a:rPr lang="ko-KR" altLang="en-US" sz="738" b="1" dirty="0">
                <a:latin typeface="+mj-lt"/>
              </a:rPr>
              <a:t>판정 마감</a:t>
            </a:r>
            <a:r>
              <a:rPr lang="en-US" altLang="ko-KR" sz="738" b="1" dirty="0">
                <a:latin typeface="+mj-lt"/>
              </a:rPr>
              <a:t>(MES)</a:t>
            </a:r>
          </a:p>
        </p:txBody>
      </p:sp>
      <p:sp>
        <p:nvSpPr>
          <p:cNvPr id="58" name="Text Box 234"/>
          <p:cNvSpPr txBox="1">
            <a:spLocks noChangeArrowheads="1"/>
          </p:cNvSpPr>
          <p:nvPr/>
        </p:nvSpPr>
        <p:spPr bwMode="auto">
          <a:xfrm>
            <a:off x="5912322" y="3292509"/>
            <a:ext cx="2640037" cy="13614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>
              <a:lnSpc>
                <a:spcPts val="831"/>
              </a:lnSpc>
            </a:pPr>
            <a:r>
              <a:rPr lang="en-US" altLang="ko-KR" sz="738" b="1" dirty="0">
                <a:latin typeface="+mj-lt"/>
              </a:rPr>
              <a:t>▼13:00 8</a:t>
            </a:r>
            <a:r>
              <a:rPr lang="ko-KR" altLang="en-US" sz="738" b="1" dirty="0">
                <a:latin typeface="+mj-lt"/>
              </a:rPr>
              <a:t>月 생산 </a:t>
            </a:r>
            <a:r>
              <a:rPr lang="en-US" altLang="ko-KR" sz="738" b="1" dirty="0">
                <a:latin typeface="+mj-lt"/>
              </a:rPr>
              <a:t>(</a:t>
            </a:r>
            <a:r>
              <a:rPr lang="ko-KR" altLang="en-US" sz="738" b="1" dirty="0">
                <a:latin typeface="+mj-lt"/>
              </a:rPr>
              <a:t>반</a:t>
            </a:r>
            <a:r>
              <a:rPr lang="en-US" altLang="ko-KR" sz="738" b="1" dirty="0">
                <a:latin typeface="+mj-lt"/>
              </a:rPr>
              <a:t>)</a:t>
            </a:r>
            <a:r>
              <a:rPr lang="ko-KR" altLang="en-US" sz="738" b="1" dirty="0">
                <a:latin typeface="+mj-lt"/>
              </a:rPr>
              <a:t>제품입고</a:t>
            </a:r>
            <a:r>
              <a:rPr lang="en-US" altLang="ko-KR" sz="738" b="1" dirty="0">
                <a:latin typeface="+mj-lt"/>
              </a:rPr>
              <a:t>/</a:t>
            </a:r>
            <a:r>
              <a:rPr lang="ko-KR" altLang="en-US" sz="738" b="1" dirty="0">
                <a:latin typeface="+mj-lt"/>
              </a:rPr>
              <a:t>원료출고 물동마감</a:t>
            </a:r>
            <a:r>
              <a:rPr lang="en-US" altLang="ko-KR" sz="738" b="1" dirty="0">
                <a:latin typeface="+mj-lt"/>
              </a:rPr>
              <a:t>(MES,ERP)</a:t>
            </a:r>
          </a:p>
        </p:txBody>
      </p:sp>
      <p:sp>
        <p:nvSpPr>
          <p:cNvPr id="59" name="Text Box 236"/>
          <p:cNvSpPr txBox="1">
            <a:spLocks noChangeArrowheads="1"/>
          </p:cNvSpPr>
          <p:nvPr/>
        </p:nvSpPr>
        <p:spPr bwMode="auto">
          <a:xfrm>
            <a:off x="5908347" y="3594394"/>
            <a:ext cx="1105964" cy="13614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>
              <a:lnSpc>
                <a:spcPts val="831"/>
              </a:lnSpc>
            </a:pPr>
            <a:r>
              <a:rPr lang="en-US" altLang="ko-KR" sz="738" b="1" dirty="0">
                <a:latin typeface="+mj-lt"/>
              </a:rPr>
              <a:t>▼13:00 MES</a:t>
            </a:r>
            <a:r>
              <a:rPr lang="ko-KR" altLang="en-US" sz="738" b="1" dirty="0">
                <a:latin typeface="+mj-lt"/>
              </a:rPr>
              <a:t>서비스 중단</a:t>
            </a:r>
            <a:endParaRPr lang="en-US" altLang="ko-KR" sz="738" b="1" dirty="0">
              <a:latin typeface="+mj-lt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6726740" y="4860604"/>
            <a:ext cx="511890" cy="237104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데이터 이관 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최종 점검</a:t>
            </a:r>
          </a:p>
        </p:txBody>
      </p:sp>
      <p:sp>
        <p:nvSpPr>
          <p:cNvPr id="61" name="타원 60"/>
          <p:cNvSpPr/>
          <p:nvPr/>
        </p:nvSpPr>
        <p:spPr bwMode="auto">
          <a:xfrm>
            <a:off x="6556837" y="4886308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2" name="포인트가 5개인 별 61"/>
          <p:cNvSpPr/>
          <p:nvPr/>
        </p:nvSpPr>
        <p:spPr bwMode="auto">
          <a:xfrm>
            <a:off x="6542189" y="5009488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3" name="Text Box 234"/>
          <p:cNvSpPr txBox="1">
            <a:spLocks noChangeArrowheads="1"/>
          </p:cNvSpPr>
          <p:nvPr/>
        </p:nvSpPr>
        <p:spPr bwMode="auto">
          <a:xfrm>
            <a:off x="1585946" y="2174192"/>
            <a:ext cx="1679839" cy="147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 algn="l">
              <a:buNone/>
            </a:pPr>
            <a:r>
              <a:rPr lang="en-US" altLang="ko-KR" sz="738" b="1" dirty="0">
                <a:solidFill>
                  <a:srgbClr val="0000CC"/>
                </a:solidFill>
                <a:latin typeface="+mj-lt"/>
              </a:rPr>
              <a:t>▼09.01 </a:t>
            </a:r>
            <a:r>
              <a:rPr lang="ko-KR" altLang="en-US" sz="738" b="1" dirty="0">
                <a:solidFill>
                  <a:srgbClr val="0000CC"/>
                </a:solidFill>
                <a:latin typeface="+mj-lt"/>
              </a:rPr>
              <a:t>新</a:t>
            </a:r>
            <a:r>
              <a:rPr lang="en-US" altLang="ko-KR" sz="738" b="1" dirty="0">
                <a:solidFill>
                  <a:srgbClr val="0000CC"/>
                </a:solidFill>
                <a:latin typeface="+mj-lt"/>
              </a:rPr>
              <a:t>MES </a:t>
            </a:r>
            <a:r>
              <a:rPr lang="ko-KR" altLang="en-US" sz="738" b="1" dirty="0">
                <a:solidFill>
                  <a:srgbClr val="0000CC"/>
                </a:solidFill>
                <a:latin typeface="+mj-lt"/>
              </a:rPr>
              <a:t>일반 사용자 접속 차단</a:t>
            </a:r>
            <a:endParaRPr lang="en-US" altLang="ko-KR" sz="738" b="1" dirty="0">
              <a:solidFill>
                <a:srgbClr val="0000CC"/>
              </a:solidFill>
              <a:latin typeface="+mj-lt"/>
            </a:endParaRPr>
          </a:p>
        </p:txBody>
      </p:sp>
      <p:sp>
        <p:nvSpPr>
          <p:cNvPr id="64" name="Rectangle 883"/>
          <p:cNvSpPr>
            <a:spLocks noChangeArrowheads="1"/>
          </p:cNvSpPr>
          <p:nvPr/>
        </p:nvSpPr>
        <p:spPr bwMode="auto">
          <a:xfrm>
            <a:off x="5388049" y="3460115"/>
            <a:ext cx="2390078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b="1" dirty="0">
                <a:latin typeface="+mn-ea"/>
              </a:rPr>
              <a:t>▼</a:t>
            </a:r>
            <a:r>
              <a:rPr lang="en-US" altLang="ko-KR" sz="738" b="1" dirty="0">
                <a:latin typeface="+mn-ea"/>
              </a:rPr>
              <a:t>(07:00)</a:t>
            </a:r>
            <a:r>
              <a:rPr lang="ko-KR" altLang="en-US" sz="738" b="1" dirty="0">
                <a:latin typeface="+mn-ea"/>
              </a:rPr>
              <a:t>舊 </a:t>
            </a:r>
            <a:r>
              <a:rPr lang="en-US" altLang="ko-KR" sz="738" b="1" dirty="0">
                <a:latin typeface="+mn-ea"/>
              </a:rPr>
              <a:t>MES UI </a:t>
            </a:r>
            <a:r>
              <a:rPr lang="ko-KR" altLang="en-US" sz="738" b="1" dirty="0">
                <a:latin typeface="+mn-ea"/>
              </a:rPr>
              <a:t>일반사용자 차단 </a:t>
            </a:r>
            <a:r>
              <a:rPr lang="en-US" altLang="ko-KR" sz="738" b="1" dirty="0">
                <a:latin typeface="+mn-ea"/>
              </a:rPr>
              <a:t>PDA Service </a:t>
            </a:r>
            <a:r>
              <a:rPr lang="ko-KR" altLang="en-US" sz="738" b="1" dirty="0">
                <a:latin typeface="+mn-ea"/>
              </a:rPr>
              <a:t>중단</a:t>
            </a:r>
          </a:p>
        </p:txBody>
      </p:sp>
      <p:sp>
        <p:nvSpPr>
          <p:cNvPr id="65" name="직사각형 64"/>
          <p:cNvSpPr/>
          <p:nvPr/>
        </p:nvSpPr>
        <p:spPr bwMode="auto">
          <a:xfrm>
            <a:off x="3615065" y="2182263"/>
            <a:ext cx="1051026" cy="2243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新주간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계획수립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09.04 07:00 ~ 09.05 07:00)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6" name="모서리가 둥근 직사각형 65"/>
          <p:cNvSpPr/>
          <p:nvPr/>
        </p:nvSpPr>
        <p:spPr bwMode="auto">
          <a:xfrm>
            <a:off x="3589811" y="2156364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G</a:t>
            </a:r>
            <a:endParaRPr kumimoji="1" lang="ko-KR" altLang="en-US" sz="83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7" name="Text Box 234"/>
          <p:cNvSpPr txBox="1">
            <a:spLocks noChangeArrowheads="1"/>
          </p:cNvSpPr>
          <p:nvPr/>
        </p:nvSpPr>
        <p:spPr bwMode="auto">
          <a:xfrm>
            <a:off x="5853375" y="5344257"/>
            <a:ext cx="1293515" cy="147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r>
              <a:rPr lang="en-US" altLang="ko-KR" sz="738" b="1" dirty="0">
                <a:solidFill>
                  <a:srgbClr val="0000CC"/>
                </a:solidFill>
                <a:latin typeface="+mj-lt"/>
              </a:rPr>
              <a:t>▼</a:t>
            </a:r>
            <a:r>
              <a:rPr lang="en-US" altLang="ko-KR" sz="738" b="1" dirty="0">
                <a:solidFill>
                  <a:srgbClr val="0000CC"/>
                </a:solidFill>
              </a:rPr>
              <a:t> 14:00 </a:t>
            </a:r>
            <a:r>
              <a:rPr lang="ko-KR" altLang="en-US" sz="738" b="1" dirty="0">
                <a:solidFill>
                  <a:srgbClr val="0000CC"/>
                </a:solidFill>
              </a:rPr>
              <a:t>新</a:t>
            </a:r>
            <a:r>
              <a:rPr lang="en-US" altLang="ko-KR" sz="738" b="1" dirty="0">
                <a:solidFill>
                  <a:srgbClr val="0000CC"/>
                </a:solidFill>
              </a:rPr>
              <a:t>MES-FA( I/F </a:t>
            </a:r>
            <a:r>
              <a:rPr lang="ko-KR" altLang="en-US" sz="738" b="1" dirty="0" err="1">
                <a:solidFill>
                  <a:srgbClr val="0000CC"/>
                </a:solidFill>
              </a:rPr>
              <a:t>절체</a:t>
            </a:r>
            <a:endParaRPr lang="en-US" altLang="ko-KR" sz="738" b="1" dirty="0">
              <a:solidFill>
                <a:srgbClr val="0000CC"/>
              </a:solidFill>
              <a:latin typeface="+mj-lt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637339" y="4469232"/>
            <a:ext cx="1886300" cy="352728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데이터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Upload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및 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 Conversion</a:t>
            </a:r>
          </a:p>
          <a:p>
            <a:pPr marL="158265" indent="-158265" defTabSz="844083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기준정보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9" name="타원 68"/>
          <p:cNvSpPr/>
          <p:nvPr/>
        </p:nvSpPr>
        <p:spPr bwMode="auto">
          <a:xfrm>
            <a:off x="557731" y="4446185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70" name="포인트가 5개인 별 69"/>
          <p:cNvSpPr/>
          <p:nvPr/>
        </p:nvSpPr>
        <p:spPr bwMode="auto">
          <a:xfrm>
            <a:off x="4641955" y="5085694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2296665" y="4920593"/>
            <a:ext cx="675232" cy="54474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sym typeface="Wingdings" pitchFamily="2" charset="2"/>
              </a:rPr>
              <a:t>新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sym typeface="Wingdings" pitchFamily="2" charset="2"/>
              </a:rPr>
              <a:t>MES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OI / PDA</a:t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프로그램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설치 확인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2257763" y="4818177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grpSp>
        <p:nvGrpSpPr>
          <p:cNvPr id="74" name="그룹 73"/>
          <p:cNvGrpSpPr/>
          <p:nvPr/>
        </p:nvGrpSpPr>
        <p:grpSpPr>
          <a:xfrm>
            <a:off x="7146890" y="113926"/>
            <a:ext cx="2477353" cy="798561"/>
            <a:chOff x="6943303" y="270364"/>
            <a:chExt cx="2683799" cy="925974"/>
          </a:xfrm>
        </p:grpSpPr>
        <p:sp>
          <p:nvSpPr>
            <p:cNvPr id="75" name="직사각형 74"/>
            <p:cNvSpPr/>
            <p:nvPr/>
          </p:nvSpPr>
          <p:spPr bwMode="auto">
            <a:xfrm>
              <a:off x="6943303" y="296200"/>
              <a:ext cx="2540209" cy="85802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84406" tIns="42203" rIns="84406" bIns="42203" numCol="1" rtlCol="0" anchor="t" anchorCtr="0" compatLnSpc="1">
              <a:prstTxWarp prst="textNoShape">
                <a:avLst/>
              </a:prstTxWarp>
            </a:bodyPr>
            <a:lstStyle/>
            <a:p>
              <a:pPr defTabSz="84408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15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  <p:sp>
          <p:nvSpPr>
            <p:cNvPr id="76" name="Rectangle 935"/>
            <p:cNvSpPr>
              <a:spLocks noChangeArrowheads="1"/>
            </p:cNvSpPr>
            <p:nvPr/>
          </p:nvSpPr>
          <p:spPr bwMode="auto">
            <a:xfrm>
              <a:off x="7105563" y="521977"/>
              <a:ext cx="339637" cy="144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947" tIns="35974" rIns="71947" bIns="35974" anchor="ctr"/>
            <a:lstStyle/>
            <a:p>
              <a:pPr latinLnBrk="0"/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7" name="Rectangle 935"/>
            <p:cNvSpPr>
              <a:spLocks noChangeArrowheads="1"/>
            </p:cNvSpPr>
            <p:nvPr/>
          </p:nvSpPr>
          <p:spPr bwMode="auto">
            <a:xfrm>
              <a:off x="7105563" y="727183"/>
              <a:ext cx="339637" cy="14400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947" tIns="35974" rIns="71947" bIns="35974" anchor="ctr"/>
            <a:lstStyle/>
            <a:p>
              <a:pPr latinLnBrk="0"/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8" name="Rectangle 935"/>
            <p:cNvSpPr>
              <a:spLocks noChangeArrowheads="1"/>
            </p:cNvSpPr>
            <p:nvPr/>
          </p:nvSpPr>
          <p:spPr bwMode="auto">
            <a:xfrm>
              <a:off x="7105563" y="932389"/>
              <a:ext cx="339637" cy="14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947" tIns="35974" rIns="71947" bIns="35974" anchor="ctr"/>
            <a:lstStyle/>
            <a:p>
              <a:pPr latinLnBrk="0"/>
              <a:endParaRPr lang="en-US" altLang="ko-KR" sz="738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9" name="Rectangle 883"/>
            <p:cNvSpPr>
              <a:spLocks noChangeArrowheads="1"/>
            </p:cNvSpPr>
            <p:nvPr/>
          </p:nvSpPr>
          <p:spPr bwMode="auto">
            <a:xfrm>
              <a:off x="7484112" y="437994"/>
              <a:ext cx="1008045" cy="716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舊 시스템 대상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新 시스템 대상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현장 </a:t>
              </a: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Activity</a:t>
              </a:r>
              <a:endParaRPr lang="ko-KR" altLang="en-US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80" name="Rectangle 883"/>
            <p:cNvSpPr>
              <a:spLocks noChangeArrowheads="1"/>
            </p:cNvSpPr>
            <p:nvPr/>
          </p:nvSpPr>
          <p:spPr bwMode="auto">
            <a:xfrm>
              <a:off x="6943303" y="270364"/>
              <a:ext cx="1008045" cy="231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범례 </a:t>
              </a:r>
              <a:r>
                <a:rPr lang="en-US" altLang="ko-KR" sz="831" b="1" dirty="0">
                  <a:solidFill>
                    <a:srgbClr val="000000"/>
                  </a:solidFill>
                  <a:latin typeface="+mn-ea"/>
                </a:rPr>
                <a:t>1. </a:t>
              </a: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작업구분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81" name="Rectangle 883"/>
            <p:cNvSpPr>
              <a:spLocks noChangeArrowheads="1"/>
            </p:cNvSpPr>
            <p:nvPr/>
          </p:nvSpPr>
          <p:spPr bwMode="auto">
            <a:xfrm>
              <a:off x="8619057" y="438474"/>
              <a:ext cx="1008045" cy="757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2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생산관리</a:t>
              </a: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2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제조 현업수행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20000"/>
                </a:lnSpc>
              </a:pP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PU </a:t>
              </a: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20000"/>
                </a:lnSpc>
              </a:pP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SI </a:t>
              </a: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82" name="포인트가 5개인 별 81"/>
            <p:cNvSpPr/>
            <p:nvPr/>
          </p:nvSpPr>
          <p:spPr bwMode="auto">
            <a:xfrm>
              <a:off x="8447114" y="816979"/>
              <a:ext cx="144000" cy="144000"/>
            </a:xfrm>
            <a:prstGeom prst="star5">
              <a:avLst/>
            </a:prstGeom>
            <a:solidFill>
              <a:srgbClr val="FF00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15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P</a:t>
              </a:r>
              <a:endParaRPr kumimoji="1" lang="ko-KR" altLang="en-US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  <p:sp>
          <p:nvSpPr>
            <p:cNvPr id="83" name="모서리가 둥근 직사각형 82"/>
            <p:cNvSpPr/>
            <p:nvPr/>
          </p:nvSpPr>
          <p:spPr bwMode="auto">
            <a:xfrm>
              <a:off x="8447114" y="653594"/>
              <a:ext cx="144000" cy="144000"/>
            </a:xfrm>
            <a:prstGeom prst="roundRect">
              <a:avLst/>
            </a:prstGeom>
            <a:solidFill>
              <a:srgbClr val="FFFF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83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제</a:t>
              </a:r>
            </a:p>
          </p:txBody>
        </p:sp>
        <p:sp>
          <p:nvSpPr>
            <p:cNvPr id="84" name="타원 83"/>
            <p:cNvSpPr/>
            <p:nvPr/>
          </p:nvSpPr>
          <p:spPr bwMode="auto">
            <a:xfrm>
              <a:off x="8447114" y="980363"/>
              <a:ext cx="144000" cy="144000"/>
            </a:xfrm>
            <a:prstGeom prst="ellipse">
              <a:avLst/>
            </a:prstGeom>
            <a:solidFill>
              <a:srgbClr val="0000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15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S</a:t>
              </a:r>
              <a:endParaRPr kumimoji="1" lang="ko-KR" altLang="en-US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  <p:sp>
          <p:nvSpPr>
            <p:cNvPr id="85" name="Rectangle 883"/>
            <p:cNvSpPr>
              <a:spLocks noChangeArrowheads="1"/>
            </p:cNvSpPr>
            <p:nvPr/>
          </p:nvSpPr>
          <p:spPr bwMode="auto">
            <a:xfrm>
              <a:off x="8359767" y="274624"/>
              <a:ext cx="1008045" cy="231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범례 </a:t>
              </a:r>
              <a:r>
                <a:rPr lang="en-US" altLang="ko-KR" sz="831" b="1" dirty="0">
                  <a:solidFill>
                    <a:srgbClr val="000000"/>
                  </a:solidFill>
                  <a:latin typeface="+mn-ea"/>
                </a:rPr>
                <a:t>2. </a:t>
              </a: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수행구분</a:t>
              </a:r>
              <a:r>
                <a:rPr lang="en-US" altLang="ko-KR" sz="831" b="1" dirty="0">
                  <a:solidFill>
                    <a:srgbClr val="000000"/>
                  </a:solidFill>
                  <a:latin typeface="+mn-ea"/>
                </a:rPr>
                <a:t> 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 bwMode="auto">
            <a:xfrm>
              <a:off x="8447114" y="490209"/>
              <a:ext cx="144000" cy="144000"/>
            </a:xfrm>
            <a:prstGeom prst="roundRect">
              <a:avLst/>
            </a:prstGeom>
            <a:solidFill>
              <a:srgbClr val="FFFF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3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G</a:t>
              </a:r>
              <a:endPara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0489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Cut-Over </a:t>
            </a:r>
            <a:r>
              <a:rPr lang="ko-KR" altLang="en-US" dirty="0" smtClean="0"/>
              <a:t>관련 선결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776000"/>
              </p:ext>
            </p:extLst>
          </p:nvPr>
        </p:nvGraphicFramePr>
        <p:xfrm>
          <a:off x="467029" y="1546766"/>
          <a:ext cx="9007710" cy="4828093"/>
        </p:xfrm>
        <a:graphic>
          <a:graphicData uri="http://schemas.openxmlformats.org/drawingml/2006/table">
            <a:tbl>
              <a:tblPr firstRow="1" bandRow="1"/>
              <a:tblGrid>
                <a:gridCol w="2001712">
                  <a:extLst>
                    <a:ext uri="{9D8B030D-6E8A-4147-A177-3AD203B41FA5}">
                      <a16:colId xmlns:a16="http://schemas.microsoft.com/office/drawing/2014/main" val="2187892180"/>
                    </a:ext>
                  </a:extLst>
                </a:gridCol>
                <a:gridCol w="714542">
                  <a:extLst>
                    <a:ext uri="{9D8B030D-6E8A-4147-A177-3AD203B41FA5}">
                      <a16:colId xmlns:a16="http://schemas.microsoft.com/office/drawing/2014/main" val="1985797070"/>
                    </a:ext>
                  </a:extLst>
                </a:gridCol>
                <a:gridCol w="693953">
                  <a:extLst>
                    <a:ext uri="{9D8B030D-6E8A-4147-A177-3AD203B41FA5}">
                      <a16:colId xmlns:a16="http://schemas.microsoft.com/office/drawing/2014/main" val="1074000237"/>
                    </a:ext>
                  </a:extLst>
                </a:gridCol>
                <a:gridCol w="1263800">
                  <a:extLst>
                    <a:ext uri="{9D8B030D-6E8A-4147-A177-3AD203B41FA5}">
                      <a16:colId xmlns:a16="http://schemas.microsoft.com/office/drawing/2014/main" val="1081480415"/>
                    </a:ext>
                  </a:extLst>
                </a:gridCol>
                <a:gridCol w="3408980">
                  <a:extLst>
                    <a:ext uri="{9D8B030D-6E8A-4147-A177-3AD203B41FA5}">
                      <a16:colId xmlns:a16="http://schemas.microsoft.com/office/drawing/2014/main" val="2851307732"/>
                    </a:ext>
                  </a:extLst>
                </a:gridCol>
                <a:gridCol w="924723">
                  <a:extLst>
                    <a:ext uri="{9D8B030D-6E8A-4147-A177-3AD203B41FA5}">
                      <a16:colId xmlns:a16="http://schemas.microsoft.com/office/drawing/2014/main" val="3476289980"/>
                    </a:ext>
                  </a:extLst>
                </a:gridCol>
              </a:tblGrid>
              <a:tr h="325162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aseline="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선결사항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Cut-over</a:t>
                      </a:r>
                      <a:r>
                        <a:rPr lang="en-US" altLang="ko-KR" sz="1100" baseline="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세부 일정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44085"/>
                  </a:ext>
                </a:extLst>
              </a:tr>
              <a:tr h="3251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중점 점검사항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완료여부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일시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Activity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담당자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55396"/>
                  </a:ext>
                </a:extLst>
              </a:tr>
              <a:tr h="4194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신규 서버 점검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~08.14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Application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서버 점검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(~2/4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일 완료예정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:</a:t>
                      </a:r>
                    </a:p>
                    <a:p>
                      <a:pPr latinLnBrk="1">
                        <a:buFontTx/>
                        <a:buNone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Application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테스트 기간 연장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887023"/>
                  </a:ext>
                </a:extLst>
              </a:tr>
              <a:tr h="4194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 현장</a:t>
                      </a: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인프라 점검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~09.01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buFontTx/>
                        <a:buNone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고정식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BCR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인식률 재고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latinLnBrk="1">
                        <a:buFontTx/>
                        <a:buNone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PDA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및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OI PC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정상 작동 확인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529307"/>
                  </a:ext>
                </a:extLst>
              </a:tr>
              <a:tr h="10763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기준정보 변경 내용 확정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08.04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14:00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기준정보에 대한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신코드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Mapping Table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완료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자재 코드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고객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/Vendor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코드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Location/BIN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코드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포장코드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품질 기준 정보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49527"/>
                  </a:ext>
                </a:extLst>
              </a:tr>
              <a:tr h="5836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이관 리허설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08.05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09:00 ~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18:00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이관 최종 리허설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Import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Schema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적용 및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Conversion</a:t>
                      </a: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932824"/>
                  </a:ext>
                </a:extLst>
              </a:tr>
              <a:tr h="2943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공정 재고 조사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12:00 ~ 15:00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공정 원부자재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,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반제품 재고 조사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638322"/>
                  </a:ext>
                </a:extLst>
              </a:tr>
              <a:tr h="27287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원부자재 이동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19:00 ~ 24:00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09.04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생산을 위한 안전 재고 이동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원료창고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공정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15207"/>
                  </a:ext>
                </a:extLst>
              </a:tr>
              <a:tr h="27287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라벨 재발행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00:00 ~ 07:00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자재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제품에 대해서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재발행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미부착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 자재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)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52042"/>
                  </a:ext>
                </a:extLst>
              </a:tr>
              <a:tr h="4194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작업조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스케줄 확정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09.04 07:00 Go live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시점의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작업장별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작업조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선정 및 사전교육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31743"/>
                  </a:ext>
                </a:extLst>
              </a:tr>
              <a:tr h="4194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품질검사 미완료 처리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품질검사가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09.03 0700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까지 완료 되지 않는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</a:b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판정대기품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처리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122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245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.1 </a:t>
            </a:r>
            <a:r>
              <a:rPr lang="ko-KR" altLang="en-US" dirty="0" smtClean="0"/>
              <a:t>상황실 운영 원칙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1"/>
          <p:cNvSpPr txBox="1">
            <a:spLocks/>
          </p:cNvSpPr>
          <p:nvPr/>
        </p:nvSpPr>
        <p:spPr>
          <a:xfrm>
            <a:off x="633045" y="1546367"/>
            <a:ext cx="8639908" cy="7674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44083" rtl="0" eaLnBrk="1" latinLnBrk="0" hangingPunct="1">
              <a:spcBef>
                <a:spcPct val="20000"/>
              </a:spcBef>
              <a:buFont typeface="Arial" pitchFamily="34" charset="0"/>
              <a:buNone/>
              <a:defRPr sz="1477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2204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66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44083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6124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88165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10207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532248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54289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7633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776" marR="0" lvl="0" indent="-263776" algn="l" defTabSz="8440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▣"/>
              <a:tabLst/>
              <a:defRPr/>
            </a:pPr>
            <a:r>
              <a:rPr kumimoji="0" lang="ko-KR" altLang="en-US" sz="1477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비상 상황실 구성</a:t>
            </a:r>
            <a:endParaRPr kumimoji="0" lang="en-US" altLang="ko-KR" sz="1477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근무 장소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en-US" altLang="ko-KR" sz="1292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ko-KR" altLang="en-US" sz="1292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스마트공장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구축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T/F  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종합상황실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1" lang="en-US" altLang="ko-KR" sz="1292" b="1" kern="0" noProof="0" dirty="0" smtClean="0">
                <a:solidFill>
                  <a:srgbClr val="000000"/>
                </a:solidFill>
                <a:latin typeface="맑은 고딕"/>
                <a:ea typeface="맑은 고딕"/>
              </a:rPr>
              <a:t>OO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공장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동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), </a:t>
            </a:r>
            <a:r>
              <a:rPr kumimoji="1" lang="en-US" altLang="ko-KR" sz="1292" b="1" kern="0" dirty="0" smtClean="0">
                <a:solidFill>
                  <a:srgbClr val="000000"/>
                </a:solidFill>
                <a:latin typeface="맑은 고딕"/>
                <a:ea typeface="맑은 고딕"/>
              </a:rPr>
              <a:t>OO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TF 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회의실</a:t>
            </a:r>
            <a:endParaRPr kumimoji="1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조직 구성 </a:t>
            </a:r>
            <a:endParaRPr kumimoji="1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751762" marR="0" lvl="2" indent="0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▶ 상황실장 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en-US" altLang="ko-KR" sz="1292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차장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▶ 현장 기동대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en-US" altLang="ko-KR" sz="1292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과장 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0" lang="en-US" altLang="ko-KR" sz="1292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수석컨설턴트</a:t>
            </a:r>
          </a:p>
          <a:p>
            <a:pPr marL="751762" marR="0" lvl="2" indent="0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ko-KR" altLang="en-US" sz="1477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tint val="75000"/>
                </a:sys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489876"/>
              </p:ext>
            </p:extLst>
          </p:nvPr>
        </p:nvGraphicFramePr>
        <p:xfrm>
          <a:off x="1015513" y="2632112"/>
          <a:ext cx="7278747" cy="3711810"/>
        </p:xfrm>
        <a:graphic>
          <a:graphicData uri="http://schemas.openxmlformats.org/drawingml/2006/table">
            <a:tbl>
              <a:tblPr/>
              <a:tblGrid>
                <a:gridCol w="67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9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천안 주간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천안 야간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안산 주간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안산 야간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4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015513" y="6286467"/>
            <a:ext cx="7794380" cy="262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※. 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근무시간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: 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주간 근무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07:30~21:00, 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야간근무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: 19:00~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익일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08:30  (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주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야 교대시간에는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2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개 </a:t>
            </a:r>
            <a:r>
              <a:rPr kumimoji="1" lang="ko-KR" altLang="en-US" sz="1108" kern="0" dirty="0" err="1">
                <a:solidFill>
                  <a:srgbClr val="000000"/>
                </a:solidFill>
                <a:latin typeface="맑은 고딕"/>
              </a:rPr>
              <a:t>근무조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 공동근무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)</a:t>
            </a:r>
            <a:endParaRPr lang="ko-KR" altLang="en-US" sz="1108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49724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en-US" altLang="ko-KR" dirty="0" smtClean="0"/>
              <a:t>.2 </a:t>
            </a:r>
            <a:r>
              <a:rPr lang="ko-KR" altLang="en-US" dirty="0" smtClean="0"/>
              <a:t>상황실 운영 계획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53265" y="3713105"/>
            <a:ext cx="1909497" cy="319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3776" marR="0" lvl="0" indent="-263776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▣"/>
              <a:tabLst/>
              <a:defRPr/>
            </a:pPr>
            <a:r>
              <a:rPr kumimoji="0" lang="ko-KR" altLang="en-US" sz="1477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회의체 운영 계획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07908"/>
              </p:ext>
            </p:extLst>
          </p:nvPr>
        </p:nvGraphicFramePr>
        <p:xfrm>
          <a:off x="836770" y="4062123"/>
          <a:ext cx="7976270" cy="2368062"/>
        </p:xfrm>
        <a:graphic>
          <a:graphicData uri="http://schemas.openxmlformats.org/drawingml/2006/table">
            <a:tbl>
              <a:tblPr firstRow="1" bandRow="1"/>
              <a:tblGrid>
                <a:gridCol w="1329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2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3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운영 시간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참석대상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운영 내용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리더 미팅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매일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08:00 ~ 08:30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상황실 근무자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각 모듈 파워유저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전일 야간 특이사항 공유 및 문제점 협의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당일 수행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Activity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계획 공유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8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일일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Wrap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매일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19:00 ~ 19:30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상황실 근무자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각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모듈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PU/IT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리더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당일 수행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Activity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실적 공유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집계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보고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미결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 항목 대책 협의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(Wrap Up 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별도 회의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각 부문별 일일 실적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문제점 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17:30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분까지 보고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주간 회의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매주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금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08:30 ~ 09:30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PMO</a:t>
                      </a: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각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모듈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PU/IT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리더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주 단위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Activity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계획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실적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문제점 보고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현업 지원 사항 협의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8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비상 대책 회의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발생 시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PMO</a:t>
                      </a: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상황실 근무자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발생업무 관련자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필요 시 현업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Conference Call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회의 수행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발생 내역 정리 보고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텍스트 개체 틀 1"/>
          <p:cNvSpPr txBox="1">
            <a:spLocks/>
          </p:cNvSpPr>
          <p:nvPr/>
        </p:nvSpPr>
        <p:spPr>
          <a:xfrm>
            <a:off x="633045" y="1580267"/>
            <a:ext cx="8639908" cy="7674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44083" rtl="0" eaLnBrk="1" latinLnBrk="0" hangingPunct="1">
              <a:spcBef>
                <a:spcPct val="20000"/>
              </a:spcBef>
              <a:buFont typeface="Arial" pitchFamily="34" charset="0"/>
              <a:buNone/>
              <a:defRPr sz="1477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2204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66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44083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6124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88165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10207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532248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54289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7633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776" marR="0" lvl="0" indent="-263776" algn="l" defTabSz="8440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▣"/>
              <a:tabLst/>
              <a:defRPr/>
            </a:pPr>
            <a:r>
              <a:rPr kumimoji="0" lang="ko-KR" altLang="en-US" sz="1477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상황실 활동 내역</a:t>
            </a:r>
            <a:endParaRPr kumimoji="0" lang="en-US" altLang="ko-KR" sz="1477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활동 기간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’</a:t>
            </a:r>
            <a:r>
              <a:rPr kumimoji="1" lang="en-US" altLang="ko-KR" sz="1292" b="1" kern="0" dirty="0" smtClean="0">
                <a:solidFill>
                  <a:srgbClr val="000000"/>
                </a:solidFill>
                <a:latin typeface="맑은 고딕"/>
                <a:ea typeface="맑은 고딕"/>
              </a:rPr>
              <a:t>XX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년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XX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월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04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~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XX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월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17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</a:t>
            </a: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상황실 근무자 역할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Cutover Activity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점검 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진행 계획 대비 실적 관리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Master/Transaction Data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이관 계획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실적 관리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시스템 가동 준비 현황 점검 및 구 시스템 중단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再가동 상황 모니터링 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중대 장애 발생시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비상대책회의 소집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주관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보고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先 보고 원칙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비상연락체계유지 및 관련부서 협조체제 유지 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지원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Open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후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일일 가동 현황 모니터링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사용자별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ko-KR" altLang="en-US" sz="1108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접속현황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집계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문제점 조사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지원</a:t>
            </a:r>
            <a:endParaRPr kumimoji="0" lang="ko-KR" altLang="en-US" sz="1292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tint val="75000"/>
                </a:sys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26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en-US" altLang="ko-KR" dirty="0" smtClean="0"/>
              <a:t>.3 </a:t>
            </a:r>
            <a:r>
              <a:rPr lang="en-US" altLang="ko-KR" dirty="0" smtClean="0"/>
              <a:t>Open</a:t>
            </a:r>
            <a:r>
              <a:rPr lang="ko-KR" altLang="en-US" dirty="0" smtClean="0"/>
              <a:t>후 장애 대응 방안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689900"/>
              </p:ext>
            </p:extLst>
          </p:nvPr>
        </p:nvGraphicFramePr>
        <p:xfrm>
          <a:off x="455454" y="1539217"/>
          <a:ext cx="8922010" cy="39443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3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0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64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예상 장애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Contingency Plan (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대응방안</a:t>
                      </a: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가능성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영향도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조치</a:t>
                      </a:r>
                      <a:b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담당자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1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에 수신된 납품서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(BOX)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정보에 주요 정보가 누락된 경우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1. MES 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담당자 확인</a:t>
                      </a:r>
                      <a:b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구매포탈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계확인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및 담당자 연락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</a:t>
                      </a:r>
                      <a:endParaRPr kumimoji="1" lang="ko-KR" altLang="en-US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Middle</a:t>
                      </a:r>
                      <a:endParaRPr kumimoji="1" lang="ko-KR" altLang="en-US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1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생산실적이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ERP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에</a:t>
                      </a:r>
                      <a:r>
                        <a:rPr lang="ko-KR" altLang="en-US" sz="1000" u="none" strike="noStrike" baseline="0" dirty="0" smtClean="0">
                          <a:effectLst/>
                          <a:latin typeface="+mn-ea"/>
                          <a:ea typeface="+mn-ea"/>
                        </a:rPr>
                        <a:t> 반영이 </a:t>
                      </a:r>
                      <a:r>
                        <a:rPr lang="ko-KR" altLang="en-US" sz="1000" u="none" strike="noStrike" baseline="0" dirty="0" err="1" smtClean="0">
                          <a:effectLst/>
                          <a:latin typeface="+mn-ea"/>
                          <a:ea typeface="+mn-ea"/>
                        </a:rPr>
                        <a:t>안되는</a:t>
                      </a:r>
                      <a:r>
                        <a:rPr lang="ko-KR" altLang="en-US" sz="1000" u="none" strike="noStrike" baseline="0" dirty="0" smtClean="0">
                          <a:effectLst/>
                          <a:latin typeface="+mn-ea"/>
                          <a:ea typeface="+mn-ea"/>
                        </a:rPr>
                        <a:t> 경우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MES 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담당자 확인</a:t>
                      </a:r>
                      <a:b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2. ERP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연계확인 및 담당자 연락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Middle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1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자재이동실적이 </a:t>
                      </a:r>
                      <a:r>
                        <a:rPr lang="en-US" altLang="ko-KR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ERP </a:t>
                      </a:r>
                      <a:r>
                        <a:rPr lang="ko-KR" altLang="en-US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에 반영이 안 되는 경우</a:t>
                      </a:r>
                      <a:endParaRPr lang="en-US" altLang="ko-KR" sz="1000" b="0" i="0" u="none" strike="noStrike" baseline="0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Tx/>
                        <a:buChar char="-"/>
                      </a:pPr>
                      <a:r>
                        <a:rPr lang="ko-KR" altLang="en-US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이동 실적 전송 및 처리 실패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1. MES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담당자 확인</a:t>
                      </a:r>
                      <a:b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2. ERP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연계확인 및 담당자 연락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Middle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9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lang="ko-KR" altLang="en-US" sz="1000" b="0" i="0" u="none" strike="noStrike" dirty="0" err="1" smtClean="0">
                          <a:effectLst/>
                          <a:latin typeface="+mn-ea"/>
                          <a:ea typeface="+mn-ea"/>
                        </a:rPr>
                        <a:t>마이그레이션이</a:t>
                      </a:r>
                      <a:r>
                        <a:rPr lang="ko-KR" altLang="en-US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 안 되는 경우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해당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마이그레이션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프로그램 실행 및 데이터 생성 확인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마이그레이션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프로그램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오류시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해당 프로그램 설계자에게 조치 요청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Low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High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513149" y="5626896"/>
            <a:ext cx="9060736" cy="6037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831" dirty="0">
                <a:latin typeface="+mn-ea"/>
              </a:rPr>
              <a:t>※ </a:t>
            </a:r>
            <a:r>
              <a:rPr lang="ko-KR" altLang="en-US" sz="831" dirty="0">
                <a:latin typeface="+mn-ea"/>
              </a:rPr>
              <a:t>유형 </a:t>
            </a:r>
            <a:r>
              <a:rPr lang="en-US" altLang="ko-KR" sz="831" dirty="0">
                <a:latin typeface="+mn-ea"/>
              </a:rPr>
              <a:t>: (1. Business Process/</a:t>
            </a:r>
            <a:r>
              <a:rPr lang="en-US" altLang="ko-KR" sz="831" dirty="0" err="1">
                <a:latin typeface="+mn-ea"/>
              </a:rPr>
              <a:t>Funcation</a:t>
            </a:r>
            <a:r>
              <a:rPr lang="en-US" altLang="ko-KR" sz="831" dirty="0">
                <a:latin typeface="+mn-ea"/>
              </a:rPr>
              <a:t>, 2. Interface/Integration, 3. Data)</a:t>
            </a:r>
          </a:p>
          <a:p>
            <a:r>
              <a:rPr lang="en-US" altLang="ko-KR" sz="831" dirty="0">
                <a:latin typeface="+mn-ea"/>
              </a:rPr>
              <a:t>   </a:t>
            </a:r>
            <a:r>
              <a:rPr lang="ko-KR" altLang="en-US" sz="831" dirty="0">
                <a:latin typeface="+mn-ea"/>
              </a:rPr>
              <a:t>발생가능성</a:t>
            </a:r>
            <a:r>
              <a:rPr lang="en-US" altLang="ko-KR" sz="831" dirty="0">
                <a:latin typeface="+mn-ea"/>
              </a:rPr>
              <a:t>(High  : </a:t>
            </a:r>
            <a:r>
              <a:rPr lang="ko-KR" altLang="en-US" sz="831" dirty="0">
                <a:latin typeface="+mn-ea"/>
              </a:rPr>
              <a:t>발생 가능성 높음</a:t>
            </a:r>
            <a:r>
              <a:rPr lang="en-US" altLang="ko-KR" sz="831" dirty="0">
                <a:latin typeface="+mn-ea"/>
              </a:rPr>
              <a:t>, Middle :  </a:t>
            </a:r>
            <a:r>
              <a:rPr lang="ko-KR" altLang="en-US" sz="831" dirty="0">
                <a:latin typeface="+mn-ea"/>
              </a:rPr>
              <a:t>발생 가능성 중간</a:t>
            </a:r>
            <a:r>
              <a:rPr lang="en-US" altLang="ko-KR" sz="831" dirty="0">
                <a:latin typeface="+mn-ea"/>
              </a:rPr>
              <a:t>, Low  : </a:t>
            </a:r>
            <a:r>
              <a:rPr lang="ko-KR" altLang="en-US" sz="831" dirty="0">
                <a:latin typeface="+mn-ea"/>
              </a:rPr>
              <a:t>발생 가능성 낮음</a:t>
            </a:r>
            <a:r>
              <a:rPr lang="en-US" altLang="ko-KR" sz="831" dirty="0">
                <a:latin typeface="+mn-ea"/>
              </a:rPr>
              <a:t>)</a:t>
            </a:r>
          </a:p>
          <a:p>
            <a:r>
              <a:rPr lang="en-US" altLang="ko-KR" sz="831" dirty="0">
                <a:latin typeface="+mn-ea"/>
              </a:rPr>
              <a:t>   </a:t>
            </a:r>
            <a:r>
              <a:rPr lang="ko-KR" altLang="en-US" sz="831" dirty="0">
                <a:latin typeface="+mn-ea"/>
              </a:rPr>
              <a:t>영향도 </a:t>
            </a:r>
            <a:r>
              <a:rPr lang="en-US" altLang="ko-KR" sz="831" dirty="0">
                <a:latin typeface="+mn-ea"/>
              </a:rPr>
              <a:t>: (Critical : Open </a:t>
            </a:r>
            <a:r>
              <a:rPr lang="ko-KR" altLang="en-US" sz="831" dirty="0">
                <a:latin typeface="+mn-ea"/>
              </a:rPr>
              <a:t>연기 및 시스템 운영 중단</a:t>
            </a:r>
            <a:r>
              <a:rPr lang="en-US" altLang="ko-KR" sz="831" dirty="0">
                <a:latin typeface="+mn-ea"/>
              </a:rPr>
              <a:t>, High  : </a:t>
            </a:r>
            <a:r>
              <a:rPr lang="ko-KR" altLang="en-US" sz="831" dirty="0">
                <a:latin typeface="+mn-ea"/>
              </a:rPr>
              <a:t>여러 부문에 걸친 문제로 긴급 의사결정을 요함</a:t>
            </a:r>
            <a:r>
              <a:rPr lang="en-US" altLang="ko-KR" sz="831" dirty="0">
                <a:latin typeface="+mn-ea"/>
              </a:rPr>
              <a:t>, Middle  : </a:t>
            </a:r>
            <a:r>
              <a:rPr lang="ko-KR" altLang="en-US" sz="831" dirty="0">
                <a:latin typeface="+mn-ea"/>
              </a:rPr>
              <a:t>모둘 자체 문제로 </a:t>
            </a:r>
            <a:r>
              <a:rPr lang="ko-KR" altLang="en-US" sz="831" dirty="0" err="1">
                <a:latin typeface="+mn-ea"/>
              </a:rPr>
              <a:t>모듈내</a:t>
            </a:r>
            <a:r>
              <a:rPr lang="ko-KR" altLang="en-US" sz="831" dirty="0">
                <a:latin typeface="+mn-ea"/>
              </a:rPr>
              <a:t> 계획 </a:t>
            </a:r>
            <a:r>
              <a:rPr lang="ko-KR" altLang="en-US" sz="831" dirty="0" err="1">
                <a:latin typeface="+mn-ea"/>
              </a:rPr>
              <a:t>수립후</a:t>
            </a:r>
            <a:r>
              <a:rPr lang="ko-KR" altLang="en-US" sz="831" dirty="0">
                <a:latin typeface="+mn-ea"/>
              </a:rPr>
              <a:t> 대처함</a:t>
            </a:r>
            <a:r>
              <a:rPr lang="en-US" altLang="ko-KR" sz="831" dirty="0">
                <a:latin typeface="+mn-ea"/>
              </a:rPr>
              <a:t>,</a:t>
            </a:r>
          </a:p>
          <a:p>
            <a:r>
              <a:rPr lang="en-US" altLang="ko-KR" sz="831" dirty="0">
                <a:latin typeface="+mn-ea"/>
              </a:rPr>
              <a:t>                Low : </a:t>
            </a:r>
            <a:r>
              <a:rPr lang="ko-KR" altLang="en-US" sz="831" dirty="0">
                <a:latin typeface="+mn-ea"/>
              </a:rPr>
              <a:t>일상 에러 수준으로 단순 조치를 함</a:t>
            </a:r>
            <a:r>
              <a:rPr lang="en-US" altLang="ko-KR" sz="831" dirty="0">
                <a:latin typeface="+mn-ea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089290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28028</TotalTime>
  <Words>1855</Words>
  <Application>Microsoft Office PowerPoint</Application>
  <PresentationFormat>A4 용지(210x297mm)</PresentationFormat>
  <Paragraphs>514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1.1 Cut-Over 정의 및 대상</vt:lpstr>
      <vt:lpstr>1.2 Cut-Over 수행 주체</vt:lpstr>
      <vt:lpstr>1.3 Cut-Over 수행 조직</vt:lpstr>
      <vt:lpstr>2.1 데이터 이관 대상 및 일정</vt:lpstr>
      <vt:lpstr>2.2 Data 이관 시 주요 점검 사항</vt:lpstr>
      <vt:lpstr>2.3 Open후 주요 점검 사항</vt:lpstr>
      <vt:lpstr>3.1 Cut-Over 주요 일정</vt:lpstr>
      <vt:lpstr>3.2 Cut-Over 상세 일정</vt:lpstr>
      <vt:lpstr>3.3 Cut-Over 관련 선결 사항</vt:lpstr>
      <vt:lpstr>4.1 상황실 운영 원칙</vt:lpstr>
      <vt:lpstr>4.2 상황실 운영 계획</vt:lpstr>
      <vt:lpstr>4.3 Open후 장애 대응 방안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1572</cp:revision>
  <cp:lastPrinted>2019-06-21T07:56:14Z</cp:lastPrinted>
  <dcterms:created xsi:type="dcterms:W3CDTF">2013-11-13T01:08:07Z</dcterms:created>
  <dcterms:modified xsi:type="dcterms:W3CDTF">2025-04-14T02:11:56Z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