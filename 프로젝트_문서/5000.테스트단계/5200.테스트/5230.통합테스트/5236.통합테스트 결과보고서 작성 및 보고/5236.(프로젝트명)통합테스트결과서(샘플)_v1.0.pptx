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912" r:id="rId4"/>
  </p:sldMasterIdLst>
  <p:notesMasterIdLst>
    <p:notesMasterId r:id="rId15"/>
  </p:notesMasterIdLst>
  <p:handoutMasterIdLst>
    <p:handoutMasterId r:id="rId16"/>
  </p:handoutMasterIdLst>
  <p:sldIdLst>
    <p:sldId id="1165" r:id="rId5"/>
    <p:sldId id="1166" r:id="rId6"/>
    <p:sldId id="1167" r:id="rId7"/>
    <p:sldId id="1172" r:id="rId8"/>
    <p:sldId id="1174" r:id="rId9"/>
    <p:sldId id="1175" r:id="rId10"/>
    <p:sldId id="1179" r:id="rId11"/>
    <p:sldId id="1180" r:id="rId12"/>
    <p:sldId id="1181" r:id="rId13"/>
    <p:sldId id="1160" r:id="rId14"/>
  </p:sldIdLst>
  <p:sldSz cx="9906000" cy="6858000" type="A4"/>
  <p:notesSz cx="6807200" cy="9939338"/>
  <p:defaultTextStyle>
    <a:defPPr>
      <a:defRPr lang="ko-KR"/>
    </a:defPPr>
    <a:lvl1pPr marL="0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48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96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445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592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740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888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036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184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3129" userDrawn="1">
          <p15:clr>
            <a:srgbClr val="A4A3A4"/>
          </p15:clr>
        </p15:guide>
        <p15:guide id="2" pos="2145" userDrawn="1">
          <p15:clr>
            <a:srgbClr val="A4A3A4"/>
          </p15:clr>
        </p15:guide>
        <p15:guide id="3" orient="horz" pos="3132" userDrawn="1">
          <p15:clr>
            <a:srgbClr val="A4A3A4"/>
          </p15:clr>
        </p15:guide>
        <p15:guide id="4" pos="2144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AB4"/>
    <a:srgbClr val="FF0066"/>
    <a:srgbClr val="33CCCC"/>
    <a:srgbClr val="144EA0"/>
    <a:srgbClr val="0050BE"/>
    <a:srgbClr val="2E75B6"/>
    <a:srgbClr val="466597"/>
    <a:srgbClr val="A9CCFF"/>
    <a:srgbClr val="00A7ED"/>
    <a:srgbClr val="E109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093" autoAdjust="0"/>
    <p:restoredTop sz="96339" autoAdjust="0"/>
  </p:normalViewPr>
  <p:slideViewPr>
    <p:cSldViewPr snapToGrid="0">
      <p:cViewPr varScale="1">
        <p:scale>
          <a:sx n="203" d="100"/>
          <a:sy n="203" d="100"/>
        </p:scale>
        <p:origin x="1814" y="144"/>
      </p:cViewPr>
      <p:guideLst/>
    </p:cSldViewPr>
  </p:slideViewPr>
  <p:outlineViewPr>
    <p:cViewPr>
      <p:scale>
        <a:sx n="33" d="100"/>
        <a:sy n="33" d="100"/>
      </p:scale>
      <p:origin x="0" y="-20179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200" d="100"/>
        <a:sy n="200" d="100"/>
      </p:scale>
      <p:origin x="0" y="-11020"/>
    </p:cViewPr>
  </p:sorterViewPr>
  <p:notesViewPr>
    <p:cSldViewPr snapToGrid="0" showGuides="1">
      <p:cViewPr>
        <p:scale>
          <a:sx n="50" d="100"/>
          <a:sy n="50" d="100"/>
        </p:scale>
        <p:origin x="9198" y="2094"/>
      </p:cViewPr>
      <p:guideLst>
        <p:guide orient="horz" pos="3129"/>
        <p:guide pos="2145"/>
        <p:guide orient="horz" pos="3132"/>
        <p:guide pos="2144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5392" y="0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/>
          <a:lstStyle>
            <a:lvl1pPr algn="r">
              <a:defRPr sz="1200"/>
            </a:lvl1pPr>
          </a:lstStyle>
          <a:p>
            <a:fld id="{BBE509C9-7006-4EEF-AE0A-F60A68CFABC4}" type="datetimeFigureOut">
              <a:rPr lang="ko-KR" altLang="en-US" smtClean="0"/>
              <a:pPr/>
              <a:t>2025-04-14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40779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5392" y="9440779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 anchor="b"/>
          <a:lstStyle>
            <a:lvl1pPr algn="r">
              <a:defRPr sz="1200"/>
            </a:lvl1pPr>
          </a:lstStyle>
          <a:p>
            <a:fld id="{FB5D320A-A8AF-4B3E-BD67-EE5ADA87D3B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086425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5392" y="0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/>
          <a:lstStyle>
            <a:lvl1pPr algn="r">
              <a:defRPr sz="1200"/>
            </a:lvl1pPr>
          </a:lstStyle>
          <a:p>
            <a:fld id="{10D8B3E8-78D5-42AF-92B2-138AC5B36093}" type="datetimeFigureOut">
              <a:rPr lang="ko-KR" altLang="en-US" smtClean="0"/>
              <a:pPr/>
              <a:t>2025-04-14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711200" y="744538"/>
            <a:ext cx="5384800" cy="3727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815" tIns="45908" rIns="91815" bIns="45908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082" y="4721186"/>
            <a:ext cx="5447036" cy="4472702"/>
          </a:xfrm>
          <a:prstGeom prst="rect">
            <a:avLst/>
          </a:prstGeom>
        </p:spPr>
        <p:txBody>
          <a:bodyPr vert="horz" lIns="91815" tIns="45908" rIns="91815" bIns="45908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0779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5392" y="9440779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 anchor="b"/>
          <a:lstStyle>
            <a:lvl1pPr algn="r">
              <a:defRPr sz="1200"/>
            </a:lvl1pPr>
          </a:lstStyle>
          <a:p>
            <a:fld id="{EFB921B9-838A-44D3-89D5-5DB0505CE71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505270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48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296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445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592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740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888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036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184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B921B9-838A-44D3-89D5-5DB0505CE71D}" type="slidenum">
              <a:rPr lang="ko-KR" altLang="en-US" smtClean="0"/>
              <a:pPr/>
              <a:t>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49874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_밝은배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900000" y="4941168"/>
            <a:ext cx="3240000" cy="34695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lang="ko-KR" altLang="en-US" sz="1600" b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Segoe UI" panose="020B0502040204020203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 smtClean="0"/>
              <a:t>일자</a:t>
            </a:r>
            <a:endParaRPr lang="en-US" altLang="ko-KR" dirty="0" smtClean="0"/>
          </a:p>
        </p:txBody>
      </p:sp>
      <p:sp>
        <p:nvSpPr>
          <p:cNvPr id="19" name="내용 개체 틀 25"/>
          <p:cNvSpPr>
            <a:spLocks noGrp="1"/>
          </p:cNvSpPr>
          <p:nvPr>
            <p:ph sz="quarter" idx="16" hasCustomPrompt="1"/>
          </p:nvPr>
        </p:nvSpPr>
        <p:spPr>
          <a:xfrm>
            <a:off x="900000" y="5301208"/>
            <a:ext cx="3240000" cy="889496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5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Segoe UI" panose="020B0502040204020203" pitchFamily="34" charset="0"/>
              </a:defRPr>
            </a:lvl1pPr>
            <a:lvl2pPr>
              <a:defRPr>
                <a:solidFill>
                  <a:srgbClr val="7F7F7F"/>
                </a:solidFill>
              </a:defRPr>
            </a:lvl2pPr>
            <a:lvl3pPr>
              <a:defRPr>
                <a:solidFill>
                  <a:srgbClr val="7F7F7F"/>
                </a:solidFill>
              </a:defRPr>
            </a:lvl3pPr>
            <a:lvl4pPr>
              <a:defRPr>
                <a:solidFill>
                  <a:srgbClr val="7F7F7F"/>
                </a:solidFill>
              </a:defRPr>
            </a:lvl4pPr>
            <a:lvl5pPr>
              <a:defRPr>
                <a:solidFill>
                  <a:srgbClr val="7F7F7F"/>
                </a:solidFill>
              </a:defRPr>
            </a:lvl5pPr>
          </a:lstStyle>
          <a:p>
            <a:pPr lvl="0"/>
            <a:r>
              <a:rPr lang="ko-KR" altLang="en-US" dirty="0" smtClean="0"/>
              <a:t>부서명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583" y="321809"/>
            <a:ext cx="6014335" cy="246221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defPPr>
              <a:defRPr lang="ko-KR"/>
            </a:defPPr>
            <a:lvl1pPr indent="0" algn="ctr" defTabSz="914400">
              <a:spcBef>
                <a:spcPts val="0"/>
              </a:spcBef>
              <a:buFont typeface="Arial" pitchFamily="34" charset="0"/>
              <a:buNone/>
              <a:defRPr sz="1200" b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2pPr marL="742950" indent="-285750" defTabSz="914400">
              <a:spcBef>
                <a:spcPct val="20000"/>
              </a:spcBef>
              <a:buFont typeface="Arial" pitchFamily="34" charset="0"/>
              <a:buChar char="–"/>
              <a:defRPr sz="2800"/>
            </a:lvl2pPr>
            <a:lvl3pPr marL="1143000" indent="-228600" defTabSz="914400">
              <a:spcBef>
                <a:spcPct val="20000"/>
              </a:spcBef>
              <a:buFont typeface="Arial" pitchFamily="34" charset="0"/>
              <a:buChar char="•"/>
              <a:defRPr sz="2400"/>
            </a:lvl3pPr>
            <a:lvl4pPr marL="1600200" indent="-228600" defTabSz="914400">
              <a:spcBef>
                <a:spcPct val="20000"/>
              </a:spcBef>
              <a:buFont typeface="Arial" pitchFamily="34" charset="0"/>
              <a:buChar char="–"/>
              <a:defRPr sz="2000"/>
            </a:lvl4pPr>
            <a:lvl5pPr marL="2057400" indent="-228600" defTabSz="914400">
              <a:spcBef>
                <a:spcPct val="20000"/>
              </a:spcBef>
              <a:buFont typeface="Arial" pitchFamily="34" charset="0"/>
              <a:buChar char="»"/>
              <a:defRPr sz="2000"/>
            </a:lvl5pPr>
            <a:lvl6pPr marL="25146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lvl="0" algn="l"/>
            <a:r>
              <a:rPr lang="en-US" altLang="ko-KR" sz="16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Be</a:t>
            </a:r>
            <a:r>
              <a:rPr lang="en-US" altLang="ko-KR" sz="1600" b="1" baseline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Smart with Smart factory</a:t>
            </a:r>
            <a:endParaRPr lang="ko-KR" altLang="en-US" sz="16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내용 개체 틀 27"/>
          <p:cNvSpPr>
            <a:spLocks noGrp="1"/>
          </p:cNvSpPr>
          <p:nvPr>
            <p:ph sz="quarter" idx="14" hasCustomPrompt="1"/>
          </p:nvPr>
        </p:nvSpPr>
        <p:spPr>
          <a:xfrm>
            <a:off x="1080000" y="1952625"/>
            <a:ext cx="5133140" cy="1260351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 marL="0" indent="0">
              <a:spcBef>
                <a:spcPts val="0"/>
              </a:spcBef>
              <a:buNone/>
              <a:defRPr sz="3200" b="1" baseline="0">
                <a:solidFill>
                  <a:schemeClr val="tx1"/>
                </a:solidFill>
                <a:latin typeface="+mn-ea"/>
                <a:ea typeface="+mn-ea"/>
                <a:cs typeface="Segoe UI" panose="020B0502040204020203" pitchFamily="34" charset="0"/>
              </a:defRPr>
            </a:lvl1pPr>
          </a:lstStyle>
          <a:p>
            <a:pPr lvl="0"/>
            <a:r>
              <a:rPr lang="en-US" altLang="ko-KR" dirty="0" smtClean="0"/>
              <a:t>Miracom </a:t>
            </a:r>
            <a:r>
              <a:rPr lang="ko-KR" altLang="en-US" dirty="0" err="1" smtClean="0"/>
              <a:t>표준문서</a:t>
            </a:r>
            <a:endParaRPr lang="ko-KR" altLang="en-US" dirty="0" smtClean="0"/>
          </a:p>
        </p:txBody>
      </p:sp>
      <p:grpSp>
        <p:nvGrpSpPr>
          <p:cNvPr id="49" name="그룹 48"/>
          <p:cNvGrpSpPr/>
          <p:nvPr userDrawn="1"/>
        </p:nvGrpSpPr>
        <p:grpSpPr>
          <a:xfrm>
            <a:off x="900000" y="1513268"/>
            <a:ext cx="5513500" cy="3239999"/>
            <a:chOff x="900000" y="1513268"/>
            <a:chExt cx="5513500" cy="3239999"/>
          </a:xfrm>
          <a:solidFill>
            <a:schemeClr val="accent1"/>
          </a:solidFill>
        </p:grpSpPr>
        <p:grpSp>
          <p:nvGrpSpPr>
            <p:cNvPr id="50" name="그룹 49"/>
            <p:cNvGrpSpPr/>
            <p:nvPr userDrawn="1"/>
          </p:nvGrpSpPr>
          <p:grpSpPr>
            <a:xfrm>
              <a:off x="900000" y="1513268"/>
              <a:ext cx="180000" cy="3239999"/>
              <a:chOff x="900000" y="1513268"/>
              <a:chExt cx="180000" cy="3239999"/>
            </a:xfrm>
            <a:grpFill/>
          </p:grpSpPr>
          <p:sp>
            <p:nvSpPr>
              <p:cNvPr id="57" name="직사각형 56"/>
              <p:cNvSpPr/>
              <p:nvPr userDrawn="1"/>
            </p:nvSpPr>
            <p:spPr>
              <a:xfrm>
                <a:off x="900000" y="1513268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58" name="직사각형 57"/>
              <p:cNvSpPr/>
              <p:nvPr userDrawn="1"/>
            </p:nvSpPr>
            <p:spPr>
              <a:xfrm rot="10800000">
                <a:off x="900000" y="4393267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grpSp>
          <p:nvGrpSpPr>
            <p:cNvPr id="51" name="그룹 50"/>
            <p:cNvGrpSpPr/>
            <p:nvPr userDrawn="1"/>
          </p:nvGrpSpPr>
          <p:grpSpPr>
            <a:xfrm>
              <a:off x="900000" y="1513268"/>
              <a:ext cx="5513500" cy="3239999"/>
              <a:chOff x="900000" y="1513268"/>
              <a:chExt cx="5513500" cy="3239999"/>
            </a:xfrm>
            <a:grpFill/>
          </p:grpSpPr>
          <p:sp>
            <p:nvSpPr>
              <p:cNvPr id="52" name="직사각형 51"/>
              <p:cNvSpPr/>
              <p:nvPr userDrawn="1"/>
            </p:nvSpPr>
            <p:spPr>
              <a:xfrm>
                <a:off x="6233500" y="1513268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rgbClr val="005AB4"/>
                  </a:solidFill>
                </a:endParaRPr>
              </a:p>
            </p:txBody>
          </p:sp>
          <p:grpSp>
            <p:nvGrpSpPr>
              <p:cNvPr id="53" name="그룹 52"/>
              <p:cNvGrpSpPr/>
              <p:nvPr userDrawn="1"/>
            </p:nvGrpSpPr>
            <p:grpSpPr>
              <a:xfrm>
                <a:off x="900000" y="1513269"/>
                <a:ext cx="5513500" cy="3239997"/>
                <a:chOff x="900000" y="1513269"/>
                <a:chExt cx="3240000" cy="3239997"/>
              </a:xfrm>
              <a:grpFill/>
            </p:grpSpPr>
            <p:sp>
              <p:nvSpPr>
                <p:cNvPr id="55" name="직사각형 54"/>
                <p:cNvSpPr/>
                <p:nvPr userDrawn="1"/>
              </p:nvSpPr>
              <p:spPr>
                <a:xfrm rot="16200000">
                  <a:off x="2430000" y="-16731"/>
                  <a:ext cx="180000" cy="324000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sp>
              <p:nvSpPr>
                <p:cNvPr id="56" name="직사각형 55"/>
                <p:cNvSpPr/>
                <p:nvPr userDrawn="1"/>
              </p:nvSpPr>
              <p:spPr>
                <a:xfrm rot="5400000">
                  <a:off x="2430000" y="3043266"/>
                  <a:ext cx="180000" cy="324000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</p:grpSp>
          <p:sp>
            <p:nvSpPr>
              <p:cNvPr id="54" name="직사각형 53"/>
              <p:cNvSpPr/>
              <p:nvPr userDrawn="1"/>
            </p:nvSpPr>
            <p:spPr>
              <a:xfrm rot="10800000">
                <a:off x="6233500" y="4393267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</p:grpSp>
      <p:sp>
        <p:nvSpPr>
          <p:cNvPr id="21" name="내용 개체 틀 27"/>
          <p:cNvSpPr>
            <a:spLocks noGrp="1"/>
          </p:cNvSpPr>
          <p:nvPr>
            <p:ph sz="quarter" idx="17"/>
          </p:nvPr>
        </p:nvSpPr>
        <p:spPr>
          <a:xfrm>
            <a:off x="1080000" y="3356991"/>
            <a:ext cx="5133140" cy="720081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 marL="0" indent="0">
              <a:spcBef>
                <a:spcPts val="0"/>
              </a:spcBef>
              <a:buNone/>
              <a:defRPr sz="2000" b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Segoe UI" panose="020B0502040204020203" pitchFamily="34" charset="0"/>
              </a:defRPr>
            </a:lvl1pPr>
          </a:lstStyle>
          <a:p>
            <a:pPr lvl="0"/>
            <a:endParaRPr lang="ko-KR" altLang="en-US" dirty="0" smtClean="0"/>
          </a:p>
        </p:txBody>
      </p:sp>
      <p:sp>
        <p:nvSpPr>
          <p:cNvPr id="22" name="Text Box 9"/>
          <p:cNvSpPr txBox="1">
            <a:spLocks noChangeArrowheads="1"/>
          </p:cNvSpPr>
          <p:nvPr userDrawn="1"/>
        </p:nvSpPr>
        <p:spPr bwMode="auto">
          <a:xfrm>
            <a:off x="8035119" y="6551183"/>
            <a:ext cx="1524455" cy="923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lvl="0" algn="r" eaLnBrk="0" hangingPunct="0"/>
            <a:r>
              <a:rPr lang="en-US" altLang="ko-KR" sz="600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Copyright © </a:t>
            </a:r>
            <a:r>
              <a:rPr lang="en-US" altLang="ko-KR" sz="600" kern="12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Miracom,Inc</a:t>
            </a:r>
            <a:r>
              <a:rPr lang="en-US" altLang="ko-KR" sz="600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. All rights reserved.</a:t>
            </a:r>
          </a:p>
        </p:txBody>
      </p:sp>
      <p:grpSp>
        <p:nvGrpSpPr>
          <p:cNvPr id="30" name="그룹 29"/>
          <p:cNvGrpSpPr/>
          <p:nvPr userDrawn="1"/>
        </p:nvGrpSpPr>
        <p:grpSpPr>
          <a:xfrm>
            <a:off x="8185656" y="6278567"/>
            <a:ext cx="1373917" cy="226124"/>
            <a:chOff x="7132078" y="2394682"/>
            <a:chExt cx="2286000" cy="376237"/>
          </a:xfrm>
          <a:solidFill>
            <a:srgbClr val="005AB4"/>
          </a:solidFill>
        </p:grpSpPr>
        <p:sp>
          <p:nvSpPr>
            <p:cNvPr id="31" name="Freeform 5"/>
            <p:cNvSpPr>
              <a:spLocks/>
            </p:cNvSpPr>
            <p:nvPr userDrawn="1"/>
          </p:nvSpPr>
          <p:spPr bwMode="auto">
            <a:xfrm>
              <a:off x="9046603" y="2394682"/>
              <a:ext cx="371475" cy="376237"/>
            </a:xfrm>
            <a:custGeom>
              <a:avLst/>
              <a:gdLst>
                <a:gd name="T0" fmla="*/ 117 w 234"/>
                <a:gd name="T1" fmla="*/ 154 h 237"/>
                <a:gd name="T2" fmla="*/ 54 w 234"/>
                <a:gd name="T3" fmla="*/ 0 h 237"/>
                <a:gd name="T4" fmla="*/ 0 w 234"/>
                <a:gd name="T5" fmla="*/ 0 h 237"/>
                <a:gd name="T6" fmla="*/ 0 w 234"/>
                <a:gd name="T7" fmla="*/ 237 h 237"/>
                <a:gd name="T8" fmla="*/ 44 w 234"/>
                <a:gd name="T9" fmla="*/ 237 h 237"/>
                <a:gd name="T10" fmla="*/ 44 w 234"/>
                <a:gd name="T11" fmla="*/ 96 h 237"/>
                <a:gd name="T12" fmla="*/ 102 w 234"/>
                <a:gd name="T13" fmla="*/ 237 h 237"/>
                <a:gd name="T14" fmla="*/ 131 w 234"/>
                <a:gd name="T15" fmla="*/ 237 h 237"/>
                <a:gd name="T16" fmla="*/ 189 w 234"/>
                <a:gd name="T17" fmla="*/ 96 h 237"/>
                <a:gd name="T18" fmla="*/ 189 w 234"/>
                <a:gd name="T19" fmla="*/ 237 h 237"/>
                <a:gd name="T20" fmla="*/ 234 w 234"/>
                <a:gd name="T21" fmla="*/ 237 h 237"/>
                <a:gd name="T22" fmla="*/ 234 w 234"/>
                <a:gd name="T23" fmla="*/ 0 h 237"/>
                <a:gd name="T24" fmla="*/ 181 w 234"/>
                <a:gd name="T25" fmla="*/ 0 h 237"/>
                <a:gd name="T26" fmla="*/ 117 w 234"/>
                <a:gd name="T27" fmla="*/ 154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34" h="237">
                  <a:moveTo>
                    <a:pt x="117" y="154"/>
                  </a:moveTo>
                  <a:lnTo>
                    <a:pt x="54" y="0"/>
                  </a:lnTo>
                  <a:lnTo>
                    <a:pt x="0" y="0"/>
                  </a:lnTo>
                  <a:lnTo>
                    <a:pt x="0" y="237"/>
                  </a:lnTo>
                  <a:lnTo>
                    <a:pt x="44" y="237"/>
                  </a:lnTo>
                  <a:lnTo>
                    <a:pt x="44" y="96"/>
                  </a:lnTo>
                  <a:lnTo>
                    <a:pt x="102" y="237"/>
                  </a:lnTo>
                  <a:lnTo>
                    <a:pt x="131" y="237"/>
                  </a:lnTo>
                  <a:lnTo>
                    <a:pt x="189" y="96"/>
                  </a:lnTo>
                  <a:lnTo>
                    <a:pt x="189" y="237"/>
                  </a:lnTo>
                  <a:lnTo>
                    <a:pt x="234" y="237"/>
                  </a:lnTo>
                  <a:lnTo>
                    <a:pt x="234" y="0"/>
                  </a:lnTo>
                  <a:lnTo>
                    <a:pt x="181" y="0"/>
                  </a:lnTo>
                  <a:lnTo>
                    <a:pt x="117" y="1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2" name="Freeform 6"/>
            <p:cNvSpPr>
              <a:spLocks/>
            </p:cNvSpPr>
            <p:nvPr userDrawn="1"/>
          </p:nvSpPr>
          <p:spPr bwMode="auto">
            <a:xfrm>
              <a:off x="7132078" y="2394682"/>
              <a:ext cx="371475" cy="376237"/>
            </a:xfrm>
            <a:custGeom>
              <a:avLst/>
              <a:gdLst>
                <a:gd name="T0" fmla="*/ 117 w 234"/>
                <a:gd name="T1" fmla="*/ 154 h 237"/>
                <a:gd name="T2" fmla="*/ 54 w 234"/>
                <a:gd name="T3" fmla="*/ 0 h 237"/>
                <a:gd name="T4" fmla="*/ 0 w 234"/>
                <a:gd name="T5" fmla="*/ 0 h 237"/>
                <a:gd name="T6" fmla="*/ 0 w 234"/>
                <a:gd name="T7" fmla="*/ 237 h 237"/>
                <a:gd name="T8" fmla="*/ 45 w 234"/>
                <a:gd name="T9" fmla="*/ 237 h 237"/>
                <a:gd name="T10" fmla="*/ 45 w 234"/>
                <a:gd name="T11" fmla="*/ 96 h 237"/>
                <a:gd name="T12" fmla="*/ 103 w 234"/>
                <a:gd name="T13" fmla="*/ 237 h 237"/>
                <a:gd name="T14" fmla="*/ 132 w 234"/>
                <a:gd name="T15" fmla="*/ 237 h 237"/>
                <a:gd name="T16" fmla="*/ 189 w 234"/>
                <a:gd name="T17" fmla="*/ 96 h 237"/>
                <a:gd name="T18" fmla="*/ 189 w 234"/>
                <a:gd name="T19" fmla="*/ 237 h 237"/>
                <a:gd name="T20" fmla="*/ 234 w 234"/>
                <a:gd name="T21" fmla="*/ 237 h 237"/>
                <a:gd name="T22" fmla="*/ 234 w 234"/>
                <a:gd name="T23" fmla="*/ 0 h 237"/>
                <a:gd name="T24" fmla="*/ 182 w 234"/>
                <a:gd name="T25" fmla="*/ 0 h 237"/>
                <a:gd name="T26" fmla="*/ 117 w 234"/>
                <a:gd name="T27" fmla="*/ 154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34" h="237">
                  <a:moveTo>
                    <a:pt x="117" y="154"/>
                  </a:moveTo>
                  <a:lnTo>
                    <a:pt x="54" y="0"/>
                  </a:lnTo>
                  <a:lnTo>
                    <a:pt x="0" y="0"/>
                  </a:lnTo>
                  <a:lnTo>
                    <a:pt x="0" y="237"/>
                  </a:lnTo>
                  <a:lnTo>
                    <a:pt x="45" y="237"/>
                  </a:lnTo>
                  <a:lnTo>
                    <a:pt x="45" y="96"/>
                  </a:lnTo>
                  <a:lnTo>
                    <a:pt x="103" y="237"/>
                  </a:lnTo>
                  <a:lnTo>
                    <a:pt x="132" y="237"/>
                  </a:lnTo>
                  <a:lnTo>
                    <a:pt x="189" y="96"/>
                  </a:lnTo>
                  <a:lnTo>
                    <a:pt x="189" y="237"/>
                  </a:lnTo>
                  <a:lnTo>
                    <a:pt x="234" y="237"/>
                  </a:lnTo>
                  <a:lnTo>
                    <a:pt x="234" y="0"/>
                  </a:lnTo>
                  <a:lnTo>
                    <a:pt x="182" y="0"/>
                  </a:lnTo>
                  <a:lnTo>
                    <a:pt x="117" y="1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3" name="Rectangle 7"/>
            <p:cNvSpPr>
              <a:spLocks noChangeArrowheads="1"/>
            </p:cNvSpPr>
            <p:nvPr userDrawn="1"/>
          </p:nvSpPr>
          <p:spPr bwMode="auto">
            <a:xfrm>
              <a:off x="7571815" y="2394682"/>
              <a:ext cx="73025" cy="37623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4" name="Freeform 8"/>
            <p:cNvSpPr>
              <a:spLocks noEditPoints="1"/>
            </p:cNvSpPr>
            <p:nvPr userDrawn="1"/>
          </p:nvSpPr>
          <p:spPr bwMode="auto">
            <a:xfrm>
              <a:off x="8629090" y="2394682"/>
              <a:ext cx="369887" cy="376237"/>
            </a:xfrm>
            <a:custGeom>
              <a:avLst/>
              <a:gdLst>
                <a:gd name="T0" fmla="*/ 163 w 169"/>
                <a:gd name="T1" fmla="*/ 51 h 170"/>
                <a:gd name="T2" fmla="*/ 145 w 169"/>
                <a:gd name="T3" fmla="*/ 24 h 170"/>
                <a:gd name="T4" fmla="*/ 119 w 169"/>
                <a:gd name="T5" fmla="*/ 6 h 170"/>
                <a:gd name="T6" fmla="*/ 85 w 169"/>
                <a:gd name="T7" fmla="*/ 0 h 170"/>
                <a:gd name="T8" fmla="*/ 51 w 169"/>
                <a:gd name="T9" fmla="*/ 6 h 170"/>
                <a:gd name="T10" fmla="*/ 24 w 169"/>
                <a:gd name="T11" fmla="*/ 24 h 170"/>
                <a:gd name="T12" fmla="*/ 6 w 169"/>
                <a:gd name="T13" fmla="*/ 51 h 170"/>
                <a:gd name="T14" fmla="*/ 0 w 169"/>
                <a:gd name="T15" fmla="*/ 85 h 170"/>
                <a:gd name="T16" fmla="*/ 6 w 169"/>
                <a:gd name="T17" fmla="*/ 118 h 170"/>
                <a:gd name="T18" fmla="*/ 24 w 169"/>
                <a:gd name="T19" fmla="*/ 146 h 170"/>
                <a:gd name="T20" fmla="*/ 51 w 169"/>
                <a:gd name="T21" fmla="*/ 163 h 170"/>
                <a:gd name="T22" fmla="*/ 85 w 169"/>
                <a:gd name="T23" fmla="*/ 170 h 170"/>
                <a:gd name="T24" fmla="*/ 119 w 169"/>
                <a:gd name="T25" fmla="*/ 163 h 170"/>
                <a:gd name="T26" fmla="*/ 145 w 169"/>
                <a:gd name="T27" fmla="*/ 146 h 170"/>
                <a:gd name="T28" fmla="*/ 163 w 169"/>
                <a:gd name="T29" fmla="*/ 118 h 170"/>
                <a:gd name="T30" fmla="*/ 169 w 169"/>
                <a:gd name="T31" fmla="*/ 85 h 170"/>
                <a:gd name="T32" fmla="*/ 163 w 169"/>
                <a:gd name="T33" fmla="*/ 51 h 170"/>
                <a:gd name="T34" fmla="*/ 132 w 169"/>
                <a:gd name="T35" fmla="*/ 106 h 170"/>
                <a:gd name="T36" fmla="*/ 121 w 169"/>
                <a:gd name="T37" fmla="*/ 123 h 170"/>
                <a:gd name="T38" fmla="*/ 105 w 169"/>
                <a:gd name="T39" fmla="*/ 134 h 170"/>
                <a:gd name="T40" fmla="*/ 64 w 169"/>
                <a:gd name="T41" fmla="*/ 134 h 170"/>
                <a:gd name="T42" fmla="*/ 48 w 169"/>
                <a:gd name="T43" fmla="*/ 123 h 170"/>
                <a:gd name="T44" fmla="*/ 38 w 169"/>
                <a:gd name="T45" fmla="*/ 106 h 170"/>
                <a:gd name="T46" fmla="*/ 34 w 169"/>
                <a:gd name="T47" fmla="*/ 85 h 170"/>
                <a:gd name="T48" fmla="*/ 38 w 169"/>
                <a:gd name="T49" fmla="*/ 64 h 170"/>
                <a:gd name="T50" fmla="*/ 48 w 169"/>
                <a:gd name="T51" fmla="*/ 46 h 170"/>
                <a:gd name="T52" fmla="*/ 64 w 169"/>
                <a:gd name="T53" fmla="*/ 35 h 170"/>
                <a:gd name="T54" fmla="*/ 85 w 169"/>
                <a:gd name="T55" fmla="*/ 31 h 170"/>
                <a:gd name="T56" fmla="*/ 105 w 169"/>
                <a:gd name="T57" fmla="*/ 35 h 170"/>
                <a:gd name="T58" fmla="*/ 121 w 169"/>
                <a:gd name="T59" fmla="*/ 46 h 170"/>
                <a:gd name="T60" fmla="*/ 132 w 169"/>
                <a:gd name="T61" fmla="*/ 64 h 170"/>
                <a:gd name="T62" fmla="*/ 136 w 169"/>
                <a:gd name="T63" fmla="*/ 85 h 170"/>
                <a:gd name="T64" fmla="*/ 132 w 169"/>
                <a:gd name="T65" fmla="*/ 106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69" h="170">
                  <a:moveTo>
                    <a:pt x="163" y="51"/>
                  </a:moveTo>
                  <a:cubicBezTo>
                    <a:pt x="159" y="41"/>
                    <a:pt x="153" y="31"/>
                    <a:pt x="145" y="24"/>
                  </a:cubicBezTo>
                  <a:cubicBezTo>
                    <a:pt x="138" y="16"/>
                    <a:pt x="129" y="10"/>
                    <a:pt x="119" y="6"/>
                  </a:cubicBezTo>
                  <a:cubicBezTo>
                    <a:pt x="108" y="2"/>
                    <a:pt x="97" y="0"/>
                    <a:pt x="85" y="0"/>
                  </a:cubicBezTo>
                  <a:cubicBezTo>
                    <a:pt x="73" y="0"/>
                    <a:pt x="61" y="2"/>
                    <a:pt x="51" y="6"/>
                  </a:cubicBezTo>
                  <a:cubicBezTo>
                    <a:pt x="41" y="10"/>
                    <a:pt x="32" y="16"/>
                    <a:pt x="24" y="24"/>
                  </a:cubicBezTo>
                  <a:cubicBezTo>
                    <a:pt x="17" y="31"/>
                    <a:pt x="11" y="41"/>
                    <a:pt x="6" y="51"/>
                  </a:cubicBezTo>
                  <a:cubicBezTo>
                    <a:pt x="2" y="61"/>
                    <a:pt x="0" y="73"/>
                    <a:pt x="0" y="85"/>
                  </a:cubicBezTo>
                  <a:cubicBezTo>
                    <a:pt x="0" y="97"/>
                    <a:pt x="2" y="108"/>
                    <a:pt x="6" y="118"/>
                  </a:cubicBezTo>
                  <a:cubicBezTo>
                    <a:pt x="11" y="129"/>
                    <a:pt x="17" y="138"/>
                    <a:pt x="24" y="146"/>
                  </a:cubicBezTo>
                  <a:cubicBezTo>
                    <a:pt x="32" y="153"/>
                    <a:pt x="41" y="159"/>
                    <a:pt x="51" y="163"/>
                  </a:cubicBezTo>
                  <a:cubicBezTo>
                    <a:pt x="61" y="168"/>
                    <a:pt x="73" y="170"/>
                    <a:pt x="85" y="170"/>
                  </a:cubicBezTo>
                  <a:cubicBezTo>
                    <a:pt x="97" y="170"/>
                    <a:pt x="108" y="168"/>
                    <a:pt x="119" y="163"/>
                  </a:cubicBezTo>
                  <a:cubicBezTo>
                    <a:pt x="129" y="159"/>
                    <a:pt x="138" y="153"/>
                    <a:pt x="145" y="146"/>
                  </a:cubicBezTo>
                  <a:cubicBezTo>
                    <a:pt x="153" y="138"/>
                    <a:pt x="159" y="129"/>
                    <a:pt x="163" y="118"/>
                  </a:cubicBezTo>
                  <a:cubicBezTo>
                    <a:pt x="167" y="108"/>
                    <a:pt x="169" y="97"/>
                    <a:pt x="169" y="85"/>
                  </a:cubicBezTo>
                  <a:cubicBezTo>
                    <a:pt x="169" y="73"/>
                    <a:pt x="167" y="61"/>
                    <a:pt x="163" y="51"/>
                  </a:cubicBezTo>
                  <a:close/>
                  <a:moveTo>
                    <a:pt x="132" y="106"/>
                  </a:moveTo>
                  <a:cubicBezTo>
                    <a:pt x="129" y="112"/>
                    <a:pt x="126" y="118"/>
                    <a:pt x="121" y="123"/>
                  </a:cubicBezTo>
                  <a:cubicBezTo>
                    <a:pt x="117" y="128"/>
                    <a:pt x="112" y="132"/>
                    <a:pt x="105" y="134"/>
                  </a:cubicBezTo>
                  <a:cubicBezTo>
                    <a:pt x="93" y="140"/>
                    <a:pt x="76" y="140"/>
                    <a:pt x="64" y="134"/>
                  </a:cubicBezTo>
                  <a:cubicBezTo>
                    <a:pt x="58" y="132"/>
                    <a:pt x="52" y="128"/>
                    <a:pt x="48" y="123"/>
                  </a:cubicBezTo>
                  <a:cubicBezTo>
                    <a:pt x="44" y="118"/>
                    <a:pt x="40" y="112"/>
                    <a:pt x="38" y="106"/>
                  </a:cubicBezTo>
                  <a:cubicBezTo>
                    <a:pt x="35" y="99"/>
                    <a:pt x="34" y="92"/>
                    <a:pt x="34" y="85"/>
                  </a:cubicBezTo>
                  <a:cubicBezTo>
                    <a:pt x="34" y="77"/>
                    <a:pt x="35" y="70"/>
                    <a:pt x="38" y="64"/>
                  </a:cubicBezTo>
                  <a:cubicBezTo>
                    <a:pt x="40" y="57"/>
                    <a:pt x="44" y="51"/>
                    <a:pt x="48" y="46"/>
                  </a:cubicBezTo>
                  <a:cubicBezTo>
                    <a:pt x="52" y="42"/>
                    <a:pt x="58" y="38"/>
                    <a:pt x="64" y="35"/>
                  </a:cubicBezTo>
                  <a:cubicBezTo>
                    <a:pt x="70" y="32"/>
                    <a:pt x="77" y="31"/>
                    <a:pt x="85" y="31"/>
                  </a:cubicBezTo>
                  <a:cubicBezTo>
                    <a:pt x="92" y="31"/>
                    <a:pt x="99" y="32"/>
                    <a:pt x="105" y="35"/>
                  </a:cubicBezTo>
                  <a:cubicBezTo>
                    <a:pt x="112" y="38"/>
                    <a:pt x="117" y="42"/>
                    <a:pt x="121" y="46"/>
                  </a:cubicBezTo>
                  <a:cubicBezTo>
                    <a:pt x="126" y="51"/>
                    <a:pt x="129" y="57"/>
                    <a:pt x="132" y="64"/>
                  </a:cubicBezTo>
                  <a:cubicBezTo>
                    <a:pt x="134" y="70"/>
                    <a:pt x="136" y="77"/>
                    <a:pt x="136" y="85"/>
                  </a:cubicBezTo>
                  <a:cubicBezTo>
                    <a:pt x="136" y="92"/>
                    <a:pt x="134" y="99"/>
                    <a:pt x="132" y="1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5" name="Freeform 9"/>
            <p:cNvSpPr>
              <a:spLocks noEditPoints="1"/>
            </p:cNvSpPr>
            <p:nvPr userDrawn="1"/>
          </p:nvSpPr>
          <p:spPr bwMode="auto">
            <a:xfrm>
              <a:off x="7711515" y="2394682"/>
              <a:ext cx="282575" cy="376237"/>
            </a:xfrm>
            <a:custGeom>
              <a:avLst/>
              <a:gdLst>
                <a:gd name="T0" fmla="*/ 82 w 129"/>
                <a:gd name="T1" fmla="*/ 96 h 170"/>
                <a:gd name="T2" fmla="*/ 104 w 129"/>
                <a:gd name="T3" fmla="*/ 83 h 170"/>
                <a:gd name="T4" fmla="*/ 117 w 129"/>
                <a:gd name="T5" fmla="*/ 50 h 170"/>
                <a:gd name="T6" fmla="*/ 110 w 129"/>
                <a:gd name="T7" fmla="*/ 23 h 170"/>
                <a:gd name="T8" fmla="*/ 93 w 129"/>
                <a:gd name="T9" fmla="*/ 8 h 170"/>
                <a:gd name="T10" fmla="*/ 70 w 129"/>
                <a:gd name="T11" fmla="*/ 1 h 170"/>
                <a:gd name="T12" fmla="*/ 47 w 129"/>
                <a:gd name="T13" fmla="*/ 0 h 170"/>
                <a:gd name="T14" fmla="*/ 0 w 129"/>
                <a:gd name="T15" fmla="*/ 0 h 170"/>
                <a:gd name="T16" fmla="*/ 0 w 129"/>
                <a:gd name="T17" fmla="*/ 170 h 170"/>
                <a:gd name="T18" fmla="*/ 34 w 129"/>
                <a:gd name="T19" fmla="*/ 170 h 170"/>
                <a:gd name="T20" fmla="*/ 34 w 129"/>
                <a:gd name="T21" fmla="*/ 101 h 170"/>
                <a:gd name="T22" fmla="*/ 45 w 129"/>
                <a:gd name="T23" fmla="*/ 101 h 170"/>
                <a:gd name="T24" fmla="*/ 87 w 129"/>
                <a:gd name="T25" fmla="*/ 170 h 170"/>
                <a:gd name="T26" fmla="*/ 116 w 129"/>
                <a:gd name="T27" fmla="*/ 170 h 170"/>
                <a:gd name="T28" fmla="*/ 129 w 129"/>
                <a:gd name="T29" fmla="*/ 170 h 170"/>
                <a:gd name="T30" fmla="*/ 129 w 129"/>
                <a:gd name="T31" fmla="*/ 170 h 170"/>
                <a:gd name="T32" fmla="*/ 82 w 129"/>
                <a:gd name="T33" fmla="*/ 96 h 170"/>
                <a:gd name="T34" fmla="*/ 79 w 129"/>
                <a:gd name="T35" fmla="*/ 60 h 170"/>
                <a:gd name="T36" fmla="*/ 71 w 129"/>
                <a:gd name="T37" fmla="*/ 65 h 170"/>
                <a:gd name="T38" fmla="*/ 58 w 129"/>
                <a:gd name="T39" fmla="*/ 68 h 170"/>
                <a:gd name="T40" fmla="*/ 42 w 129"/>
                <a:gd name="T41" fmla="*/ 68 h 170"/>
                <a:gd name="T42" fmla="*/ 34 w 129"/>
                <a:gd name="T43" fmla="*/ 68 h 170"/>
                <a:gd name="T44" fmla="*/ 34 w 129"/>
                <a:gd name="T45" fmla="*/ 32 h 170"/>
                <a:gd name="T46" fmla="*/ 52 w 129"/>
                <a:gd name="T47" fmla="*/ 32 h 170"/>
                <a:gd name="T48" fmla="*/ 64 w 129"/>
                <a:gd name="T49" fmla="*/ 33 h 170"/>
                <a:gd name="T50" fmla="*/ 74 w 129"/>
                <a:gd name="T51" fmla="*/ 36 h 170"/>
                <a:gd name="T52" fmla="*/ 79 w 129"/>
                <a:gd name="T53" fmla="*/ 41 h 170"/>
                <a:gd name="T54" fmla="*/ 81 w 129"/>
                <a:gd name="T55" fmla="*/ 50 h 170"/>
                <a:gd name="T56" fmla="*/ 79 w 129"/>
                <a:gd name="T57" fmla="*/ 6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29" h="170">
                  <a:moveTo>
                    <a:pt x="82" y="96"/>
                  </a:moveTo>
                  <a:cubicBezTo>
                    <a:pt x="91" y="94"/>
                    <a:pt x="98" y="89"/>
                    <a:pt x="104" y="83"/>
                  </a:cubicBezTo>
                  <a:cubicBezTo>
                    <a:pt x="112" y="75"/>
                    <a:pt x="117" y="63"/>
                    <a:pt x="117" y="50"/>
                  </a:cubicBezTo>
                  <a:cubicBezTo>
                    <a:pt x="117" y="39"/>
                    <a:pt x="114" y="30"/>
                    <a:pt x="110" y="23"/>
                  </a:cubicBezTo>
                  <a:cubicBezTo>
                    <a:pt x="106" y="16"/>
                    <a:pt x="100" y="11"/>
                    <a:pt x="93" y="8"/>
                  </a:cubicBezTo>
                  <a:cubicBezTo>
                    <a:pt x="86" y="4"/>
                    <a:pt x="78" y="2"/>
                    <a:pt x="70" y="1"/>
                  </a:cubicBezTo>
                  <a:cubicBezTo>
                    <a:pt x="63" y="0"/>
                    <a:pt x="55" y="0"/>
                    <a:pt x="4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70"/>
                    <a:pt x="0" y="170"/>
                    <a:pt x="0" y="170"/>
                  </a:cubicBezTo>
                  <a:cubicBezTo>
                    <a:pt x="34" y="170"/>
                    <a:pt x="34" y="170"/>
                    <a:pt x="34" y="170"/>
                  </a:cubicBezTo>
                  <a:cubicBezTo>
                    <a:pt x="34" y="101"/>
                    <a:pt x="34" y="101"/>
                    <a:pt x="34" y="101"/>
                  </a:cubicBezTo>
                  <a:cubicBezTo>
                    <a:pt x="45" y="101"/>
                    <a:pt x="45" y="101"/>
                    <a:pt x="45" y="101"/>
                  </a:cubicBezTo>
                  <a:cubicBezTo>
                    <a:pt x="87" y="170"/>
                    <a:pt x="87" y="170"/>
                    <a:pt x="87" y="170"/>
                  </a:cubicBezTo>
                  <a:cubicBezTo>
                    <a:pt x="116" y="170"/>
                    <a:pt x="116" y="170"/>
                    <a:pt x="116" y="170"/>
                  </a:cubicBezTo>
                  <a:cubicBezTo>
                    <a:pt x="129" y="170"/>
                    <a:pt x="129" y="170"/>
                    <a:pt x="129" y="170"/>
                  </a:cubicBezTo>
                  <a:cubicBezTo>
                    <a:pt x="129" y="170"/>
                    <a:pt x="129" y="170"/>
                    <a:pt x="129" y="170"/>
                  </a:cubicBezTo>
                  <a:lnTo>
                    <a:pt x="82" y="96"/>
                  </a:lnTo>
                  <a:close/>
                  <a:moveTo>
                    <a:pt x="79" y="60"/>
                  </a:moveTo>
                  <a:cubicBezTo>
                    <a:pt x="77" y="62"/>
                    <a:pt x="74" y="64"/>
                    <a:pt x="71" y="65"/>
                  </a:cubicBezTo>
                  <a:cubicBezTo>
                    <a:pt x="67" y="67"/>
                    <a:pt x="62" y="67"/>
                    <a:pt x="58" y="68"/>
                  </a:cubicBezTo>
                  <a:cubicBezTo>
                    <a:pt x="52" y="68"/>
                    <a:pt x="47" y="68"/>
                    <a:pt x="42" y="68"/>
                  </a:cubicBezTo>
                  <a:cubicBezTo>
                    <a:pt x="34" y="68"/>
                    <a:pt x="34" y="68"/>
                    <a:pt x="34" y="68"/>
                  </a:cubicBezTo>
                  <a:cubicBezTo>
                    <a:pt x="34" y="32"/>
                    <a:pt x="34" y="32"/>
                    <a:pt x="34" y="32"/>
                  </a:cubicBezTo>
                  <a:cubicBezTo>
                    <a:pt x="52" y="32"/>
                    <a:pt x="52" y="32"/>
                    <a:pt x="52" y="32"/>
                  </a:cubicBezTo>
                  <a:cubicBezTo>
                    <a:pt x="56" y="32"/>
                    <a:pt x="60" y="33"/>
                    <a:pt x="64" y="33"/>
                  </a:cubicBezTo>
                  <a:cubicBezTo>
                    <a:pt x="68" y="34"/>
                    <a:pt x="71" y="35"/>
                    <a:pt x="74" y="36"/>
                  </a:cubicBezTo>
                  <a:cubicBezTo>
                    <a:pt x="76" y="37"/>
                    <a:pt x="78" y="39"/>
                    <a:pt x="79" y="41"/>
                  </a:cubicBezTo>
                  <a:cubicBezTo>
                    <a:pt x="81" y="43"/>
                    <a:pt x="81" y="46"/>
                    <a:pt x="81" y="50"/>
                  </a:cubicBezTo>
                  <a:cubicBezTo>
                    <a:pt x="81" y="55"/>
                    <a:pt x="81" y="58"/>
                    <a:pt x="79" y="6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6" name="Freeform 10"/>
            <p:cNvSpPr>
              <a:spLocks noEditPoints="1"/>
            </p:cNvSpPr>
            <p:nvPr userDrawn="1"/>
          </p:nvSpPr>
          <p:spPr bwMode="auto">
            <a:xfrm>
              <a:off x="8003615" y="2394682"/>
              <a:ext cx="347662" cy="376237"/>
            </a:xfrm>
            <a:custGeom>
              <a:avLst/>
              <a:gdLst>
                <a:gd name="T0" fmla="*/ 119 w 219"/>
                <a:gd name="T1" fmla="*/ 0 h 237"/>
                <a:gd name="T2" fmla="*/ 81 w 219"/>
                <a:gd name="T3" fmla="*/ 0 h 237"/>
                <a:gd name="T4" fmla="*/ 0 w 219"/>
                <a:gd name="T5" fmla="*/ 188 h 237"/>
                <a:gd name="T6" fmla="*/ 30 w 219"/>
                <a:gd name="T7" fmla="*/ 237 h 237"/>
                <a:gd name="T8" fmla="*/ 52 w 219"/>
                <a:gd name="T9" fmla="*/ 184 h 237"/>
                <a:gd name="T10" fmla="*/ 144 w 219"/>
                <a:gd name="T11" fmla="*/ 184 h 237"/>
                <a:gd name="T12" fmla="*/ 166 w 219"/>
                <a:gd name="T13" fmla="*/ 237 h 237"/>
                <a:gd name="T14" fmla="*/ 219 w 219"/>
                <a:gd name="T15" fmla="*/ 237 h 237"/>
                <a:gd name="T16" fmla="*/ 119 w 219"/>
                <a:gd name="T17" fmla="*/ 0 h 237"/>
                <a:gd name="T18" fmla="*/ 70 w 219"/>
                <a:gd name="T19" fmla="*/ 141 h 237"/>
                <a:gd name="T20" fmla="*/ 99 w 219"/>
                <a:gd name="T21" fmla="*/ 71 h 237"/>
                <a:gd name="T22" fmla="*/ 128 w 219"/>
                <a:gd name="T23" fmla="*/ 141 h 237"/>
                <a:gd name="T24" fmla="*/ 70 w 219"/>
                <a:gd name="T25" fmla="*/ 141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19" h="237">
                  <a:moveTo>
                    <a:pt x="119" y="0"/>
                  </a:moveTo>
                  <a:lnTo>
                    <a:pt x="81" y="0"/>
                  </a:lnTo>
                  <a:lnTo>
                    <a:pt x="0" y="188"/>
                  </a:lnTo>
                  <a:lnTo>
                    <a:pt x="30" y="237"/>
                  </a:lnTo>
                  <a:lnTo>
                    <a:pt x="52" y="184"/>
                  </a:lnTo>
                  <a:lnTo>
                    <a:pt x="144" y="184"/>
                  </a:lnTo>
                  <a:lnTo>
                    <a:pt x="166" y="237"/>
                  </a:lnTo>
                  <a:lnTo>
                    <a:pt x="219" y="237"/>
                  </a:lnTo>
                  <a:lnTo>
                    <a:pt x="119" y="0"/>
                  </a:lnTo>
                  <a:close/>
                  <a:moveTo>
                    <a:pt x="70" y="141"/>
                  </a:moveTo>
                  <a:lnTo>
                    <a:pt x="99" y="71"/>
                  </a:lnTo>
                  <a:lnTo>
                    <a:pt x="128" y="141"/>
                  </a:lnTo>
                  <a:lnTo>
                    <a:pt x="70" y="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7" name="Freeform 11"/>
            <p:cNvSpPr>
              <a:spLocks/>
            </p:cNvSpPr>
            <p:nvPr userDrawn="1"/>
          </p:nvSpPr>
          <p:spPr bwMode="auto">
            <a:xfrm>
              <a:off x="8340165" y="2394682"/>
              <a:ext cx="295275" cy="376237"/>
            </a:xfrm>
            <a:custGeom>
              <a:avLst/>
              <a:gdLst>
                <a:gd name="T0" fmla="*/ 118 w 135"/>
                <a:gd name="T1" fmla="*/ 129 h 170"/>
                <a:gd name="T2" fmla="*/ 118 w 135"/>
                <a:gd name="T3" fmla="*/ 127 h 170"/>
                <a:gd name="T4" fmla="*/ 116 w 135"/>
                <a:gd name="T5" fmla="*/ 129 h 170"/>
                <a:gd name="T6" fmla="*/ 115 w 135"/>
                <a:gd name="T7" fmla="*/ 129 h 170"/>
                <a:gd name="T8" fmla="*/ 106 w 135"/>
                <a:gd name="T9" fmla="*/ 134 h 170"/>
                <a:gd name="T10" fmla="*/ 87 w 135"/>
                <a:gd name="T11" fmla="*/ 138 h 170"/>
                <a:gd name="T12" fmla="*/ 50 w 135"/>
                <a:gd name="T13" fmla="*/ 123 h 170"/>
                <a:gd name="T14" fmla="*/ 34 w 135"/>
                <a:gd name="T15" fmla="*/ 85 h 170"/>
                <a:gd name="T16" fmla="*/ 50 w 135"/>
                <a:gd name="T17" fmla="*/ 47 h 170"/>
                <a:gd name="T18" fmla="*/ 87 w 135"/>
                <a:gd name="T19" fmla="*/ 32 h 170"/>
                <a:gd name="T20" fmla="*/ 116 w 135"/>
                <a:gd name="T21" fmla="*/ 41 h 170"/>
                <a:gd name="T22" fmla="*/ 117 w 135"/>
                <a:gd name="T23" fmla="*/ 42 h 170"/>
                <a:gd name="T24" fmla="*/ 134 w 135"/>
                <a:gd name="T25" fmla="*/ 15 h 170"/>
                <a:gd name="T26" fmla="*/ 135 w 135"/>
                <a:gd name="T27" fmla="*/ 13 h 170"/>
                <a:gd name="T28" fmla="*/ 132 w 135"/>
                <a:gd name="T29" fmla="*/ 12 h 170"/>
                <a:gd name="T30" fmla="*/ 88 w 135"/>
                <a:gd name="T31" fmla="*/ 0 h 170"/>
                <a:gd name="T32" fmla="*/ 21 w 135"/>
                <a:gd name="T33" fmla="*/ 30 h 170"/>
                <a:gd name="T34" fmla="*/ 0 w 135"/>
                <a:gd name="T35" fmla="*/ 86 h 170"/>
                <a:gd name="T36" fmla="*/ 25 w 135"/>
                <a:gd name="T37" fmla="*/ 145 h 170"/>
                <a:gd name="T38" fmla="*/ 86 w 135"/>
                <a:gd name="T39" fmla="*/ 170 h 170"/>
                <a:gd name="T40" fmla="*/ 132 w 135"/>
                <a:gd name="T41" fmla="*/ 158 h 170"/>
                <a:gd name="T42" fmla="*/ 135 w 135"/>
                <a:gd name="T43" fmla="*/ 156 h 170"/>
                <a:gd name="T44" fmla="*/ 118 w 135"/>
                <a:gd name="T45" fmla="*/ 129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35" h="170">
                  <a:moveTo>
                    <a:pt x="118" y="129"/>
                  </a:moveTo>
                  <a:cubicBezTo>
                    <a:pt x="118" y="127"/>
                    <a:pt x="118" y="127"/>
                    <a:pt x="118" y="127"/>
                  </a:cubicBezTo>
                  <a:cubicBezTo>
                    <a:pt x="116" y="129"/>
                    <a:pt x="116" y="129"/>
                    <a:pt x="116" y="129"/>
                  </a:cubicBezTo>
                  <a:cubicBezTo>
                    <a:pt x="115" y="129"/>
                    <a:pt x="115" y="129"/>
                    <a:pt x="115" y="129"/>
                  </a:cubicBezTo>
                  <a:cubicBezTo>
                    <a:pt x="112" y="131"/>
                    <a:pt x="109" y="133"/>
                    <a:pt x="106" y="134"/>
                  </a:cubicBezTo>
                  <a:cubicBezTo>
                    <a:pt x="101" y="137"/>
                    <a:pt x="94" y="138"/>
                    <a:pt x="87" y="138"/>
                  </a:cubicBezTo>
                  <a:cubicBezTo>
                    <a:pt x="72" y="138"/>
                    <a:pt x="60" y="133"/>
                    <a:pt x="50" y="123"/>
                  </a:cubicBezTo>
                  <a:cubicBezTo>
                    <a:pt x="39" y="112"/>
                    <a:pt x="34" y="100"/>
                    <a:pt x="34" y="85"/>
                  </a:cubicBezTo>
                  <a:cubicBezTo>
                    <a:pt x="34" y="70"/>
                    <a:pt x="39" y="58"/>
                    <a:pt x="50" y="47"/>
                  </a:cubicBezTo>
                  <a:cubicBezTo>
                    <a:pt x="60" y="37"/>
                    <a:pt x="72" y="32"/>
                    <a:pt x="87" y="32"/>
                  </a:cubicBezTo>
                  <a:cubicBezTo>
                    <a:pt x="96" y="32"/>
                    <a:pt x="106" y="35"/>
                    <a:pt x="116" y="41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34" y="15"/>
                    <a:pt x="134" y="15"/>
                    <a:pt x="134" y="15"/>
                  </a:cubicBezTo>
                  <a:cubicBezTo>
                    <a:pt x="135" y="13"/>
                    <a:pt x="135" y="13"/>
                    <a:pt x="135" y="13"/>
                  </a:cubicBezTo>
                  <a:cubicBezTo>
                    <a:pt x="132" y="12"/>
                    <a:pt x="132" y="12"/>
                    <a:pt x="132" y="12"/>
                  </a:cubicBezTo>
                  <a:cubicBezTo>
                    <a:pt x="118" y="4"/>
                    <a:pt x="103" y="0"/>
                    <a:pt x="88" y="0"/>
                  </a:cubicBezTo>
                  <a:cubicBezTo>
                    <a:pt x="61" y="0"/>
                    <a:pt x="38" y="10"/>
                    <a:pt x="21" y="30"/>
                  </a:cubicBezTo>
                  <a:cubicBezTo>
                    <a:pt x="7" y="46"/>
                    <a:pt x="0" y="65"/>
                    <a:pt x="0" y="86"/>
                  </a:cubicBezTo>
                  <a:cubicBezTo>
                    <a:pt x="0" y="109"/>
                    <a:pt x="9" y="129"/>
                    <a:pt x="25" y="145"/>
                  </a:cubicBezTo>
                  <a:cubicBezTo>
                    <a:pt x="42" y="161"/>
                    <a:pt x="63" y="170"/>
                    <a:pt x="86" y="170"/>
                  </a:cubicBezTo>
                  <a:cubicBezTo>
                    <a:pt x="102" y="170"/>
                    <a:pt x="117" y="166"/>
                    <a:pt x="132" y="158"/>
                  </a:cubicBezTo>
                  <a:cubicBezTo>
                    <a:pt x="135" y="156"/>
                    <a:pt x="135" y="156"/>
                    <a:pt x="135" y="156"/>
                  </a:cubicBezTo>
                  <a:lnTo>
                    <a:pt x="118" y="1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126606605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pos="217" userDrawn="1">
          <p15:clr>
            <a:srgbClr val="FBAE40"/>
          </p15:clr>
        </p15:guide>
        <p15:guide id="2" pos="6023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내용 개체 틀 2"/>
          <p:cNvSpPr>
            <a:spLocks noGrp="1"/>
          </p:cNvSpPr>
          <p:nvPr>
            <p:ph idx="1" hasCustomPrompt="1"/>
          </p:nvPr>
        </p:nvSpPr>
        <p:spPr>
          <a:xfrm>
            <a:off x="3656856" y="1016733"/>
            <a:ext cx="5760640" cy="4525963"/>
          </a:xfrm>
          <a:prstGeom prst="rect">
            <a:avLst/>
          </a:prstGeom>
        </p:spPr>
        <p:txBody>
          <a:bodyPr>
            <a:normAutofit/>
          </a:bodyPr>
          <a:lstStyle>
            <a:lvl1pPr marL="449263" indent="-449263" algn="l" defTabSz="914400" rtl="0" eaLnBrk="1" latinLnBrk="1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romanUcPeriod"/>
              <a:defRPr lang="en-US" altLang="ko-KR" sz="2000" b="1" kern="1200" spc="-20" dirty="0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Segoe UI" panose="020B0502040204020203" pitchFamily="34" charset="0"/>
              </a:defRPr>
            </a:lvl1pPr>
            <a:lvl2pPr marL="631825" indent="-273050">
              <a:buFont typeface="+mj-lt"/>
              <a:buAutoNum type="arabicPeriod"/>
              <a:defRPr sz="1600" b="0">
                <a:solidFill>
                  <a:srgbClr val="7F7F7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00" b="1">
                <a:solidFill>
                  <a:srgbClr val="00B0F0"/>
                </a:solidFill>
              </a:defRPr>
            </a:lvl3pPr>
            <a:lvl4pPr>
              <a:defRPr sz="1800" b="1">
                <a:solidFill>
                  <a:srgbClr val="00B0F0"/>
                </a:solidFill>
              </a:defRPr>
            </a:lvl4pPr>
            <a:lvl5pPr>
              <a:defRPr sz="1800" b="1">
                <a:solidFill>
                  <a:srgbClr val="00B0F0"/>
                </a:solidFill>
              </a:defRPr>
            </a:lvl5pPr>
          </a:lstStyle>
          <a:p>
            <a:pPr marL="449263" lvl="0" indent="-449263" algn="l" defTabSz="914400" rtl="0" eaLnBrk="1" latinLnBrk="1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romanUcPeriod"/>
            </a:pPr>
            <a:r>
              <a:rPr lang="ko-KR" altLang="en-US" dirty="0" smtClean="0"/>
              <a:t>본문의 대 제목 </a:t>
            </a:r>
            <a:r>
              <a:rPr lang="en-US" altLang="ko-KR" dirty="0" smtClean="0"/>
              <a:t>01</a:t>
            </a:r>
          </a:p>
          <a:p>
            <a:pPr lvl="0"/>
            <a:r>
              <a:rPr lang="ko-KR" altLang="en-US" dirty="0" smtClean="0"/>
              <a:t>본문의 대 제목 </a:t>
            </a:r>
            <a:r>
              <a:rPr lang="en-US" altLang="ko-KR" dirty="0" smtClean="0"/>
              <a:t>02</a:t>
            </a:r>
          </a:p>
          <a:p>
            <a:pPr lvl="0"/>
            <a:r>
              <a:rPr lang="ko-KR" altLang="en-US" dirty="0" smtClean="0"/>
              <a:t>본문의 대 제목 </a:t>
            </a:r>
            <a:r>
              <a:rPr lang="en-US" altLang="ko-KR" dirty="0" smtClean="0"/>
              <a:t>03</a:t>
            </a:r>
          </a:p>
          <a:p>
            <a:pPr lvl="0"/>
            <a:r>
              <a:rPr lang="ko-KR" altLang="en-US" dirty="0" smtClean="0"/>
              <a:t>본문의 대 제목 </a:t>
            </a:r>
            <a:r>
              <a:rPr lang="en-US" altLang="ko-KR" dirty="0" smtClean="0"/>
              <a:t>04</a:t>
            </a:r>
          </a:p>
          <a:p>
            <a:pPr lvl="0"/>
            <a:r>
              <a:rPr lang="ko-KR" altLang="en-US" dirty="0" smtClean="0"/>
              <a:t>본문의 대 제목 </a:t>
            </a:r>
            <a:r>
              <a:rPr lang="en-US" altLang="ko-KR" dirty="0" smtClean="0"/>
              <a:t>05</a:t>
            </a:r>
          </a:p>
          <a:p>
            <a:pPr lvl="0"/>
            <a:r>
              <a:rPr lang="ko-KR" altLang="en-US" dirty="0" smtClean="0"/>
              <a:t>별첨자료</a:t>
            </a:r>
          </a:p>
        </p:txBody>
      </p:sp>
      <p:grpSp>
        <p:nvGrpSpPr>
          <p:cNvPr id="3" name="그룹 2"/>
          <p:cNvGrpSpPr/>
          <p:nvPr userDrawn="1"/>
        </p:nvGrpSpPr>
        <p:grpSpPr>
          <a:xfrm>
            <a:off x="884548" y="908722"/>
            <a:ext cx="1944217" cy="1944215"/>
            <a:chOff x="884548" y="908722"/>
            <a:chExt cx="1944217" cy="1944215"/>
          </a:xfrm>
        </p:grpSpPr>
        <p:sp>
          <p:nvSpPr>
            <p:cNvPr id="11" name="직사각형 10"/>
            <p:cNvSpPr/>
            <p:nvPr/>
          </p:nvSpPr>
          <p:spPr>
            <a:xfrm rot="16200000">
              <a:off x="1802651" y="-9381"/>
              <a:ext cx="108012" cy="1944217"/>
            </a:xfrm>
            <a:prstGeom prst="rect">
              <a:avLst/>
            </a:prstGeom>
            <a:solidFill>
              <a:srgbClr val="005AB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직사각형 7"/>
            <p:cNvSpPr/>
            <p:nvPr/>
          </p:nvSpPr>
          <p:spPr>
            <a:xfrm rot="5400000">
              <a:off x="1802651" y="1826822"/>
              <a:ext cx="108012" cy="1944217"/>
            </a:xfrm>
            <a:prstGeom prst="rect">
              <a:avLst/>
            </a:prstGeom>
            <a:solidFill>
              <a:srgbClr val="005AB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901845" y="1618816"/>
            <a:ext cx="1909625" cy="54117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>
            <a:defPPr>
              <a:defRPr lang="ko-KR"/>
            </a:defPPr>
            <a:lvl1pPr>
              <a:lnSpc>
                <a:spcPts val="3500"/>
              </a:lnSpc>
              <a:spcBef>
                <a:spcPts val="0"/>
              </a:spcBef>
              <a:defRPr sz="3200" spc="-2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164194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algn="ctr"/>
            <a:r>
              <a:rPr lang="en-US" altLang="ko-KR" b="1" dirty="0" smtClean="0"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Contents</a:t>
            </a:r>
            <a:endParaRPr lang="en-US" altLang="ko-KR" b="1" dirty="0">
              <a:solidFill>
                <a:schemeClr val="accent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4" name="그룹 3"/>
          <p:cNvGrpSpPr/>
          <p:nvPr userDrawn="1"/>
        </p:nvGrpSpPr>
        <p:grpSpPr>
          <a:xfrm>
            <a:off x="884549" y="908721"/>
            <a:ext cx="1944217" cy="1944216"/>
            <a:chOff x="884549" y="908721"/>
            <a:chExt cx="1944217" cy="1944216"/>
          </a:xfrm>
          <a:solidFill>
            <a:schemeClr val="accent1"/>
          </a:solidFill>
        </p:grpSpPr>
        <p:grpSp>
          <p:nvGrpSpPr>
            <p:cNvPr id="10" name="그룹 9"/>
            <p:cNvGrpSpPr/>
            <p:nvPr/>
          </p:nvGrpSpPr>
          <p:grpSpPr>
            <a:xfrm>
              <a:off x="884549" y="908721"/>
              <a:ext cx="1944217" cy="216024"/>
              <a:chOff x="900000" y="998739"/>
              <a:chExt cx="3240000" cy="360000"/>
            </a:xfrm>
            <a:grpFill/>
          </p:grpSpPr>
          <p:sp>
            <p:nvSpPr>
              <p:cNvPr id="18" name="직사각형 17"/>
              <p:cNvSpPr/>
              <p:nvPr/>
            </p:nvSpPr>
            <p:spPr>
              <a:xfrm>
                <a:off x="3960000" y="998739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9" name="직사각형 18"/>
              <p:cNvSpPr/>
              <p:nvPr/>
            </p:nvSpPr>
            <p:spPr>
              <a:xfrm>
                <a:off x="900000" y="998739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grpSp>
          <p:nvGrpSpPr>
            <p:cNvPr id="12" name="그룹 11"/>
            <p:cNvGrpSpPr/>
            <p:nvPr/>
          </p:nvGrpSpPr>
          <p:grpSpPr>
            <a:xfrm rot="10800000">
              <a:off x="884549" y="2636913"/>
              <a:ext cx="1944217" cy="216024"/>
              <a:chOff x="900000" y="998739"/>
              <a:chExt cx="3240000" cy="360000"/>
            </a:xfrm>
            <a:grpFill/>
          </p:grpSpPr>
          <p:sp>
            <p:nvSpPr>
              <p:cNvPr id="15" name="직사각형 14"/>
              <p:cNvSpPr/>
              <p:nvPr/>
            </p:nvSpPr>
            <p:spPr>
              <a:xfrm>
                <a:off x="3960000" y="998739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6" name="직사각형 15"/>
              <p:cNvSpPr/>
              <p:nvPr/>
            </p:nvSpPr>
            <p:spPr>
              <a:xfrm>
                <a:off x="900000" y="998739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5976113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본문">
    <p:bg>
      <p:bgPr>
        <a:solidFill>
          <a:sysClr val="window" lastClr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380999" y="427042"/>
            <a:ext cx="914400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spAutoFit/>
          </a:bodyPr>
          <a:lstStyle>
            <a:lvl1pPr algn="l">
              <a:defRPr kumimoji="1" lang="en-US" sz="2600" b="1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</a:lstStyle>
          <a:p>
            <a:pPr marL="0" lvl="0" defTabSz="457200" fontAlgn="t" latinLnBrk="0"/>
            <a:r>
              <a:rPr lang="ko-KR" altLang="en-US" dirty="0" smtClean="0"/>
              <a:t>페이지 제목 </a:t>
            </a:r>
            <a:r>
              <a:rPr lang="en-US" altLang="ko-KR" dirty="0" smtClean="0"/>
              <a:t>(</a:t>
            </a:r>
            <a:r>
              <a:rPr lang="ko-KR" altLang="en-US" dirty="0" smtClean="0"/>
              <a:t>맑은 고딕</a:t>
            </a:r>
            <a:r>
              <a:rPr lang="en-US" altLang="ko-KR" dirty="0" smtClean="0"/>
              <a:t>Bold 26pt)</a:t>
            </a:r>
            <a:endParaRPr lang="en-US" dirty="0"/>
          </a:p>
        </p:txBody>
      </p:sp>
      <p:sp>
        <p:nvSpPr>
          <p:cNvPr id="39" name="슬라이드 번호 개체 틀 5"/>
          <p:cNvSpPr txBox="1">
            <a:spLocks/>
          </p:cNvSpPr>
          <p:nvPr userDrawn="1"/>
        </p:nvSpPr>
        <p:spPr>
          <a:xfrm>
            <a:off x="3838575" y="6460617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/>
            <a:fld id="{D84941F0-AFF0-444F-9320-08D07B73C7AD}" type="slidenum">
              <a:rPr lang="ko-KR" altLang="en-US" smtClean="0"/>
              <a:pPr lvl="0"/>
              <a:t>‹#›</a:t>
            </a:fld>
            <a:r>
              <a:rPr lang="en-US" altLang="ko-KR" dirty="0" smtClean="0"/>
              <a:t>/</a:t>
            </a:r>
            <a:r>
              <a:rPr lang="ko-KR" altLang="en-US" dirty="0" smtClean="0"/>
              <a:t>총페이지수</a:t>
            </a:r>
            <a:endParaRPr lang="ko-KR" altLang="en-US" dirty="0"/>
          </a:p>
        </p:txBody>
      </p:sp>
      <p:sp>
        <p:nvSpPr>
          <p:cNvPr id="6" name="텍스트 개체 틀 5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381000" y="899269"/>
            <a:ext cx="9144000" cy="24622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 defTabSz="914296" rtl="0" eaLnBrk="1" latinLnBrk="1" hangingPunct="1">
              <a:spcBef>
                <a:spcPts val="0"/>
              </a:spcBef>
              <a:buNone/>
              <a:defRPr lang="ko-KR" altLang="en-US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0" indent="0" algn="l" defTabSz="914296" rtl="0" eaLnBrk="1" latinLnBrk="1" hangingPunct="1">
              <a:spcBef>
                <a:spcPts val="0"/>
              </a:spcBef>
              <a:buNone/>
              <a:defRPr lang="ko-KR" altLang="en-US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lvl2pPr>
            <a:lvl3pPr marL="0" indent="0" algn="l" defTabSz="914296" rtl="0" eaLnBrk="1" latinLnBrk="1" hangingPunct="1">
              <a:spcBef>
                <a:spcPts val="0"/>
              </a:spcBef>
              <a:buNone/>
              <a:defRPr lang="ko-KR" altLang="en-US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lvl3pPr>
            <a:lvl4pPr marL="0" indent="0" algn="l" defTabSz="914296" rtl="0" eaLnBrk="1" latinLnBrk="1" hangingPunct="1">
              <a:spcBef>
                <a:spcPts val="0"/>
              </a:spcBef>
              <a:buNone/>
              <a:defRPr lang="ko-KR" altLang="en-US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lvl4pPr>
            <a:lvl5pPr marL="0" indent="0" algn="l" defTabSz="914296" rtl="0" eaLnBrk="1" latinLnBrk="1" hangingPunct="1">
              <a:spcBef>
                <a:spcPts val="0"/>
              </a:spcBef>
              <a:buNone/>
              <a:defRPr lang="ko-KR" altLang="en-US" sz="16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lvl5pPr>
          </a:lstStyle>
          <a:p>
            <a:pPr lvl="0"/>
            <a:r>
              <a:rPr lang="ko-KR" altLang="en-US" dirty="0" smtClean="0"/>
              <a:t>페이지 설명 </a:t>
            </a:r>
            <a:r>
              <a:rPr lang="en-US" altLang="ko-KR" dirty="0" smtClean="0"/>
              <a:t>(</a:t>
            </a:r>
            <a:r>
              <a:rPr lang="ko-KR" altLang="en-US" dirty="0" err="1" smtClean="0"/>
              <a:t>맑은고딕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16pt)</a:t>
            </a:r>
          </a:p>
        </p:txBody>
      </p:sp>
      <p:grpSp>
        <p:nvGrpSpPr>
          <p:cNvPr id="10" name="그룹 9"/>
          <p:cNvGrpSpPr/>
          <p:nvPr userDrawn="1"/>
        </p:nvGrpSpPr>
        <p:grpSpPr>
          <a:xfrm>
            <a:off x="6922602" y="6587034"/>
            <a:ext cx="2602398" cy="126449"/>
            <a:chOff x="6922602" y="6587034"/>
            <a:chExt cx="2602398" cy="126449"/>
          </a:xfrm>
        </p:grpSpPr>
        <p:sp>
          <p:nvSpPr>
            <p:cNvPr id="29" name="Text Box 9"/>
            <p:cNvSpPr txBox="1">
              <a:spLocks noChangeArrowheads="1"/>
            </p:cNvSpPr>
            <p:nvPr userDrawn="1"/>
          </p:nvSpPr>
          <p:spPr bwMode="auto">
            <a:xfrm>
              <a:off x="6922602" y="6605761"/>
              <a:ext cx="1899751" cy="1077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 anchor="ctr" anchorCtr="0">
              <a:spAutoFit/>
            </a:bodyPr>
            <a:lstStyle/>
            <a:p>
              <a:pPr algn="r" defTabSz="957474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ko-KR" sz="700" dirty="0" smtClean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7F7F7F"/>
                  </a:solidFill>
                  <a:latin typeface="Segoe UI" panose="020B0502040204020203" pitchFamily="34" charset="0"/>
                  <a:ea typeface="Segoe UI" panose="020B0502040204020203" pitchFamily="34" charset="0"/>
                  <a:cs typeface="Segoe UI" panose="020B0502040204020203" pitchFamily="34" charset="0"/>
                </a:rPr>
                <a:t>Copyright © </a:t>
              </a:r>
              <a:r>
                <a:rPr kumimoji="1" lang="en-US" altLang="ko-KR" sz="700" dirty="0" err="1" smtClean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7F7F7F"/>
                  </a:solidFill>
                  <a:latin typeface="Segoe UI" panose="020B0502040204020203" pitchFamily="34" charset="0"/>
                  <a:ea typeface="Segoe UI" panose="020B0502040204020203" pitchFamily="34" charset="0"/>
                  <a:cs typeface="Segoe UI" panose="020B0502040204020203" pitchFamily="34" charset="0"/>
                </a:rPr>
                <a:t>Miracom,Inc</a:t>
              </a:r>
              <a:r>
                <a:rPr kumimoji="1" lang="en-US" altLang="ko-KR" sz="700" dirty="0" smtClean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7F7F7F"/>
                  </a:solidFill>
                  <a:latin typeface="Segoe UI" panose="020B0502040204020203" pitchFamily="34" charset="0"/>
                  <a:ea typeface="Segoe UI" panose="020B0502040204020203" pitchFamily="34" charset="0"/>
                  <a:cs typeface="Segoe UI" panose="020B0502040204020203" pitchFamily="34" charset="0"/>
                </a:rPr>
                <a:t>. All rights reserved.</a:t>
              </a:r>
            </a:p>
          </p:txBody>
        </p:sp>
        <p:grpSp>
          <p:nvGrpSpPr>
            <p:cNvPr id="50" name="그룹 49"/>
            <p:cNvGrpSpPr/>
            <p:nvPr userDrawn="1"/>
          </p:nvGrpSpPr>
          <p:grpSpPr>
            <a:xfrm>
              <a:off x="8842727" y="6587034"/>
              <a:ext cx="682273" cy="112290"/>
              <a:chOff x="7132078" y="2394682"/>
              <a:chExt cx="2286000" cy="376237"/>
            </a:xfrm>
            <a:solidFill>
              <a:srgbClr val="005AB4"/>
            </a:solidFill>
          </p:grpSpPr>
          <p:sp>
            <p:nvSpPr>
              <p:cNvPr id="51" name="Freeform 5"/>
              <p:cNvSpPr>
                <a:spLocks/>
              </p:cNvSpPr>
              <p:nvPr userDrawn="1"/>
            </p:nvSpPr>
            <p:spPr bwMode="auto">
              <a:xfrm>
                <a:off x="9046603" y="2394682"/>
                <a:ext cx="371475" cy="376237"/>
              </a:xfrm>
              <a:custGeom>
                <a:avLst/>
                <a:gdLst>
                  <a:gd name="T0" fmla="*/ 117 w 234"/>
                  <a:gd name="T1" fmla="*/ 154 h 237"/>
                  <a:gd name="T2" fmla="*/ 54 w 234"/>
                  <a:gd name="T3" fmla="*/ 0 h 237"/>
                  <a:gd name="T4" fmla="*/ 0 w 234"/>
                  <a:gd name="T5" fmla="*/ 0 h 237"/>
                  <a:gd name="T6" fmla="*/ 0 w 234"/>
                  <a:gd name="T7" fmla="*/ 237 h 237"/>
                  <a:gd name="T8" fmla="*/ 44 w 234"/>
                  <a:gd name="T9" fmla="*/ 237 h 237"/>
                  <a:gd name="T10" fmla="*/ 44 w 234"/>
                  <a:gd name="T11" fmla="*/ 96 h 237"/>
                  <a:gd name="T12" fmla="*/ 102 w 234"/>
                  <a:gd name="T13" fmla="*/ 237 h 237"/>
                  <a:gd name="T14" fmla="*/ 131 w 234"/>
                  <a:gd name="T15" fmla="*/ 237 h 237"/>
                  <a:gd name="T16" fmla="*/ 189 w 234"/>
                  <a:gd name="T17" fmla="*/ 96 h 237"/>
                  <a:gd name="T18" fmla="*/ 189 w 234"/>
                  <a:gd name="T19" fmla="*/ 237 h 237"/>
                  <a:gd name="T20" fmla="*/ 234 w 234"/>
                  <a:gd name="T21" fmla="*/ 237 h 237"/>
                  <a:gd name="T22" fmla="*/ 234 w 234"/>
                  <a:gd name="T23" fmla="*/ 0 h 237"/>
                  <a:gd name="T24" fmla="*/ 181 w 234"/>
                  <a:gd name="T25" fmla="*/ 0 h 237"/>
                  <a:gd name="T26" fmla="*/ 117 w 234"/>
                  <a:gd name="T27" fmla="*/ 154 h 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34" h="237">
                    <a:moveTo>
                      <a:pt x="117" y="154"/>
                    </a:moveTo>
                    <a:lnTo>
                      <a:pt x="54" y="0"/>
                    </a:lnTo>
                    <a:lnTo>
                      <a:pt x="0" y="0"/>
                    </a:lnTo>
                    <a:lnTo>
                      <a:pt x="0" y="237"/>
                    </a:lnTo>
                    <a:lnTo>
                      <a:pt x="44" y="237"/>
                    </a:lnTo>
                    <a:lnTo>
                      <a:pt x="44" y="96"/>
                    </a:lnTo>
                    <a:lnTo>
                      <a:pt x="102" y="237"/>
                    </a:lnTo>
                    <a:lnTo>
                      <a:pt x="131" y="237"/>
                    </a:lnTo>
                    <a:lnTo>
                      <a:pt x="189" y="96"/>
                    </a:lnTo>
                    <a:lnTo>
                      <a:pt x="189" y="237"/>
                    </a:lnTo>
                    <a:lnTo>
                      <a:pt x="234" y="237"/>
                    </a:lnTo>
                    <a:lnTo>
                      <a:pt x="234" y="0"/>
                    </a:lnTo>
                    <a:lnTo>
                      <a:pt x="181" y="0"/>
                    </a:lnTo>
                    <a:lnTo>
                      <a:pt x="117" y="15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2" name="Freeform 6"/>
              <p:cNvSpPr>
                <a:spLocks/>
              </p:cNvSpPr>
              <p:nvPr userDrawn="1"/>
            </p:nvSpPr>
            <p:spPr bwMode="auto">
              <a:xfrm>
                <a:off x="7132078" y="2394682"/>
                <a:ext cx="371475" cy="376237"/>
              </a:xfrm>
              <a:custGeom>
                <a:avLst/>
                <a:gdLst>
                  <a:gd name="T0" fmla="*/ 117 w 234"/>
                  <a:gd name="T1" fmla="*/ 154 h 237"/>
                  <a:gd name="T2" fmla="*/ 54 w 234"/>
                  <a:gd name="T3" fmla="*/ 0 h 237"/>
                  <a:gd name="T4" fmla="*/ 0 w 234"/>
                  <a:gd name="T5" fmla="*/ 0 h 237"/>
                  <a:gd name="T6" fmla="*/ 0 w 234"/>
                  <a:gd name="T7" fmla="*/ 237 h 237"/>
                  <a:gd name="T8" fmla="*/ 45 w 234"/>
                  <a:gd name="T9" fmla="*/ 237 h 237"/>
                  <a:gd name="T10" fmla="*/ 45 w 234"/>
                  <a:gd name="T11" fmla="*/ 96 h 237"/>
                  <a:gd name="T12" fmla="*/ 103 w 234"/>
                  <a:gd name="T13" fmla="*/ 237 h 237"/>
                  <a:gd name="T14" fmla="*/ 132 w 234"/>
                  <a:gd name="T15" fmla="*/ 237 h 237"/>
                  <a:gd name="T16" fmla="*/ 189 w 234"/>
                  <a:gd name="T17" fmla="*/ 96 h 237"/>
                  <a:gd name="T18" fmla="*/ 189 w 234"/>
                  <a:gd name="T19" fmla="*/ 237 h 237"/>
                  <a:gd name="T20" fmla="*/ 234 w 234"/>
                  <a:gd name="T21" fmla="*/ 237 h 237"/>
                  <a:gd name="T22" fmla="*/ 234 w 234"/>
                  <a:gd name="T23" fmla="*/ 0 h 237"/>
                  <a:gd name="T24" fmla="*/ 182 w 234"/>
                  <a:gd name="T25" fmla="*/ 0 h 237"/>
                  <a:gd name="T26" fmla="*/ 117 w 234"/>
                  <a:gd name="T27" fmla="*/ 154 h 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34" h="237">
                    <a:moveTo>
                      <a:pt x="117" y="154"/>
                    </a:moveTo>
                    <a:lnTo>
                      <a:pt x="54" y="0"/>
                    </a:lnTo>
                    <a:lnTo>
                      <a:pt x="0" y="0"/>
                    </a:lnTo>
                    <a:lnTo>
                      <a:pt x="0" y="237"/>
                    </a:lnTo>
                    <a:lnTo>
                      <a:pt x="45" y="237"/>
                    </a:lnTo>
                    <a:lnTo>
                      <a:pt x="45" y="96"/>
                    </a:lnTo>
                    <a:lnTo>
                      <a:pt x="103" y="237"/>
                    </a:lnTo>
                    <a:lnTo>
                      <a:pt x="132" y="237"/>
                    </a:lnTo>
                    <a:lnTo>
                      <a:pt x="189" y="96"/>
                    </a:lnTo>
                    <a:lnTo>
                      <a:pt x="189" y="237"/>
                    </a:lnTo>
                    <a:lnTo>
                      <a:pt x="234" y="237"/>
                    </a:lnTo>
                    <a:lnTo>
                      <a:pt x="234" y="0"/>
                    </a:lnTo>
                    <a:lnTo>
                      <a:pt x="182" y="0"/>
                    </a:lnTo>
                    <a:lnTo>
                      <a:pt x="117" y="15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4" name="Rectangle 7"/>
              <p:cNvSpPr>
                <a:spLocks noChangeArrowheads="1"/>
              </p:cNvSpPr>
              <p:nvPr userDrawn="1"/>
            </p:nvSpPr>
            <p:spPr bwMode="auto">
              <a:xfrm>
                <a:off x="7571815" y="2394682"/>
                <a:ext cx="73025" cy="376237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6" name="Freeform 8"/>
              <p:cNvSpPr>
                <a:spLocks noEditPoints="1"/>
              </p:cNvSpPr>
              <p:nvPr userDrawn="1"/>
            </p:nvSpPr>
            <p:spPr bwMode="auto">
              <a:xfrm>
                <a:off x="8629090" y="2394682"/>
                <a:ext cx="369887" cy="376237"/>
              </a:xfrm>
              <a:custGeom>
                <a:avLst/>
                <a:gdLst>
                  <a:gd name="T0" fmla="*/ 163 w 169"/>
                  <a:gd name="T1" fmla="*/ 51 h 170"/>
                  <a:gd name="T2" fmla="*/ 145 w 169"/>
                  <a:gd name="T3" fmla="*/ 24 h 170"/>
                  <a:gd name="T4" fmla="*/ 119 w 169"/>
                  <a:gd name="T5" fmla="*/ 6 h 170"/>
                  <a:gd name="T6" fmla="*/ 85 w 169"/>
                  <a:gd name="T7" fmla="*/ 0 h 170"/>
                  <a:gd name="T8" fmla="*/ 51 w 169"/>
                  <a:gd name="T9" fmla="*/ 6 h 170"/>
                  <a:gd name="T10" fmla="*/ 24 w 169"/>
                  <a:gd name="T11" fmla="*/ 24 h 170"/>
                  <a:gd name="T12" fmla="*/ 6 w 169"/>
                  <a:gd name="T13" fmla="*/ 51 h 170"/>
                  <a:gd name="T14" fmla="*/ 0 w 169"/>
                  <a:gd name="T15" fmla="*/ 85 h 170"/>
                  <a:gd name="T16" fmla="*/ 6 w 169"/>
                  <a:gd name="T17" fmla="*/ 118 h 170"/>
                  <a:gd name="T18" fmla="*/ 24 w 169"/>
                  <a:gd name="T19" fmla="*/ 146 h 170"/>
                  <a:gd name="T20" fmla="*/ 51 w 169"/>
                  <a:gd name="T21" fmla="*/ 163 h 170"/>
                  <a:gd name="T22" fmla="*/ 85 w 169"/>
                  <a:gd name="T23" fmla="*/ 170 h 170"/>
                  <a:gd name="T24" fmla="*/ 119 w 169"/>
                  <a:gd name="T25" fmla="*/ 163 h 170"/>
                  <a:gd name="T26" fmla="*/ 145 w 169"/>
                  <a:gd name="T27" fmla="*/ 146 h 170"/>
                  <a:gd name="T28" fmla="*/ 163 w 169"/>
                  <a:gd name="T29" fmla="*/ 118 h 170"/>
                  <a:gd name="T30" fmla="*/ 169 w 169"/>
                  <a:gd name="T31" fmla="*/ 85 h 170"/>
                  <a:gd name="T32" fmla="*/ 163 w 169"/>
                  <a:gd name="T33" fmla="*/ 51 h 170"/>
                  <a:gd name="T34" fmla="*/ 132 w 169"/>
                  <a:gd name="T35" fmla="*/ 106 h 170"/>
                  <a:gd name="T36" fmla="*/ 121 w 169"/>
                  <a:gd name="T37" fmla="*/ 123 h 170"/>
                  <a:gd name="T38" fmla="*/ 105 w 169"/>
                  <a:gd name="T39" fmla="*/ 134 h 170"/>
                  <a:gd name="T40" fmla="*/ 64 w 169"/>
                  <a:gd name="T41" fmla="*/ 134 h 170"/>
                  <a:gd name="T42" fmla="*/ 48 w 169"/>
                  <a:gd name="T43" fmla="*/ 123 h 170"/>
                  <a:gd name="T44" fmla="*/ 38 w 169"/>
                  <a:gd name="T45" fmla="*/ 106 h 170"/>
                  <a:gd name="T46" fmla="*/ 34 w 169"/>
                  <a:gd name="T47" fmla="*/ 85 h 170"/>
                  <a:gd name="T48" fmla="*/ 38 w 169"/>
                  <a:gd name="T49" fmla="*/ 64 h 170"/>
                  <a:gd name="T50" fmla="*/ 48 w 169"/>
                  <a:gd name="T51" fmla="*/ 46 h 170"/>
                  <a:gd name="T52" fmla="*/ 64 w 169"/>
                  <a:gd name="T53" fmla="*/ 35 h 170"/>
                  <a:gd name="T54" fmla="*/ 85 w 169"/>
                  <a:gd name="T55" fmla="*/ 31 h 170"/>
                  <a:gd name="T56" fmla="*/ 105 w 169"/>
                  <a:gd name="T57" fmla="*/ 35 h 170"/>
                  <a:gd name="T58" fmla="*/ 121 w 169"/>
                  <a:gd name="T59" fmla="*/ 46 h 170"/>
                  <a:gd name="T60" fmla="*/ 132 w 169"/>
                  <a:gd name="T61" fmla="*/ 64 h 170"/>
                  <a:gd name="T62" fmla="*/ 136 w 169"/>
                  <a:gd name="T63" fmla="*/ 85 h 170"/>
                  <a:gd name="T64" fmla="*/ 132 w 169"/>
                  <a:gd name="T65" fmla="*/ 106 h 1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69" h="170">
                    <a:moveTo>
                      <a:pt x="163" y="51"/>
                    </a:moveTo>
                    <a:cubicBezTo>
                      <a:pt x="159" y="41"/>
                      <a:pt x="153" y="31"/>
                      <a:pt x="145" y="24"/>
                    </a:cubicBezTo>
                    <a:cubicBezTo>
                      <a:pt x="138" y="16"/>
                      <a:pt x="129" y="10"/>
                      <a:pt x="119" y="6"/>
                    </a:cubicBezTo>
                    <a:cubicBezTo>
                      <a:pt x="108" y="2"/>
                      <a:pt x="97" y="0"/>
                      <a:pt x="85" y="0"/>
                    </a:cubicBezTo>
                    <a:cubicBezTo>
                      <a:pt x="73" y="0"/>
                      <a:pt x="61" y="2"/>
                      <a:pt x="51" y="6"/>
                    </a:cubicBezTo>
                    <a:cubicBezTo>
                      <a:pt x="41" y="10"/>
                      <a:pt x="32" y="16"/>
                      <a:pt x="24" y="24"/>
                    </a:cubicBezTo>
                    <a:cubicBezTo>
                      <a:pt x="17" y="31"/>
                      <a:pt x="11" y="41"/>
                      <a:pt x="6" y="51"/>
                    </a:cubicBezTo>
                    <a:cubicBezTo>
                      <a:pt x="2" y="61"/>
                      <a:pt x="0" y="73"/>
                      <a:pt x="0" y="85"/>
                    </a:cubicBezTo>
                    <a:cubicBezTo>
                      <a:pt x="0" y="97"/>
                      <a:pt x="2" y="108"/>
                      <a:pt x="6" y="118"/>
                    </a:cubicBezTo>
                    <a:cubicBezTo>
                      <a:pt x="11" y="129"/>
                      <a:pt x="17" y="138"/>
                      <a:pt x="24" y="146"/>
                    </a:cubicBezTo>
                    <a:cubicBezTo>
                      <a:pt x="32" y="153"/>
                      <a:pt x="41" y="159"/>
                      <a:pt x="51" y="163"/>
                    </a:cubicBezTo>
                    <a:cubicBezTo>
                      <a:pt x="61" y="168"/>
                      <a:pt x="73" y="170"/>
                      <a:pt x="85" y="170"/>
                    </a:cubicBezTo>
                    <a:cubicBezTo>
                      <a:pt x="97" y="170"/>
                      <a:pt x="108" y="168"/>
                      <a:pt x="119" y="163"/>
                    </a:cubicBezTo>
                    <a:cubicBezTo>
                      <a:pt x="129" y="159"/>
                      <a:pt x="138" y="153"/>
                      <a:pt x="145" y="146"/>
                    </a:cubicBezTo>
                    <a:cubicBezTo>
                      <a:pt x="153" y="138"/>
                      <a:pt x="159" y="129"/>
                      <a:pt x="163" y="118"/>
                    </a:cubicBezTo>
                    <a:cubicBezTo>
                      <a:pt x="167" y="108"/>
                      <a:pt x="169" y="97"/>
                      <a:pt x="169" y="85"/>
                    </a:cubicBezTo>
                    <a:cubicBezTo>
                      <a:pt x="169" y="73"/>
                      <a:pt x="167" y="61"/>
                      <a:pt x="163" y="51"/>
                    </a:cubicBezTo>
                    <a:close/>
                    <a:moveTo>
                      <a:pt x="132" y="106"/>
                    </a:moveTo>
                    <a:cubicBezTo>
                      <a:pt x="129" y="112"/>
                      <a:pt x="126" y="118"/>
                      <a:pt x="121" y="123"/>
                    </a:cubicBezTo>
                    <a:cubicBezTo>
                      <a:pt x="117" y="128"/>
                      <a:pt x="112" y="132"/>
                      <a:pt x="105" y="134"/>
                    </a:cubicBezTo>
                    <a:cubicBezTo>
                      <a:pt x="93" y="140"/>
                      <a:pt x="76" y="140"/>
                      <a:pt x="64" y="134"/>
                    </a:cubicBezTo>
                    <a:cubicBezTo>
                      <a:pt x="58" y="132"/>
                      <a:pt x="52" y="128"/>
                      <a:pt x="48" y="123"/>
                    </a:cubicBezTo>
                    <a:cubicBezTo>
                      <a:pt x="44" y="118"/>
                      <a:pt x="40" y="112"/>
                      <a:pt x="38" y="106"/>
                    </a:cubicBezTo>
                    <a:cubicBezTo>
                      <a:pt x="35" y="99"/>
                      <a:pt x="34" y="92"/>
                      <a:pt x="34" y="85"/>
                    </a:cubicBezTo>
                    <a:cubicBezTo>
                      <a:pt x="34" y="77"/>
                      <a:pt x="35" y="70"/>
                      <a:pt x="38" y="64"/>
                    </a:cubicBezTo>
                    <a:cubicBezTo>
                      <a:pt x="40" y="57"/>
                      <a:pt x="44" y="51"/>
                      <a:pt x="48" y="46"/>
                    </a:cubicBezTo>
                    <a:cubicBezTo>
                      <a:pt x="52" y="42"/>
                      <a:pt x="58" y="38"/>
                      <a:pt x="64" y="35"/>
                    </a:cubicBezTo>
                    <a:cubicBezTo>
                      <a:pt x="70" y="32"/>
                      <a:pt x="77" y="31"/>
                      <a:pt x="85" y="31"/>
                    </a:cubicBezTo>
                    <a:cubicBezTo>
                      <a:pt x="92" y="31"/>
                      <a:pt x="99" y="32"/>
                      <a:pt x="105" y="35"/>
                    </a:cubicBezTo>
                    <a:cubicBezTo>
                      <a:pt x="112" y="38"/>
                      <a:pt x="117" y="42"/>
                      <a:pt x="121" y="46"/>
                    </a:cubicBezTo>
                    <a:cubicBezTo>
                      <a:pt x="126" y="51"/>
                      <a:pt x="129" y="57"/>
                      <a:pt x="132" y="64"/>
                    </a:cubicBezTo>
                    <a:cubicBezTo>
                      <a:pt x="134" y="70"/>
                      <a:pt x="136" y="77"/>
                      <a:pt x="136" y="85"/>
                    </a:cubicBezTo>
                    <a:cubicBezTo>
                      <a:pt x="136" y="92"/>
                      <a:pt x="134" y="99"/>
                      <a:pt x="132" y="10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7" name="Freeform 9"/>
              <p:cNvSpPr>
                <a:spLocks noEditPoints="1"/>
              </p:cNvSpPr>
              <p:nvPr userDrawn="1"/>
            </p:nvSpPr>
            <p:spPr bwMode="auto">
              <a:xfrm>
                <a:off x="7711515" y="2394682"/>
                <a:ext cx="282575" cy="376237"/>
              </a:xfrm>
              <a:custGeom>
                <a:avLst/>
                <a:gdLst>
                  <a:gd name="T0" fmla="*/ 82 w 129"/>
                  <a:gd name="T1" fmla="*/ 96 h 170"/>
                  <a:gd name="T2" fmla="*/ 104 w 129"/>
                  <a:gd name="T3" fmla="*/ 83 h 170"/>
                  <a:gd name="T4" fmla="*/ 117 w 129"/>
                  <a:gd name="T5" fmla="*/ 50 h 170"/>
                  <a:gd name="T6" fmla="*/ 110 w 129"/>
                  <a:gd name="T7" fmla="*/ 23 h 170"/>
                  <a:gd name="T8" fmla="*/ 93 w 129"/>
                  <a:gd name="T9" fmla="*/ 8 h 170"/>
                  <a:gd name="T10" fmla="*/ 70 w 129"/>
                  <a:gd name="T11" fmla="*/ 1 h 170"/>
                  <a:gd name="T12" fmla="*/ 47 w 129"/>
                  <a:gd name="T13" fmla="*/ 0 h 170"/>
                  <a:gd name="T14" fmla="*/ 0 w 129"/>
                  <a:gd name="T15" fmla="*/ 0 h 170"/>
                  <a:gd name="T16" fmla="*/ 0 w 129"/>
                  <a:gd name="T17" fmla="*/ 170 h 170"/>
                  <a:gd name="T18" fmla="*/ 34 w 129"/>
                  <a:gd name="T19" fmla="*/ 170 h 170"/>
                  <a:gd name="T20" fmla="*/ 34 w 129"/>
                  <a:gd name="T21" fmla="*/ 101 h 170"/>
                  <a:gd name="T22" fmla="*/ 45 w 129"/>
                  <a:gd name="T23" fmla="*/ 101 h 170"/>
                  <a:gd name="T24" fmla="*/ 87 w 129"/>
                  <a:gd name="T25" fmla="*/ 170 h 170"/>
                  <a:gd name="T26" fmla="*/ 116 w 129"/>
                  <a:gd name="T27" fmla="*/ 170 h 170"/>
                  <a:gd name="T28" fmla="*/ 129 w 129"/>
                  <a:gd name="T29" fmla="*/ 170 h 170"/>
                  <a:gd name="T30" fmla="*/ 129 w 129"/>
                  <a:gd name="T31" fmla="*/ 170 h 170"/>
                  <a:gd name="T32" fmla="*/ 82 w 129"/>
                  <a:gd name="T33" fmla="*/ 96 h 170"/>
                  <a:gd name="T34" fmla="*/ 79 w 129"/>
                  <a:gd name="T35" fmla="*/ 60 h 170"/>
                  <a:gd name="T36" fmla="*/ 71 w 129"/>
                  <a:gd name="T37" fmla="*/ 65 h 170"/>
                  <a:gd name="T38" fmla="*/ 58 w 129"/>
                  <a:gd name="T39" fmla="*/ 68 h 170"/>
                  <a:gd name="T40" fmla="*/ 42 w 129"/>
                  <a:gd name="T41" fmla="*/ 68 h 170"/>
                  <a:gd name="T42" fmla="*/ 34 w 129"/>
                  <a:gd name="T43" fmla="*/ 68 h 170"/>
                  <a:gd name="T44" fmla="*/ 34 w 129"/>
                  <a:gd name="T45" fmla="*/ 32 h 170"/>
                  <a:gd name="T46" fmla="*/ 52 w 129"/>
                  <a:gd name="T47" fmla="*/ 32 h 170"/>
                  <a:gd name="T48" fmla="*/ 64 w 129"/>
                  <a:gd name="T49" fmla="*/ 33 h 170"/>
                  <a:gd name="T50" fmla="*/ 74 w 129"/>
                  <a:gd name="T51" fmla="*/ 36 h 170"/>
                  <a:gd name="T52" fmla="*/ 79 w 129"/>
                  <a:gd name="T53" fmla="*/ 41 h 170"/>
                  <a:gd name="T54" fmla="*/ 81 w 129"/>
                  <a:gd name="T55" fmla="*/ 50 h 170"/>
                  <a:gd name="T56" fmla="*/ 79 w 129"/>
                  <a:gd name="T57" fmla="*/ 60 h 1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29" h="170">
                    <a:moveTo>
                      <a:pt x="82" y="96"/>
                    </a:moveTo>
                    <a:cubicBezTo>
                      <a:pt x="91" y="94"/>
                      <a:pt x="98" y="89"/>
                      <a:pt x="104" y="83"/>
                    </a:cubicBezTo>
                    <a:cubicBezTo>
                      <a:pt x="112" y="75"/>
                      <a:pt x="117" y="63"/>
                      <a:pt x="117" y="50"/>
                    </a:cubicBezTo>
                    <a:cubicBezTo>
                      <a:pt x="117" y="39"/>
                      <a:pt x="114" y="30"/>
                      <a:pt x="110" y="23"/>
                    </a:cubicBezTo>
                    <a:cubicBezTo>
                      <a:pt x="106" y="16"/>
                      <a:pt x="100" y="11"/>
                      <a:pt x="93" y="8"/>
                    </a:cubicBezTo>
                    <a:cubicBezTo>
                      <a:pt x="86" y="4"/>
                      <a:pt x="78" y="2"/>
                      <a:pt x="70" y="1"/>
                    </a:cubicBezTo>
                    <a:cubicBezTo>
                      <a:pt x="63" y="0"/>
                      <a:pt x="55" y="0"/>
                      <a:pt x="47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70"/>
                      <a:pt x="0" y="170"/>
                      <a:pt x="0" y="170"/>
                    </a:cubicBezTo>
                    <a:cubicBezTo>
                      <a:pt x="34" y="170"/>
                      <a:pt x="34" y="170"/>
                      <a:pt x="34" y="170"/>
                    </a:cubicBezTo>
                    <a:cubicBezTo>
                      <a:pt x="34" y="101"/>
                      <a:pt x="34" y="101"/>
                      <a:pt x="34" y="101"/>
                    </a:cubicBezTo>
                    <a:cubicBezTo>
                      <a:pt x="45" y="101"/>
                      <a:pt x="45" y="101"/>
                      <a:pt x="45" y="101"/>
                    </a:cubicBezTo>
                    <a:cubicBezTo>
                      <a:pt x="87" y="170"/>
                      <a:pt x="87" y="170"/>
                      <a:pt x="87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29" y="170"/>
                      <a:pt x="129" y="170"/>
                      <a:pt x="129" y="170"/>
                    </a:cubicBezTo>
                    <a:cubicBezTo>
                      <a:pt x="129" y="170"/>
                      <a:pt x="129" y="170"/>
                      <a:pt x="129" y="170"/>
                    </a:cubicBezTo>
                    <a:lnTo>
                      <a:pt x="82" y="96"/>
                    </a:lnTo>
                    <a:close/>
                    <a:moveTo>
                      <a:pt x="79" y="60"/>
                    </a:moveTo>
                    <a:cubicBezTo>
                      <a:pt x="77" y="62"/>
                      <a:pt x="74" y="64"/>
                      <a:pt x="71" y="65"/>
                    </a:cubicBezTo>
                    <a:cubicBezTo>
                      <a:pt x="67" y="67"/>
                      <a:pt x="62" y="67"/>
                      <a:pt x="58" y="68"/>
                    </a:cubicBezTo>
                    <a:cubicBezTo>
                      <a:pt x="52" y="68"/>
                      <a:pt x="47" y="68"/>
                      <a:pt x="42" y="68"/>
                    </a:cubicBezTo>
                    <a:cubicBezTo>
                      <a:pt x="34" y="68"/>
                      <a:pt x="34" y="68"/>
                      <a:pt x="34" y="68"/>
                    </a:cubicBezTo>
                    <a:cubicBezTo>
                      <a:pt x="34" y="32"/>
                      <a:pt x="34" y="32"/>
                      <a:pt x="34" y="32"/>
                    </a:cubicBezTo>
                    <a:cubicBezTo>
                      <a:pt x="52" y="32"/>
                      <a:pt x="52" y="32"/>
                      <a:pt x="52" y="32"/>
                    </a:cubicBezTo>
                    <a:cubicBezTo>
                      <a:pt x="56" y="32"/>
                      <a:pt x="60" y="33"/>
                      <a:pt x="64" y="33"/>
                    </a:cubicBezTo>
                    <a:cubicBezTo>
                      <a:pt x="68" y="34"/>
                      <a:pt x="71" y="35"/>
                      <a:pt x="74" y="36"/>
                    </a:cubicBezTo>
                    <a:cubicBezTo>
                      <a:pt x="76" y="37"/>
                      <a:pt x="78" y="39"/>
                      <a:pt x="79" y="41"/>
                    </a:cubicBezTo>
                    <a:cubicBezTo>
                      <a:pt x="81" y="43"/>
                      <a:pt x="81" y="46"/>
                      <a:pt x="81" y="50"/>
                    </a:cubicBezTo>
                    <a:cubicBezTo>
                      <a:pt x="81" y="55"/>
                      <a:pt x="81" y="58"/>
                      <a:pt x="79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8" name="Freeform 10"/>
              <p:cNvSpPr>
                <a:spLocks noEditPoints="1"/>
              </p:cNvSpPr>
              <p:nvPr userDrawn="1"/>
            </p:nvSpPr>
            <p:spPr bwMode="auto">
              <a:xfrm>
                <a:off x="8003615" y="2394682"/>
                <a:ext cx="347662" cy="376237"/>
              </a:xfrm>
              <a:custGeom>
                <a:avLst/>
                <a:gdLst>
                  <a:gd name="T0" fmla="*/ 119 w 219"/>
                  <a:gd name="T1" fmla="*/ 0 h 237"/>
                  <a:gd name="T2" fmla="*/ 81 w 219"/>
                  <a:gd name="T3" fmla="*/ 0 h 237"/>
                  <a:gd name="T4" fmla="*/ 0 w 219"/>
                  <a:gd name="T5" fmla="*/ 188 h 237"/>
                  <a:gd name="T6" fmla="*/ 30 w 219"/>
                  <a:gd name="T7" fmla="*/ 237 h 237"/>
                  <a:gd name="T8" fmla="*/ 52 w 219"/>
                  <a:gd name="T9" fmla="*/ 184 h 237"/>
                  <a:gd name="T10" fmla="*/ 144 w 219"/>
                  <a:gd name="T11" fmla="*/ 184 h 237"/>
                  <a:gd name="T12" fmla="*/ 166 w 219"/>
                  <a:gd name="T13" fmla="*/ 237 h 237"/>
                  <a:gd name="T14" fmla="*/ 219 w 219"/>
                  <a:gd name="T15" fmla="*/ 237 h 237"/>
                  <a:gd name="T16" fmla="*/ 119 w 219"/>
                  <a:gd name="T17" fmla="*/ 0 h 237"/>
                  <a:gd name="T18" fmla="*/ 70 w 219"/>
                  <a:gd name="T19" fmla="*/ 141 h 237"/>
                  <a:gd name="T20" fmla="*/ 99 w 219"/>
                  <a:gd name="T21" fmla="*/ 71 h 237"/>
                  <a:gd name="T22" fmla="*/ 128 w 219"/>
                  <a:gd name="T23" fmla="*/ 141 h 237"/>
                  <a:gd name="T24" fmla="*/ 70 w 219"/>
                  <a:gd name="T25" fmla="*/ 141 h 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19" h="237">
                    <a:moveTo>
                      <a:pt x="119" y="0"/>
                    </a:moveTo>
                    <a:lnTo>
                      <a:pt x="81" y="0"/>
                    </a:lnTo>
                    <a:lnTo>
                      <a:pt x="0" y="188"/>
                    </a:lnTo>
                    <a:lnTo>
                      <a:pt x="30" y="237"/>
                    </a:lnTo>
                    <a:lnTo>
                      <a:pt x="52" y="184"/>
                    </a:lnTo>
                    <a:lnTo>
                      <a:pt x="144" y="184"/>
                    </a:lnTo>
                    <a:lnTo>
                      <a:pt x="166" y="237"/>
                    </a:lnTo>
                    <a:lnTo>
                      <a:pt x="219" y="237"/>
                    </a:lnTo>
                    <a:lnTo>
                      <a:pt x="119" y="0"/>
                    </a:lnTo>
                    <a:close/>
                    <a:moveTo>
                      <a:pt x="70" y="141"/>
                    </a:moveTo>
                    <a:lnTo>
                      <a:pt x="99" y="71"/>
                    </a:lnTo>
                    <a:lnTo>
                      <a:pt x="128" y="141"/>
                    </a:lnTo>
                    <a:lnTo>
                      <a:pt x="70" y="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9" name="Freeform 11"/>
              <p:cNvSpPr>
                <a:spLocks/>
              </p:cNvSpPr>
              <p:nvPr userDrawn="1"/>
            </p:nvSpPr>
            <p:spPr bwMode="auto">
              <a:xfrm>
                <a:off x="8340165" y="2394682"/>
                <a:ext cx="295275" cy="376237"/>
              </a:xfrm>
              <a:custGeom>
                <a:avLst/>
                <a:gdLst>
                  <a:gd name="T0" fmla="*/ 118 w 135"/>
                  <a:gd name="T1" fmla="*/ 129 h 170"/>
                  <a:gd name="T2" fmla="*/ 118 w 135"/>
                  <a:gd name="T3" fmla="*/ 127 h 170"/>
                  <a:gd name="T4" fmla="*/ 116 w 135"/>
                  <a:gd name="T5" fmla="*/ 129 h 170"/>
                  <a:gd name="T6" fmla="*/ 115 w 135"/>
                  <a:gd name="T7" fmla="*/ 129 h 170"/>
                  <a:gd name="T8" fmla="*/ 106 w 135"/>
                  <a:gd name="T9" fmla="*/ 134 h 170"/>
                  <a:gd name="T10" fmla="*/ 87 w 135"/>
                  <a:gd name="T11" fmla="*/ 138 h 170"/>
                  <a:gd name="T12" fmla="*/ 50 w 135"/>
                  <a:gd name="T13" fmla="*/ 123 h 170"/>
                  <a:gd name="T14" fmla="*/ 34 w 135"/>
                  <a:gd name="T15" fmla="*/ 85 h 170"/>
                  <a:gd name="T16" fmla="*/ 50 w 135"/>
                  <a:gd name="T17" fmla="*/ 47 h 170"/>
                  <a:gd name="T18" fmla="*/ 87 w 135"/>
                  <a:gd name="T19" fmla="*/ 32 h 170"/>
                  <a:gd name="T20" fmla="*/ 116 w 135"/>
                  <a:gd name="T21" fmla="*/ 41 h 170"/>
                  <a:gd name="T22" fmla="*/ 117 w 135"/>
                  <a:gd name="T23" fmla="*/ 42 h 170"/>
                  <a:gd name="T24" fmla="*/ 134 w 135"/>
                  <a:gd name="T25" fmla="*/ 15 h 170"/>
                  <a:gd name="T26" fmla="*/ 135 w 135"/>
                  <a:gd name="T27" fmla="*/ 13 h 170"/>
                  <a:gd name="T28" fmla="*/ 132 w 135"/>
                  <a:gd name="T29" fmla="*/ 12 h 170"/>
                  <a:gd name="T30" fmla="*/ 88 w 135"/>
                  <a:gd name="T31" fmla="*/ 0 h 170"/>
                  <a:gd name="T32" fmla="*/ 21 w 135"/>
                  <a:gd name="T33" fmla="*/ 30 h 170"/>
                  <a:gd name="T34" fmla="*/ 0 w 135"/>
                  <a:gd name="T35" fmla="*/ 86 h 170"/>
                  <a:gd name="T36" fmla="*/ 25 w 135"/>
                  <a:gd name="T37" fmla="*/ 145 h 170"/>
                  <a:gd name="T38" fmla="*/ 86 w 135"/>
                  <a:gd name="T39" fmla="*/ 170 h 170"/>
                  <a:gd name="T40" fmla="*/ 132 w 135"/>
                  <a:gd name="T41" fmla="*/ 158 h 170"/>
                  <a:gd name="T42" fmla="*/ 135 w 135"/>
                  <a:gd name="T43" fmla="*/ 156 h 170"/>
                  <a:gd name="T44" fmla="*/ 118 w 135"/>
                  <a:gd name="T45" fmla="*/ 129 h 1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35" h="170">
                    <a:moveTo>
                      <a:pt x="118" y="129"/>
                    </a:moveTo>
                    <a:cubicBezTo>
                      <a:pt x="118" y="127"/>
                      <a:pt x="118" y="127"/>
                      <a:pt x="118" y="127"/>
                    </a:cubicBezTo>
                    <a:cubicBezTo>
                      <a:pt x="116" y="129"/>
                      <a:pt x="116" y="129"/>
                      <a:pt x="116" y="129"/>
                    </a:cubicBezTo>
                    <a:cubicBezTo>
                      <a:pt x="115" y="129"/>
                      <a:pt x="115" y="129"/>
                      <a:pt x="115" y="129"/>
                    </a:cubicBezTo>
                    <a:cubicBezTo>
                      <a:pt x="112" y="131"/>
                      <a:pt x="109" y="133"/>
                      <a:pt x="106" y="134"/>
                    </a:cubicBezTo>
                    <a:cubicBezTo>
                      <a:pt x="101" y="137"/>
                      <a:pt x="94" y="138"/>
                      <a:pt x="87" y="138"/>
                    </a:cubicBezTo>
                    <a:cubicBezTo>
                      <a:pt x="72" y="138"/>
                      <a:pt x="60" y="133"/>
                      <a:pt x="50" y="123"/>
                    </a:cubicBezTo>
                    <a:cubicBezTo>
                      <a:pt x="39" y="112"/>
                      <a:pt x="34" y="100"/>
                      <a:pt x="34" y="85"/>
                    </a:cubicBezTo>
                    <a:cubicBezTo>
                      <a:pt x="34" y="70"/>
                      <a:pt x="39" y="58"/>
                      <a:pt x="50" y="47"/>
                    </a:cubicBezTo>
                    <a:cubicBezTo>
                      <a:pt x="60" y="37"/>
                      <a:pt x="72" y="32"/>
                      <a:pt x="87" y="32"/>
                    </a:cubicBezTo>
                    <a:cubicBezTo>
                      <a:pt x="96" y="32"/>
                      <a:pt x="106" y="35"/>
                      <a:pt x="116" y="41"/>
                    </a:cubicBezTo>
                    <a:cubicBezTo>
                      <a:pt x="117" y="42"/>
                      <a:pt x="117" y="42"/>
                      <a:pt x="117" y="42"/>
                    </a:cubicBezTo>
                    <a:cubicBezTo>
                      <a:pt x="134" y="15"/>
                      <a:pt x="134" y="15"/>
                      <a:pt x="134" y="15"/>
                    </a:cubicBezTo>
                    <a:cubicBezTo>
                      <a:pt x="135" y="13"/>
                      <a:pt x="135" y="13"/>
                      <a:pt x="135" y="13"/>
                    </a:cubicBezTo>
                    <a:cubicBezTo>
                      <a:pt x="132" y="12"/>
                      <a:pt x="132" y="12"/>
                      <a:pt x="132" y="12"/>
                    </a:cubicBezTo>
                    <a:cubicBezTo>
                      <a:pt x="118" y="4"/>
                      <a:pt x="103" y="0"/>
                      <a:pt x="88" y="0"/>
                    </a:cubicBezTo>
                    <a:cubicBezTo>
                      <a:pt x="61" y="0"/>
                      <a:pt x="38" y="10"/>
                      <a:pt x="21" y="30"/>
                    </a:cubicBezTo>
                    <a:cubicBezTo>
                      <a:pt x="7" y="46"/>
                      <a:pt x="0" y="65"/>
                      <a:pt x="0" y="86"/>
                    </a:cubicBezTo>
                    <a:cubicBezTo>
                      <a:pt x="0" y="109"/>
                      <a:pt x="9" y="129"/>
                      <a:pt x="25" y="145"/>
                    </a:cubicBezTo>
                    <a:cubicBezTo>
                      <a:pt x="42" y="161"/>
                      <a:pt x="63" y="170"/>
                      <a:pt x="86" y="170"/>
                    </a:cubicBezTo>
                    <a:cubicBezTo>
                      <a:pt x="102" y="170"/>
                      <a:pt x="117" y="166"/>
                      <a:pt x="132" y="158"/>
                    </a:cubicBezTo>
                    <a:cubicBezTo>
                      <a:pt x="135" y="156"/>
                      <a:pt x="135" y="156"/>
                      <a:pt x="135" y="156"/>
                    </a:cubicBezTo>
                    <a:lnTo>
                      <a:pt x="118" y="12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</p:grpSp>
      </p:grpSp>
      <p:sp>
        <p:nvSpPr>
          <p:cNvPr id="17" name="직사각형 16"/>
          <p:cNvSpPr/>
          <p:nvPr userDrawn="1"/>
        </p:nvSpPr>
        <p:spPr>
          <a:xfrm>
            <a:off x="381000" y="1520825"/>
            <a:ext cx="9144000" cy="4968875"/>
          </a:xfrm>
          <a:prstGeom prst="rect">
            <a:avLst/>
          </a:prstGeom>
          <a:noFill/>
          <a:ln>
            <a:solidFill>
              <a:schemeClr val="accent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/>
          <p:cNvSpPr txBox="1"/>
          <p:nvPr userDrawn="1"/>
        </p:nvSpPr>
        <p:spPr>
          <a:xfrm>
            <a:off x="380999" y="6498039"/>
            <a:ext cx="5645580" cy="21544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>
            <a:defPPr>
              <a:defRPr lang="ko-KR"/>
            </a:defPPr>
            <a:lvl2pPr marL="126000" lvl="1" indent="-126000" latinLnBrk="0">
              <a:spcBef>
                <a:spcPts val="600"/>
              </a:spcBef>
              <a:spcAft>
                <a:spcPts val="0"/>
              </a:spcAft>
              <a:buFont typeface="Arial" pitchFamily="34" charset="0"/>
              <a:buChar char="•"/>
              <a:defRPr sz="1400" spc="-80">
                <a:solidFill>
                  <a:srgbClr val="5F5F5F"/>
                </a:solidFill>
                <a:latin typeface="맑은 고딕"/>
              </a:defRPr>
            </a:lvl2pPr>
          </a:lstStyle>
          <a:p>
            <a:pPr defTabSz="914400" latinLnBrk="0"/>
            <a:r>
              <a:rPr lang="en-US" altLang="ko-KR" sz="1400" b="1" dirty="0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accent6"/>
                </a:solidFill>
                <a:latin typeface="+mn-ea"/>
                <a:cs typeface="Segoe UI" panose="020B0502040204020203" pitchFamily="34" charset="0"/>
              </a:rPr>
              <a:t>#</a:t>
            </a:r>
            <a:r>
              <a:rPr lang="ko-KR" altLang="en-US" sz="1400" b="1" dirty="0" err="1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accent6"/>
                </a:solidFill>
                <a:latin typeface="+mn-ea"/>
                <a:cs typeface="Segoe UI" panose="020B0502040204020203" pitchFamily="34" charset="0"/>
              </a:rPr>
              <a:t>본문내용은</a:t>
            </a:r>
            <a:r>
              <a:rPr lang="ko-KR" altLang="en-US" sz="1400" b="1" dirty="0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accent6"/>
                </a:solidFill>
                <a:latin typeface="+mn-ea"/>
                <a:cs typeface="Segoe UI" panose="020B0502040204020203" pitchFamily="34" charset="0"/>
              </a:rPr>
              <a:t> </a:t>
            </a:r>
            <a:r>
              <a:rPr lang="ko-KR" altLang="en-US" sz="1400" b="1" dirty="0" err="1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accent6"/>
                </a:solidFill>
                <a:latin typeface="+mn-ea"/>
                <a:cs typeface="Segoe UI" panose="020B0502040204020203" pitchFamily="34" charset="0"/>
              </a:rPr>
              <a:t>점선박스</a:t>
            </a:r>
            <a:r>
              <a:rPr lang="ko-KR" altLang="en-US" sz="1400" b="1" dirty="0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accent6"/>
                </a:solidFill>
                <a:latin typeface="+mn-ea"/>
                <a:cs typeface="Segoe UI" panose="020B0502040204020203" pitchFamily="34" charset="0"/>
              </a:rPr>
              <a:t> 구역에 </a:t>
            </a:r>
            <a:r>
              <a:rPr lang="ko-KR" altLang="en-US" sz="1400" b="1" dirty="0" err="1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accent6"/>
                </a:solidFill>
                <a:latin typeface="+mn-ea"/>
                <a:cs typeface="Segoe UI" panose="020B0502040204020203" pitchFamily="34" charset="0"/>
              </a:rPr>
              <a:t>작성부탁드립니다</a:t>
            </a:r>
            <a:r>
              <a:rPr lang="en-US" altLang="ko-KR" sz="1400" b="1" dirty="0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accent6"/>
                </a:solidFill>
                <a:latin typeface="+mn-ea"/>
                <a:cs typeface="Segoe UI" panose="020B0502040204020203" pitchFamily="34" charset="0"/>
              </a:rPr>
              <a:t>.</a:t>
            </a:r>
            <a:endParaRPr lang="en-US" altLang="ko-KR" sz="1400" b="1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accent6"/>
              </a:solidFill>
              <a:latin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0504037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958" userDrawn="1">
          <p15:clr>
            <a:srgbClr val="FBAE40"/>
          </p15:clr>
        </p15:guide>
        <p15:guide id="2" orient="horz" pos="4088" userDrawn="1">
          <p15:clr>
            <a:srgbClr val="FBAE40"/>
          </p15:clr>
        </p15:guide>
        <p15:guide id="3" pos="240" userDrawn="1">
          <p15:clr>
            <a:srgbClr val="FBAE40"/>
          </p15:clr>
        </p15:guide>
        <p15:guide id="4" pos="600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뒷표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3491291" y="3432561"/>
            <a:ext cx="2921376" cy="246221"/>
          </a:xfrm>
          <a:prstGeom prst="rect">
            <a:avLst/>
          </a:prstGeom>
        </p:spPr>
        <p:txBody>
          <a:bodyPr wrap="none" lIns="0" tIns="0" rIns="0" bIns="0" anchor="t">
            <a:spAutoFit/>
          </a:bodyPr>
          <a:lstStyle>
            <a:defPPr>
              <a:defRPr lang="ko-KR"/>
            </a:defPPr>
            <a:lvl1pPr indent="0" algn="ctr" defTabSz="914400">
              <a:spcBef>
                <a:spcPts val="0"/>
              </a:spcBef>
              <a:buFont typeface="Arial" pitchFamily="34" charset="0"/>
              <a:buNone/>
              <a:defRPr sz="1200" b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2pPr marL="742950" indent="-285750" defTabSz="914400">
              <a:spcBef>
                <a:spcPct val="20000"/>
              </a:spcBef>
              <a:buFont typeface="Arial" pitchFamily="34" charset="0"/>
              <a:buChar char="–"/>
              <a:defRPr sz="2800"/>
            </a:lvl2pPr>
            <a:lvl3pPr marL="1143000" indent="-228600" defTabSz="914400">
              <a:spcBef>
                <a:spcPct val="20000"/>
              </a:spcBef>
              <a:buFont typeface="Arial" pitchFamily="34" charset="0"/>
              <a:buChar char="•"/>
              <a:defRPr sz="2400"/>
            </a:lvl3pPr>
            <a:lvl4pPr marL="1600200" indent="-228600" defTabSz="914400">
              <a:spcBef>
                <a:spcPct val="20000"/>
              </a:spcBef>
              <a:buFont typeface="Arial" pitchFamily="34" charset="0"/>
              <a:buChar char="–"/>
              <a:defRPr sz="2000"/>
            </a:lvl4pPr>
            <a:lvl5pPr marL="2057400" indent="-228600" defTabSz="914400">
              <a:spcBef>
                <a:spcPct val="20000"/>
              </a:spcBef>
              <a:buFont typeface="Arial" pitchFamily="34" charset="0"/>
              <a:buChar char="»"/>
              <a:defRPr sz="2000"/>
            </a:lvl5pPr>
            <a:lvl6pPr marL="25146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lvl="0" algn="ctr"/>
            <a:r>
              <a:rPr lang="en-US" altLang="ko-KR" sz="1600" b="1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Be</a:t>
            </a:r>
            <a:r>
              <a:rPr lang="en-US" altLang="ko-KR" sz="1600" b="1" baseline="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Smart with Smart factory</a:t>
            </a:r>
            <a:endParaRPr lang="ko-KR" altLang="en-US" sz="16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3" name="그룹 12"/>
          <p:cNvGrpSpPr/>
          <p:nvPr userDrawn="1"/>
        </p:nvGrpSpPr>
        <p:grpSpPr>
          <a:xfrm>
            <a:off x="4151537" y="3103569"/>
            <a:ext cx="1600879" cy="263476"/>
            <a:chOff x="7132078" y="2394682"/>
            <a:chExt cx="2286000" cy="376237"/>
          </a:xfrm>
          <a:solidFill>
            <a:schemeClr val="accent1"/>
          </a:solidFill>
        </p:grpSpPr>
        <p:sp>
          <p:nvSpPr>
            <p:cNvPr id="14" name="Freeform 5"/>
            <p:cNvSpPr>
              <a:spLocks/>
            </p:cNvSpPr>
            <p:nvPr userDrawn="1"/>
          </p:nvSpPr>
          <p:spPr bwMode="auto">
            <a:xfrm>
              <a:off x="9046603" y="2394682"/>
              <a:ext cx="371475" cy="376237"/>
            </a:xfrm>
            <a:custGeom>
              <a:avLst/>
              <a:gdLst>
                <a:gd name="T0" fmla="*/ 117 w 234"/>
                <a:gd name="T1" fmla="*/ 154 h 237"/>
                <a:gd name="T2" fmla="*/ 54 w 234"/>
                <a:gd name="T3" fmla="*/ 0 h 237"/>
                <a:gd name="T4" fmla="*/ 0 w 234"/>
                <a:gd name="T5" fmla="*/ 0 h 237"/>
                <a:gd name="T6" fmla="*/ 0 w 234"/>
                <a:gd name="T7" fmla="*/ 237 h 237"/>
                <a:gd name="T8" fmla="*/ 44 w 234"/>
                <a:gd name="T9" fmla="*/ 237 h 237"/>
                <a:gd name="T10" fmla="*/ 44 w 234"/>
                <a:gd name="T11" fmla="*/ 96 h 237"/>
                <a:gd name="T12" fmla="*/ 102 w 234"/>
                <a:gd name="T13" fmla="*/ 237 h 237"/>
                <a:gd name="T14" fmla="*/ 131 w 234"/>
                <a:gd name="T15" fmla="*/ 237 h 237"/>
                <a:gd name="T16" fmla="*/ 189 w 234"/>
                <a:gd name="T17" fmla="*/ 96 h 237"/>
                <a:gd name="T18" fmla="*/ 189 w 234"/>
                <a:gd name="T19" fmla="*/ 237 h 237"/>
                <a:gd name="T20" fmla="*/ 234 w 234"/>
                <a:gd name="T21" fmla="*/ 237 h 237"/>
                <a:gd name="T22" fmla="*/ 234 w 234"/>
                <a:gd name="T23" fmla="*/ 0 h 237"/>
                <a:gd name="T24" fmla="*/ 181 w 234"/>
                <a:gd name="T25" fmla="*/ 0 h 237"/>
                <a:gd name="T26" fmla="*/ 117 w 234"/>
                <a:gd name="T27" fmla="*/ 154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34" h="237">
                  <a:moveTo>
                    <a:pt x="117" y="154"/>
                  </a:moveTo>
                  <a:lnTo>
                    <a:pt x="54" y="0"/>
                  </a:lnTo>
                  <a:lnTo>
                    <a:pt x="0" y="0"/>
                  </a:lnTo>
                  <a:lnTo>
                    <a:pt x="0" y="237"/>
                  </a:lnTo>
                  <a:lnTo>
                    <a:pt x="44" y="237"/>
                  </a:lnTo>
                  <a:lnTo>
                    <a:pt x="44" y="96"/>
                  </a:lnTo>
                  <a:lnTo>
                    <a:pt x="102" y="237"/>
                  </a:lnTo>
                  <a:lnTo>
                    <a:pt x="131" y="237"/>
                  </a:lnTo>
                  <a:lnTo>
                    <a:pt x="189" y="96"/>
                  </a:lnTo>
                  <a:lnTo>
                    <a:pt x="189" y="237"/>
                  </a:lnTo>
                  <a:lnTo>
                    <a:pt x="234" y="237"/>
                  </a:lnTo>
                  <a:lnTo>
                    <a:pt x="234" y="0"/>
                  </a:lnTo>
                  <a:lnTo>
                    <a:pt x="181" y="0"/>
                  </a:lnTo>
                  <a:lnTo>
                    <a:pt x="117" y="1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5" name="Freeform 6"/>
            <p:cNvSpPr>
              <a:spLocks/>
            </p:cNvSpPr>
            <p:nvPr userDrawn="1"/>
          </p:nvSpPr>
          <p:spPr bwMode="auto">
            <a:xfrm>
              <a:off x="7132078" y="2394682"/>
              <a:ext cx="371475" cy="376237"/>
            </a:xfrm>
            <a:custGeom>
              <a:avLst/>
              <a:gdLst>
                <a:gd name="T0" fmla="*/ 117 w 234"/>
                <a:gd name="T1" fmla="*/ 154 h 237"/>
                <a:gd name="T2" fmla="*/ 54 w 234"/>
                <a:gd name="T3" fmla="*/ 0 h 237"/>
                <a:gd name="T4" fmla="*/ 0 w 234"/>
                <a:gd name="T5" fmla="*/ 0 h 237"/>
                <a:gd name="T6" fmla="*/ 0 w 234"/>
                <a:gd name="T7" fmla="*/ 237 h 237"/>
                <a:gd name="T8" fmla="*/ 45 w 234"/>
                <a:gd name="T9" fmla="*/ 237 h 237"/>
                <a:gd name="T10" fmla="*/ 45 w 234"/>
                <a:gd name="T11" fmla="*/ 96 h 237"/>
                <a:gd name="T12" fmla="*/ 103 w 234"/>
                <a:gd name="T13" fmla="*/ 237 h 237"/>
                <a:gd name="T14" fmla="*/ 132 w 234"/>
                <a:gd name="T15" fmla="*/ 237 h 237"/>
                <a:gd name="T16" fmla="*/ 189 w 234"/>
                <a:gd name="T17" fmla="*/ 96 h 237"/>
                <a:gd name="T18" fmla="*/ 189 w 234"/>
                <a:gd name="T19" fmla="*/ 237 h 237"/>
                <a:gd name="T20" fmla="*/ 234 w 234"/>
                <a:gd name="T21" fmla="*/ 237 h 237"/>
                <a:gd name="T22" fmla="*/ 234 w 234"/>
                <a:gd name="T23" fmla="*/ 0 h 237"/>
                <a:gd name="T24" fmla="*/ 182 w 234"/>
                <a:gd name="T25" fmla="*/ 0 h 237"/>
                <a:gd name="T26" fmla="*/ 117 w 234"/>
                <a:gd name="T27" fmla="*/ 154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34" h="237">
                  <a:moveTo>
                    <a:pt x="117" y="154"/>
                  </a:moveTo>
                  <a:lnTo>
                    <a:pt x="54" y="0"/>
                  </a:lnTo>
                  <a:lnTo>
                    <a:pt x="0" y="0"/>
                  </a:lnTo>
                  <a:lnTo>
                    <a:pt x="0" y="237"/>
                  </a:lnTo>
                  <a:lnTo>
                    <a:pt x="45" y="237"/>
                  </a:lnTo>
                  <a:lnTo>
                    <a:pt x="45" y="96"/>
                  </a:lnTo>
                  <a:lnTo>
                    <a:pt x="103" y="237"/>
                  </a:lnTo>
                  <a:lnTo>
                    <a:pt x="132" y="237"/>
                  </a:lnTo>
                  <a:lnTo>
                    <a:pt x="189" y="96"/>
                  </a:lnTo>
                  <a:lnTo>
                    <a:pt x="189" y="237"/>
                  </a:lnTo>
                  <a:lnTo>
                    <a:pt x="234" y="237"/>
                  </a:lnTo>
                  <a:lnTo>
                    <a:pt x="234" y="0"/>
                  </a:lnTo>
                  <a:lnTo>
                    <a:pt x="182" y="0"/>
                  </a:lnTo>
                  <a:lnTo>
                    <a:pt x="117" y="1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6" name="Rectangle 7"/>
            <p:cNvSpPr>
              <a:spLocks noChangeArrowheads="1"/>
            </p:cNvSpPr>
            <p:nvPr userDrawn="1"/>
          </p:nvSpPr>
          <p:spPr bwMode="auto">
            <a:xfrm>
              <a:off x="7571815" y="2394682"/>
              <a:ext cx="73025" cy="37623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7" name="Freeform 8"/>
            <p:cNvSpPr>
              <a:spLocks noEditPoints="1"/>
            </p:cNvSpPr>
            <p:nvPr userDrawn="1"/>
          </p:nvSpPr>
          <p:spPr bwMode="auto">
            <a:xfrm>
              <a:off x="8629090" y="2394682"/>
              <a:ext cx="369887" cy="376237"/>
            </a:xfrm>
            <a:custGeom>
              <a:avLst/>
              <a:gdLst>
                <a:gd name="T0" fmla="*/ 163 w 169"/>
                <a:gd name="T1" fmla="*/ 51 h 170"/>
                <a:gd name="T2" fmla="*/ 145 w 169"/>
                <a:gd name="T3" fmla="*/ 24 h 170"/>
                <a:gd name="T4" fmla="*/ 119 w 169"/>
                <a:gd name="T5" fmla="*/ 6 h 170"/>
                <a:gd name="T6" fmla="*/ 85 w 169"/>
                <a:gd name="T7" fmla="*/ 0 h 170"/>
                <a:gd name="T8" fmla="*/ 51 w 169"/>
                <a:gd name="T9" fmla="*/ 6 h 170"/>
                <a:gd name="T10" fmla="*/ 24 w 169"/>
                <a:gd name="T11" fmla="*/ 24 h 170"/>
                <a:gd name="T12" fmla="*/ 6 w 169"/>
                <a:gd name="T13" fmla="*/ 51 h 170"/>
                <a:gd name="T14" fmla="*/ 0 w 169"/>
                <a:gd name="T15" fmla="*/ 85 h 170"/>
                <a:gd name="T16" fmla="*/ 6 w 169"/>
                <a:gd name="T17" fmla="*/ 118 h 170"/>
                <a:gd name="T18" fmla="*/ 24 w 169"/>
                <a:gd name="T19" fmla="*/ 146 h 170"/>
                <a:gd name="T20" fmla="*/ 51 w 169"/>
                <a:gd name="T21" fmla="*/ 163 h 170"/>
                <a:gd name="T22" fmla="*/ 85 w 169"/>
                <a:gd name="T23" fmla="*/ 170 h 170"/>
                <a:gd name="T24" fmla="*/ 119 w 169"/>
                <a:gd name="T25" fmla="*/ 163 h 170"/>
                <a:gd name="T26" fmla="*/ 145 w 169"/>
                <a:gd name="T27" fmla="*/ 146 h 170"/>
                <a:gd name="T28" fmla="*/ 163 w 169"/>
                <a:gd name="T29" fmla="*/ 118 h 170"/>
                <a:gd name="T30" fmla="*/ 169 w 169"/>
                <a:gd name="T31" fmla="*/ 85 h 170"/>
                <a:gd name="T32" fmla="*/ 163 w 169"/>
                <a:gd name="T33" fmla="*/ 51 h 170"/>
                <a:gd name="T34" fmla="*/ 132 w 169"/>
                <a:gd name="T35" fmla="*/ 106 h 170"/>
                <a:gd name="T36" fmla="*/ 121 w 169"/>
                <a:gd name="T37" fmla="*/ 123 h 170"/>
                <a:gd name="T38" fmla="*/ 105 w 169"/>
                <a:gd name="T39" fmla="*/ 134 h 170"/>
                <a:gd name="T40" fmla="*/ 64 w 169"/>
                <a:gd name="T41" fmla="*/ 134 h 170"/>
                <a:gd name="T42" fmla="*/ 48 w 169"/>
                <a:gd name="T43" fmla="*/ 123 h 170"/>
                <a:gd name="T44" fmla="*/ 38 w 169"/>
                <a:gd name="T45" fmla="*/ 106 h 170"/>
                <a:gd name="T46" fmla="*/ 34 w 169"/>
                <a:gd name="T47" fmla="*/ 85 h 170"/>
                <a:gd name="T48" fmla="*/ 38 w 169"/>
                <a:gd name="T49" fmla="*/ 64 h 170"/>
                <a:gd name="T50" fmla="*/ 48 w 169"/>
                <a:gd name="T51" fmla="*/ 46 h 170"/>
                <a:gd name="T52" fmla="*/ 64 w 169"/>
                <a:gd name="T53" fmla="*/ 35 h 170"/>
                <a:gd name="T54" fmla="*/ 85 w 169"/>
                <a:gd name="T55" fmla="*/ 31 h 170"/>
                <a:gd name="T56" fmla="*/ 105 w 169"/>
                <a:gd name="T57" fmla="*/ 35 h 170"/>
                <a:gd name="T58" fmla="*/ 121 w 169"/>
                <a:gd name="T59" fmla="*/ 46 h 170"/>
                <a:gd name="T60" fmla="*/ 132 w 169"/>
                <a:gd name="T61" fmla="*/ 64 h 170"/>
                <a:gd name="T62" fmla="*/ 136 w 169"/>
                <a:gd name="T63" fmla="*/ 85 h 170"/>
                <a:gd name="T64" fmla="*/ 132 w 169"/>
                <a:gd name="T65" fmla="*/ 106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69" h="170">
                  <a:moveTo>
                    <a:pt x="163" y="51"/>
                  </a:moveTo>
                  <a:cubicBezTo>
                    <a:pt x="159" y="41"/>
                    <a:pt x="153" y="31"/>
                    <a:pt x="145" y="24"/>
                  </a:cubicBezTo>
                  <a:cubicBezTo>
                    <a:pt x="138" y="16"/>
                    <a:pt x="129" y="10"/>
                    <a:pt x="119" y="6"/>
                  </a:cubicBezTo>
                  <a:cubicBezTo>
                    <a:pt x="108" y="2"/>
                    <a:pt x="97" y="0"/>
                    <a:pt x="85" y="0"/>
                  </a:cubicBezTo>
                  <a:cubicBezTo>
                    <a:pt x="73" y="0"/>
                    <a:pt x="61" y="2"/>
                    <a:pt x="51" y="6"/>
                  </a:cubicBezTo>
                  <a:cubicBezTo>
                    <a:pt x="41" y="10"/>
                    <a:pt x="32" y="16"/>
                    <a:pt x="24" y="24"/>
                  </a:cubicBezTo>
                  <a:cubicBezTo>
                    <a:pt x="17" y="31"/>
                    <a:pt x="11" y="41"/>
                    <a:pt x="6" y="51"/>
                  </a:cubicBezTo>
                  <a:cubicBezTo>
                    <a:pt x="2" y="61"/>
                    <a:pt x="0" y="73"/>
                    <a:pt x="0" y="85"/>
                  </a:cubicBezTo>
                  <a:cubicBezTo>
                    <a:pt x="0" y="97"/>
                    <a:pt x="2" y="108"/>
                    <a:pt x="6" y="118"/>
                  </a:cubicBezTo>
                  <a:cubicBezTo>
                    <a:pt x="11" y="129"/>
                    <a:pt x="17" y="138"/>
                    <a:pt x="24" y="146"/>
                  </a:cubicBezTo>
                  <a:cubicBezTo>
                    <a:pt x="32" y="153"/>
                    <a:pt x="41" y="159"/>
                    <a:pt x="51" y="163"/>
                  </a:cubicBezTo>
                  <a:cubicBezTo>
                    <a:pt x="61" y="168"/>
                    <a:pt x="73" y="170"/>
                    <a:pt x="85" y="170"/>
                  </a:cubicBezTo>
                  <a:cubicBezTo>
                    <a:pt x="97" y="170"/>
                    <a:pt x="108" y="168"/>
                    <a:pt x="119" y="163"/>
                  </a:cubicBezTo>
                  <a:cubicBezTo>
                    <a:pt x="129" y="159"/>
                    <a:pt x="138" y="153"/>
                    <a:pt x="145" y="146"/>
                  </a:cubicBezTo>
                  <a:cubicBezTo>
                    <a:pt x="153" y="138"/>
                    <a:pt x="159" y="129"/>
                    <a:pt x="163" y="118"/>
                  </a:cubicBezTo>
                  <a:cubicBezTo>
                    <a:pt x="167" y="108"/>
                    <a:pt x="169" y="97"/>
                    <a:pt x="169" y="85"/>
                  </a:cubicBezTo>
                  <a:cubicBezTo>
                    <a:pt x="169" y="73"/>
                    <a:pt x="167" y="61"/>
                    <a:pt x="163" y="51"/>
                  </a:cubicBezTo>
                  <a:close/>
                  <a:moveTo>
                    <a:pt x="132" y="106"/>
                  </a:moveTo>
                  <a:cubicBezTo>
                    <a:pt x="129" y="112"/>
                    <a:pt x="126" y="118"/>
                    <a:pt x="121" y="123"/>
                  </a:cubicBezTo>
                  <a:cubicBezTo>
                    <a:pt x="117" y="128"/>
                    <a:pt x="112" y="132"/>
                    <a:pt x="105" y="134"/>
                  </a:cubicBezTo>
                  <a:cubicBezTo>
                    <a:pt x="93" y="140"/>
                    <a:pt x="76" y="140"/>
                    <a:pt x="64" y="134"/>
                  </a:cubicBezTo>
                  <a:cubicBezTo>
                    <a:pt x="58" y="132"/>
                    <a:pt x="52" y="128"/>
                    <a:pt x="48" y="123"/>
                  </a:cubicBezTo>
                  <a:cubicBezTo>
                    <a:pt x="44" y="118"/>
                    <a:pt x="40" y="112"/>
                    <a:pt x="38" y="106"/>
                  </a:cubicBezTo>
                  <a:cubicBezTo>
                    <a:pt x="35" y="99"/>
                    <a:pt x="34" y="92"/>
                    <a:pt x="34" y="85"/>
                  </a:cubicBezTo>
                  <a:cubicBezTo>
                    <a:pt x="34" y="77"/>
                    <a:pt x="35" y="70"/>
                    <a:pt x="38" y="64"/>
                  </a:cubicBezTo>
                  <a:cubicBezTo>
                    <a:pt x="40" y="57"/>
                    <a:pt x="44" y="51"/>
                    <a:pt x="48" y="46"/>
                  </a:cubicBezTo>
                  <a:cubicBezTo>
                    <a:pt x="52" y="42"/>
                    <a:pt x="58" y="38"/>
                    <a:pt x="64" y="35"/>
                  </a:cubicBezTo>
                  <a:cubicBezTo>
                    <a:pt x="70" y="32"/>
                    <a:pt x="77" y="31"/>
                    <a:pt x="85" y="31"/>
                  </a:cubicBezTo>
                  <a:cubicBezTo>
                    <a:pt x="92" y="31"/>
                    <a:pt x="99" y="32"/>
                    <a:pt x="105" y="35"/>
                  </a:cubicBezTo>
                  <a:cubicBezTo>
                    <a:pt x="112" y="38"/>
                    <a:pt x="117" y="42"/>
                    <a:pt x="121" y="46"/>
                  </a:cubicBezTo>
                  <a:cubicBezTo>
                    <a:pt x="126" y="51"/>
                    <a:pt x="129" y="57"/>
                    <a:pt x="132" y="64"/>
                  </a:cubicBezTo>
                  <a:cubicBezTo>
                    <a:pt x="134" y="70"/>
                    <a:pt x="136" y="77"/>
                    <a:pt x="136" y="85"/>
                  </a:cubicBezTo>
                  <a:cubicBezTo>
                    <a:pt x="136" y="92"/>
                    <a:pt x="134" y="99"/>
                    <a:pt x="132" y="1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8" name="Freeform 9"/>
            <p:cNvSpPr>
              <a:spLocks noEditPoints="1"/>
            </p:cNvSpPr>
            <p:nvPr userDrawn="1"/>
          </p:nvSpPr>
          <p:spPr bwMode="auto">
            <a:xfrm>
              <a:off x="7711515" y="2394682"/>
              <a:ext cx="282575" cy="376237"/>
            </a:xfrm>
            <a:custGeom>
              <a:avLst/>
              <a:gdLst>
                <a:gd name="T0" fmla="*/ 82 w 129"/>
                <a:gd name="T1" fmla="*/ 96 h 170"/>
                <a:gd name="T2" fmla="*/ 104 w 129"/>
                <a:gd name="T3" fmla="*/ 83 h 170"/>
                <a:gd name="T4" fmla="*/ 117 w 129"/>
                <a:gd name="T5" fmla="*/ 50 h 170"/>
                <a:gd name="T6" fmla="*/ 110 w 129"/>
                <a:gd name="T7" fmla="*/ 23 h 170"/>
                <a:gd name="T8" fmla="*/ 93 w 129"/>
                <a:gd name="T9" fmla="*/ 8 h 170"/>
                <a:gd name="T10" fmla="*/ 70 w 129"/>
                <a:gd name="T11" fmla="*/ 1 h 170"/>
                <a:gd name="T12" fmla="*/ 47 w 129"/>
                <a:gd name="T13" fmla="*/ 0 h 170"/>
                <a:gd name="T14" fmla="*/ 0 w 129"/>
                <a:gd name="T15" fmla="*/ 0 h 170"/>
                <a:gd name="T16" fmla="*/ 0 w 129"/>
                <a:gd name="T17" fmla="*/ 170 h 170"/>
                <a:gd name="T18" fmla="*/ 34 w 129"/>
                <a:gd name="T19" fmla="*/ 170 h 170"/>
                <a:gd name="T20" fmla="*/ 34 w 129"/>
                <a:gd name="T21" fmla="*/ 101 h 170"/>
                <a:gd name="T22" fmla="*/ 45 w 129"/>
                <a:gd name="T23" fmla="*/ 101 h 170"/>
                <a:gd name="T24" fmla="*/ 87 w 129"/>
                <a:gd name="T25" fmla="*/ 170 h 170"/>
                <a:gd name="T26" fmla="*/ 116 w 129"/>
                <a:gd name="T27" fmla="*/ 170 h 170"/>
                <a:gd name="T28" fmla="*/ 129 w 129"/>
                <a:gd name="T29" fmla="*/ 170 h 170"/>
                <a:gd name="T30" fmla="*/ 129 w 129"/>
                <a:gd name="T31" fmla="*/ 170 h 170"/>
                <a:gd name="T32" fmla="*/ 82 w 129"/>
                <a:gd name="T33" fmla="*/ 96 h 170"/>
                <a:gd name="T34" fmla="*/ 79 w 129"/>
                <a:gd name="T35" fmla="*/ 60 h 170"/>
                <a:gd name="T36" fmla="*/ 71 w 129"/>
                <a:gd name="T37" fmla="*/ 65 h 170"/>
                <a:gd name="T38" fmla="*/ 58 w 129"/>
                <a:gd name="T39" fmla="*/ 68 h 170"/>
                <a:gd name="T40" fmla="*/ 42 w 129"/>
                <a:gd name="T41" fmla="*/ 68 h 170"/>
                <a:gd name="T42" fmla="*/ 34 w 129"/>
                <a:gd name="T43" fmla="*/ 68 h 170"/>
                <a:gd name="T44" fmla="*/ 34 w 129"/>
                <a:gd name="T45" fmla="*/ 32 h 170"/>
                <a:gd name="T46" fmla="*/ 52 w 129"/>
                <a:gd name="T47" fmla="*/ 32 h 170"/>
                <a:gd name="T48" fmla="*/ 64 w 129"/>
                <a:gd name="T49" fmla="*/ 33 h 170"/>
                <a:gd name="T50" fmla="*/ 74 w 129"/>
                <a:gd name="T51" fmla="*/ 36 h 170"/>
                <a:gd name="T52" fmla="*/ 79 w 129"/>
                <a:gd name="T53" fmla="*/ 41 h 170"/>
                <a:gd name="T54" fmla="*/ 81 w 129"/>
                <a:gd name="T55" fmla="*/ 50 h 170"/>
                <a:gd name="T56" fmla="*/ 79 w 129"/>
                <a:gd name="T57" fmla="*/ 6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29" h="170">
                  <a:moveTo>
                    <a:pt x="82" y="96"/>
                  </a:moveTo>
                  <a:cubicBezTo>
                    <a:pt x="91" y="94"/>
                    <a:pt x="98" y="89"/>
                    <a:pt x="104" y="83"/>
                  </a:cubicBezTo>
                  <a:cubicBezTo>
                    <a:pt x="112" y="75"/>
                    <a:pt x="117" y="63"/>
                    <a:pt x="117" y="50"/>
                  </a:cubicBezTo>
                  <a:cubicBezTo>
                    <a:pt x="117" y="39"/>
                    <a:pt x="114" y="30"/>
                    <a:pt x="110" y="23"/>
                  </a:cubicBezTo>
                  <a:cubicBezTo>
                    <a:pt x="106" y="16"/>
                    <a:pt x="100" y="11"/>
                    <a:pt x="93" y="8"/>
                  </a:cubicBezTo>
                  <a:cubicBezTo>
                    <a:pt x="86" y="4"/>
                    <a:pt x="78" y="2"/>
                    <a:pt x="70" y="1"/>
                  </a:cubicBezTo>
                  <a:cubicBezTo>
                    <a:pt x="63" y="0"/>
                    <a:pt x="55" y="0"/>
                    <a:pt x="4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70"/>
                    <a:pt x="0" y="170"/>
                    <a:pt x="0" y="170"/>
                  </a:cubicBezTo>
                  <a:cubicBezTo>
                    <a:pt x="34" y="170"/>
                    <a:pt x="34" y="170"/>
                    <a:pt x="34" y="170"/>
                  </a:cubicBezTo>
                  <a:cubicBezTo>
                    <a:pt x="34" y="101"/>
                    <a:pt x="34" y="101"/>
                    <a:pt x="34" y="101"/>
                  </a:cubicBezTo>
                  <a:cubicBezTo>
                    <a:pt x="45" y="101"/>
                    <a:pt x="45" y="101"/>
                    <a:pt x="45" y="101"/>
                  </a:cubicBezTo>
                  <a:cubicBezTo>
                    <a:pt x="87" y="170"/>
                    <a:pt x="87" y="170"/>
                    <a:pt x="87" y="170"/>
                  </a:cubicBezTo>
                  <a:cubicBezTo>
                    <a:pt x="116" y="170"/>
                    <a:pt x="116" y="170"/>
                    <a:pt x="116" y="170"/>
                  </a:cubicBezTo>
                  <a:cubicBezTo>
                    <a:pt x="129" y="170"/>
                    <a:pt x="129" y="170"/>
                    <a:pt x="129" y="170"/>
                  </a:cubicBezTo>
                  <a:cubicBezTo>
                    <a:pt x="129" y="170"/>
                    <a:pt x="129" y="170"/>
                    <a:pt x="129" y="170"/>
                  </a:cubicBezTo>
                  <a:lnTo>
                    <a:pt x="82" y="96"/>
                  </a:lnTo>
                  <a:close/>
                  <a:moveTo>
                    <a:pt x="79" y="60"/>
                  </a:moveTo>
                  <a:cubicBezTo>
                    <a:pt x="77" y="62"/>
                    <a:pt x="74" y="64"/>
                    <a:pt x="71" y="65"/>
                  </a:cubicBezTo>
                  <a:cubicBezTo>
                    <a:pt x="67" y="67"/>
                    <a:pt x="62" y="67"/>
                    <a:pt x="58" y="68"/>
                  </a:cubicBezTo>
                  <a:cubicBezTo>
                    <a:pt x="52" y="68"/>
                    <a:pt x="47" y="68"/>
                    <a:pt x="42" y="68"/>
                  </a:cubicBezTo>
                  <a:cubicBezTo>
                    <a:pt x="34" y="68"/>
                    <a:pt x="34" y="68"/>
                    <a:pt x="34" y="68"/>
                  </a:cubicBezTo>
                  <a:cubicBezTo>
                    <a:pt x="34" y="32"/>
                    <a:pt x="34" y="32"/>
                    <a:pt x="34" y="32"/>
                  </a:cubicBezTo>
                  <a:cubicBezTo>
                    <a:pt x="52" y="32"/>
                    <a:pt x="52" y="32"/>
                    <a:pt x="52" y="32"/>
                  </a:cubicBezTo>
                  <a:cubicBezTo>
                    <a:pt x="56" y="32"/>
                    <a:pt x="60" y="33"/>
                    <a:pt x="64" y="33"/>
                  </a:cubicBezTo>
                  <a:cubicBezTo>
                    <a:pt x="68" y="34"/>
                    <a:pt x="71" y="35"/>
                    <a:pt x="74" y="36"/>
                  </a:cubicBezTo>
                  <a:cubicBezTo>
                    <a:pt x="76" y="37"/>
                    <a:pt x="78" y="39"/>
                    <a:pt x="79" y="41"/>
                  </a:cubicBezTo>
                  <a:cubicBezTo>
                    <a:pt x="81" y="43"/>
                    <a:pt x="81" y="46"/>
                    <a:pt x="81" y="50"/>
                  </a:cubicBezTo>
                  <a:cubicBezTo>
                    <a:pt x="81" y="55"/>
                    <a:pt x="81" y="58"/>
                    <a:pt x="79" y="6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9" name="Freeform 10"/>
            <p:cNvSpPr>
              <a:spLocks noEditPoints="1"/>
            </p:cNvSpPr>
            <p:nvPr userDrawn="1"/>
          </p:nvSpPr>
          <p:spPr bwMode="auto">
            <a:xfrm>
              <a:off x="8003615" y="2394682"/>
              <a:ext cx="347662" cy="376237"/>
            </a:xfrm>
            <a:custGeom>
              <a:avLst/>
              <a:gdLst>
                <a:gd name="T0" fmla="*/ 119 w 219"/>
                <a:gd name="T1" fmla="*/ 0 h 237"/>
                <a:gd name="T2" fmla="*/ 81 w 219"/>
                <a:gd name="T3" fmla="*/ 0 h 237"/>
                <a:gd name="T4" fmla="*/ 0 w 219"/>
                <a:gd name="T5" fmla="*/ 188 h 237"/>
                <a:gd name="T6" fmla="*/ 30 w 219"/>
                <a:gd name="T7" fmla="*/ 237 h 237"/>
                <a:gd name="T8" fmla="*/ 52 w 219"/>
                <a:gd name="T9" fmla="*/ 184 h 237"/>
                <a:gd name="T10" fmla="*/ 144 w 219"/>
                <a:gd name="T11" fmla="*/ 184 h 237"/>
                <a:gd name="T12" fmla="*/ 166 w 219"/>
                <a:gd name="T13" fmla="*/ 237 h 237"/>
                <a:gd name="T14" fmla="*/ 219 w 219"/>
                <a:gd name="T15" fmla="*/ 237 h 237"/>
                <a:gd name="T16" fmla="*/ 119 w 219"/>
                <a:gd name="T17" fmla="*/ 0 h 237"/>
                <a:gd name="T18" fmla="*/ 70 w 219"/>
                <a:gd name="T19" fmla="*/ 141 h 237"/>
                <a:gd name="T20" fmla="*/ 99 w 219"/>
                <a:gd name="T21" fmla="*/ 71 h 237"/>
                <a:gd name="T22" fmla="*/ 128 w 219"/>
                <a:gd name="T23" fmla="*/ 141 h 237"/>
                <a:gd name="T24" fmla="*/ 70 w 219"/>
                <a:gd name="T25" fmla="*/ 141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19" h="237">
                  <a:moveTo>
                    <a:pt x="119" y="0"/>
                  </a:moveTo>
                  <a:lnTo>
                    <a:pt x="81" y="0"/>
                  </a:lnTo>
                  <a:lnTo>
                    <a:pt x="0" y="188"/>
                  </a:lnTo>
                  <a:lnTo>
                    <a:pt x="30" y="237"/>
                  </a:lnTo>
                  <a:lnTo>
                    <a:pt x="52" y="184"/>
                  </a:lnTo>
                  <a:lnTo>
                    <a:pt x="144" y="184"/>
                  </a:lnTo>
                  <a:lnTo>
                    <a:pt x="166" y="237"/>
                  </a:lnTo>
                  <a:lnTo>
                    <a:pt x="219" y="237"/>
                  </a:lnTo>
                  <a:lnTo>
                    <a:pt x="119" y="0"/>
                  </a:lnTo>
                  <a:close/>
                  <a:moveTo>
                    <a:pt x="70" y="141"/>
                  </a:moveTo>
                  <a:lnTo>
                    <a:pt x="99" y="71"/>
                  </a:lnTo>
                  <a:lnTo>
                    <a:pt x="128" y="141"/>
                  </a:lnTo>
                  <a:lnTo>
                    <a:pt x="70" y="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0" name="Freeform 11"/>
            <p:cNvSpPr>
              <a:spLocks/>
            </p:cNvSpPr>
            <p:nvPr userDrawn="1"/>
          </p:nvSpPr>
          <p:spPr bwMode="auto">
            <a:xfrm>
              <a:off x="8340165" y="2394682"/>
              <a:ext cx="295275" cy="376237"/>
            </a:xfrm>
            <a:custGeom>
              <a:avLst/>
              <a:gdLst>
                <a:gd name="T0" fmla="*/ 118 w 135"/>
                <a:gd name="T1" fmla="*/ 129 h 170"/>
                <a:gd name="T2" fmla="*/ 118 w 135"/>
                <a:gd name="T3" fmla="*/ 127 h 170"/>
                <a:gd name="T4" fmla="*/ 116 w 135"/>
                <a:gd name="T5" fmla="*/ 129 h 170"/>
                <a:gd name="T6" fmla="*/ 115 w 135"/>
                <a:gd name="T7" fmla="*/ 129 h 170"/>
                <a:gd name="T8" fmla="*/ 106 w 135"/>
                <a:gd name="T9" fmla="*/ 134 h 170"/>
                <a:gd name="T10" fmla="*/ 87 w 135"/>
                <a:gd name="T11" fmla="*/ 138 h 170"/>
                <a:gd name="T12" fmla="*/ 50 w 135"/>
                <a:gd name="T13" fmla="*/ 123 h 170"/>
                <a:gd name="T14" fmla="*/ 34 w 135"/>
                <a:gd name="T15" fmla="*/ 85 h 170"/>
                <a:gd name="T16" fmla="*/ 50 w 135"/>
                <a:gd name="T17" fmla="*/ 47 h 170"/>
                <a:gd name="T18" fmla="*/ 87 w 135"/>
                <a:gd name="T19" fmla="*/ 32 h 170"/>
                <a:gd name="T20" fmla="*/ 116 w 135"/>
                <a:gd name="T21" fmla="*/ 41 h 170"/>
                <a:gd name="T22" fmla="*/ 117 w 135"/>
                <a:gd name="T23" fmla="*/ 42 h 170"/>
                <a:gd name="T24" fmla="*/ 134 w 135"/>
                <a:gd name="T25" fmla="*/ 15 h 170"/>
                <a:gd name="T26" fmla="*/ 135 w 135"/>
                <a:gd name="T27" fmla="*/ 13 h 170"/>
                <a:gd name="T28" fmla="*/ 132 w 135"/>
                <a:gd name="T29" fmla="*/ 12 h 170"/>
                <a:gd name="T30" fmla="*/ 88 w 135"/>
                <a:gd name="T31" fmla="*/ 0 h 170"/>
                <a:gd name="T32" fmla="*/ 21 w 135"/>
                <a:gd name="T33" fmla="*/ 30 h 170"/>
                <a:gd name="T34" fmla="*/ 0 w 135"/>
                <a:gd name="T35" fmla="*/ 86 h 170"/>
                <a:gd name="T36" fmla="*/ 25 w 135"/>
                <a:gd name="T37" fmla="*/ 145 h 170"/>
                <a:gd name="T38" fmla="*/ 86 w 135"/>
                <a:gd name="T39" fmla="*/ 170 h 170"/>
                <a:gd name="T40" fmla="*/ 132 w 135"/>
                <a:gd name="T41" fmla="*/ 158 h 170"/>
                <a:gd name="T42" fmla="*/ 135 w 135"/>
                <a:gd name="T43" fmla="*/ 156 h 170"/>
                <a:gd name="T44" fmla="*/ 118 w 135"/>
                <a:gd name="T45" fmla="*/ 129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35" h="170">
                  <a:moveTo>
                    <a:pt x="118" y="129"/>
                  </a:moveTo>
                  <a:cubicBezTo>
                    <a:pt x="118" y="127"/>
                    <a:pt x="118" y="127"/>
                    <a:pt x="118" y="127"/>
                  </a:cubicBezTo>
                  <a:cubicBezTo>
                    <a:pt x="116" y="129"/>
                    <a:pt x="116" y="129"/>
                    <a:pt x="116" y="129"/>
                  </a:cubicBezTo>
                  <a:cubicBezTo>
                    <a:pt x="115" y="129"/>
                    <a:pt x="115" y="129"/>
                    <a:pt x="115" y="129"/>
                  </a:cubicBezTo>
                  <a:cubicBezTo>
                    <a:pt x="112" y="131"/>
                    <a:pt x="109" y="133"/>
                    <a:pt x="106" y="134"/>
                  </a:cubicBezTo>
                  <a:cubicBezTo>
                    <a:pt x="101" y="137"/>
                    <a:pt x="94" y="138"/>
                    <a:pt x="87" y="138"/>
                  </a:cubicBezTo>
                  <a:cubicBezTo>
                    <a:pt x="72" y="138"/>
                    <a:pt x="60" y="133"/>
                    <a:pt x="50" y="123"/>
                  </a:cubicBezTo>
                  <a:cubicBezTo>
                    <a:pt x="39" y="112"/>
                    <a:pt x="34" y="100"/>
                    <a:pt x="34" y="85"/>
                  </a:cubicBezTo>
                  <a:cubicBezTo>
                    <a:pt x="34" y="70"/>
                    <a:pt x="39" y="58"/>
                    <a:pt x="50" y="47"/>
                  </a:cubicBezTo>
                  <a:cubicBezTo>
                    <a:pt x="60" y="37"/>
                    <a:pt x="72" y="32"/>
                    <a:pt x="87" y="32"/>
                  </a:cubicBezTo>
                  <a:cubicBezTo>
                    <a:pt x="96" y="32"/>
                    <a:pt x="106" y="35"/>
                    <a:pt x="116" y="41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34" y="15"/>
                    <a:pt x="134" y="15"/>
                    <a:pt x="134" y="15"/>
                  </a:cubicBezTo>
                  <a:cubicBezTo>
                    <a:pt x="135" y="13"/>
                    <a:pt x="135" y="13"/>
                    <a:pt x="135" y="13"/>
                  </a:cubicBezTo>
                  <a:cubicBezTo>
                    <a:pt x="132" y="12"/>
                    <a:pt x="132" y="12"/>
                    <a:pt x="132" y="12"/>
                  </a:cubicBezTo>
                  <a:cubicBezTo>
                    <a:pt x="118" y="4"/>
                    <a:pt x="103" y="0"/>
                    <a:pt x="88" y="0"/>
                  </a:cubicBezTo>
                  <a:cubicBezTo>
                    <a:pt x="61" y="0"/>
                    <a:pt x="38" y="10"/>
                    <a:pt x="21" y="30"/>
                  </a:cubicBezTo>
                  <a:cubicBezTo>
                    <a:pt x="7" y="46"/>
                    <a:pt x="0" y="65"/>
                    <a:pt x="0" y="86"/>
                  </a:cubicBezTo>
                  <a:cubicBezTo>
                    <a:pt x="0" y="109"/>
                    <a:pt x="9" y="129"/>
                    <a:pt x="25" y="145"/>
                  </a:cubicBezTo>
                  <a:cubicBezTo>
                    <a:pt x="42" y="161"/>
                    <a:pt x="63" y="170"/>
                    <a:pt x="86" y="170"/>
                  </a:cubicBezTo>
                  <a:cubicBezTo>
                    <a:pt x="102" y="170"/>
                    <a:pt x="117" y="166"/>
                    <a:pt x="132" y="158"/>
                  </a:cubicBezTo>
                  <a:cubicBezTo>
                    <a:pt x="135" y="156"/>
                    <a:pt x="135" y="156"/>
                    <a:pt x="135" y="156"/>
                  </a:cubicBezTo>
                  <a:lnTo>
                    <a:pt x="118" y="1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66613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 smtClean="0"/>
              <a:t>마스터 텍스트 스타일 편집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E6DCC-97F7-4ACF-97C1-6DBC9656D44A}" type="datetimeFigureOut">
              <a:rPr lang="ko-KR" altLang="en-US" smtClean="0"/>
              <a:t>2025-04-14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029E8-BA52-4248-B1ED-DE1A38AB7C6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97786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54289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6" r:id="rId1"/>
    <p:sldLayoutId id="2147483958" r:id="rId2"/>
    <p:sldLayoutId id="2147484095" r:id="rId3"/>
    <p:sldLayoutId id="2147484096" r:id="rId4"/>
    <p:sldLayoutId id="2147484097" r:id="rId5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914296" rtl="0" eaLnBrk="1" latinLnBrk="1" hangingPunct="1">
        <a:spcBef>
          <a:spcPct val="0"/>
        </a:spcBef>
        <a:buNone/>
        <a:defRPr sz="4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61" indent="-342861" algn="l" defTabSz="914296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866" indent="-285717" algn="l" defTabSz="914296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870" indent="-228574" algn="l" defTabSz="914296" rtl="0" eaLnBrk="1" latinLnBrk="1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17" indent="-228574" algn="l" defTabSz="914296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166" indent="-228574" algn="l" defTabSz="914296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314" indent="-228574" algn="l" defTabSz="914296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462" indent="-228574" algn="l" defTabSz="914296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610" indent="-228574" algn="l" defTabSz="914296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758" indent="-228574" algn="l" defTabSz="914296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48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96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45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92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40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888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36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184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부제목 1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6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ko-KR" altLang="en-US" dirty="0" smtClean="0"/>
              <a:t>부서명</a:t>
            </a:r>
            <a:endParaRPr lang="ko-KR" altLang="en-US" dirty="0"/>
          </a:p>
        </p:txBody>
      </p:sp>
      <p:sp>
        <p:nvSpPr>
          <p:cNvPr id="20" name="내용 개체 틀 19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ko-KR" altLang="en-US" dirty="0" err="1" smtClean="0"/>
              <a:t>통합테스트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결과서</a:t>
            </a:r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8019962" y="404813"/>
            <a:ext cx="1499128" cy="276999"/>
          </a:xfrm>
          <a:prstGeom prst="rect">
            <a:avLst/>
          </a:prstGeom>
          <a:ln>
            <a:solidFill>
              <a:srgbClr val="7F7F7F"/>
            </a:solidFill>
          </a:ln>
        </p:spPr>
        <p:txBody>
          <a:bodyPr wrap="none">
            <a:spAutoFit/>
          </a:bodyPr>
          <a:lstStyle/>
          <a:p>
            <a:r>
              <a:rPr lang="ko-KR" altLang="en-US" sz="1200" dirty="0">
                <a:solidFill>
                  <a:srgbClr val="7F7F7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고객사 </a:t>
            </a:r>
            <a:r>
              <a:rPr lang="en-US" altLang="ko-KR" sz="1200" dirty="0">
                <a:solidFill>
                  <a:srgbClr val="7F7F7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CI(optional)</a:t>
            </a:r>
          </a:p>
        </p:txBody>
      </p:sp>
      <p:sp>
        <p:nvSpPr>
          <p:cNvPr id="9" name="내용 개체 틀 1"/>
          <p:cNvSpPr>
            <a:spLocks noGrp="1"/>
          </p:cNvSpPr>
          <p:nvPr>
            <p:ph sz="quarter" idx="17"/>
          </p:nvPr>
        </p:nvSpPr>
        <p:spPr>
          <a:xfrm>
            <a:off x="1080000" y="3356991"/>
            <a:ext cx="5133140" cy="720081"/>
          </a:xfrm>
        </p:spPr>
        <p:txBody>
          <a:bodyPr/>
          <a:lstStyle/>
          <a:p>
            <a:r>
              <a:rPr lang="ko-KR" altLang="en-US" dirty="0" smtClean="0"/>
              <a:t>부제목을 입력하세요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493097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743077" y="599744"/>
            <a:ext cx="8629497" cy="2996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54000" tIns="10800" rIns="54000" bIns="10800"/>
          <a:lstStyle>
            <a:lvl1pPr marL="342900" indent="-3429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fontAlgn="base" latinLnBrk="0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</a:pPr>
            <a:r>
              <a:rPr kumimoji="0" lang="ko-KR" altLang="en-US" sz="2000" b="1" dirty="0">
                <a:latin typeface="+mn-ea"/>
                <a:ea typeface="+mn-ea"/>
              </a:rPr>
              <a:t>문서 </a:t>
            </a:r>
            <a:r>
              <a:rPr kumimoji="0" lang="ko-KR" altLang="en-US" sz="2000" b="1" dirty="0" err="1">
                <a:latin typeface="+mn-ea"/>
                <a:ea typeface="+mn-ea"/>
              </a:rPr>
              <a:t>개정이력표</a:t>
            </a:r>
            <a:endParaRPr kumimoji="0" lang="en-US" altLang="ko-KR" sz="2000" b="1" dirty="0">
              <a:latin typeface="+mn-ea"/>
              <a:ea typeface="+mn-ea"/>
            </a:endParaRPr>
          </a:p>
        </p:txBody>
      </p:sp>
      <p:graphicFrame>
        <p:nvGraphicFramePr>
          <p:cNvPr id="6" name="Group 2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6736715"/>
              </p:ext>
            </p:extLst>
          </p:nvPr>
        </p:nvGraphicFramePr>
        <p:xfrm>
          <a:off x="821175" y="1101688"/>
          <a:ext cx="8190640" cy="471208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874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91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24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6203"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버전</a:t>
                      </a: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날짜</a:t>
                      </a: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내용</a:t>
                      </a: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굴림" pitchFamily="50" charset="-127"/>
                          <a:cs typeface="+mn-cs"/>
                        </a:rPr>
                        <a:t>작성자</a:t>
                      </a:r>
                      <a:endParaRPr kumimoji="1" lang="ko-KR" altLang="en-US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굴림" pitchFamily="50" charset="-127"/>
                        <a:cs typeface="+mn-cs"/>
                      </a:endParaRPr>
                    </a:p>
                  </a:txBody>
                  <a:tcPr anchor="ctr" horzOverflow="overflow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2582"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1.0</a:t>
                      </a: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20XX.XX.XX</a:t>
                      </a: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최초 제정</a:t>
                      </a: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OOO</a:t>
                      </a: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6942"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ko-KR" sz="12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8692"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ko-KR" sz="12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6203"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2582"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25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323220670"/>
                  </a:ext>
                </a:extLst>
              </a:tr>
              <a:tr h="3025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2544925369"/>
                  </a:ext>
                </a:extLst>
              </a:tr>
              <a:tr h="302582"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ko-KR" sz="12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25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ko-KR" sz="12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946507743"/>
                  </a:ext>
                </a:extLst>
              </a:tr>
              <a:tr h="3025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ko-KR" sz="12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511648706"/>
                  </a:ext>
                </a:extLst>
              </a:tr>
              <a:tr h="302582"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25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2815606028"/>
                  </a:ext>
                </a:extLst>
              </a:tr>
              <a:tr h="3025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170983"/>
                  </a:ext>
                </a:extLst>
              </a:tr>
              <a:tr h="378228"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79445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pPr marL="342900" indent="-342900">
              <a:lnSpc>
                <a:spcPct val="150000"/>
              </a:lnSpc>
              <a:spcAft>
                <a:spcPts val="600"/>
              </a:spcAft>
              <a:buFont typeface="+mj-lt"/>
              <a:buAutoNum type="arabicPeriod"/>
              <a:defRPr/>
            </a:pPr>
            <a:r>
              <a:rPr lang="ko-KR" altLang="en-US" spc="0" dirty="0">
                <a:ln>
                  <a:noFill/>
                </a:ln>
                <a:solidFill>
                  <a:prstClr val="black"/>
                </a:solidFill>
              </a:rPr>
              <a:t>범위 및 중점 추진 결과</a:t>
            </a:r>
            <a:endParaRPr lang="en-US" altLang="ko-KR" spc="0" dirty="0">
              <a:ln>
                <a:noFill/>
              </a:ln>
              <a:solidFill>
                <a:prstClr val="black"/>
              </a:solidFill>
            </a:endParaRPr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Font typeface="+mj-lt"/>
              <a:buAutoNum type="arabicPeriod"/>
              <a:defRPr/>
            </a:pPr>
            <a:r>
              <a:rPr lang="ko-KR" altLang="en-US" spc="0" dirty="0">
                <a:ln>
                  <a:noFill/>
                </a:ln>
                <a:solidFill>
                  <a:prstClr val="black"/>
                </a:solidFill>
              </a:rPr>
              <a:t>수행 일정 및 </a:t>
            </a:r>
            <a:r>
              <a:rPr lang="en-US" altLang="ko-KR" spc="0" dirty="0">
                <a:ln>
                  <a:noFill/>
                </a:ln>
                <a:solidFill>
                  <a:prstClr val="black"/>
                </a:solidFill>
              </a:rPr>
              <a:t>R&amp;R</a:t>
            </a:r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Font typeface="+mj-lt"/>
              <a:buAutoNum type="arabicPeriod"/>
              <a:defRPr/>
            </a:pPr>
            <a:r>
              <a:rPr lang="ko-KR" altLang="en-US" spc="0" dirty="0">
                <a:ln>
                  <a:noFill/>
                </a:ln>
                <a:solidFill>
                  <a:prstClr val="black"/>
                </a:solidFill>
              </a:rPr>
              <a:t>수행결과 요약 </a:t>
            </a:r>
            <a:r>
              <a:rPr lang="en-US" altLang="ko-KR" spc="0" dirty="0">
                <a:ln>
                  <a:noFill/>
                </a:ln>
                <a:solidFill>
                  <a:prstClr val="black"/>
                </a:solidFill>
              </a:rPr>
              <a:t>(</a:t>
            </a:r>
            <a:r>
              <a:rPr lang="ko-KR" altLang="en-US" spc="0" dirty="0">
                <a:ln>
                  <a:noFill/>
                </a:ln>
                <a:solidFill>
                  <a:prstClr val="black"/>
                </a:solidFill>
              </a:rPr>
              <a:t>실적</a:t>
            </a:r>
            <a:r>
              <a:rPr lang="en-US" altLang="ko-KR" spc="0" dirty="0">
                <a:ln>
                  <a:noFill/>
                </a:ln>
                <a:solidFill>
                  <a:prstClr val="black"/>
                </a:solidFill>
              </a:rPr>
              <a:t>)</a:t>
            </a:r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Font typeface="+mj-lt"/>
              <a:buAutoNum type="arabicPeriod"/>
              <a:defRPr/>
            </a:pPr>
            <a:r>
              <a:rPr lang="ko-KR" altLang="en-US" spc="0" dirty="0">
                <a:ln>
                  <a:noFill/>
                </a:ln>
                <a:solidFill>
                  <a:prstClr val="black"/>
                </a:solidFill>
              </a:rPr>
              <a:t>수행결과 요약 </a:t>
            </a:r>
            <a:r>
              <a:rPr lang="en-US" altLang="ko-KR" spc="0" dirty="0">
                <a:ln>
                  <a:noFill/>
                </a:ln>
                <a:solidFill>
                  <a:prstClr val="black"/>
                </a:solidFill>
              </a:rPr>
              <a:t>(Defect)</a:t>
            </a:r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Font typeface="+mj-lt"/>
              <a:buAutoNum type="arabicPeriod"/>
              <a:defRPr/>
            </a:pPr>
            <a:r>
              <a:rPr lang="ko-KR" altLang="en-US" spc="0" dirty="0">
                <a:ln>
                  <a:noFill/>
                </a:ln>
                <a:solidFill>
                  <a:prstClr val="black"/>
                </a:solidFill>
              </a:rPr>
              <a:t>수행결과 요약 </a:t>
            </a:r>
            <a:r>
              <a:rPr lang="en-US" altLang="ko-KR" spc="0" dirty="0">
                <a:ln>
                  <a:noFill/>
                </a:ln>
                <a:solidFill>
                  <a:prstClr val="black"/>
                </a:solidFill>
              </a:rPr>
              <a:t>(</a:t>
            </a:r>
            <a:r>
              <a:rPr lang="ko-KR" altLang="en-US" spc="0" dirty="0">
                <a:ln>
                  <a:noFill/>
                </a:ln>
                <a:solidFill>
                  <a:prstClr val="black"/>
                </a:solidFill>
              </a:rPr>
              <a:t>신규 요구사항</a:t>
            </a:r>
            <a:r>
              <a:rPr lang="en-US" altLang="ko-KR" spc="0" dirty="0">
                <a:ln>
                  <a:noFill/>
                </a:ln>
                <a:solidFill>
                  <a:prstClr val="black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183237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1. </a:t>
            </a:r>
            <a:r>
              <a:rPr lang="ko-KR" altLang="en-US" dirty="0" smtClean="0"/>
              <a:t>범위 및 중점 점검 항목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4"/>
          </p:nvPr>
        </p:nvSpPr>
        <p:spPr>
          <a:xfrm>
            <a:off x="381000" y="899269"/>
            <a:ext cx="9144000" cy="246221"/>
          </a:xfrm>
        </p:spPr>
        <p:txBody>
          <a:bodyPr/>
          <a:lstStyle/>
          <a:p>
            <a:endParaRPr lang="en-US" altLang="ko-KR" dirty="0"/>
          </a:p>
        </p:txBody>
      </p:sp>
      <p:sp>
        <p:nvSpPr>
          <p:cNvPr id="5" name="직사각형 4"/>
          <p:cNvSpPr/>
          <p:nvPr/>
        </p:nvSpPr>
        <p:spPr>
          <a:xfrm>
            <a:off x="429001" y="2301681"/>
            <a:ext cx="1959074" cy="540000"/>
          </a:xfrm>
          <a:prstGeom prst="rect">
            <a:avLst/>
          </a:prstGeom>
          <a:solidFill>
            <a:schemeClr val="accent3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>
            <a:noAutofit/>
          </a:bodyPr>
          <a:lstStyle/>
          <a:p>
            <a:pPr algn="ctr" latinLnBrk="0">
              <a:lnSpc>
                <a:spcPct val="150000"/>
              </a:lnSpc>
            </a:pPr>
            <a:r>
              <a:rPr lang="ko-KR" altLang="en-US" sz="1400" b="1" dirty="0" smtClean="0">
                <a:solidFill>
                  <a:schemeClr val="bg1"/>
                </a:solidFill>
                <a:latin typeface="+mn-ea"/>
              </a:rPr>
              <a:t>개요 및 목적</a:t>
            </a:r>
            <a:endParaRPr lang="ko-KR" altLang="en-US" sz="14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429001" y="3605982"/>
            <a:ext cx="1959074" cy="540000"/>
          </a:xfrm>
          <a:prstGeom prst="rect">
            <a:avLst/>
          </a:prstGeom>
          <a:solidFill>
            <a:schemeClr val="accent3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>
            <a:noAutofit/>
          </a:bodyPr>
          <a:lstStyle/>
          <a:p>
            <a:pPr algn="ctr" latinLnBrk="0">
              <a:lnSpc>
                <a:spcPct val="150000"/>
              </a:lnSpc>
            </a:pPr>
            <a:r>
              <a:rPr lang="ko-KR" altLang="en-US" sz="1400" b="1" dirty="0" smtClean="0">
                <a:solidFill>
                  <a:schemeClr val="bg1"/>
                </a:solidFill>
                <a:latin typeface="+mn-ea"/>
              </a:rPr>
              <a:t>중점 점검 항목</a:t>
            </a:r>
            <a:endParaRPr lang="en-US" altLang="ko-KR" sz="1400" b="1" dirty="0" smtClean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429001" y="5661328"/>
            <a:ext cx="1959074" cy="540000"/>
          </a:xfrm>
          <a:prstGeom prst="rect">
            <a:avLst/>
          </a:prstGeom>
          <a:solidFill>
            <a:schemeClr val="accent3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>
            <a:noAutofit/>
          </a:bodyPr>
          <a:lstStyle/>
          <a:p>
            <a:pPr algn="ctr" latinLnBrk="0">
              <a:lnSpc>
                <a:spcPct val="150000"/>
              </a:lnSpc>
            </a:pPr>
            <a:r>
              <a:rPr lang="ko-KR" altLang="en-US" sz="1400" b="1" dirty="0" smtClean="0">
                <a:solidFill>
                  <a:schemeClr val="bg1"/>
                </a:solidFill>
                <a:latin typeface="+mn-ea"/>
              </a:rPr>
              <a:t>테스트 효과</a:t>
            </a:r>
            <a:endParaRPr lang="ko-KR" altLang="en-US" sz="14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460083" y="2301681"/>
            <a:ext cx="6984775" cy="1152128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177800" indent="-177800" algn="l" latinLnBrk="0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ko-KR" altLang="en-US" sz="1100" dirty="0" smtClean="0">
                <a:latin typeface="+mn-ea"/>
                <a:ea typeface="+mn-ea"/>
              </a:rPr>
              <a:t>개발 프로그램의 품질 및 결과에 대한 최종 승인</a:t>
            </a:r>
            <a:endParaRPr lang="en-US" altLang="ko-KR" sz="1100" dirty="0" smtClean="0">
              <a:latin typeface="+mn-ea"/>
              <a:ea typeface="+mn-ea"/>
            </a:endParaRPr>
          </a:p>
          <a:p>
            <a:pPr marL="177800" indent="-177800" algn="l" latinLnBrk="0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ko-KR" sz="1100" dirty="0">
                <a:latin typeface="+mn-ea"/>
                <a:ea typeface="+mn-ea"/>
              </a:rPr>
              <a:t>Production </a:t>
            </a:r>
            <a:r>
              <a:rPr lang="ko-KR" altLang="en-US" sz="1100" dirty="0">
                <a:latin typeface="+mn-ea"/>
                <a:ea typeface="+mn-ea"/>
              </a:rPr>
              <a:t>환경에 이행할 </a:t>
            </a:r>
            <a:r>
              <a:rPr lang="en-US" altLang="ko-KR" sz="1100" dirty="0">
                <a:latin typeface="+mn-ea"/>
                <a:ea typeface="+mn-ea"/>
              </a:rPr>
              <a:t>Master </a:t>
            </a:r>
            <a:r>
              <a:rPr lang="en-US" altLang="ko-KR" sz="1100" dirty="0" smtClean="0">
                <a:latin typeface="+mn-ea"/>
                <a:ea typeface="+mn-ea"/>
              </a:rPr>
              <a:t>Data</a:t>
            </a:r>
            <a:r>
              <a:rPr lang="ko-KR" altLang="en-US" sz="1100" dirty="0" smtClean="0">
                <a:latin typeface="+mn-ea"/>
                <a:ea typeface="+mn-ea"/>
              </a:rPr>
              <a:t>를 </a:t>
            </a:r>
            <a:r>
              <a:rPr lang="en-US" altLang="ko-KR" sz="1100" dirty="0" smtClean="0">
                <a:latin typeface="+mn-ea"/>
                <a:ea typeface="+mn-ea"/>
              </a:rPr>
              <a:t>Conversion</a:t>
            </a:r>
            <a:r>
              <a:rPr lang="ko-KR" altLang="en-US" sz="1100" dirty="0" smtClean="0">
                <a:latin typeface="+mn-ea"/>
                <a:ea typeface="+mn-ea"/>
              </a:rPr>
              <a:t>하여 정합성 검증</a:t>
            </a:r>
            <a:endParaRPr lang="en-US" altLang="ko-KR" sz="1100" dirty="0" smtClean="0">
              <a:latin typeface="+mn-ea"/>
              <a:ea typeface="+mn-ea"/>
            </a:endParaRPr>
          </a:p>
          <a:p>
            <a:pPr marL="177800" indent="-177800" algn="l" latinLnBrk="0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ko-KR" altLang="en-US" sz="1100" dirty="0" smtClean="0">
                <a:latin typeface="+mn-ea"/>
                <a:ea typeface="+mn-ea"/>
              </a:rPr>
              <a:t>계획 측면의 </a:t>
            </a:r>
            <a:r>
              <a:rPr lang="en-US" altLang="ko-KR" sz="1100" dirty="0" smtClean="0">
                <a:latin typeface="+mn-ea"/>
                <a:ea typeface="+mn-ea"/>
              </a:rPr>
              <a:t>S&amp;OP </a:t>
            </a:r>
            <a:r>
              <a:rPr lang="ko-KR" altLang="en-US" sz="1100" dirty="0" smtClean="0">
                <a:latin typeface="+mn-ea"/>
                <a:ea typeface="+mn-ea"/>
              </a:rPr>
              <a:t>데이터 연계성 점검 및 마감 측면의 장려금</a:t>
            </a:r>
            <a:r>
              <a:rPr lang="en-US" altLang="ko-KR" sz="1100" dirty="0" smtClean="0">
                <a:latin typeface="+mn-ea"/>
                <a:ea typeface="+mn-ea"/>
              </a:rPr>
              <a:t>/</a:t>
            </a:r>
            <a:r>
              <a:rPr lang="ko-KR" altLang="en-US" sz="1100" dirty="0" smtClean="0">
                <a:latin typeface="+mn-ea"/>
                <a:ea typeface="+mn-ea"/>
              </a:rPr>
              <a:t>수수료</a:t>
            </a:r>
            <a:r>
              <a:rPr lang="en-US" altLang="ko-KR" sz="1100" dirty="0" smtClean="0">
                <a:latin typeface="+mn-ea"/>
                <a:ea typeface="+mn-ea"/>
              </a:rPr>
              <a:t>, </a:t>
            </a:r>
            <a:r>
              <a:rPr lang="ko-KR" altLang="en-US" sz="1100" dirty="0" err="1" smtClean="0">
                <a:latin typeface="+mn-ea"/>
                <a:ea typeface="+mn-ea"/>
              </a:rPr>
              <a:t>물류비</a:t>
            </a:r>
            <a:r>
              <a:rPr lang="ko-KR" altLang="en-US" sz="1100" dirty="0" smtClean="0">
                <a:latin typeface="+mn-ea"/>
                <a:ea typeface="+mn-ea"/>
              </a:rPr>
              <a:t> 계산의 데이터 정합성 점검</a:t>
            </a:r>
            <a:endParaRPr lang="en-US" altLang="ko-KR" sz="1100" dirty="0" smtClean="0">
              <a:latin typeface="+mn-ea"/>
              <a:ea typeface="+mn-ea"/>
            </a:endParaRPr>
          </a:p>
          <a:p>
            <a:pPr marL="177800" indent="-177800" algn="l" latinLnBrk="0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ko-KR" altLang="en-US" sz="1100" dirty="0" smtClean="0">
                <a:latin typeface="+mn-ea"/>
                <a:ea typeface="+mn-ea"/>
              </a:rPr>
              <a:t>원활한 </a:t>
            </a:r>
            <a:r>
              <a:rPr lang="ko-KR" altLang="en-US" sz="1100" dirty="0">
                <a:latin typeface="+mn-ea"/>
                <a:ea typeface="+mn-ea"/>
              </a:rPr>
              <a:t>제조실행 프로세스의 수행과 </a:t>
            </a:r>
            <a:r>
              <a:rPr lang="en-US" altLang="ko-KR" sz="1100" dirty="0">
                <a:latin typeface="+mn-ea"/>
                <a:ea typeface="+mn-ea"/>
              </a:rPr>
              <a:t>Data </a:t>
            </a:r>
            <a:r>
              <a:rPr lang="ko-KR" altLang="en-US" sz="1100" dirty="0">
                <a:latin typeface="+mn-ea"/>
                <a:ea typeface="+mn-ea"/>
              </a:rPr>
              <a:t>취득 및 </a:t>
            </a:r>
            <a:r>
              <a:rPr lang="ko-KR" altLang="en-US" sz="1100" dirty="0" smtClean="0">
                <a:latin typeface="+mn-ea"/>
                <a:ea typeface="+mn-ea"/>
              </a:rPr>
              <a:t>가공 과정의 </a:t>
            </a:r>
            <a:r>
              <a:rPr lang="ko-KR" altLang="en-US" sz="1100" dirty="0">
                <a:latin typeface="+mn-ea"/>
                <a:ea typeface="+mn-ea"/>
              </a:rPr>
              <a:t>연계성 </a:t>
            </a:r>
            <a:r>
              <a:rPr lang="ko-KR" altLang="en-US" sz="1100" dirty="0" smtClean="0">
                <a:latin typeface="+mn-ea"/>
                <a:ea typeface="+mn-ea"/>
              </a:rPr>
              <a:t>검증</a:t>
            </a:r>
            <a:endParaRPr lang="en-US" altLang="ko-KR" sz="1100" dirty="0">
              <a:latin typeface="+mn-ea"/>
              <a:ea typeface="+mn-ea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459776" y="3605862"/>
            <a:ext cx="6985091" cy="1728192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177800" indent="-177800" algn="l" latinLnBrk="0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ko-KR" sz="1100" dirty="0">
                <a:latin typeface="+mn-ea"/>
                <a:ea typeface="+mn-ea"/>
              </a:rPr>
              <a:t>End to End </a:t>
            </a:r>
            <a:r>
              <a:rPr lang="ko-KR" altLang="en-US" sz="1100" dirty="0" smtClean="0">
                <a:latin typeface="+mn-ea"/>
                <a:ea typeface="+mn-ea"/>
              </a:rPr>
              <a:t>관점의 세부적인 프로세스 및 데이터 점검</a:t>
            </a:r>
            <a:endParaRPr lang="en-US" altLang="ko-KR" sz="1100" dirty="0" smtClean="0">
              <a:latin typeface="+mn-ea"/>
              <a:ea typeface="+mn-ea"/>
            </a:endParaRPr>
          </a:p>
          <a:p>
            <a:pPr marL="177800" indent="-177800" algn="l" latinLnBrk="0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ko-KR" altLang="en-US" sz="1100" dirty="0" smtClean="0">
                <a:latin typeface="+mn-ea"/>
                <a:ea typeface="+mn-ea"/>
                <a:cs typeface="Times New Roman" pitchFamily="18" charset="0"/>
              </a:rPr>
              <a:t>다양한 </a:t>
            </a:r>
            <a:r>
              <a:rPr lang="en-US" altLang="ko-KR" sz="1100" dirty="0">
                <a:latin typeface="+mn-ea"/>
                <a:ea typeface="+mn-ea"/>
                <a:cs typeface="Times New Roman" pitchFamily="18" charset="0"/>
              </a:rPr>
              <a:t>Business Case </a:t>
            </a:r>
            <a:r>
              <a:rPr lang="ko-KR" altLang="en-US" sz="1100" dirty="0">
                <a:latin typeface="+mn-ea"/>
                <a:ea typeface="+mn-ea"/>
                <a:cs typeface="Times New Roman" pitchFamily="18" charset="0"/>
              </a:rPr>
              <a:t>및 계정 처리 </a:t>
            </a:r>
            <a:r>
              <a:rPr lang="ko-KR" altLang="en-US" sz="1100" dirty="0" smtClean="0">
                <a:latin typeface="+mn-ea"/>
                <a:ea typeface="+mn-ea"/>
                <a:cs typeface="Times New Roman" pitchFamily="18" charset="0"/>
              </a:rPr>
              <a:t>검증 </a:t>
            </a:r>
            <a:r>
              <a:rPr lang="en-US" altLang="ko-KR" sz="1100" dirty="0" smtClean="0">
                <a:latin typeface="+mn-ea"/>
                <a:ea typeface="+mn-ea"/>
                <a:cs typeface="Times New Roman" pitchFamily="18" charset="0"/>
              </a:rPr>
              <a:t>: </a:t>
            </a:r>
            <a:r>
              <a:rPr lang="ko-KR" altLang="en-US" sz="1100" dirty="0" smtClean="0">
                <a:latin typeface="+mn-ea"/>
                <a:ea typeface="+mn-ea"/>
                <a:cs typeface="Times New Roman" pitchFamily="18" charset="0"/>
              </a:rPr>
              <a:t>예외적인 경우 집중 테스트</a:t>
            </a:r>
            <a:endParaRPr lang="en-US" altLang="ko-KR" sz="1100" dirty="0" smtClean="0">
              <a:latin typeface="+mn-ea"/>
              <a:ea typeface="+mn-ea"/>
            </a:endParaRPr>
          </a:p>
          <a:p>
            <a:pPr marL="177800" indent="-177800" algn="l" latinLnBrk="0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ko-KR" altLang="en-US" sz="1100" dirty="0">
                <a:latin typeface="+mn-ea"/>
                <a:ea typeface="+mn-ea"/>
                <a:cs typeface="Times New Roman" pitchFamily="18" charset="0"/>
              </a:rPr>
              <a:t>전체 </a:t>
            </a:r>
            <a:r>
              <a:rPr lang="ko-KR" altLang="ko-KR" sz="1100" dirty="0">
                <a:latin typeface="+mn-ea"/>
                <a:ea typeface="+mn-ea"/>
                <a:cs typeface="Times New Roman" pitchFamily="18" charset="0"/>
              </a:rPr>
              <a:t>Master Data의 정합성 확보, Setup의 완벽성 </a:t>
            </a:r>
            <a:r>
              <a:rPr lang="ko-KR" altLang="ko-KR" sz="1100" dirty="0" smtClean="0">
                <a:latin typeface="+mn-ea"/>
                <a:ea typeface="+mn-ea"/>
                <a:cs typeface="Times New Roman" pitchFamily="18" charset="0"/>
              </a:rPr>
              <a:t>확인</a:t>
            </a:r>
            <a:endParaRPr lang="en-US" altLang="ko-KR" sz="1100" dirty="0" smtClean="0">
              <a:latin typeface="+mn-ea"/>
              <a:ea typeface="+mn-ea"/>
              <a:cs typeface="Times New Roman" pitchFamily="18" charset="0"/>
            </a:endParaRPr>
          </a:p>
          <a:p>
            <a:pPr marL="177800" indent="-177800" algn="l" latinLnBrk="0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ko-KR" altLang="en-US" sz="1100" dirty="0" smtClean="0">
                <a:latin typeface="+mn-ea"/>
                <a:ea typeface="+mn-ea"/>
                <a:cs typeface="Times New Roman" pitchFamily="18" charset="0"/>
              </a:rPr>
              <a:t>생산</a:t>
            </a:r>
            <a:r>
              <a:rPr lang="en-US" altLang="ko-KR" sz="1100" dirty="0" smtClean="0">
                <a:latin typeface="+mn-ea"/>
                <a:ea typeface="+mn-ea"/>
                <a:cs typeface="Times New Roman" pitchFamily="18" charset="0"/>
              </a:rPr>
              <a:t>/</a:t>
            </a:r>
            <a:r>
              <a:rPr lang="ko-KR" altLang="en-US" sz="1100" dirty="0" smtClean="0">
                <a:latin typeface="+mn-ea"/>
                <a:ea typeface="+mn-ea"/>
                <a:cs typeface="Times New Roman" pitchFamily="18" charset="0"/>
              </a:rPr>
              <a:t>물류 프로세스 운영을 위한 </a:t>
            </a:r>
            <a:r>
              <a:rPr lang="en-US" altLang="ko-KR" sz="1100" dirty="0" smtClean="0">
                <a:latin typeface="+mn-ea"/>
                <a:ea typeface="+mn-ea"/>
                <a:cs typeface="Times New Roman" pitchFamily="18" charset="0"/>
              </a:rPr>
              <a:t>MES, WMS</a:t>
            </a:r>
            <a:r>
              <a:rPr lang="ko-KR" altLang="en-US" sz="1100" dirty="0" smtClean="0">
                <a:latin typeface="+mn-ea"/>
                <a:ea typeface="+mn-ea"/>
                <a:cs typeface="Times New Roman" pitchFamily="18" charset="0"/>
              </a:rPr>
              <a:t>와의 데이터 연동 최종 점검</a:t>
            </a:r>
            <a:endParaRPr lang="en-US" altLang="ko-KR" sz="1100" dirty="0" smtClean="0">
              <a:latin typeface="+mn-ea"/>
              <a:ea typeface="+mn-ea"/>
              <a:cs typeface="Times New Roman" pitchFamily="18" charset="0"/>
            </a:endParaRPr>
          </a:p>
          <a:p>
            <a:pPr marL="177800" indent="-177800" algn="l" latinLnBrk="0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ko-KR" altLang="en-US" sz="1100" dirty="0">
                <a:latin typeface="+mn-ea"/>
                <a:ea typeface="+mn-ea"/>
                <a:cs typeface="Times New Roman" pitchFamily="18" charset="0"/>
              </a:rPr>
              <a:t>가공설비</a:t>
            </a:r>
            <a:r>
              <a:rPr lang="en-US" altLang="ko-KR" sz="1100" dirty="0">
                <a:latin typeface="+mn-ea"/>
                <a:ea typeface="+mn-ea"/>
                <a:cs typeface="Times New Roman" pitchFamily="18" charset="0"/>
              </a:rPr>
              <a:t>, </a:t>
            </a:r>
            <a:r>
              <a:rPr lang="ko-KR" altLang="en-US" sz="1100" dirty="0">
                <a:latin typeface="+mn-ea"/>
                <a:ea typeface="+mn-ea"/>
                <a:cs typeface="Times New Roman" pitchFamily="18" charset="0"/>
              </a:rPr>
              <a:t>포장설비와 생산진행 </a:t>
            </a:r>
            <a:r>
              <a:rPr lang="en-US" altLang="ko-KR" sz="1100" dirty="0">
                <a:latin typeface="+mn-ea"/>
                <a:ea typeface="+mn-ea"/>
                <a:cs typeface="Times New Roman" pitchFamily="18" charset="0"/>
              </a:rPr>
              <a:t>Data</a:t>
            </a:r>
            <a:r>
              <a:rPr lang="ko-KR" altLang="en-US" sz="1100" dirty="0">
                <a:latin typeface="+mn-ea"/>
                <a:ea typeface="+mn-ea"/>
                <a:cs typeface="Times New Roman" pitchFamily="18" charset="0"/>
              </a:rPr>
              <a:t>의 </a:t>
            </a:r>
            <a:r>
              <a:rPr lang="ko-KR" altLang="en-US" sz="1100" dirty="0" smtClean="0">
                <a:latin typeface="+mn-ea"/>
                <a:ea typeface="+mn-ea"/>
                <a:cs typeface="Times New Roman" pitchFamily="18" charset="0"/>
              </a:rPr>
              <a:t>원활한 </a:t>
            </a:r>
            <a:r>
              <a:rPr lang="ko-KR" altLang="en-US" sz="1100" dirty="0">
                <a:latin typeface="+mn-ea"/>
                <a:ea typeface="+mn-ea"/>
                <a:cs typeface="Times New Roman" pitchFamily="18" charset="0"/>
              </a:rPr>
              <a:t>상호 </a:t>
            </a:r>
            <a:r>
              <a:rPr lang="en-US" altLang="ko-KR" sz="1100" dirty="0">
                <a:latin typeface="+mn-ea"/>
                <a:ea typeface="+mn-ea"/>
                <a:cs typeface="Times New Roman" pitchFamily="18" charset="0"/>
              </a:rPr>
              <a:t>I/F </a:t>
            </a:r>
            <a:r>
              <a:rPr lang="ko-KR" altLang="en-US" sz="1100" dirty="0">
                <a:latin typeface="+mn-ea"/>
                <a:ea typeface="+mn-ea"/>
                <a:cs typeface="Times New Roman" pitchFamily="18" charset="0"/>
              </a:rPr>
              <a:t>수행 점검</a:t>
            </a:r>
            <a:endParaRPr lang="en-US" altLang="ko-KR" sz="1100" dirty="0">
              <a:latin typeface="+mn-ea"/>
              <a:ea typeface="+mn-ea"/>
              <a:cs typeface="Times New Roman" pitchFamily="18" charset="0"/>
            </a:endParaRPr>
          </a:p>
          <a:p>
            <a:pPr marL="177800" indent="-177800" algn="l" latinLnBrk="0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ko-KR" altLang="en-US" sz="1100" dirty="0">
                <a:latin typeface="+mn-ea"/>
                <a:ea typeface="+mn-ea"/>
                <a:cs typeface="Times New Roman" pitchFamily="18" charset="0"/>
              </a:rPr>
              <a:t>물류의 흐름과 적치</a:t>
            </a:r>
            <a:r>
              <a:rPr lang="en-US" altLang="ko-KR" sz="1100" dirty="0">
                <a:latin typeface="+mn-ea"/>
                <a:ea typeface="+mn-ea"/>
                <a:cs typeface="Times New Roman" pitchFamily="18" charset="0"/>
              </a:rPr>
              <a:t>, </a:t>
            </a:r>
            <a:r>
              <a:rPr lang="ko-KR" altLang="en-US" sz="1100" dirty="0">
                <a:latin typeface="+mn-ea"/>
                <a:ea typeface="+mn-ea"/>
                <a:cs typeface="Times New Roman" pitchFamily="18" charset="0"/>
              </a:rPr>
              <a:t>할당</a:t>
            </a:r>
            <a:r>
              <a:rPr lang="en-US" altLang="ko-KR" sz="1100" dirty="0">
                <a:latin typeface="+mn-ea"/>
                <a:ea typeface="+mn-ea"/>
                <a:cs typeface="Times New Roman" pitchFamily="18" charset="0"/>
              </a:rPr>
              <a:t>, </a:t>
            </a:r>
            <a:r>
              <a:rPr lang="ko-KR" altLang="en-US" sz="1100" dirty="0">
                <a:latin typeface="+mn-ea"/>
                <a:ea typeface="+mn-ea"/>
                <a:cs typeface="Times New Roman" pitchFamily="18" charset="0"/>
              </a:rPr>
              <a:t>배차의 다양한 전략 실행 </a:t>
            </a:r>
            <a:r>
              <a:rPr lang="ko-KR" altLang="en-US" sz="1100" dirty="0" smtClean="0">
                <a:latin typeface="+mn-ea"/>
                <a:ea typeface="+mn-ea"/>
                <a:cs typeface="Times New Roman" pitchFamily="18" charset="0"/>
              </a:rPr>
              <a:t>확인</a:t>
            </a:r>
            <a:endParaRPr lang="en-US" altLang="ko-KR" sz="1100" dirty="0" smtClean="0">
              <a:latin typeface="+mn-ea"/>
              <a:ea typeface="+mn-ea"/>
              <a:cs typeface="Times New Roman" pitchFamily="18" charset="0"/>
            </a:endParaRPr>
          </a:p>
          <a:p>
            <a:pPr marL="177800" indent="-177800" algn="l" latinLnBrk="0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ko-KR" sz="1100" dirty="0">
                <a:latin typeface="+mn-ea"/>
                <a:ea typeface="+mn-ea"/>
                <a:cs typeface="Times New Roman" pitchFamily="18" charset="0"/>
              </a:rPr>
              <a:t>Power User</a:t>
            </a:r>
            <a:r>
              <a:rPr lang="ko-KR" altLang="en-US" sz="1100" dirty="0">
                <a:latin typeface="+mn-ea"/>
                <a:ea typeface="+mn-ea"/>
                <a:cs typeface="Times New Roman" pitchFamily="18" charset="0"/>
              </a:rPr>
              <a:t>의 요구사항</a:t>
            </a:r>
            <a:r>
              <a:rPr lang="en-US" altLang="ko-KR" sz="1100" dirty="0">
                <a:latin typeface="+mn-ea"/>
                <a:ea typeface="+mn-ea"/>
                <a:cs typeface="Times New Roman" pitchFamily="18" charset="0"/>
              </a:rPr>
              <a:t> </a:t>
            </a:r>
            <a:r>
              <a:rPr lang="ko-KR" altLang="en-US" sz="1100" dirty="0">
                <a:latin typeface="+mn-ea"/>
                <a:ea typeface="+mn-ea"/>
                <a:cs typeface="Times New Roman" pitchFamily="18" charset="0"/>
              </a:rPr>
              <a:t>반영 결과 검증</a:t>
            </a:r>
            <a:endParaRPr lang="en-US" altLang="ko-KR" sz="1100" dirty="0" smtClean="0">
              <a:latin typeface="+mn-ea"/>
              <a:ea typeface="+mn-e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460083" y="5661328"/>
            <a:ext cx="6984775" cy="864016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177800" indent="-177800" algn="l" latinLnBrk="0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ko-KR" sz="1100" dirty="0" smtClean="0">
                <a:latin typeface="+mn-ea"/>
                <a:ea typeface="+mn-ea"/>
              </a:rPr>
              <a:t>ERP, MES, WMS </a:t>
            </a:r>
            <a:r>
              <a:rPr lang="ko-KR" altLang="en-US" sz="1100" dirty="0" smtClean="0">
                <a:latin typeface="+mn-ea"/>
                <a:ea typeface="+mn-ea"/>
              </a:rPr>
              <a:t>등 타 시스템 간의 </a:t>
            </a:r>
            <a:r>
              <a:rPr lang="en-US" altLang="ko-KR" sz="1100" dirty="0" smtClean="0">
                <a:latin typeface="+mn-ea"/>
                <a:ea typeface="+mn-ea"/>
              </a:rPr>
              <a:t>Integration</a:t>
            </a:r>
            <a:r>
              <a:rPr lang="ko-KR" altLang="en-US" sz="1100" dirty="0" smtClean="0">
                <a:latin typeface="+mn-ea"/>
                <a:ea typeface="+mn-ea"/>
              </a:rPr>
              <a:t> 검증</a:t>
            </a:r>
            <a:endParaRPr lang="en-US" altLang="ko-KR" sz="1100" dirty="0" smtClean="0">
              <a:latin typeface="+mn-ea"/>
              <a:ea typeface="+mn-ea"/>
            </a:endParaRPr>
          </a:p>
          <a:p>
            <a:pPr marL="177800" indent="-177800" algn="l" latinLnBrk="0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ko-KR" sz="1100" dirty="0" smtClean="0">
                <a:latin typeface="+mn-ea"/>
                <a:ea typeface="+mn-ea"/>
              </a:rPr>
              <a:t>Production </a:t>
            </a:r>
            <a:r>
              <a:rPr lang="ko-KR" altLang="en-US" sz="1100" dirty="0">
                <a:latin typeface="+mn-ea"/>
                <a:ea typeface="+mn-ea"/>
              </a:rPr>
              <a:t>환경에 이행할 </a:t>
            </a:r>
            <a:r>
              <a:rPr lang="en-US" altLang="ko-KR" sz="1100" dirty="0">
                <a:latin typeface="+mn-ea"/>
                <a:ea typeface="+mn-ea"/>
              </a:rPr>
              <a:t>Master Data</a:t>
            </a:r>
            <a:r>
              <a:rPr lang="ko-KR" altLang="en-US" sz="1100" dirty="0">
                <a:latin typeface="+mn-ea"/>
                <a:ea typeface="+mn-ea"/>
              </a:rPr>
              <a:t> </a:t>
            </a:r>
            <a:r>
              <a:rPr lang="en-US" altLang="ko-KR" sz="1100" dirty="0">
                <a:latin typeface="+mn-ea"/>
                <a:ea typeface="+mn-ea"/>
              </a:rPr>
              <a:t>Cleansing </a:t>
            </a:r>
            <a:r>
              <a:rPr lang="ko-KR" altLang="en-US" sz="1100" dirty="0">
                <a:latin typeface="+mn-ea"/>
                <a:ea typeface="+mn-ea"/>
              </a:rPr>
              <a:t>및</a:t>
            </a:r>
            <a:r>
              <a:rPr lang="en-US" altLang="ko-KR" sz="1100" dirty="0">
                <a:latin typeface="+mn-ea"/>
                <a:ea typeface="+mn-ea"/>
              </a:rPr>
              <a:t> </a:t>
            </a:r>
            <a:r>
              <a:rPr lang="ko-KR" altLang="en-US" sz="1100" dirty="0">
                <a:latin typeface="+mn-ea"/>
                <a:ea typeface="+mn-ea"/>
              </a:rPr>
              <a:t>정합성 </a:t>
            </a:r>
            <a:r>
              <a:rPr lang="ko-KR" altLang="en-US" sz="1100" dirty="0" smtClean="0">
                <a:latin typeface="+mn-ea"/>
                <a:ea typeface="+mn-ea"/>
              </a:rPr>
              <a:t>검증</a:t>
            </a:r>
            <a:endParaRPr lang="en-US" altLang="ko-KR" sz="1100" dirty="0" smtClean="0">
              <a:latin typeface="+mn-ea"/>
              <a:ea typeface="+mn-ea"/>
            </a:endParaRPr>
          </a:p>
          <a:p>
            <a:pPr marL="177800" indent="-177800" algn="l" latinLnBrk="0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ko-KR" altLang="en-US" sz="1100" dirty="0">
                <a:latin typeface="+mn-ea"/>
                <a:ea typeface="+mn-ea"/>
                <a:cs typeface="Times New Roman" pitchFamily="18" charset="0"/>
              </a:rPr>
              <a:t>프로세스</a:t>
            </a:r>
            <a:r>
              <a:rPr lang="en-US" altLang="ko-KR" sz="1100" dirty="0">
                <a:latin typeface="+mn-ea"/>
                <a:ea typeface="+mn-ea"/>
                <a:cs typeface="Times New Roman" pitchFamily="18" charset="0"/>
              </a:rPr>
              <a:t>, Data, </a:t>
            </a:r>
            <a:r>
              <a:rPr lang="ko-KR" altLang="en-US" sz="1100" dirty="0">
                <a:latin typeface="+mn-ea"/>
                <a:ea typeface="+mn-ea"/>
                <a:cs typeface="Times New Roman" pitchFamily="18" charset="0"/>
              </a:rPr>
              <a:t>시스템의 </a:t>
            </a:r>
            <a:r>
              <a:rPr lang="ko-KR" altLang="en-US" sz="1100" dirty="0" err="1">
                <a:latin typeface="+mn-ea"/>
                <a:ea typeface="+mn-ea"/>
                <a:cs typeface="Times New Roman" pitchFamily="18" charset="0"/>
              </a:rPr>
              <a:t>무결성</a:t>
            </a:r>
            <a:r>
              <a:rPr lang="ko-KR" altLang="en-US" sz="1100" dirty="0">
                <a:latin typeface="+mn-ea"/>
                <a:ea typeface="+mn-ea"/>
                <a:cs typeface="Times New Roman" pitchFamily="18" charset="0"/>
              </a:rPr>
              <a:t> 검증</a:t>
            </a:r>
            <a:endParaRPr lang="ko-KR" altLang="en-US" sz="1100" dirty="0">
              <a:latin typeface="+mn-ea"/>
              <a:ea typeface="+mn-ea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429001" y="1546200"/>
            <a:ext cx="1959074" cy="540000"/>
          </a:xfrm>
          <a:prstGeom prst="rect">
            <a:avLst/>
          </a:prstGeom>
          <a:solidFill>
            <a:schemeClr val="accent3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>
            <a:noAutofit/>
          </a:bodyPr>
          <a:lstStyle/>
          <a:p>
            <a:pPr algn="ctr" latinLnBrk="0">
              <a:lnSpc>
                <a:spcPct val="150000"/>
              </a:lnSpc>
            </a:pPr>
            <a:r>
              <a:rPr lang="ko-KR" altLang="en-US" sz="1400" b="1" dirty="0" smtClean="0">
                <a:solidFill>
                  <a:schemeClr val="bg1"/>
                </a:solidFill>
                <a:latin typeface="+mn-ea"/>
              </a:rPr>
              <a:t>일정</a:t>
            </a:r>
            <a:endParaRPr lang="ko-KR" altLang="en-US" sz="14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66703" y="1546200"/>
            <a:ext cx="6984775" cy="5400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marL="177800" indent="-177800" algn="l" latinLnBrk="0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ko-KR" sz="1100" dirty="0" smtClean="0">
                <a:latin typeface="+mn-ea"/>
                <a:ea typeface="+mn-ea"/>
              </a:rPr>
              <a:t>5</a:t>
            </a:r>
            <a:r>
              <a:rPr lang="ko-KR" altLang="en-US" sz="1100" dirty="0" smtClean="0">
                <a:latin typeface="+mn-ea"/>
                <a:ea typeface="+mn-ea"/>
              </a:rPr>
              <a:t>월 </a:t>
            </a:r>
            <a:r>
              <a:rPr lang="en-US" altLang="ko-KR" sz="1100" dirty="0" smtClean="0">
                <a:latin typeface="+mn-ea"/>
                <a:ea typeface="+mn-ea"/>
              </a:rPr>
              <a:t>18 ~ 22</a:t>
            </a:r>
            <a:r>
              <a:rPr lang="ko-KR" altLang="en-US" sz="1100" dirty="0" smtClean="0">
                <a:latin typeface="+mn-ea"/>
                <a:ea typeface="+mn-ea"/>
              </a:rPr>
              <a:t>일 </a:t>
            </a:r>
            <a:r>
              <a:rPr lang="en-US" altLang="ko-KR" sz="1100" dirty="0" smtClean="0">
                <a:latin typeface="+mn-ea"/>
                <a:ea typeface="+mn-ea"/>
              </a:rPr>
              <a:t>(1</a:t>
            </a:r>
            <a:r>
              <a:rPr lang="ko-KR" altLang="en-US" sz="1100" dirty="0" smtClean="0">
                <a:latin typeface="+mn-ea"/>
                <a:ea typeface="+mn-ea"/>
              </a:rPr>
              <a:t>주간</a:t>
            </a:r>
            <a:r>
              <a:rPr lang="en-US" altLang="ko-KR" sz="1100" dirty="0" smtClean="0">
                <a:latin typeface="+mn-ea"/>
                <a:ea typeface="+mn-ea"/>
              </a:rPr>
              <a:t>)</a:t>
            </a:r>
            <a:endParaRPr lang="en-US" altLang="ko-KR" sz="11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4859749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r>
              <a:rPr lang="en-US" altLang="ko-KR" dirty="0" smtClean="0"/>
              <a:t>. </a:t>
            </a:r>
            <a:r>
              <a:rPr lang="ko-KR" altLang="en-US" dirty="0" smtClean="0"/>
              <a:t>수행 일정 및 </a:t>
            </a:r>
            <a:r>
              <a:rPr lang="en-US" altLang="ko-KR" dirty="0" smtClean="0"/>
              <a:t>R&amp;R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4"/>
          </p:nvPr>
        </p:nvSpPr>
        <p:spPr>
          <a:xfrm>
            <a:off x="381000" y="899269"/>
            <a:ext cx="9144000" cy="738664"/>
          </a:xfrm>
        </p:spPr>
        <p:txBody>
          <a:bodyPr/>
          <a:lstStyle/>
          <a:p>
            <a:r>
              <a:rPr lang="en-US" altLang="ko-KR" dirty="0"/>
              <a:t>E2E </a:t>
            </a:r>
            <a:r>
              <a:rPr lang="ko-KR" altLang="en-US" dirty="0"/>
              <a:t>프로세스 테스트를 위한 </a:t>
            </a:r>
            <a:r>
              <a:rPr lang="en-US" altLang="ko-KR" dirty="0"/>
              <a:t>Business Case, Variant </a:t>
            </a:r>
            <a:r>
              <a:rPr lang="ko-KR" altLang="en-US" dirty="0"/>
              <a:t>레벨의 </a:t>
            </a:r>
            <a:r>
              <a:rPr lang="en-US" altLang="ko-KR" dirty="0"/>
              <a:t>Test</a:t>
            </a:r>
            <a:r>
              <a:rPr lang="ko-KR" altLang="en-US" dirty="0"/>
              <a:t> </a:t>
            </a:r>
            <a:r>
              <a:rPr lang="en-US" altLang="ko-KR" dirty="0"/>
              <a:t>Script</a:t>
            </a:r>
            <a:r>
              <a:rPr lang="ko-KR" altLang="en-US" dirty="0"/>
              <a:t>와</a:t>
            </a:r>
            <a:r>
              <a:rPr lang="en-US" altLang="ko-KR" dirty="0"/>
              <a:t> </a:t>
            </a:r>
            <a:r>
              <a:rPr lang="ko-KR" altLang="en-US" dirty="0"/>
              <a:t>일관성 있는 </a:t>
            </a:r>
            <a:r>
              <a:rPr lang="en-US" altLang="ko-KR" dirty="0"/>
              <a:t>Data Set </a:t>
            </a:r>
            <a:r>
              <a:rPr lang="ko-KR" altLang="en-US" dirty="0"/>
              <a:t>준비하였고</a:t>
            </a:r>
            <a:r>
              <a:rPr lang="en-US" altLang="ko-KR" dirty="0" smtClean="0"/>
              <a:t>, </a:t>
            </a:r>
            <a:r>
              <a:rPr lang="ko-KR" altLang="en-US" dirty="0" smtClean="0"/>
              <a:t>통합테스트의 </a:t>
            </a:r>
            <a:r>
              <a:rPr lang="ko-KR" altLang="en-US" dirty="0"/>
              <a:t>주요 점검 </a:t>
            </a:r>
            <a:r>
              <a:rPr lang="en-US" altLang="ko-KR" dirty="0"/>
              <a:t>Point</a:t>
            </a:r>
            <a:r>
              <a:rPr lang="ko-KR" altLang="en-US" dirty="0"/>
              <a:t>을 점검하면서 테스트 수행함</a:t>
            </a:r>
            <a:r>
              <a:rPr lang="en-US" altLang="ko-KR" dirty="0"/>
              <a:t>.</a:t>
            </a:r>
            <a:endParaRPr lang="ko-KR" altLang="en-US" dirty="0"/>
          </a:p>
          <a:p>
            <a:endParaRPr lang="ko-KR" altLang="en-US" dirty="0"/>
          </a:p>
        </p:txBody>
      </p:sp>
      <p:graphicFrame>
        <p:nvGraphicFramePr>
          <p:cNvPr id="5" name="Group 59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4891849"/>
              </p:ext>
            </p:extLst>
          </p:nvPr>
        </p:nvGraphicFramePr>
        <p:xfrm>
          <a:off x="1678260" y="1552844"/>
          <a:ext cx="7794057" cy="2330670"/>
        </p:xfrm>
        <a:graphic>
          <a:graphicData uri="http://schemas.openxmlformats.org/drawingml/2006/table">
            <a:tbl>
              <a:tblPr/>
              <a:tblGrid>
                <a:gridCol w="17677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71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81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81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42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523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942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3926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3017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8443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0391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76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Tasks</a:t>
                      </a:r>
                    </a:p>
                  </a:txBody>
                  <a:tcPr marL="36000" marR="36000" marT="53997" marB="53997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76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수행기간</a:t>
                      </a:r>
                    </a:p>
                  </a:txBody>
                  <a:tcPr marL="36000" marR="36000" marT="53997" marB="539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76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53997" marB="53997"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B87B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76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시나리오 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76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오너</a:t>
                      </a:r>
                    </a:p>
                  </a:txBody>
                  <a:tcPr marL="36000" marR="36000" marT="53997" marB="539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76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Biz PI</a:t>
                      </a:r>
                      <a:endParaRPr kumimoji="0" lang="ko-KR" alt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53997" marB="539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76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Power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76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User</a:t>
                      </a:r>
                    </a:p>
                  </a:txBody>
                  <a:tcPr marL="36000" marR="36000" marT="53997" marB="539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76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Integration</a:t>
                      </a:r>
                    </a:p>
                  </a:txBody>
                  <a:tcPr marL="36000" marR="36000" marT="53997" marB="539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76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정혁팀</a:t>
                      </a:r>
                      <a:endParaRPr kumimoji="0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53997" marB="539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76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설계자</a:t>
                      </a:r>
                      <a:endParaRPr kumimoji="0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53997" marB="539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76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개발자</a:t>
                      </a:r>
                    </a:p>
                  </a:txBody>
                  <a:tcPr marL="36000" marR="36000" marT="53997" marB="539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275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9pPr>
                    </a:lstStyle>
                    <a:p>
                      <a:pPr marL="7200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76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r>
                        <a:rPr kumimoji="0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차 통합테스트 </a:t>
                      </a:r>
                      <a:r>
                        <a:rPr kumimoji="0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– 1</a:t>
                      </a:r>
                      <a:r>
                        <a:rPr kumimoji="0" lang="ko-KR" altLang="en-US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회차</a:t>
                      </a:r>
                      <a:endParaRPr kumimoji="0" lang="ko-KR" alt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53997" marB="53997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ko-KR" altLang="en-US"/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ko-KR" altLang="en-US"/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6"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Leading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76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수행</a:t>
                      </a:r>
                    </a:p>
                  </a:txBody>
                  <a:tcPr marL="36000" marR="36000" marT="53997" marB="539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76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결과기록</a:t>
                      </a:r>
                    </a:p>
                  </a:txBody>
                  <a:tcPr marL="36000" marR="36000" marT="53997" marB="539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tc rowSpan="6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76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점검</a:t>
                      </a:r>
                    </a:p>
                  </a:txBody>
                  <a:tcPr marL="36000" marR="36000" marT="53997" marB="539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76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지원</a:t>
                      </a:r>
                    </a:p>
                  </a:txBody>
                  <a:tcPr marL="36000" marR="36000" marT="53997" marB="539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76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지원</a:t>
                      </a:r>
                    </a:p>
                  </a:txBody>
                  <a:tcPr marL="36000" marR="36000" marT="53997" marB="539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76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지원</a:t>
                      </a:r>
                    </a:p>
                  </a:txBody>
                  <a:tcPr marL="36000" marR="36000" marT="53997" marB="539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275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9pPr>
                    </a:lstStyle>
                    <a:p>
                      <a:pPr marL="7200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76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r>
                        <a:rPr kumimoji="0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차 통합테스트 </a:t>
                      </a:r>
                      <a:r>
                        <a:rPr kumimoji="0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– 2</a:t>
                      </a:r>
                      <a:r>
                        <a:rPr kumimoji="0" lang="ko-KR" altLang="en-US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회차</a:t>
                      </a:r>
                      <a:endParaRPr kumimoji="0" lang="ko-KR" alt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53997" marB="53997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76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lang="ko-KR" altLang="en-US" sz="1000" b="0" i="0" u="none" strike="noStrike" kern="1200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53997" marB="53997"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76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76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결과기록</a:t>
                      </a:r>
                    </a:p>
                  </a:txBody>
                  <a:tcPr marL="36000" marR="36000" marT="53997" marB="539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76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수행</a:t>
                      </a:r>
                    </a:p>
                  </a:txBody>
                  <a:tcPr marL="36000" marR="36000" marT="53997" marB="539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76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지원</a:t>
                      </a:r>
                    </a:p>
                  </a:txBody>
                  <a:tcPr marL="36000" marR="36000" marT="53997" marB="539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76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지원</a:t>
                      </a:r>
                    </a:p>
                  </a:txBody>
                  <a:tcPr marL="36000" marR="36000" marT="53997" marB="539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76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지원</a:t>
                      </a:r>
                    </a:p>
                  </a:txBody>
                  <a:tcPr marL="36000" marR="36000" marT="53997" marB="539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90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9pPr>
                    </a:lstStyle>
                    <a:p>
                      <a:pPr marL="7200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76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r>
                        <a:rPr kumimoji="0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차 통합테스트 결과 보완</a:t>
                      </a:r>
                    </a:p>
                  </a:txBody>
                  <a:tcPr marL="36000" marR="36000" marT="53997" marB="53997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76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6000" marR="36000" marT="53997" marB="539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76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6000" marR="36000" marT="53997" marB="539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76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6000" marR="36000" marT="53997" marB="539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76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지원</a:t>
                      </a:r>
                    </a:p>
                  </a:txBody>
                  <a:tcPr marL="36000" marR="36000" marT="53997" marB="539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76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지원</a:t>
                      </a:r>
                    </a:p>
                  </a:txBody>
                  <a:tcPr marL="36000" marR="36000" marT="53997" marB="539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7275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9pPr>
                    </a:lstStyle>
                    <a:p>
                      <a:pPr marL="7200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76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r>
                        <a:rPr kumimoji="0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차 통합테스트 </a:t>
                      </a:r>
                      <a:r>
                        <a:rPr kumimoji="0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– 1</a:t>
                      </a:r>
                      <a:r>
                        <a:rPr kumimoji="0" lang="ko-KR" altLang="en-US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회차</a:t>
                      </a:r>
                      <a:endParaRPr kumimoji="0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53997" marB="53997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285"/>
                    </a:solidFill>
                  </a:tcPr>
                </a:tc>
                <a:tc rowSpan="2">
                  <a:txBody>
                    <a:bodyPr/>
                    <a:lstStyle/>
                    <a:p>
                      <a:endParaRPr lang="ko-KR" altLang="en-US"/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285"/>
                    </a:solidFill>
                  </a:tcPr>
                </a:tc>
                <a:tc rowSpan="2">
                  <a:txBody>
                    <a:bodyPr/>
                    <a:lstStyle/>
                    <a:p>
                      <a:endParaRPr lang="ko-KR" altLang="en-US"/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285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76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수행</a:t>
                      </a:r>
                    </a:p>
                  </a:txBody>
                  <a:tcPr marL="36000" marR="36000" marT="53997" marB="539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76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결과기록</a:t>
                      </a:r>
                    </a:p>
                  </a:txBody>
                  <a:tcPr marL="36000" marR="36000" marT="53997" marB="539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76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지원</a:t>
                      </a:r>
                    </a:p>
                  </a:txBody>
                  <a:tcPr marL="36000" marR="36000" marT="53997" marB="539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76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지원</a:t>
                      </a:r>
                    </a:p>
                  </a:txBody>
                  <a:tcPr marL="36000" marR="36000" marT="53997" marB="539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76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지원</a:t>
                      </a:r>
                    </a:p>
                  </a:txBody>
                  <a:tcPr marL="36000" marR="36000" marT="53997" marB="539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7275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9pPr>
                    </a:lstStyle>
                    <a:p>
                      <a:pPr marL="7200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76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r>
                        <a:rPr kumimoji="0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차 통합테스트 </a:t>
                      </a:r>
                      <a:r>
                        <a:rPr kumimoji="0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– 2</a:t>
                      </a:r>
                      <a:r>
                        <a:rPr kumimoji="0" lang="ko-KR" altLang="en-US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회차</a:t>
                      </a:r>
                      <a:endParaRPr kumimoji="0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53997" marB="53997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285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76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53997" marB="53997" anchor="ctr" horzOverflow="overflow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76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76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결과기록</a:t>
                      </a:r>
                    </a:p>
                  </a:txBody>
                  <a:tcPr marL="36000" marR="36000" marT="53997" marB="539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76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수행</a:t>
                      </a:r>
                    </a:p>
                  </a:txBody>
                  <a:tcPr marL="36000" marR="36000" marT="53997" marB="539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76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지원</a:t>
                      </a:r>
                    </a:p>
                  </a:txBody>
                  <a:tcPr marL="36000" marR="36000" marT="53997" marB="539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76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지원</a:t>
                      </a:r>
                    </a:p>
                  </a:txBody>
                  <a:tcPr marL="36000" marR="36000" marT="53997" marB="539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76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지원</a:t>
                      </a:r>
                    </a:p>
                  </a:txBody>
                  <a:tcPr marL="36000" marR="36000" marT="53997" marB="539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690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9pPr>
                    </a:lstStyle>
                    <a:p>
                      <a:pPr marL="7200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76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r>
                        <a:rPr kumimoji="0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차 통합테스트 결과 보완</a:t>
                      </a:r>
                    </a:p>
                  </a:txBody>
                  <a:tcPr marL="36000" marR="36000" marT="53997" marB="53997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285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285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285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76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54000" marB="54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76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6000" marR="36000" marT="53997" marB="539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76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6000" marR="36000" marT="53997" marB="539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76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6000" marR="36000" marT="53997" marB="539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76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지원</a:t>
                      </a:r>
                    </a:p>
                  </a:txBody>
                  <a:tcPr marL="36000" marR="36000" marT="53997" marB="539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76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지원</a:t>
                      </a:r>
                    </a:p>
                  </a:txBody>
                  <a:tcPr marL="36000" marR="36000" marT="53997" marB="539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690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9pPr>
                    </a:lstStyle>
                    <a:p>
                      <a:pPr marL="7200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76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총괄 보고</a:t>
                      </a:r>
                    </a:p>
                  </a:txBody>
                  <a:tcPr marL="36000" marR="36000" marT="53997" marB="53997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76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보고</a:t>
                      </a:r>
                    </a:p>
                  </a:txBody>
                  <a:tcPr marL="36000" marR="36000" marT="53997" marB="539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76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53997" marB="539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76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53997" marB="539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76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53997" marB="539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76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53997" marB="539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76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53997" marB="539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76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53997" marB="5399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Rectangle 10"/>
          <p:cNvSpPr>
            <a:spLocks noChangeArrowheads="1"/>
          </p:cNvSpPr>
          <p:nvPr/>
        </p:nvSpPr>
        <p:spPr bwMode="auto">
          <a:xfrm>
            <a:off x="438560" y="1552844"/>
            <a:ext cx="1194797" cy="2330670"/>
          </a:xfrm>
          <a:prstGeom prst="rect">
            <a:avLst/>
          </a:prstGeom>
          <a:solidFill>
            <a:srgbClr val="0070C0"/>
          </a:solidFill>
          <a:ln w="28575" algn="ctr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rgbClr val="EEECE1">
                <a:alpha val="50000"/>
              </a:srgbClr>
            </a:outerShdw>
          </a:effectLst>
        </p:spPr>
        <p:txBody>
          <a:bodyPr lIns="18000" tIns="46800" rIns="18000" bIns="468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ko-KR" altLang="en-US" sz="12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+mn-ea"/>
                <a:cs typeface="Arial" charset="0"/>
              </a:rPr>
              <a:t>통합테스트 수행 일정 및 </a:t>
            </a:r>
            <a:r>
              <a:rPr kumimoji="0" lang="en-US" altLang="ko-KR" sz="12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+mn-ea"/>
                <a:cs typeface="Arial" charset="0"/>
              </a:rPr>
              <a:t>R&amp;R</a:t>
            </a:r>
            <a:endParaRPr kumimoji="0" lang="en-US" altLang="ko-KR" sz="1200" b="1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+mn-ea"/>
              <a:cs typeface="Arial" charset="0"/>
            </a:endParaRPr>
          </a:p>
        </p:txBody>
      </p:sp>
      <p:sp>
        <p:nvSpPr>
          <p:cNvPr id="7" name="Rectangle 11"/>
          <p:cNvSpPr>
            <a:spLocks noChangeArrowheads="1"/>
          </p:cNvSpPr>
          <p:nvPr/>
        </p:nvSpPr>
        <p:spPr bwMode="auto">
          <a:xfrm>
            <a:off x="438561" y="3919846"/>
            <a:ext cx="1194797" cy="2538238"/>
          </a:xfrm>
          <a:prstGeom prst="rect">
            <a:avLst/>
          </a:prstGeom>
          <a:solidFill>
            <a:srgbClr val="0070C0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lIns="18000" rIns="18000" anchor="ctr"/>
          <a:lstStyle/>
          <a:p>
            <a:pPr algn="ctr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2</a:t>
            </a:r>
            <a:r>
              <a:rPr lang="ko-KR" altLang="en-US" sz="12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차 통합테스</a:t>
            </a:r>
            <a:r>
              <a:rPr lang="ko-KR" altLang="en-US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트</a:t>
            </a:r>
            <a:endParaRPr lang="en-US" altLang="ko-KR" sz="1200" b="1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  <a:p>
            <a:pPr algn="ctr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sz="12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수행일정</a:t>
            </a:r>
            <a:endParaRPr lang="en-US" altLang="ko-KR" sz="1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3150560"/>
              </p:ext>
            </p:extLst>
          </p:nvPr>
        </p:nvGraphicFramePr>
        <p:xfrm>
          <a:off x="1678260" y="3925946"/>
          <a:ext cx="7560000" cy="2526038"/>
        </p:xfrm>
        <a:graphic>
          <a:graphicData uri="http://schemas.openxmlformats.org/drawingml/2006/table">
            <a:tbl>
              <a:tblPr/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582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1347" marR="1347" marT="1347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rtl="0" fontAlgn="ctr"/>
                      <a:r>
                        <a:rPr lang="ko-KR" altLang="en-US" sz="105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월</a:t>
                      </a:r>
                    </a:p>
                  </a:txBody>
                  <a:tcPr marL="1347" marR="1347" marT="1347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rtl="0" fontAlgn="ctr"/>
                      <a:r>
                        <a:rPr lang="ko-KR" altLang="en-US" sz="105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화</a:t>
                      </a:r>
                    </a:p>
                  </a:txBody>
                  <a:tcPr marL="1347" marR="1347" marT="1347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rtl="0" fontAlgn="ctr"/>
                      <a:r>
                        <a:rPr lang="ko-KR" altLang="en-US" sz="105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수</a:t>
                      </a:r>
                    </a:p>
                  </a:txBody>
                  <a:tcPr marL="1347" marR="1347" marT="1347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rtl="0" fontAlgn="ctr"/>
                      <a:r>
                        <a:rPr lang="ko-KR" altLang="en-US" sz="105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목</a:t>
                      </a:r>
                    </a:p>
                  </a:txBody>
                  <a:tcPr marL="1347" marR="1347" marT="1347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rtl="0" fontAlgn="ctr"/>
                      <a:r>
                        <a:rPr lang="ko-KR" altLang="en-US" sz="105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금</a:t>
                      </a:r>
                    </a:p>
                  </a:txBody>
                  <a:tcPr marL="1347" marR="1347" marT="1347" marB="0" anchor="ctr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535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1347" marR="1347" marT="1347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105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04</a:t>
                      </a:r>
                      <a:r>
                        <a:rPr lang="ko-KR" altLang="en-US" sz="105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월 </a:t>
                      </a:r>
                      <a:r>
                        <a:rPr lang="en-US" altLang="ko-KR" sz="105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13</a:t>
                      </a:r>
                      <a:r>
                        <a:rPr lang="ko-KR" altLang="en-US" sz="105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일</a:t>
                      </a:r>
                    </a:p>
                  </a:txBody>
                  <a:tcPr marL="1347" marR="1347" marT="13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1050" b="1" i="0" u="none" strike="noStrike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04</a:t>
                      </a:r>
                      <a:r>
                        <a:rPr lang="ko-KR" altLang="en-US" sz="1050" b="1" i="0" u="none" strike="noStrike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월 </a:t>
                      </a:r>
                      <a:r>
                        <a:rPr lang="en-US" altLang="ko-KR" sz="1050" b="1" i="0" u="none" strike="noStrike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14</a:t>
                      </a:r>
                      <a:r>
                        <a:rPr lang="ko-KR" altLang="en-US" sz="1050" b="1" i="0" u="none" strike="noStrike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일</a:t>
                      </a:r>
                    </a:p>
                  </a:txBody>
                  <a:tcPr marL="1347" marR="1347" marT="13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105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04</a:t>
                      </a:r>
                      <a:r>
                        <a:rPr lang="ko-KR" altLang="en-US" sz="105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월 </a:t>
                      </a:r>
                      <a:r>
                        <a:rPr lang="en-US" altLang="ko-KR" sz="105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15</a:t>
                      </a:r>
                      <a:r>
                        <a:rPr lang="ko-KR" altLang="en-US" sz="105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일</a:t>
                      </a:r>
                    </a:p>
                  </a:txBody>
                  <a:tcPr marL="1347" marR="1347" marT="13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1050" b="1" i="0" u="none" strike="noStrike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04</a:t>
                      </a:r>
                      <a:r>
                        <a:rPr lang="ko-KR" altLang="en-US" sz="1050" b="1" i="0" u="none" strike="noStrike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월 </a:t>
                      </a:r>
                      <a:r>
                        <a:rPr lang="en-US" altLang="ko-KR" sz="1050" b="1" i="0" u="none" strike="noStrike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16</a:t>
                      </a:r>
                      <a:r>
                        <a:rPr lang="ko-KR" altLang="en-US" sz="1050" b="1" i="0" u="none" strike="noStrike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일</a:t>
                      </a:r>
                    </a:p>
                  </a:txBody>
                  <a:tcPr marL="1347" marR="1347" marT="13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1050" b="1" i="0" u="none" strike="noStrike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04</a:t>
                      </a:r>
                      <a:r>
                        <a:rPr lang="ko-KR" altLang="en-US" sz="1050" b="1" i="0" u="none" strike="noStrike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월 </a:t>
                      </a:r>
                      <a:r>
                        <a:rPr lang="en-US" altLang="ko-KR" sz="1050" b="1" i="0" u="none" strike="noStrike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17</a:t>
                      </a:r>
                      <a:r>
                        <a:rPr lang="ko-KR" altLang="en-US" sz="1050" b="1" i="0" u="none" strike="noStrike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일</a:t>
                      </a:r>
                    </a:p>
                  </a:txBody>
                  <a:tcPr marL="1347" marR="1347" marT="13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7F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535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rtl="0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Session 1</a:t>
                      </a:r>
                    </a:p>
                  </a:txBody>
                  <a:tcPr marL="1347" marR="1347" marT="1347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브랜드전략</a:t>
                      </a:r>
                    </a:p>
                  </a:txBody>
                  <a:tcPr marL="1347" marR="1347" marT="13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해외사업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물류</a:t>
                      </a:r>
                    </a:p>
                  </a:txBody>
                  <a:tcPr marL="1347" marR="1347" marT="13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 rowSpan="3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rtl="0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47" marR="1347" marT="13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rtl="0" fontAlgn="ctr"/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이커머스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물류</a:t>
                      </a:r>
                    </a:p>
                  </a:txBody>
                  <a:tcPr marL="1347" marR="1347" marT="13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영업지원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물류</a:t>
                      </a:r>
                    </a:p>
                  </a:txBody>
                  <a:tcPr marL="1347" marR="1347" marT="13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535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rtl="0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Session 2</a:t>
                      </a:r>
                    </a:p>
                  </a:txBody>
                  <a:tcPr marL="1347" marR="1347" marT="1347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구매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물류</a:t>
                      </a:r>
                    </a:p>
                  </a:txBody>
                  <a:tcPr marL="1347" marR="1347" marT="13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rtl="0" fontAlgn="ctr"/>
                      <a:r>
                        <a:rPr 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R&amp;D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47" marR="1347" marT="13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생산</a:t>
                      </a:r>
                    </a:p>
                  </a:txBody>
                  <a:tcPr marL="1347" marR="1347" marT="13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생산</a:t>
                      </a:r>
                    </a:p>
                  </a:txBody>
                  <a:tcPr marL="1347" marR="1347" marT="13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535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rtl="0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Session 3</a:t>
                      </a:r>
                    </a:p>
                  </a:txBody>
                  <a:tcPr marL="1347" marR="1347" marT="1347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1347" marR="1347" marT="13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구매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물류</a:t>
                      </a:r>
                    </a:p>
                  </a:txBody>
                  <a:tcPr marL="1347" marR="1347" marT="13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공무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구매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1347" marR="1347" marT="13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1347" marR="1347" marT="13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8673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1347" marR="1347" marT="1347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105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04</a:t>
                      </a:r>
                      <a:r>
                        <a:rPr lang="ko-KR" altLang="en-US" sz="105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월 </a:t>
                      </a:r>
                      <a:r>
                        <a:rPr lang="en-US" altLang="ko-KR" sz="105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20</a:t>
                      </a:r>
                      <a:r>
                        <a:rPr lang="ko-KR" altLang="en-US" sz="105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일</a:t>
                      </a:r>
                    </a:p>
                  </a:txBody>
                  <a:tcPr marL="1347" marR="1347" marT="13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105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04</a:t>
                      </a:r>
                      <a:r>
                        <a:rPr lang="ko-KR" altLang="en-US" sz="105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월 </a:t>
                      </a:r>
                      <a:r>
                        <a:rPr lang="en-US" altLang="ko-KR" sz="105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21</a:t>
                      </a:r>
                      <a:r>
                        <a:rPr lang="ko-KR" altLang="en-US" sz="105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일</a:t>
                      </a:r>
                    </a:p>
                  </a:txBody>
                  <a:tcPr marL="1347" marR="1347" marT="13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105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04</a:t>
                      </a:r>
                      <a:r>
                        <a:rPr lang="ko-KR" altLang="en-US" sz="105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월 </a:t>
                      </a:r>
                      <a:r>
                        <a:rPr lang="en-US" altLang="ko-KR" sz="105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22</a:t>
                      </a:r>
                      <a:r>
                        <a:rPr lang="ko-KR" altLang="en-US" sz="105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일</a:t>
                      </a:r>
                    </a:p>
                  </a:txBody>
                  <a:tcPr marL="1347" marR="1347" marT="13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105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04</a:t>
                      </a:r>
                      <a:r>
                        <a:rPr lang="ko-KR" altLang="en-US" sz="105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월 </a:t>
                      </a:r>
                      <a:r>
                        <a:rPr lang="en-US" altLang="ko-KR" sz="105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23</a:t>
                      </a:r>
                      <a:r>
                        <a:rPr lang="ko-KR" altLang="en-US" sz="105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일</a:t>
                      </a:r>
                    </a:p>
                  </a:txBody>
                  <a:tcPr marL="1347" marR="1347" marT="13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105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04</a:t>
                      </a:r>
                      <a:r>
                        <a:rPr lang="ko-KR" altLang="en-US" sz="105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월 </a:t>
                      </a:r>
                      <a:r>
                        <a:rPr lang="en-US" altLang="ko-KR" sz="105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24</a:t>
                      </a:r>
                      <a:r>
                        <a:rPr lang="ko-KR" altLang="en-US" sz="105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일</a:t>
                      </a:r>
                    </a:p>
                  </a:txBody>
                  <a:tcPr marL="1347" marR="1347" marT="13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7F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535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rtl="0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Session 1</a:t>
                      </a:r>
                    </a:p>
                  </a:txBody>
                  <a:tcPr marL="1347" marR="1347" marT="1347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영업지원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물류</a:t>
                      </a:r>
                    </a:p>
                  </a:txBody>
                  <a:tcPr marL="1347" marR="1347" marT="13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물류</a:t>
                      </a:r>
                    </a:p>
                  </a:txBody>
                  <a:tcPr marL="1347" marR="1347" marT="13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rtl="0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S&amp;OP</a:t>
                      </a:r>
                      <a:r>
                        <a:rPr 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판매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생산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원료구매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1347" marR="1347" marT="13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물류비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계산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47" marR="1347" marT="13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물류</a:t>
                      </a:r>
                    </a:p>
                  </a:txBody>
                  <a:tcPr marL="1347" marR="1347" marT="13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535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rtl="0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Session 2</a:t>
                      </a:r>
                    </a:p>
                  </a:txBody>
                  <a:tcPr marL="1347" marR="1347" marT="1347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생산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설비연동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)/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공무</a:t>
                      </a:r>
                    </a:p>
                  </a:txBody>
                  <a:tcPr marL="1347" marR="1347" marT="13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rtl="0" fontAlgn="ctr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47" marR="1347" marT="13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1347" marR="1347" marT="13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rtl="0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47" marR="1347" marT="13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1347" marR="1347" marT="13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8673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1347" marR="1347" marT="1347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105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04</a:t>
                      </a:r>
                      <a:r>
                        <a:rPr lang="ko-KR" altLang="en-US" sz="105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월 </a:t>
                      </a:r>
                      <a:r>
                        <a:rPr lang="en-US" altLang="ko-KR" sz="105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27</a:t>
                      </a:r>
                      <a:r>
                        <a:rPr lang="ko-KR" altLang="en-US" sz="105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일</a:t>
                      </a:r>
                    </a:p>
                  </a:txBody>
                  <a:tcPr marL="1347" marR="1347" marT="13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1050" b="1" i="0" u="none" strike="noStrike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04</a:t>
                      </a:r>
                      <a:r>
                        <a:rPr lang="ko-KR" altLang="en-US" sz="1050" b="1" i="0" u="none" strike="noStrike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월 </a:t>
                      </a:r>
                      <a:r>
                        <a:rPr lang="en-US" altLang="ko-KR" sz="1050" b="1" i="0" u="none" strike="noStrike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28</a:t>
                      </a:r>
                      <a:r>
                        <a:rPr lang="ko-KR" altLang="en-US" sz="1050" b="1" i="0" u="none" strike="noStrike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일</a:t>
                      </a:r>
                    </a:p>
                  </a:txBody>
                  <a:tcPr marL="1347" marR="1347" marT="13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1050" b="1" i="0" u="none" strike="noStrike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04</a:t>
                      </a:r>
                      <a:r>
                        <a:rPr lang="ko-KR" altLang="en-US" sz="1050" b="1" i="0" u="none" strike="noStrike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월 </a:t>
                      </a:r>
                      <a:r>
                        <a:rPr lang="en-US" altLang="ko-KR" sz="1050" b="1" i="0" u="none" strike="noStrike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29</a:t>
                      </a:r>
                      <a:r>
                        <a:rPr lang="ko-KR" altLang="en-US" sz="1050" b="1" i="0" u="none" strike="noStrike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일</a:t>
                      </a:r>
                    </a:p>
                  </a:txBody>
                  <a:tcPr marL="1347" marR="1347" marT="13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105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04</a:t>
                      </a:r>
                      <a:r>
                        <a:rPr lang="ko-KR" altLang="en-US" sz="105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월 </a:t>
                      </a:r>
                      <a:r>
                        <a:rPr lang="en-US" altLang="ko-KR" sz="105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30</a:t>
                      </a:r>
                      <a:r>
                        <a:rPr lang="ko-KR" altLang="en-US" sz="105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일</a:t>
                      </a:r>
                    </a:p>
                  </a:txBody>
                  <a:tcPr marL="1347" marR="1347" marT="13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1050" b="1" i="0" u="none" strike="noStrike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05</a:t>
                      </a:r>
                      <a:r>
                        <a:rPr lang="ko-KR" altLang="en-US" sz="1050" b="1" i="0" u="none" strike="noStrike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월 </a:t>
                      </a:r>
                      <a:r>
                        <a:rPr lang="en-US" altLang="ko-KR" sz="1050" b="1" i="0" u="none" strike="noStrike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01</a:t>
                      </a:r>
                      <a:r>
                        <a:rPr lang="ko-KR" altLang="en-US" sz="1050" b="1" i="0" u="none" strike="noStrike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일</a:t>
                      </a:r>
                    </a:p>
                  </a:txBody>
                  <a:tcPr marL="1347" marR="1347" marT="13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7F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535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rtl="0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Session 1</a:t>
                      </a:r>
                    </a:p>
                  </a:txBody>
                  <a:tcPr marL="1347" marR="1347" marT="1347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rtl="0" fontAlgn="ctr"/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생산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47" marR="1347" marT="13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rtl="0" fontAlgn="ctr"/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생산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47" marR="1347" marT="13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S&amp;OP(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상품구매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1347" marR="1347" marT="13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부처님 오신 날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47" marR="1347" marT="13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근로자의 날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47" marR="1347" marT="13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535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rtl="0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Session 2</a:t>
                      </a:r>
                    </a:p>
                  </a:txBody>
                  <a:tcPr marL="1347" marR="1347" marT="1347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rtl="0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47" marR="1347" marT="13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47" marR="1347" marT="13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생산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47" marR="1347" marT="13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54041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</a:t>
            </a:r>
            <a:r>
              <a:rPr lang="en-US" altLang="ko-KR" dirty="0" smtClean="0"/>
              <a:t>. </a:t>
            </a:r>
            <a:r>
              <a:rPr lang="ko-KR" altLang="en-US" dirty="0" err="1" smtClean="0"/>
              <a:t>수행결과</a:t>
            </a:r>
            <a:r>
              <a:rPr lang="ko-KR" altLang="en-US" dirty="0" smtClean="0"/>
              <a:t> 요약 </a:t>
            </a:r>
            <a:r>
              <a:rPr lang="en-US" altLang="ko-KR" dirty="0" smtClean="0"/>
              <a:t>(</a:t>
            </a:r>
            <a:r>
              <a:rPr lang="ko-KR" altLang="en-US" dirty="0" smtClean="0"/>
              <a:t>실적 현황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4"/>
          </p:nvPr>
        </p:nvSpPr>
        <p:spPr>
          <a:xfrm>
            <a:off x="381000" y="899269"/>
            <a:ext cx="9144000" cy="492443"/>
          </a:xfrm>
        </p:spPr>
        <p:txBody>
          <a:bodyPr/>
          <a:lstStyle/>
          <a:p>
            <a:r>
              <a:rPr lang="ko-KR" altLang="en-US" dirty="0" err="1" smtClean="0"/>
              <a:t>통합테스트</a:t>
            </a:r>
            <a:r>
              <a:rPr lang="ko-KR" altLang="en-US" dirty="0" smtClean="0"/>
              <a:t> </a:t>
            </a:r>
            <a:r>
              <a:rPr lang="ko-KR" altLang="en-US" dirty="0"/>
              <a:t>최종 수행 결과</a:t>
            </a:r>
            <a:r>
              <a:rPr lang="en-US" altLang="ko-KR" dirty="0"/>
              <a:t> </a:t>
            </a:r>
            <a:r>
              <a:rPr lang="ko-KR" altLang="en-US" dirty="0"/>
              <a:t>요약</a:t>
            </a:r>
            <a:r>
              <a:rPr lang="en-US" altLang="ko-KR" dirty="0"/>
              <a:t>. </a:t>
            </a:r>
          </a:p>
          <a:p>
            <a:r>
              <a:rPr lang="ko-KR" altLang="en-US" dirty="0" smtClean="0"/>
              <a:t>모든 </a:t>
            </a:r>
            <a:r>
              <a:rPr lang="ko-KR" altLang="en-US" dirty="0"/>
              <a:t>개발 프로그램과 </a:t>
            </a:r>
            <a:r>
              <a:rPr lang="en-US" altLang="ko-KR" dirty="0"/>
              <a:t>ERP</a:t>
            </a:r>
            <a:r>
              <a:rPr lang="ko-KR" altLang="en-US" dirty="0"/>
              <a:t>의 표준 기능을 대상으로 </a:t>
            </a:r>
            <a:r>
              <a:rPr lang="ko-KR" altLang="en-US" dirty="0" err="1"/>
              <a:t>통합테스트</a:t>
            </a:r>
            <a:r>
              <a:rPr lang="ko-KR" altLang="en-US" dirty="0"/>
              <a:t> 수행함</a:t>
            </a:r>
            <a:r>
              <a:rPr lang="en-US" altLang="ko-KR" dirty="0"/>
              <a:t>.</a:t>
            </a:r>
            <a:endParaRPr lang="en-US" altLang="ko-KR" dirty="0"/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8281141"/>
              </p:ext>
            </p:extLst>
          </p:nvPr>
        </p:nvGraphicFramePr>
        <p:xfrm>
          <a:off x="432683" y="1581033"/>
          <a:ext cx="9092314" cy="46353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6455">
                  <a:extLst>
                    <a:ext uri="{9D8B030D-6E8A-4147-A177-3AD203B41FA5}">
                      <a16:colId xmlns:a16="http://schemas.microsoft.com/office/drawing/2014/main" val="2062935453"/>
                    </a:ext>
                  </a:extLst>
                </a:gridCol>
                <a:gridCol w="448735">
                  <a:extLst>
                    <a:ext uri="{9D8B030D-6E8A-4147-A177-3AD203B41FA5}">
                      <a16:colId xmlns:a16="http://schemas.microsoft.com/office/drawing/2014/main" val="3851049451"/>
                    </a:ext>
                  </a:extLst>
                </a:gridCol>
                <a:gridCol w="448735">
                  <a:extLst>
                    <a:ext uri="{9D8B030D-6E8A-4147-A177-3AD203B41FA5}">
                      <a16:colId xmlns:a16="http://schemas.microsoft.com/office/drawing/2014/main" val="688123411"/>
                    </a:ext>
                  </a:extLst>
                </a:gridCol>
                <a:gridCol w="448735">
                  <a:extLst>
                    <a:ext uri="{9D8B030D-6E8A-4147-A177-3AD203B41FA5}">
                      <a16:colId xmlns:a16="http://schemas.microsoft.com/office/drawing/2014/main" val="769838606"/>
                    </a:ext>
                  </a:extLst>
                </a:gridCol>
                <a:gridCol w="448735">
                  <a:extLst>
                    <a:ext uri="{9D8B030D-6E8A-4147-A177-3AD203B41FA5}">
                      <a16:colId xmlns:a16="http://schemas.microsoft.com/office/drawing/2014/main" val="806351053"/>
                    </a:ext>
                  </a:extLst>
                </a:gridCol>
                <a:gridCol w="448735">
                  <a:extLst>
                    <a:ext uri="{9D8B030D-6E8A-4147-A177-3AD203B41FA5}">
                      <a16:colId xmlns:a16="http://schemas.microsoft.com/office/drawing/2014/main" val="4291806039"/>
                    </a:ext>
                  </a:extLst>
                </a:gridCol>
                <a:gridCol w="448735">
                  <a:extLst>
                    <a:ext uri="{9D8B030D-6E8A-4147-A177-3AD203B41FA5}">
                      <a16:colId xmlns:a16="http://schemas.microsoft.com/office/drawing/2014/main" val="16737916"/>
                    </a:ext>
                  </a:extLst>
                </a:gridCol>
                <a:gridCol w="448735">
                  <a:extLst>
                    <a:ext uri="{9D8B030D-6E8A-4147-A177-3AD203B41FA5}">
                      <a16:colId xmlns:a16="http://schemas.microsoft.com/office/drawing/2014/main" val="1811391309"/>
                    </a:ext>
                  </a:extLst>
                </a:gridCol>
                <a:gridCol w="448735">
                  <a:extLst>
                    <a:ext uri="{9D8B030D-6E8A-4147-A177-3AD203B41FA5}">
                      <a16:colId xmlns:a16="http://schemas.microsoft.com/office/drawing/2014/main" val="1912463171"/>
                    </a:ext>
                  </a:extLst>
                </a:gridCol>
                <a:gridCol w="526532">
                  <a:extLst>
                    <a:ext uri="{9D8B030D-6E8A-4147-A177-3AD203B41FA5}">
                      <a16:colId xmlns:a16="http://schemas.microsoft.com/office/drawing/2014/main" val="2002428926"/>
                    </a:ext>
                  </a:extLst>
                </a:gridCol>
                <a:gridCol w="3749447">
                  <a:extLst>
                    <a:ext uri="{9D8B030D-6E8A-4147-A177-3AD203B41FA5}">
                      <a16:colId xmlns:a16="http://schemas.microsoft.com/office/drawing/2014/main" val="3769855327"/>
                    </a:ext>
                  </a:extLst>
                </a:gridCol>
              </a:tblGrid>
              <a:tr h="290762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Biz</a:t>
                      </a:r>
                      <a:r>
                        <a:rPr lang="en-US" altLang="ko-KR" sz="1100" baseline="0" dirty="0" smtClean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100" baseline="0" dirty="0" smtClean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영역</a:t>
                      </a:r>
                      <a:endParaRPr lang="ko-KR" altLang="en-US" sz="110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gridSpan="9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누적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7200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8657064"/>
                  </a:ext>
                </a:extLst>
              </a:tr>
              <a:tr h="29076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 smtClean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수행 시나리오 건수</a:t>
                      </a:r>
                      <a:endParaRPr lang="ko-KR" altLang="en-US" sz="11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 smtClean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Step</a:t>
                      </a:r>
                      <a:r>
                        <a:rPr lang="en-US" altLang="ko-KR" sz="1100" b="1" baseline="0" dirty="0" smtClean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100" b="1" baseline="0" dirty="0" smtClean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기준 </a:t>
                      </a:r>
                      <a:r>
                        <a:rPr lang="en-US" altLang="ko-KR" sz="1100" b="1" baseline="0" dirty="0" smtClean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P/F</a:t>
                      </a:r>
                      <a:endParaRPr lang="ko-KR" altLang="en-US" sz="11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 marL="36000" marR="7200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7588549"/>
                  </a:ext>
                </a:extLst>
              </a:tr>
              <a:tr h="478902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총계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 smtClean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미</a:t>
                      </a:r>
                      <a:endParaRPr lang="en-US" altLang="ko-KR" sz="1100" b="1" dirty="0" smtClean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ko-KR" altLang="en-US" sz="1100" b="1" dirty="0" smtClean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대상</a:t>
                      </a:r>
                      <a:endParaRPr lang="ko-KR" altLang="en-US" sz="11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계획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수행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 smtClean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미</a:t>
                      </a:r>
                      <a:endParaRPr lang="en-US" altLang="ko-KR" sz="1100" b="1" dirty="0" smtClean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ko-KR" altLang="en-US" sz="1100" b="1" dirty="0" smtClean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수행</a:t>
                      </a:r>
                      <a:endParaRPr lang="ko-KR" altLang="en-US" sz="11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 smtClean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진척</a:t>
                      </a:r>
                      <a:endParaRPr lang="ko-KR" altLang="en-US" sz="11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Pass</a:t>
                      </a:r>
                      <a:endParaRPr lang="ko-KR" altLang="en-US" sz="11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Fail</a:t>
                      </a:r>
                      <a:endParaRPr lang="ko-KR" altLang="en-US" sz="11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 smtClean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Pass%</a:t>
                      </a:r>
                      <a:endParaRPr lang="ko-KR" altLang="en-US" sz="1100" b="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7200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7213980"/>
                  </a:ext>
                </a:extLst>
              </a:tr>
              <a:tr h="4104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R&amp;D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7547301"/>
                  </a:ext>
                </a:extLst>
              </a:tr>
              <a:tr h="41048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구매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물류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입고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19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19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19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100%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294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99%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8724436"/>
                  </a:ext>
                </a:extLst>
              </a:tr>
              <a:tr h="41048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공무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11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6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5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5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100%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56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6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85%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5296726"/>
                  </a:ext>
                </a:extLst>
              </a:tr>
              <a:tr h="41048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생산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28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24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12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12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50%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45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14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76%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6279794"/>
                  </a:ext>
                </a:extLst>
              </a:tr>
              <a:tr h="41048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영업지원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물류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출하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22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22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22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100%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326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99%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9546981"/>
                  </a:ext>
                </a:extLst>
              </a:tr>
              <a:tr h="44469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물류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26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24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6</a:t>
                      </a:r>
                    </a:p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(19)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18</a:t>
                      </a:r>
                    </a:p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(5)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25%</a:t>
                      </a:r>
                    </a:p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(79%)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73</a:t>
                      </a:r>
                    </a:p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(265)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33</a:t>
                      </a:r>
                    </a:p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(35)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69%</a:t>
                      </a:r>
                    </a:p>
                    <a:p>
                      <a:pPr algn="ctr" latinLnBrk="1"/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(88%)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1331505"/>
                  </a:ext>
                </a:extLst>
              </a:tr>
              <a:tr h="41048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err="1" smtClean="0">
                          <a:latin typeface="+mn-ea"/>
                          <a:ea typeface="+mn-ea"/>
                        </a:rPr>
                        <a:t>이커머스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물류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출하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11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11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11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100%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66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99%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2154359"/>
                  </a:ext>
                </a:extLst>
              </a:tr>
              <a:tr h="33366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해외사업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물류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출하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8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8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8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100%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149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100%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3849593"/>
                  </a:ext>
                </a:extLst>
              </a:tr>
              <a:tr h="33366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브랜드전략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5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100%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34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100%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b="0" i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43943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213021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</a:t>
            </a:r>
            <a:r>
              <a:rPr lang="en-US" altLang="ko-KR" dirty="0" smtClean="0"/>
              <a:t>. </a:t>
            </a:r>
            <a:r>
              <a:rPr lang="ko-KR" altLang="en-US" dirty="0" err="1" smtClean="0"/>
              <a:t>수행결과</a:t>
            </a:r>
            <a:r>
              <a:rPr lang="ko-KR" altLang="en-US" dirty="0" smtClean="0"/>
              <a:t> 요약 </a:t>
            </a:r>
            <a:r>
              <a:rPr lang="en-US" altLang="ko-KR" dirty="0" smtClean="0"/>
              <a:t>(Defect </a:t>
            </a:r>
            <a:r>
              <a:rPr lang="ko-KR" altLang="en-US" dirty="0" smtClean="0"/>
              <a:t>현황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ko-KR" altLang="en-US" dirty="0"/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4290652"/>
              </p:ext>
            </p:extLst>
          </p:nvPr>
        </p:nvGraphicFramePr>
        <p:xfrm>
          <a:off x="443971" y="1573508"/>
          <a:ext cx="8944623" cy="28896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5318">
                  <a:extLst>
                    <a:ext uri="{9D8B030D-6E8A-4147-A177-3AD203B41FA5}">
                      <a16:colId xmlns:a16="http://schemas.microsoft.com/office/drawing/2014/main" val="1133680244"/>
                    </a:ext>
                  </a:extLst>
                </a:gridCol>
                <a:gridCol w="894369">
                  <a:extLst>
                    <a:ext uri="{9D8B030D-6E8A-4147-A177-3AD203B41FA5}">
                      <a16:colId xmlns:a16="http://schemas.microsoft.com/office/drawing/2014/main" val="2188370141"/>
                    </a:ext>
                  </a:extLst>
                </a:gridCol>
                <a:gridCol w="894369">
                  <a:extLst>
                    <a:ext uri="{9D8B030D-6E8A-4147-A177-3AD203B41FA5}">
                      <a16:colId xmlns:a16="http://schemas.microsoft.com/office/drawing/2014/main" val="1048413959"/>
                    </a:ext>
                  </a:extLst>
                </a:gridCol>
                <a:gridCol w="894369">
                  <a:extLst>
                    <a:ext uri="{9D8B030D-6E8A-4147-A177-3AD203B41FA5}">
                      <a16:colId xmlns:a16="http://schemas.microsoft.com/office/drawing/2014/main" val="433925094"/>
                    </a:ext>
                  </a:extLst>
                </a:gridCol>
                <a:gridCol w="894369">
                  <a:extLst>
                    <a:ext uri="{9D8B030D-6E8A-4147-A177-3AD203B41FA5}">
                      <a16:colId xmlns:a16="http://schemas.microsoft.com/office/drawing/2014/main" val="3060344676"/>
                    </a:ext>
                  </a:extLst>
                </a:gridCol>
                <a:gridCol w="4311829">
                  <a:extLst>
                    <a:ext uri="{9D8B030D-6E8A-4147-A177-3AD203B41FA5}">
                      <a16:colId xmlns:a16="http://schemas.microsoft.com/office/drawing/2014/main" val="339885144"/>
                    </a:ext>
                  </a:extLst>
                </a:gridCol>
              </a:tblGrid>
              <a:tr h="221425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시스템</a:t>
                      </a:r>
                      <a:endParaRPr lang="ko-KR" altLang="en-US" sz="12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ko-KR" sz="1200" dirty="0" smtClean="0">
                          <a:latin typeface="+mn-ea"/>
                          <a:ea typeface="+mn-ea"/>
                        </a:rPr>
                        <a:t>Defect </a:t>
                      </a:r>
                      <a:r>
                        <a:rPr lang="ko-KR" altLang="en-US" sz="1200" dirty="0" smtClean="0">
                          <a:latin typeface="+mn-ea"/>
                          <a:ea typeface="+mn-ea"/>
                        </a:rPr>
                        <a:t>현황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5230882"/>
                  </a:ext>
                </a:extLst>
              </a:tr>
              <a:tr h="333562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발생</a:t>
                      </a:r>
                      <a:endParaRPr lang="ko-KR" altLang="en-US" sz="12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조치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미해결</a:t>
                      </a:r>
                      <a:endParaRPr lang="ko-KR" altLang="en-US" sz="12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조치율</a:t>
                      </a:r>
                      <a:endParaRPr lang="ko-KR" altLang="en-US" sz="12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8290611"/>
                  </a:ext>
                </a:extLst>
              </a:tr>
              <a:tr h="76059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 smtClean="0">
                          <a:latin typeface="+mn-ea"/>
                          <a:ea typeface="+mn-ea"/>
                        </a:rPr>
                        <a:t>ERP</a:t>
                      </a:r>
                      <a:endParaRPr lang="ko-KR" altLang="en-US" sz="1200" b="1" dirty="0">
                        <a:latin typeface="+mn-ea"/>
                        <a:ea typeface="+mn-ea"/>
                      </a:endParaRPr>
                    </a:p>
                  </a:txBody>
                  <a:tcPr marL="36000" marR="720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6990536"/>
                  </a:ext>
                </a:extLst>
              </a:tr>
              <a:tr h="76059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 smtClean="0">
                          <a:latin typeface="+mn-ea"/>
                          <a:ea typeface="+mn-ea"/>
                        </a:rPr>
                        <a:t>MES</a:t>
                      </a:r>
                      <a:endParaRPr lang="ko-KR" altLang="en-US" sz="1200" b="1" dirty="0">
                        <a:latin typeface="+mn-ea"/>
                        <a:ea typeface="+mn-ea"/>
                      </a:endParaRPr>
                    </a:p>
                  </a:txBody>
                  <a:tcPr marL="36000" marR="720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5047032"/>
                  </a:ext>
                </a:extLst>
              </a:tr>
              <a:tr h="76059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 smtClean="0">
                          <a:latin typeface="+mn-ea"/>
                          <a:ea typeface="+mn-ea"/>
                        </a:rPr>
                        <a:t>WMS</a:t>
                      </a:r>
                      <a:endParaRPr lang="ko-KR" altLang="en-US" sz="1200" b="1" dirty="0">
                        <a:latin typeface="+mn-ea"/>
                        <a:ea typeface="+mn-ea"/>
                      </a:endParaRPr>
                    </a:p>
                  </a:txBody>
                  <a:tcPr marL="36000" marR="7200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7142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442969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</a:t>
            </a:r>
            <a:r>
              <a:rPr lang="en-US" altLang="ko-KR" dirty="0" smtClean="0"/>
              <a:t>. </a:t>
            </a:r>
            <a:r>
              <a:rPr lang="ko-KR" altLang="en-US" dirty="0" err="1" smtClean="0"/>
              <a:t>수행결과</a:t>
            </a:r>
            <a:r>
              <a:rPr lang="ko-KR" altLang="en-US" dirty="0" smtClean="0"/>
              <a:t> 요약 </a:t>
            </a:r>
            <a:r>
              <a:rPr lang="en-US" altLang="ko-KR" dirty="0" smtClean="0"/>
              <a:t>(Defect </a:t>
            </a:r>
            <a:r>
              <a:rPr lang="ko-KR" altLang="en-US" dirty="0" smtClean="0"/>
              <a:t>내역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4"/>
          </p:nvPr>
        </p:nvSpPr>
        <p:spPr>
          <a:xfrm>
            <a:off x="381000" y="899269"/>
            <a:ext cx="9144000" cy="246221"/>
          </a:xfrm>
        </p:spPr>
        <p:txBody>
          <a:bodyPr/>
          <a:lstStyle/>
          <a:p>
            <a:r>
              <a:rPr lang="ko-KR" altLang="en-US" dirty="0"/>
              <a:t>최종 수행 결과가 반영된 </a:t>
            </a:r>
            <a:r>
              <a:rPr lang="en-US" altLang="ko-KR" dirty="0"/>
              <a:t>Defect </a:t>
            </a:r>
            <a:r>
              <a:rPr lang="ko-KR" altLang="en-US" dirty="0"/>
              <a:t>현황이며</a:t>
            </a:r>
            <a:r>
              <a:rPr lang="en-US" altLang="ko-KR" dirty="0"/>
              <a:t>, MES/WMS</a:t>
            </a:r>
            <a:r>
              <a:rPr lang="ko-KR" altLang="en-US" dirty="0"/>
              <a:t>의 경우 </a:t>
            </a:r>
            <a:r>
              <a:rPr lang="en-US" altLang="ko-KR" dirty="0"/>
              <a:t>Pending</a:t>
            </a:r>
            <a:r>
              <a:rPr lang="ko-KR" altLang="en-US" dirty="0"/>
              <a:t>된 </a:t>
            </a:r>
            <a:r>
              <a:rPr lang="en-US" altLang="ko-KR" dirty="0"/>
              <a:t>Defect</a:t>
            </a:r>
            <a:r>
              <a:rPr lang="ko-KR" altLang="en-US" dirty="0"/>
              <a:t>는</a:t>
            </a:r>
            <a:r>
              <a:rPr lang="en-US" altLang="ko-KR" dirty="0"/>
              <a:t> </a:t>
            </a:r>
            <a:r>
              <a:rPr lang="ko-KR" altLang="en-US" dirty="0"/>
              <a:t>없음</a:t>
            </a:r>
            <a:r>
              <a:rPr lang="en-US" altLang="ko-KR" dirty="0" smtClean="0"/>
              <a:t>.</a:t>
            </a:r>
            <a:endParaRPr lang="en-US" altLang="ko-KR" dirty="0"/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5441313"/>
              </p:ext>
            </p:extLst>
          </p:nvPr>
        </p:nvGraphicFramePr>
        <p:xfrm>
          <a:off x="421394" y="1562218"/>
          <a:ext cx="9068800" cy="4868682"/>
        </p:xfrm>
        <a:graphic>
          <a:graphicData uri="http://schemas.openxmlformats.org/drawingml/2006/table">
            <a:tbl>
              <a:tblPr/>
              <a:tblGrid>
                <a:gridCol w="246505">
                  <a:extLst>
                    <a:ext uri="{9D8B030D-6E8A-4147-A177-3AD203B41FA5}">
                      <a16:colId xmlns:a16="http://schemas.microsoft.com/office/drawing/2014/main" val="241240549"/>
                    </a:ext>
                  </a:extLst>
                </a:gridCol>
                <a:gridCol w="352150">
                  <a:extLst>
                    <a:ext uri="{9D8B030D-6E8A-4147-A177-3AD203B41FA5}">
                      <a16:colId xmlns:a16="http://schemas.microsoft.com/office/drawing/2014/main" val="3851631019"/>
                    </a:ext>
                  </a:extLst>
                </a:gridCol>
                <a:gridCol w="336912">
                  <a:extLst>
                    <a:ext uri="{9D8B030D-6E8A-4147-A177-3AD203B41FA5}">
                      <a16:colId xmlns:a16="http://schemas.microsoft.com/office/drawing/2014/main" val="651894173"/>
                    </a:ext>
                  </a:extLst>
                </a:gridCol>
                <a:gridCol w="1028758">
                  <a:extLst>
                    <a:ext uri="{9D8B030D-6E8A-4147-A177-3AD203B41FA5}">
                      <a16:colId xmlns:a16="http://schemas.microsoft.com/office/drawing/2014/main" val="4195092584"/>
                    </a:ext>
                  </a:extLst>
                </a:gridCol>
                <a:gridCol w="1388533">
                  <a:extLst>
                    <a:ext uri="{9D8B030D-6E8A-4147-A177-3AD203B41FA5}">
                      <a16:colId xmlns:a16="http://schemas.microsoft.com/office/drawing/2014/main" val="2631196972"/>
                    </a:ext>
                  </a:extLst>
                </a:gridCol>
                <a:gridCol w="2442915">
                  <a:extLst>
                    <a:ext uri="{9D8B030D-6E8A-4147-A177-3AD203B41FA5}">
                      <a16:colId xmlns:a16="http://schemas.microsoft.com/office/drawing/2014/main" val="451800305"/>
                    </a:ext>
                  </a:extLst>
                </a:gridCol>
                <a:gridCol w="985144">
                  <a:extLst>
                    <a:ext uri="{9D8B030D-6E8A-4147-A177-3AD203B41FA5}">
                      <a16:colId xmlns:a16="http://schemas.microsoft.com/office/drawing/2014/main" val="1309365070"/>
                    </a:ext>
                  </a:extLst>
                </a:gridCol>
                <a:gridCol w="553156">
                  <a:extLst>
                    <a:ext uri="{9D8B030D-6E8A-4147-A177-3AD203B41FA5}">
                      <a16:colId xmlns:a16="http://schemas.microsoft.com/office/drawing/2014/main" val="442584336"/>
                    </a:ext>
                  </a:extLst>
                </a:gridCol>
                <a:gridCol w="353718">
                  <a:extLst>
                    <a:ext uri="{9D8B030D-6E8A-4147-A177-3AD203B41FA5}">
                      <a16:colId xmlns:a16="http://schemas.microsoft.com/office/drawing/2014/main" val="474202524"/>
                    </a:ext>
                  </a:extLst>
                </a:gridCol>
                <a:gridCol w="1381009">
                  <a:extLst>
                    <a:ext uri="{9D8B030D-6E8A-4147-A177-3AD203B41FA5}">
                      <a16:colId xmlns:a16="http://schemas.microsoft.com/office/drawing/2014/main" val="1738502420"/>
                    </a:ext>
                  </a:extLst>
                </a:gridCol>
              </a:tblGrid>
              <a:tr h="35359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순번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 smtClean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Biz</a:t>
                      </a:r>
                      <a:endParaRPr lang="ko-KR" altLang="en-US" sz="1100" b="1" i="0" u="none" strike="noStrike" dirty="0">
                        <a:solidFill>
                          <a:srgbClr val="FFFF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시스템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 smtClean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시나리오</a:t>
                      </a:r>
                      <a:endParaRPr lang="ko-KR" altLang="en-US" sz="1100" b="1" i="0" u="none" strike="noStrike" dirty="0">
                        <a:solidFill>
                          <a:srgbClr val="FFFF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 smtClean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프로그램</a:t>
                      </a:r>
                      <a:endParaRPr lang="ko-KR" altLang="en-US" sz="1100" b="1" i="0" u="none" strike="noStrike" dirty="0">
                        <a:solidFill>
                          <a:srgbClr val="FFFF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 smtClean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Defect</a:t>
                      </a:r>
                      <a:r>
                        <a:rPr lang="ko-KR" altLang="en-US" sz="1100" b="1" i="0" u="none" strike="noStrike" dirty="0" smtClean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 내용</a:t>
                      </a:r>
                      <a:endParaRPr lang="ko-KR" altLang="en-US" sz="1100" b="1" i="0" u="none" strike="noStrike" dirty="0">
                        <a:solidFill>
                          <a:srgbClr val="FFFF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 smtClean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Defect</a:t>
                      </a:r>
                      <a:r>
                        <a:rPr lang="ko-KR" altLang="en-US" sz="1100" b="1" i="0" u="none" strike="noStrike" dirty="0" smtClean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 원인</a:t>
                      </a:r>
                      <a:endParaRPr lang="ko-KR" altLang="en-US" sz="1100" b="1" i="0" u="none" strike="noStrike" dirty="0">
                        <a:solidFill>
                          <a:srgbClr val="FFFF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 smtClean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심각도</a:t>
                      </a:r>
                      <a:endParaRPr lang="ko-KR" altLang="en-US" sz="1100" b="1" i="0" u="none" strike="noStrike" dirty="0">
                        <a:solidFill>
                          <a:srgbClr val="FFFF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 smtClean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상태</a:t>
                      </a:r>
                      <a:endParaRPr lang="ko-KR" altLang="en-US" sz="1100" b="1" i="0" u="none" strike="noStrike" dirty="0">
                        <a:solidFill>
                          <a:srgbClr val="FFFF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 smtClean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조치내역</a:t>
                      </a:r>
                      <a:endParaRPr lang="ko-KR" altLang="en-US" sz="1100" b="1" i="0" u="none" strike="noStrike" dirty="0">
                        <a:solidFill>
                          <a:srgbClr val="FFFF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2962459"/>
                  </a:ext>
                </a:extLst>
              </a:tr>
              <a:tr h="52166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en-US" altLang="ko-KR" sz="800" b="0" i="0" u="none" strike="noStrike" dirty="0" smtClean="0"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생산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 smtClean="0">
                          <a:effectLst/>
                          <a:latin typeface="+mn-ea"/>
                          <a:ea typeface="+mn-ea"/>
                        </a:rPr>
                        <a:t>MES</a:t>
                      </a:r>
                      <a:endParaRPr lang="en-US" sz="8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 smtClea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입고등록</a:t>
                      </a:r>
                      <a:r>
                        <a:rPr lang="en-US" altLang="ko-KR" sz="1000" b="0" i="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(MES)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입고검수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Extension </a:t>
                      </a:r>
                      <a:r>
                        <a:rPr lang="ko-KR" altLang="en-US" sz="1000" b="0" i="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Minor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 smtClean="0">
                          <a:effectLst/>
                          <a:latin typeface="+mn-ea"/>
                          <a:ea typeface="+mn-ea"/>
                        </a:rPr>
                        <a:t>완료</a:t>
                      </a:r>
                      <a:endParaRPr lang="ko-KR" altLang="en-US" sz="8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33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8701555"/>
                  </a:ext>
                </a:extLst>
              </a:tr>
              <a:tr h="52175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 dirty="0" smtClean="0"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45720" marR="4572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생산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smtClean="0">
                          <a:effectLst/>
                          <a:latin typeface="+mn-ea"/>
                          <a:ea typeface="+mn-ea"/>
                        </a:rPr>
                        <a:t>MES</a:t>
                      </a:r>
                      <a:endParaRPr lang="en-US" sz="8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배합비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변경 </a:t>
                      </a:r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등록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배합비전송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Extension </a:t>
                      </a:r>
                      <a:r>
                        <a:rPr lang="ko-KR" altLang="en-US" sz="1000" b="0" i="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Major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 smtClean="0">
                          <a:effectLst/>
                          <a:latin typeface="+mn-ea"/>
                          <a:ea typeface="+mn-ea"/>
                        </a:rPr>
                        <a:t>완료</a:t>
                      </a:r>
                      <a:endParaRPr lang="ko-KR" altLang="en-US" sz="8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33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6381920"/>
                  </a:ext>
                </a:extLst>
              </a:tr>
              <a:tr h="38574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 dirty="0" smtClean="0"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45720" marR="4572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생산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smtClean="0">
                          <a:effectLst/>
                          <a:latin typeface="+mn-ea"/>
                          <a:ea typeface="+mn-ea"/>
                        </a:rPr>
                        <a:t>MES</a:t>
                      </a:r>
                      <a:endParaRPr lang="en-US" sz="8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배합비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변경 </a:t>
                      </a:r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등록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배합비처리비율 조건 등록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Extension </a:t>
                      </a:r>
                      <a:r>
                        <a:rPr lang="ko-KR" altLang="en-US" sz="1000" b="0" i="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Major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 smtClean="0">
                          <a:effectLst/>
                          <a:latin typeface="+mn-ea"/>
                          <a:ea typeface="+mn-ea"/>
                        </a:rPr>
                        <a:t>완료</a:t>
                      </a:r>
                      <a:endParaRPr lang="ko-KR" altLang="en-US" sz="8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33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6569230"/>
                  </a:ext>
                </a:extLst>
              </a:tr>
              <a:tr h="38574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 dirty="0" smtClean="0">
                          <a:effectLst/>
                          <a:latin typeface="+mn-ea"/>
                          <a:ea typeface="+mn-ea"/>
                        </a:rPr>
                        <a:t>4</a:t>
                      </a:r>
                    </a:p>
                  </a:txBody>
                  <a:tcPr marL="45720" marR="4572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생산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smtClean="0">
                          <a:effectLst/>
                          <a:latin typeface="+mn-ea"/>
                          <a:ea typeface="+mn-ea"/>
                        </a:rPr>
                        <a:t>MES</a:t>
                      </a:r>
                      <a:endParaRPr lang="en-US" sz="8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작업지시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MES)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작업지시 확정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(OI)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Extension </a:t>
                      </a:r>
                      <a:r>
                        <a:rPr lang="ko-KR" altLang="en-US" sz="1000" b="0" i="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Major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 smtClean="0">
                          <a:effectLst/>
                          <a:latin typeface="+mn-ea"/>
                          <a:ea typeface="+mn-ea"/>
                        </a:rPr>
                        <a:t>완료</a:t>
                      </a:r>
                      <a:endParaRPr lang="ko-KR" altLang="en-US" sz="8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33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79678663"/>
                  </a:ext>
                </a:extLst>
              </a:tr>
              <a:tr h="38574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 dirty="0" smtClean="0">
                          <a:effectLst/>
                          <a:latin typeface="+mn-ea"/>
                          <a:ea typeface="+mn-ea"/>
                        </a:rPr>
                        <a:t>5</a:t>
                      </a:r>
                    </a:p>
                  </a:txBody>
                  <a:tcPr marL="45720" marR="4572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생산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smtClean="0">
                          <a:effectLst/>
                          <a:latin typeface="+mn-ea"/>
                          <a:ea typeface="+mn-ea"/>
                        </a:rPr>
                        <a:t>MES</a:t>
                      </a:r>
                      <a:endParaRPr lang="en-US" sz="8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출고요청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원료출고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원료투입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원료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부자재출고지시서 생성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Extension </a:t>
                      </a:r>
                      <a:r>
                        <a:rPr lang="ko-KR" altLang="en-US" sz="1000" b="0" i="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Major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 smtClean="0">
                          <a:effectLst/>
                          <a:latin typeface="+mn-ea"/>
                          <a:ea typeface="+mn-ea"/>
                        </a:rPr>
                        <a:t>완료</a:t>
                      </a:r>
                      <a:endParaRPr lang="ko-KR" altLang="en-US" sz="8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33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5581358"/>
                  </a:ext>
                </a:extLst>
              </a:tr>
              <a:tr h="38574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 dirty="0" smtClean="0">
                          <a:effectLst/>
                          <a:latin typeface="+mn-ea"/>
                          <a:ea typeface="+mn-ea"/>
                        </a:rPr>
                        <a:t>6</a:t>
                      </a:r>
                    </a:p>
                  </a:txBody>
                  <a:tcPr marL="45720" marR="4572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생산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smtClean="0">
                          <a:effectLst/>
                          <a:latin typeface="+mn-ea"/>
                          <a:ea typeface="+mn-ea"/>
                        </a:rPr>
                        <a:t>MES</a:t>
                      </a:r>
                      <a:endParaRPr lang="en-US" sz="8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출고요청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원료출고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원료투입</a:t>
                      </a:r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청구자재 불출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(PDA)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Data </a:t>
                      </a:r>
                      <a:r>
                        <a:rPr lang="ko-KR" altLang="en-US" sz="1000" b="0" i="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정합성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Minor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 smtClean="0">
                          <a:effectLst/>
                          <a:latin typeface="+mn-ea"/>
                          <a:ea typeface="+mn-ea"/>
                        </a:rPr>
                        <a:t>완료</a:t>
                      </a:r>
                      <a:endParaRPr lang="ko-KR" altLang="en-US" sz="8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33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364975"/>
                  </a:ext>
                </a:extLst>
              </a:tr>
              <a:tr h="38574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 dirty="0" smtClean="0">
                          <a:effectLst/>
                          <a:latin typeface="+mn-ea"/>
                          <a:ea typeface="+mn-ea"/>
                        </a:rPr>
                        <a:t>7</a:t>
                      </a:r>
                    </a:p>
                  </a:txBody>
                  <a:tcPr marL="45720" marR="4572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생산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smtClean="0">
                          <a:effectLst/>
                          <a:latin typeface="+mn-ea"/>
                          <a:ea typeface="+mn-ea"/>
                        </a:rPr>
                        <a:t>MES</a:t>
                      </a:r>
                      <a:endParaRPr lang="en-US" sz="8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출고요청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원료출고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원료투입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부자재 오투입방지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Extension </a:t>
                      </a:r>
                      <a:r>
                        <a:rPr lang="ko-KR" altLang="en-US" sz="1000" b="0" i="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Major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 smtClean="0">
                          <a:effectLst/>
                          <a:latin typeface="+mn-ea"/>
                          <a:ea typeface="+mn-ea"/>
                        </a:rPr>
                        <a:t>완료</a:t>
                      </a:r>
                      <a:endParaRPr lang="ko-KR" altLang="en-US" sz="8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33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5649734"/>
                  </a:ext>
                </a:extLst>
              </a:tr>
              <a:tr h="38574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 dirty="0" smtClean="0">
                          <a:effectLst/>
                          <a:latin typeface="+mn-ea"/>
                          <a:ea typeface="+mn-ea"/>
                        </a:rPr>
                        <a:t>8</a:t>
                      </a:r>
                    </a:p>
                  </a:txBody>
                  <a:tcPr marL="45720" marR="4572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생산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effectLst/>
                          <a:latin typeface="+mn-ea"/>
                          <a:ea typeface="+mn-ea"/>
                        </a:rPr>
                        <a:t>MES</a:t>
                      </a:r>
                      <a:endParaRPr lang="en-US" sz="8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출고요청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원료출고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원료투입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자재투입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업무 프로세스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Minor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 smtClean="0">
                          <a:effectLst/>
                          <a:latin typeface="+mn-ea"/>
                          <a:ea typeface="+mn-ea"/>
                        </a:rPr>
                        <a:t>할당</a:t>
                      </a:r>
                      <a:endParaRPr lang="ko-KR" altLang="en-US" sz="8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33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2650550"/>
                  </a:ext>
                </a:extLst>
              </a:tr>
              <a:tr h="38574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 dirty="0" smtClean="0">
                          <a:effectLst/>
                          <a:latin typeface="+mn-ea"/>
                          <a:ea typeface="+mn-ea"/>
                        </a:rPr>
                        <a:t>9</a:t>
                      </a:r>
                    </a:p>
                  </a:txBody>
                  <a:tcPr marL="45720" marR="4572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물류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 smtClean="0">
                          <a:effectLst/>
                          <a:latin typeface="+mn-ea"/>
                          <a:ea typeface="+mn-ea"/>
                        </a:rPr>
                        <a:t>WMS</a:t>
                      </a:r>
                      <a:endParaRPr lang="en-US" sz="8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구매입고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(OSP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상품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입고검수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상품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Extension </a:t>
                      </a:r>
                      <a:r>
                        <a:rPr lang="ko-KR" altLang="en-US" sz="1000" b="0" i="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Major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 smtClean="0">
                          <a:effectLst/>
                          <a:latin typeface="+mn-ea"/>
                          <a:ea typeface="+mn-ea"/>
                        </a:rPr>
                        <a:t>완료</a:t>
                      </a:r>
                      <a:endParaRPr lang="ko-KR" altLang="en-US" sz="8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33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4480102"/>
                  </a:ext>
                </a:extLst>
              </a:tr>
              <a:tr h="385741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 dirty="0" smtClean="0">
                          <a:effectLst/>
                          <a:latin typeface="+mn-ea"/>
                          <a:ea typeface="+mn-ea"/>
                        </a:rPr>
                        <a:t>10</a:t>
                      </a:r>
                    </a:p>
                  </a:txBody>
                  <a:tcPr marL="45720" marR="4572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물류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smtClean="0">
                          <a:effectLst/>
                          <a:latin typeface="+mn-ea"/>
                          <a:ea typeface="+mn-ea"/>
                        </a:rPr>
                        <a:t>WMS</a:t>
                      </a:r>
                      <a:endParaRPr lang="en-US" sz="8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소분</a:t>
                      </a:r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/VAS </a:t>
                      </a:r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생산관리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묶음 할당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Extension </a:t>
                      </a:r>
                      <a:r>
                        <a:rPr lang="ko-KR" altLang="en-US" sz="1000" b="0" i="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Major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 smtClean="0">
                          <a:effectLst/>
                          <a:latin typeface="+mn-ea"/>
                          <a:ea typeface="+mn-ea"/>
                        </a:rPr>
                        <a:t>완료</a:t>
                      </a:r>
                      <a:endParaRPr lang="ko-KR" altLang="en-US" sz="8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33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472106"/>
                  </a:ext>
                </a:extLst>
              </a:tr>
              <a:tr h="38574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effectLst/>
                          <a:latin typeface="+mn-ea"/>
                          <a:ea typeface="+mn-ea"/>
                        </a:rPr>
                        <a:t>11</a:t>
                      </a:r>
                      <a:endParaRPr lang="en-US" altLang="ko-KR" sz="8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물류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effectLst/>
                          <a:latin typeface="+mn-ea"/>
                          <a:ea typeface="+mn-ea"/>
                        </a:rPr>
                        <a:t>WMS</a:t>
                      </a:r>
                      <a:endParaRPr lang="en-US" sz="8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소분</a:t>
                      </a:r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/VAS </a:t>
                      </a:r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생산관리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간식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/VAS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생산실적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Extension </a:t>
                      </a:r>
                      <a:r>
                        <a:rPr lang="ko-KR" altLang="en-US" sz="1000" b="0" i="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Major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 smtClean="0">
                          <a:effectLst/>
                          <a:latin typeface="+mn-ea"/>
                          <a:ea typeface="+mn-ea"/>
                        </a:rPr>
                        <a:t>완료</a:t>
                      </a:r>
                      <a:endParaRPr lang="ko-KR" altLang="en-US" sz="8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33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05659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43178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</a:t>
            </a:r>
            <a:r>
              <a:rPr lang="en-US" altLang="ko-KR" dirty="0" smtClean="0"/>
              <a:t>. </a:t>
            </a:r>
            <a:r>
              <a:rPr lang="ko-KR" altLang="en-US" dirty="0" err="1" smtClean="0"/>
              <a:t>수행결과</a:t>
            </a:r>
            <a:r>
              <a:rPr lang="ko-KR" altLang="en-US" dirty="0" smtClean="0"/>
              <a:t> 요약 </a:t>
            </a:r>
            <a:r>
              <a:rPr lang="en-US" altLang="ko-KR" dirty="0" smtClean="0"/>
              <a:t>(</a:t>
            </a:r>
            <a:r>
              <a:rPr lang="ko-KR" altLang="en-US" dirty="0" smtClean="0"/>
              <a:t>신규</a:t>
            </a:r>
            <a:r>
              <a:rPr lang="en-US" altLang="ko-KR" dirty="0" smtClean="0"/>
              <a:t> </a:t>
            </a:r>
            <a:r>
              <a:rPr lang="ko-KR" altLang="en-US" dirty="0" smtClean="0"/>
              <a:t>요구사항 상세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4"/>
          </p:nvPr>
        </p:nvSpPr>
        <p:spPr>
          <a:xfrm>
            <a:off x="381000" y="899269"/>
            <a:ext cx="9144000" cy="492443"/>
          </a:xfrm>
        </p:spPr>
        <p:txBody>
          <a:bodyPr/>
          <a:lstStyle/>
          <a:p>
            <a:r>
              <a:rPr lang="ko-KR" altLang="en-US" dirty="0" err="1"/>
              <a:t>통합테스트</a:t>
            </a:r>
            <a:r>
              <a:rPr lang="ko-KR" altLang="en-US" dirty="0"/>
              <a:t> 중 현업이 신규로 요구한 사항은 별도로 정리하여 타당성 검토를 완료 하였으며</a:t>
            </a:r>
            <a:r>
              <a:rPr lang="en-US" altLang="ko-KR" dirty="0"/>
              <a:t>,</a:t>
            </a:r>
          </a:p>
          <a:p>
            <a:r>
              <a:rPr lang="ko-KR" altLang="en-US" dirty="0"/>
              <a:t>총 </a:t>
            </a:r>
            <a:r>
              <a:rPr lang="en-US" altLang="ko-KR" dirty="0" smtClean="0"/>
              <a:t>XX</a:t>
            </a:r>
            <a:r>
              <a:rPr lang="ko-KR" altLang="en-US" dirty="0" smtClean="0"/>
              <a:t>개의 </a:t>
            </a:r>
            <a:r>
              <a:rPr lang="ko-KR" altLang="en-US" dirty="0"/>
              <a:t>신규 요구사항에 대하여 개발 진행 </a:t>
            </a:r>
            <a:r>
              <a:rPr lang="ko-KR" altLang="en-US" dirty="0" smtClean="0"/>
              <a:t>중임</a:t>
            </a:r>
            <a:endParaRPr lang="en-US" altLang="ko-KR" dirty="0"/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7051814"/>
              </p:ext>
            </p:extLst>
          </p:nvPr>
        </p:nvGraphicFramePr>
        <p:xfrm>
          <a:off x="421394" y="1543400"/>
          <a:ext cx="9076325" cy="4718169"/>
        </p:xfrm>
        <a:graphic>
          <a:graphicData uri="http://schemas.openxmlformats.org/drawingml/2006/table">
            <a:tbl>
              <a:tblPr/>
              <a:tblGrid>
                <a:gridCol w="247215">
                  <a:extLst>
                    <a:ext uri="{9D8B030D-6E8A-4147-A177-3AD203B41FA5}">
                      <a16:colId xmlns:a16="http://schemas.microsoft.com/office/drawing/2014/main" val="3840447604"/>
                    </a:ext>
                  </a:extLst>
                </a:gridCol>
                <a:gridCol w="353164">
                  <a:extLst>
                    <a:ext uri="{9D8B030D-6E8A-4147-A177-3AD203B41FA5}">
                      <a16:colId xmlns:a16="http://schemas.microsoft.com/office/drawing/2014/main" val="3599064906"/>
                    </a:ext>
                  </a:extLst>
                </a:gridCol>
                <a:gridCol w="529747">
                  <a:extLst>
                    <a:ext uri="{9D8B030D-6E8A-4147-A177-3AD203B41FA5}">
                      <a16:colId xmlns:a16="http://schemas.microsoft.com/office/drawing/2014/main" val="3151154362"/>
                    </a:ext>
                  </a:extLst>
                </a:gridCol>
                <a:gridCol w="1200759">
                  <a:extLst>
                    <a:ext uri="{9D8B030D-6E8A-4147-A177-3AD203B41FA5}">
                      <a16:colId xmlns:a16="http://schemas.microsoft.com/office/drawing/2014/main" val="3617267514"/>
                    </a:ext>
                  </a:extLst>
                </a:gridCol>
                <a:gridCol w="5085567">
                  <a:extLst>
                    <a:ext uri="{9D8B030D-6E8A-4147-A177-3AD203B41FA5}">
                      <a16:colId xmlns:a16="http://schemas.microsoft.com/office/drawing/2014/main" val="2058333640"/>
                    </a:ext>
                  </a:extLst>
                </a:gridCol>
                <a:gridCol w="529747">
                  <a:extLst>
                    <a:ext uri="{9D8B030D-6E8A-4147-A177-3AD203B41FA5}">
                      <a16:colId xmlns:a16="http://schemas.microsoft.com/office/drawing/2014/main" val="1462202739"/>
                    </a:ext>
                  </a:extLst>
                </a:gridCol>
                <a:gridCol w="494430">
                  <a:extLst>
                    <a:ext uri="{9D8B030D-6E8A-4147-A177-3AD203B41FA5}">
                      <a16:colId xmlns:a16="http://schemas.microsoft.com/office/drawing/2014/main" val="3899634978"/>
                    </a:ext>
                  </a:extLst>
                </a:gridCol>
                <a:gridCol w="635696">
                  <a:extLst>
                    <a:ext uri="{9D8B030D-6E8A-4147-A177-3AD203B41FA5}">
                      <a16:colId xmlns:a16="http://schemas.microsoft.com/office/drawing/2014/main" val="2320374026"/>
                    </a:ext>
                  </a:extLst>
                </a:gridCol>
              </a:tblGrid>
              <a:tr h="35793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순번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 smtClean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Biz</a:t>
                      </a:r>
                      <a:endParaRPr lang="ko-KR" altLang="en-US" sz="1100" b="1" i="0" u="none" strike="noStrike" dirty="0">
                        <a:solidFill>
                          <a:srgbClr val="FFFF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시스템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주제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 smtClean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요구사항 상세</a:t>
                      </a:r>
                      <a:endParaRPr lang="ko-KR" altLang="en-US" sz="1100" b="1" i="0" u="none" strike="noStrike" dirty="0">
                        <a:solidFill>
                          <a:srgbClr val="FFFF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 smtClean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유형</a:t>
                      </a:r>
                      <a:endParaRPr lang="ko-KR" altLang="en-US" sz="1100" b="1" i="0" u="none" strike="noStrike" dirty="0">
                        <a:solidFill>
                          <a:srgbClr val="FFFF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 smtClean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중요도</a:t>
                      </a:r>
                      <a:endParaRPr lang="ko-KR" altLang="en-US" sz="1100" b="1" i="0" u="none" strike="noStrike" dirty="0">
                        <a:solidFill>
                          <a:srgbClr val="FFFF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 smtClean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비고</a:t>
                      </a:r>
                      <a:endParaRPr lang="ko-KR" altLang="en-US" sz="1100" b="1" i="0" u="none" strike="noStrike" dirty="0">
                        <a:solidFill>
                          <a:srgbClr val="FFFF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0026855"/>
                  </a:ext>
                </a:extLst>
              </a:tr>
              <a:tr h="22777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en-US" altLang="ko-KR" sz="8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 smtClean="0">
                          <a:effectLst/>
                          <a:latin typeface="+mn-ea"/>
                          <a:ea typeface="+mn-ea"/>
                        </a:rPr>
                        <a:t>생산</a:t>
                      </a:r>
                      <a:endParaRPr lang="ko-KR" altLang="en-US" sz="8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 smtClean="0">
                          <a:effectLst/>
                          <a:latin typeface="+mn-ea"/>
                          <a:ea typeface="+mn-ea"/>
                        </a:rPr>
                        <a:t>MES</a:t>
                      </a:r>
                      <a:endParaRPr lang="en-US" sz="8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생산실적 처리 개선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OI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에서 계량된 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원료정보를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보여 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줄것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기능 보완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0609748"/>
                  </a:ext>
                </a:extLst>
              </a:tr>
              <a:tr h="52062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lang="en-US" altLang="ko-KR" sz="8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 smtClean="0">
                          <a:effectLst/>
                          <a:latin typeface="+mn-ea"/>
                          <a:ea typeface="+mn-ea"/>
                        </a:rPr>
                        <a:t>생산</a:t>
                      </a:r>
                      <a:endParaRPr lang="ko-KR" altLang="en-US" sz="8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 smtClean="0">
                          <a:effectLst/>
                          <a:latin typeface="+mn-ea"/>
                          <a:ea typeface="+mn-ea"/>
                        </a:rPr>
                        <a:t>MES</a:t>
                      </a:r>
                      <a:endParaRPr lang="en-US" sz="8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원</a:t>
                      </a:r>
                      <a:r>
                        <a:rPr lang="en-US" altLang="ko-KR" sz="800" b="0" i="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0" i="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부자재 입고 개선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수입상품 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입고시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여러 차량으로 운반하며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차량별로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어떤 품목이 있는지 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알수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없음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b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운반차량 정보</a:t>
                      </a:r>
                      <a:b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광주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곤지암은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계근이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없어 차량 정보를 수작업 입력</a:t>
                      </a:r>
                      <a:b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  1 Invoice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ㅇ에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여러 차량으로 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운반시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입력 가능해야 함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프로세스 추가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3474852"/>
                  </a:ext>
                </a:extLst>
              </a:tr>
              <a:tr h="26031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lang="en-US" altLang="ko-KR" sz="8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 smtClean="0">
                          <a:effectLst/>
                          <a:latin typeface="+mn-ea"/>
                          <a:ea typeface="+mn-ea"/>
                        </a:rPr>
                        <a:t>생산</a:t>
                      </a:r>
                      <a:endParaRPr lang="ko-KR" altLang="en-US" sz="8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 smtClean="0">
                          <a:effectLst/>
                          <a:latin typeface="+mn-ea"/>
                          <a:ea typeface="+mn-ea"/>
                        </a:rPr>
                        <a:t>MES</a:t>
                      </a:r>
                      <a:endParaRPr lang="en-US" sz="8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원</a:t>
                      </a:r>
                      <a:r>
                        <a:rPr lang="en-US" altLang="ko-KR" sz="800" b="0" i="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0" i="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부자재 입고 개선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입고검수를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List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형태로 검수결과를 입력 할 수 있는 화면 </a:t>
                      </a:r>
                      <a:b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추가 개발 요청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신규</a:t>
                      </a:r>
                      <a:r>
                        <a:rPr lang="en-US" altLang="ko-KR" sz="800" b="0" i="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0" i="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추가 기능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4998944"/>
                  </a:ext>
                </a:extLst>
              </a:tr>
              <a:tr h="26031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effectLst/>
                          <a:latin typeface="+mn-ea"/>
                          <a:ea typeface="+mn-ea"/>
                        </a:rPr>
                        <a:t>4</a:t>
                      </a:r>
                      <a:endParaRPr lang="en-US" altLang="ko-KR" sz="8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 smtClean="0">
                          <a:effectLst/>
                          <a:latin typeface="+mn-ea"/>
                          <a:ea typeface="+mn-ea"/>
                        </a:rPr>
                        <a:t>생산</a:t>
                      </a:r>
                      <a:endParaRPr lang="ko-KR" altLang="en-US" sz="8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 smtClean="0">
                          <a:effectLst/>
                          <a:latin typeface="+mn-ea"/>
                          <a:ea typeface="+mn-ea"/>
                        </a:rPr>
                        <a:t>MES</a:t>
                      </a:r>
                      <a:endParaRPr lang="en-US" sz="8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원</a:t>
                      </a:r>
                      <a:r>
                        <a:rPr lang="en-US" altLang="ko-KR" sz="800" b="0" i="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0" i="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부자재 입고 개선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OI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의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Pallet Label Mapping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을 이동하면서 작업 필요</a:t>
                      </a:r>
                      <a:b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 PDA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추가 개발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신규</a:t>
                      </a:r>
                      <a:r>
                        <a:rPr lang="en-US" altLang="ko-KR" sz="800" b="0" i="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0" i="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추가 기능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4940238"/>
                  </a:ext>
                </a:extLst>
              </a:tr>
              <a:tr h="26031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effectLst/>
                          <a:latin typeface="+mn-ea"/>
                          <a:ea typeface="+mn-ea"/>
                        </a:rPr>
                        <a:t>5</a:t>
                      </a:r>
                    </a:p>
                  </a:txBody>
                  <a:tcPr marL="45720" marR="4572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 smtClean="0">
                          <a:effectLst/>
                          <a:latin typeface="+mn-ea"/>
                          <a:ea typeface="+mn-ea"/>
                        </a:rPr>
                        <a:t>생산</a:t>
                      </a:r>
                      <a:endParaRPr lang="ko-KR" altLang="en-US" sz="8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 smtClean="0">
                          <a:effectLst/>
                          <a:latin typeface="+mn-ea"/>
                          <a:ea typeface="+mn-ea"/>
                        </a:rPr>
                        <a:t>MES</a:t>
                      </a:r>
                      <a:endParaRPr lang="en-US" sz="8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센터 생산출고 개선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화면의 요청자재 목록에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W/O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의 제품 추가</a:t>
                      </a:r>
                      <a:b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Field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 없어 확인이 어려움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항목추가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9950136"/>
                  </a:ext>
                </a:extLst>
              </a:tr>
              <a:tr h="52062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effectLst/>
                          <a:latin typeface="+mn-ea"/>
                          <a:ea typeface="+mn-ea"/>
                        </a:rPr>
                        <a:t>6</a:t>
                      </a:r>
                      <a:endParaRPr lang="en-US" altLang="ko-KR" sz="8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 smtClean="0">
                          <a:effectLst/>
                          <a:latin typeface="+mn-ea"/>
                          <a:ea typeface="+mn-ea"/>
                        </a:rPr>
                        <a:t>생산</a:t>
                      </a:r>
                      <a:endParaRPr lang="ko-KR" altLang="en-US" sz="8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 smtClean="0">
                          <a:effectLst/>
                          <a:latin typeface="+mn-ea"/>
                          <a:ea typeface="+mn-ea"/>
                        </a:rPr>
                        <a:t>MES</a:t>
                      </a:r>
                      <a:endParaRPr lang="en-US" sz="8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생산실적 처리 개선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FontTx/>
                        <a:buNone/>
                      </a:pP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생산일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유통기한 관리</a:t>
                      </a:r>
                      <a:b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시작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Button Click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 나타나는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Pop-up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화면에 생산일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유통기한 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입력 및 수정기능 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추가</a:t>
                      </a:r>
                      <a:endParaRPr lang="en-US" altLang="ko-KR" sz="800" b="0" i="0" u="none" strike="noStrike" dirty="0" smtClean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indent="0" algn="l" fontAlgn="ctr">
                        <a:buFontTx/>
                        <a:buNone/>
                      </a:pP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생산실적 처리</a:t>
                      </a:r>
                      <a:b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라벨발행 개선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기능 보완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 dirty="0" smtClean="0">
                          <a:effectLst/>
                          <a:latin typeface="+mn-ea"/>
                          <a:ea typeface="+mn-ea"/>
                        </a:rPr>
                        <a:t>개발 반영</a:t>
                      </a:r>
                      <a:endParaRPr lang="en-US" altLang="ko-KR" sz="800" b="0" i="0" u="none" strike="noStrike" dirty="0" smtClean="0"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6924664"/>
                  </a:ext>
                </a:extLst>
              </a:tr>
              <a:tr h="26031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effectLst/>
                          <a:latin typeface="+mn-ea"/>
                          <a:ea typeface="+mn-ea"/>
                        </a:rPr>
                        <a:t>7</a:t>
                      </a:r>
                      <a:endParaRPr lang="en-US" altLang="ko-KR" sz="8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 smtClean="0">
                          <a:effectLst/>
                          <a:latin typeface="+mn-ea"/>
                          <a:ea typeface="+mn-ea"/>
                        </a:rPr>
                        <a:t>생산</a:t>
                      </a:r>
                      <a:endParaRPr lang="ko-KR" altLang="en-US" sz="8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 smtClean="0">
                          <a:effectLst/>
                          <a:latin typeface="+mn-ea"/>
                          <a:ea typeface="+mn-ea"/>
                        </a:rPr>
                        <a:t>MES</a:t>
                      </a:r>
                      <a:endParaRPr lang="en-US" sz="8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설비관리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 Spare part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단가 관리</a:t>
                      </a:r>
                      <a:b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입고시점에 입고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Lot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별 단가를 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입력하여관리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기능 보완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 smtClean="0">
                          <a:effectLst/>
                          <a:latin typeface="+mn-ea"/>
                          <a:ea typeface="+mn-ea"/>
                        </a:rPr>
                        <a:t>개발 반영</a:t>
                      </a:r>
                      <a:endParaRPr lang="en-US" altLang="ko-KR" sz="8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3098635"/>
                  </a:ext>
                </a:extLst>
              </a:tr>
              <a:tr h="26031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effectLst/>
                          <a:latin typeface="+mn-ea"/>
                          <a:ea typeface="+mn-ea"/>
                        </a:rPr>
                        <a:t>8</a:t>
                      </a:r>
                      <a:endParaRPr lang="en-US" altLang="ko-KR" sz="8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 smtClean="0">
                          <a:effectLst/>
                          <a:latin typeface="+mn-ea"/>
                          <a:ea typeface="+mn-ea"/>
                        </a:rPr>
                        <a:t>생산</a:t>
                      </a:r>
                      <a:endParaRPr lang="ko-KR" altLang="en-US" sz="8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 smtClean="0">
                          <a:effectLst/>
                          <a:latin typeface="+mn-ea"/>
                          <a:ea typeface="+mn-ea"/>
                        </a:rPr>
                        <a:t>MES</a:t>
                      </a:r>
                      <a:endParaRPr lang="en-US" sz="8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설비관리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Spare Part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출고는 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Lot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별 선입선출로 보전결과 입력시 </a:t>
                      </a:r>
                      <a:b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사용입력 수량을 출고처리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기능 보완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2441311"/>
                  </a:ext>
                </a:extLst>
              </a:tr>
              <a:tr h="26031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effectLst/>
                          <a:latin typeface="+mn-ea"/>
                          <a:ea typeface="+mn-ea"/>
                        </a:rPr>
                        <a:t>10</a:t>
                      </a:r>
                      <a:endParaRPr lang="en-US" altLang="ko-KR" sz="8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 smtClean="0">
                          <a:effectLst/>
                          <a:latin typeface="+mn-ea"/>
                          <a:ea typeface="+mn-ea"/>
                        </a:rPr>
                        <a:t>생산</a:t>
                      </a:r>
                      <a:endParaRPr lang="ko-KR" altLang="en-US" sz="8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 smtClean="0">
                          <a:effectLst/>
                          <a:latin typeface="+mn-ea"/>
                          <a:ea typeface="+mn-ea"/>
                        </a:rPr>
                        <a:t>MES</a:t>
                      </a:r>
                      <a:endParaRPr lang="en-US" sz="8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설비관리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Spare Part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의 재고현황 조회 추가 필요</a:t>
                      </a:r>
                      <a:b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현재고 금액 및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List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별 재고금액 단가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List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필요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신규</a:t>
                      </a:r>
                      <a:r>
                        <a:rPr lang="en-US" altLang="ko-KR" sz="800" b="0" i="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0" i="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추가 기능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3113970"/>
                  </a:ext>
                </a:extLst>
              </a:tr>
              <a:tr h="39046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effectLst/>
                          <a:latin typeface="+mn-ea"/>
                          <a:ea typeface="+mn-ea"/>
                        </a:rPr>
                        <a:t>11</a:t>
                      </a:r>
                      <a:endParaRPr lang="en-US" altLang="ko-KR" sz="8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 smtClean="0">
                          <a:effectLst/>
                          <a:latin typeface="+mn-ea"/>
                          <a:ea typeface="+mn-ea"/>
                        </a:rPr>
                        <a:t>생산</a:t>
                      </a:r>
                      <a:endParaRPr lang="ko-KR" altLang="en-US" sz="8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 smtClean="0">
                          <a:effectLst/>
                          <a:latin typeface="+mn-ea"/>
                          <a:ea typeface="+mn-ea"/>
                        </a:rPr>
                        <a:t>MES</a:t>
                      </a:r>
                      <a:endParaRPr lang="en-US" sz="8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설비관리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결과입력 추가 항목</a:t>
                      </a:r>
                      <a:b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보전 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결과후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사진을 촬영하여 결과에 등록 할 수 있도록 </a:t>
                      </a:r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해줄것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담당자란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추가</a:t>
                      </a:r>
                      <a:b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문서관리와 연계하여 설비에 등록된 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보전절차등의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문서를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Link 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기능 보완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665282"/>
                  </a:ext>
                </a:extLst>
              </a:tr>
              <a:tr h="22777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effectLst/>
                          <a:latin typeface="+mn-ea"/>
                          <a:ea typeface="+mn-ea"/>
                        </a:rPr>
                        <a:t>12</a:t>
                      </a:r>
                      <a:endParaRPr lang="en-US" altLang="ko-KR" sz="8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 smtClean="0">
                          <a:effectLst/>
                          <a:latin typeface="+mn-ea"/>
                          <a:ea typeface="+mn-ea"/>
                        </a:rPr>
                        <a:t>생산</a:t>
                      </a:r>
                      <a:endParaRPr lang="ko-KR" altLang="en-US" sz="8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 smtClean="0">
                          <a:effectLst/>
                          <a:latin typeface="+mn-ea"/>
                          <a:ea typeface="+mn-ea"/>
                        </a:rPr>
                        <a:t>MES</a:t>
                      </a:r>
                      <a:endParaRPr lang="en-US" sz="8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설비관리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 Detail  Pop-up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화면에서 사용된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Spare Part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의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Lot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별 단가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금액 추가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기능 보완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 smtClean="0">
                          <a:effectLst/>
                          <a:latin typeface="+mn-ea"/>
                          <a:ea typeface="+mn-ea"/>
                        </a:rPr>
                        <a:t>개발 반영</a:t>
                      </a:r>
                      <a:endParaRPr lang="en-US" altLang="ko-KR" sz="8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80389816"/>
                  </a:ext>
                </a:extLst>
              </a:tr>
              <a:tr h="39046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effectLst/>
                          <a:latin typeface="+mn-ea"/>
                          <a:ea typeface="+mn-ea"/>
                        </a:rPr>
                        <a:t>13</a:t>
                      </a:r>
                      <a:endParaRPr lang="en-US" altLang="ko-KR" sz="8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 smtClean="0">
                          <a:effectLst/>
                          <a:latin typeface="+mn-ea"/>
                          <a:ea typeface="+mn-ea"/>
                        </a:rPr>
                        <a:t>생산</a:t>
                      </a:r>
                      <a:endParaRPr lang="ko-KR" altLang="en-US" sz="8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 smtClean="0">
                          <a:effectLst/>
                          <a:latin typeface="+mn-ea"/>
                          <a:ea typeface="+mn-ea"/>
                        </a:rPr>
                        <a:t>MES</a:t>
                      </a:r>
                      <a:endParaRPr lang="en-US" sz="8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설비관리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설비별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발생하는 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알람에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대하여 관리 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할수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있는 기능 추가</a:t>
                      </a:r>
                      <a:b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 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설비별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관리 대상 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알람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선정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-&gt; 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전진성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과장</a:t>
                      </a:r>
                      <a:b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 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알람에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대하여 원인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대책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결과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처리자 등 등록 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할수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있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도록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신규</a:t>
                      </a:r>
                      <a:r>
                        <a:rPr lang="en-US" altLang="ko-KR" sz="800" b="0" i="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0" i="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추가 기능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3368534"/>
                  </a:ext>
                </a:extLst>
              </a:tr>
              <a:tr h="52062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effectLst/>
                          <a:latin typeface="+mn-ea"/>
                          <a:ea typeface="+mn-ea"/>
                        </a:rPr>
                        <a:t>14</a:t>
                      </a:r>
                      <a:endParaRPr lang="en-US" altLang="ko-KR" sz="8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 smtClean="0">
                          <a:effectLst/>
                          <a:latin typeface="+mn-ea"/>
                          <a:ea typeface="+mn-ea"/>
                        </a:rPr>
                        <a:t>생산</a:t>
                      </a:r>
                      <a:endParaRPr lang="ko-KR" altLang="en-US" sz="8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 smtClean="0">
                          <a:effectLst/>
                          <a:latin typeface="+mn-ea"/>
                          <a:ea typeface="+mn-ea"/>
                        </a:rPr>
                        <a:t>MES</a:t>
                      </a:r>
                      <a:endParaRPr lang="en-US" sz="8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품질관리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검사 후 불합격 입고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Lot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에 대하여 선별적 재검 가능 하도록</a:t>
                      </a:r>
                      <a:b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 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최초검사시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분할된 전체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Lot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을 묶음으로 검사 실시</a:t>
                      </a:r>
                      <a:b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 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재검시는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분할된 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Lot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별 선별적으로 검사 결과 등록 및 판정하여</a:t>
                      </a:r>
                      <a:b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합격 품에 대하여 사용가능 하도록 함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 Lot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별 보류해제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신규</a:t>
                      </a:r>
                      <a:r>
                        <a:rPr lang="en-US" altLang="ko-KR" sz="800" b="0" i="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0" i="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추가 기능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09434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10074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6617474"/>
      </p:ext>
    </p:extLst>
  </p:cSld>
  <p:clrMapOvr>
    <a:masterClrMapping/>
  </p:clrMapOvr>
</p:sld>
</file>

<file path=ppt/theme/theme1.xml><?xml version="1.0" encoding="utf-8"?>
<a:theme xmlns:a="http://schemas.openxmlformats.org/drawingml/2006/main" name="문서템플릿">
  <a:themeElements>
    <a:clrScheme name="표준템플릿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5AB4"/>
      </a:accent1>
      <a:accent2>
        <a:srgbClr val="00A7ED"/>
      </a:accent2>
      <a:accent3>
        <a:srgbClr val="0071BB"/>
      </a:accent3>
      <a:accent4>
        <a:srgbClr val="222D5B"/>
      </a:accent4>
      <a:accent5>
        <a:srgbClr val="33CCCC"/>
      </a:accent5>
      <a:accent6>
        <a:srgbClr val="FF0066"/>
      </a:accent6>
      <a:hlink>
        <a:srgbClr val="954F72"/>
      </a:hlink>
      <a:folHlink>
        <a:srgbClr val="954F72"/>
      </a:folHlink>
    </a:clrScheme>
    <a:fontScheme name="사용자 지정 4">
      <a:majorFont>
        <a:latin typeface="맑은 고딕"/>
        <a:ea typeface="맑은 고딕"/>
        <a:cs typeface=""/>
      </a:majorFont>
      <a:minorFont>
        <a:latin typeface="맑은 고딕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3F0D996D5B674C4386830A6AB0E50984" ma:contentTypeVersion="0" ma:contentTypeDescription="새 문서를 만듭니다." ma:contentTypeScope="" ma:versionID="a166825e3373d96581aa46038a4cd794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dd8f6c9257034a6ffde9c3b3e5e5b894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6225471-7C69-49CC-95EB-8C94F25B432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C92C52DB-E9E3-46CD-811C-803D077AD9CA}">
  <ds:schemaRefs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purl.org/dc/elements/1.1/"/>
    <ds:schemaRef ds:uri="http://schemas.openxmlformats.org/package/2006/metadata/core-properties"/>
    <ds:schemaRef ds:uri="http://purl.org/dc/terms/"/>
    <ds:schemaRef ds:uri="http://schemas.microsoft.com/office/2006/metadata/propertie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FE156550-B094-4ABA-846C-47B3875BCFB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28020</TotalTime>
  <Words>1159</Words>
  <Application>Microsoft Office PowerPoint</Application>
  <PresentationFormat>A4 용지(210x297mm)</PresentationFormat>
  <Paragraphs>484</Paragraphs>
  <Slides>10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7" baseType="lpstr">
      <vt:lpstr>굴림</vt:lpstr>
      <vt:lpstr>맑은 고딕</vt:lpstr>
      <vt:lpstr>Arial</vt:lpstr>
      <vt:lpstr>Segoe UI</vt:lpstr>
      <vt:lpstr>Times New Roman</vt:lpstr>
      <vt:lpstr>Wingdings</vt:lpstr>
      <vt:lpstr>문서템플릿</vt:lpstr>
      <vt:lpstr>PowerPoint 프레젠테이션</vt:lpstr>
      <vt:lpstr>PowerPoint 프레젠테이션</vt:lpstr>
      <vt:lpstr>PowerPoint 프레젠테이션</vt:lpstr>
      <vt:lpstr>1. 범위 및 중점 점검 항목</vt:lpstr>
      <vt:lpstr>2. 수행 일정 및 R&amp;R</vt:lpstr>
      <vt:lpstr>3. 수행결과 요약 (실적 현황)</vt:lpstr>
      <vt:lpstr>4. 수행결과 요약 (Defect 현황)</vt:lpstr>
      <vt:lpstr>4. 수행결과 요약 (Defect 내역)</vt:lpstr>
      <vt:lpstr>5. 수행결과 요약 (신규 요구사항 상세)</vt:lpstr>
      <vt:lpstr>PowerPoint 프레젠테이션</vt:lpstr>
    </vt:vector>
  </TitlesOfParts>
  <Company>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prof</dc:creator>
  <cp:lastModifiedBy>Miracom</cp:lastModifiedBy>
  <cp:revision>1568</cp:revision>
  <cp:lastPrinted>2019-06-21T07:56:14Z</cp:lastPrinted>
  <dcterms:created xsi:type="dcterms:W3CDTF">2013-11-13T01:08:07Z</dcterms:created>
  <dcterms:modified xsi:type="dcterms:W3CDTF">2025-04-14T01:45:37Z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0x0101003F0D996D5B674C4386830A6AB0E50984</vt:lpwstr>
  </property>
  <property fmtid="{5C58129F-E5B8-477A-9B38-B3E54BFA04C8}" pid="2">
    <vt:lpwstr>A2265D46B23E86417CDAB57A7F05BAAEADCBBC752B73D54DA3E9536622969EE5</vt:lpwstr>
  </property>
</Properties>
</file>