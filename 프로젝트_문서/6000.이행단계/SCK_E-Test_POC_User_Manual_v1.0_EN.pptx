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36"/>
  </p:notesMasterIdLst>
  <p:sldIdLst>
    <p:sldId id="257" r:id="rId2"/>
    <p:sldId id="289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88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90" r:id="rId34"/>
    <p:sldId id="287" r:id="rId35"/>
  </p:sldIdLst>
  <p:sldSz cx="9906000" cy="6858000" type="A4"/>
  <p:notesSz cx="6805613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8DEA"/>
    <a:srgbClr val="F74E19"/>
    <a:srgbClr val="3A98E6"/>
    <a:srgbClr val="009CE1"/>
    <a:srgbClr val="F2F2F2"/>
    <a:srgbClr val="1283B6"/>
    <a:srgbClr val="4AABC6"/>
    <a:srgbClr val="4BDAE1"/>
    <a:srgbClr val="376889"/>
    <a:srgbClr val="0D97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33" autoAdjust="0"/>
    <p:restoredTop sz="91841" autoAdjust="0"/>
  </p:normalViewPr>
  <p:slideViewPr>
    <p:cSldViewPr snapToGrid="0">
      <p:cViewPr varScale="1">
        <p:scale>
          <a:sx n="84" d="100"/>
          <a:sy n="84" d="100"/>
        </p:scale>
        <p:origin x="1464" y="76"/>
      </p:cViewPr>
      <p:guideLst/>
    </p:cSldViewPr>
  </p:slideViewPr>
  <p:outlineViewPr>
    <p:cViewPr>
      <p:scale>
        <a:sx n="33" d="100"/>
        <a:sy n="33" d="100"/>
      </p:scale>
      <p:origin x="0" y="-209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390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4940" y="1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0E5B6F-C10B-4B3A-83EF-10CE51EA9189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3463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494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C71613-9850-4640-BEA1-E291504B1E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4023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1.png"/><Relationship Id="rId4" Type="http://schemas.openxmlformats.org/officeDocument/2006/relationships/image" Target="../media/image5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5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5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Relationship Id="rId3" Type="http://schemas.openxmlformats.org/officeDocument/2006/relationships/image" Target="../media/image7.png"/><Relationship Id="rId4" Type="http://schemas.openxmlformats.org/officeDocument/2006/relationships/image" Target="../media/image10.emf"/><Relationship Id="rId5" Type="http://schemas.openxmlformats.org/officeDocument/2006/relationships/image" Target="../media/image5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내용 개체 틀 3"/>
          <p:cNvSpPr>
            <a:spLocks noGrp="1"/>
          </p:cNvSpPr>
          <p:nvPr>
            <p:ph sz="quarter" idx="16" hasCustomPrompt="1"/>
          </p:nvPr>
        </p:nvSpPr>
        <p:spPr>
          <a:xfrm>
            <a:off x="331931" y="286891"/>
            <a:ext cx="1597298" cy="276225"/>
          </a:xfrm>
        </p:spPr>
        <p:txBody>
          <a:bodyPr>
            <a:noAutofit/>
          </a:bodyPr>
          <a:lstStyle>
            <a:lvl1pPr marL="0" indent="0">
              <a:buNone/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ko-KR" altLang="en-US" dirty="0" err="1" smtClean="0"/>
              <a:t>고객사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CI (optional)</a:t>
            </a:r>
            <a:endParaRPr lang="ko-KR" altLang="en-US" dirty="0"/>
          </a:p>
        </p:txBody>
      </p:sp>
      <p:sp>
        <p:nvSpPr>
          <p:cNvPr id="15" name="모서리가 둥근 직사각형 14"/>
          <p:cNvSpPr/>
          <p:nvPr userDrawn="1"/>
        </p:nvSpPr>
        <p:spPr>
          <a:xfrm flipH="1">
            <a:off x="1044250" y="951722"/>
            <a:ext cx="6428792" cy="4712335"/>
          </a:xfrm>
          <a:prstGeom prst="roundRect">
            <a:avLst>
              <a:gd name="adj" fmla="val 3485"/>
            </a:avLst>
          </a:prstGeom>
          <a:solidFill>
            <a:srgbClr val="028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모서리가 둥근 직사각형 15"/>
          <p:cNvSpPr/>
          <p:nvPr userDrawn="1"/>
        </p:nvSpPr>
        <p:spPr>
          <a:xfrm>
            <a:off x="4617875" y="951722"/>
            <a:ext cx="2855167" cy="1951214"/>
          </a:xfrm>
          <a:prstGeom prst="roundRect">
            <a:avLst>
              <a:gd name="adj" fmla="val 0"/>
            </a:avLst>
          </a:prstGeom>
          <a:solidFill>
            <a:srgbClr val="028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이등변 삼각형 4"/>
          <p:cNvSpPr/>
          <p:nvPr userDrawn="1"/>
        </p:nvSpPr>
        <p:spPr>
          <a:xfrm flipH="1">
            <a:off x="4798025" y="2024331"/>
            <a:ext cx="4982547" cy="3905832"/>
          </a:xfrm>
          <a:custGeom>
            <a:avLst/>
            <a:gdLst>
              <a:gd name="connsiteX0" fmla="*/ 0 w 4982547"/>
              <a:gd name="connsiteY0" fmla="*/ 4086807 h 4086807"/>
              <a:gd name="connsiteX1" fmla="*/ 1721271 w 4982547"/>
              <a:gd name="connsiteY1" fmla="*/ 0 h 4086807"/>
              <a:gd name="connsiteX2" fmla="*/ 4982547 w 4982547"/>
              <a:gd name="connsiteY2" fmla="*/ 4086807 h 4086807"/>
              <a:gd name="connsiteX3" fmla="*/ 0 w 4982547"/>
              <a:gd name="connsiteY3" fmla="*/ 4086807 h 4086807"/>
              <a:gd name="connsiteX0" fmla="*/ 0 w 4982547"/>
              <a:gd name="connsiteY0" fmla="*/ 3905832 h 3905832"/>
              <a:gd name="connsiteX1" fmla="*/ 1616496 w 4982547"/>
              <a:gd name="connsiteY1" fmla="*/ 0 h 3905832"/>
              <a:gd name="connsiteX2" fmla="*/ 4982547 w 4982547"/>
              <a:gd name="connsiteY2" fmla="*/ 3905832 h 3905832"/>
              <a:gd name="connsiteX3" fmla="*/ 0 w 4982547"/>
              <a:gd name="connsiteY3" fmla="*/ 3905832 h 3905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82547" h="3905832">
                <a:moveTo>
                  <a:pt x="0" y="3905832"/>
                </a:moveTo>
                <a:lnTo>
                  <a:pt x="1616496" y="0"/>
                </a:lnTo>
                <a:lnTo>
                  <a:pt x="4982547" y="3905832"/>
                </a:lnTo>
                <a:lnTo>
                  <a:pt x="0" y="390583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연결선 19"/>
          <p:cNvCxnSpPr/>
          <p:nvPr userDrawn="1"/>
        </p:nvCxnSpPr>
        <p:spPr>
          <a:xfrm>
            <a:off x="1311569" y="2830036"/>
            <a:ext cx="5826349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그림 2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509"/>
          <a:stretch/>
        </p:blipFill>
        <p:spPr>
          <a:xfrm>
            <a:off x="975437" y="5951663"/>
            <a:ext cx="1398939" cy="504090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45033" y="3843453"/>
            <a:ext cx="1980000" cy="1631250"/>
          </a:xfrm>
          <a:prstGeom prst="rect">
            <a:avLst/>
          </a:prstGeom>
        </p:spPr>
      </p:pic>
      <p:sp>
        <p:nvSpPr>
          <p:cNvPr id="23" name="TextBox 22"/>
          <p:cNvSpPr txBox="1"/>
          <p:nvPr userDrawn="1"/>
        </p:nvSpPr>
        <p:spPr>
          <a:xfrm>
            <a:off x="2374376" y="6188025"/>
            <a:ext cx="32624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© 2026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Miracom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Inc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Co., Ltd.</a:t>
            </a:r>
            <a:r>
              <a:rPr lang="en-US" altLang="ko-KR" sz="900" b="0" baseline="0" dirty="0" smtClean="0">
                <a:solidFill>
                  <a:schemeClr val="bg1">
                    <a:lumMod val="50000"/>
                  </a:schemeClr>
                </a:solidFill>
              </a:rPr>
              <a:t>  </a:t>
            </a:r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All rights reserved   |  Confidential </a:t>
            </a:r>
          </a:p>
        </p:txBody>
      </p:sp>
    </p:spTree>
    <p:extLst>
      <p:ext uri="{BB962C8B-B14F-4D97-AF65-F5344CB8AC3E}">
        <p14:creationId xmlns:p14="http://schemas.microsoft.com/office/powerpoint/2010/main" val="2288213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877078" y="984160"/>
            <a:ext cx="4683967" cy="106729"/>
          </a:xfrm>
          <a:prstGeom prst="rect">
            <a:avLst/>
          </a:prstGeom>
          <a:solidFill>
            <a:srgbClr val="028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/>
          <p:cNvSpPr/>
          <p:nvPr userDrawn="1"/>
        </p:nvSpPr>
        <p:spPr>
          <a:xfrm>
            <a:off x="877078" y="4333850"/>
            <a:ext cx="4683967" cy="106729"/>
          </a:xfrm>
          <a:prstGeom prst="rect">
            <a:avLst/>
          </a:prstGeom>
          <a:solidFill>
            <a:srgbClr val="028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 userDrawn="1"/>
        </p:nvSpPr>
        <p:spPr>
          <a:xfrm>
            <a:off x="0" y="6064898"/>
            <a:ext cx="9906000" cy="7931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509"/>
          <a:stretch/>
        </p:blipFill>
        <p:spPr>
          <a:xfrm>
            <a:off x="8508768" y="6206474"/>
            <a:ext cx="1268152" cy="456962"/>
          </a:xfrm>
          <a:prstGeom prst="rect">
            <a:avLst/>
          </a:prstGeom>
        </p:spPr>
      </p:pic>
      <p:sp>
        <p:nvSpPr>
          <p:cNvPr id="14" name="TextBox 13"/>
          <p:cNvSpPr txBox="1"/>
          <p:nvPr userDrawn="1"/>
        </p:nvSpPr>
        <p:spPr>
          <a:xfrm>
            <a:off x="737119" y="6353727"/>
            <a:ext cx="32624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© 2026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Miracom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Inc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Co., Ltd.</a:t>
            </a:r>
            <a:r>
              <a:rPr lang="en-US" altLang="ko-KR" sz="900" b="0" baseline="0" dirty="0" smtClean="0">
                <a:solidFill>
                  <a:schemeClr val="bg1">
                    <a:lumMod val="50000"/>
                  </a:schemeClr>
                </a:solidFill>
              </a:rPr>
              <a:t>  </a:t>
            </a:r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All rights reserved   |  Confidential </a:t>
            </a:r>
          </a:p>
        </p:txBody>
      </p:sp>
      <p:pic>
        <p:nvPicPr>
          <p:cNvPr id="19" name="그림 1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998495" y="1946644"/>
            <a:ext cx="1980000" cy="1631250"/>
          </a:xfrm>
          <a:prstGeom prst="rect">
            <a:avLst/>
          </a:prstGeom>
        </p:spPr>
      </p:pic>
      <p:sp>
        <p:nvSpPr>
          <p:cNvPr id="25" name="Title 1"/>
          <p:cNvSpPr>
            <a:spLocks noGrp="1"/>
          </p:cNvSpPr>
          <p:nvPr>
            <p:ph type="ctrTitle"/>
          </p:nvPr>
        </p:nvSpPr>
        <p:spPr>
          <a:xfrm>
            <a:off x="877079" y="1366962"/>
            <a:ext cx="5106568" cy="1300342"/>
          </a:xfrm>
        </p:spPr>
        <p:txBody>
          <a:bodyPr vert="horz" lIns="0" tIns="45720" rIns="91440" bIns="45720" rtlCol="0" anchor="t">
            <a:noAutofit/>
          </a:bodyPr>
          <a:lstStyle>
            <a:lvl1pPr>
              <a:defRPr 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spcBef>
                <a:spcPct val="20000"/>
              </a:spcBef>
              <a:buFont typeface="Arial" pitchFamily="34" charset="0"/>
            </a:pPr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26" name="Subtitle 2"/>
          <p:cNvSpPr>
            <a:spLocks noGrp="1"/>
          </p:cNvSpPr>
          <p:nvPr>
            <p:ph type="subTitle" idx="1"/>
          </p:nvPr>
        </p:nvSpPr>
        <p:spPr>
          <a:xfrm>
            <a:off x="877078" y="2727427"/>
            <a:ext cx="4249272" cy="882784"/>
          </a:xfrm>
        </p:spPr>
        <p:txBody>
          <a:bodyPr vert="horz" lIns="0" tIns="45720" rIns="91440" bIns="45720" rtlCol="0">
            <a:noAutofit/>
          </a:bodyPr>
          <a:lstStyle>
            <a:lvl1pPr>
              <a:def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spcBef>
                <a:spcPct val="20000"/>
              </a:spcBef>
              <a:buNone/>
            </a:pPr>
            <a:r>
              <a:rPr lang="ko-KR" altLang="en-US" dirty="0" smtClean="0"/>
              <a:t>마스터 부제목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451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9"/>
          <p:cNvSpPr txBox="1">
            <a:spLocks noChangeArrowheads="1"/>
          </p:cNvSpPr>
          <p:nvPr userDrawn="1"/>
        </p:nvSpPr>
        <p:spPr bwMode="auto">
          <a:xfrm>
            <a:off x="452500" y="6424420"/>
            <a:ext cx="3701985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>
            <a:spAutoFit/>
          </a:bodyPr>
          <a:lstStyle/>
          <a:p>
            <a:pPr marL="0" marR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© 2026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Miracom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Inc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Co., Ltd.</a:t>
            </a:r>
            <a:r>
              <a:rPr lang="en-US" altLang="ko-KR" sz="900" b="0" baseline="0" dirty="0" smtClean="0">
                <a:solidFill>
                  <a:schemeClr val="bg1">
                    <a:lumMod val="50000"/>
                  </a:schemeClr>
                </a:solidFill>
              </a:rPr>
              <a:t>  </a:t>
            </a:r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All rights reserved   |  Confidential </a:t>
            </a:r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509"/>
          <a:stretch/>
        </p:blipFill>
        <p:spPr>
          <a:xfrm>
            <a:off x="8240824" y="6141523"/>
            <a:ext cx="1425691" cy="513729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758458" y="2594219"/>
            <a:ext cx="5106568" cy="1300342"/>
          </a:xfrm>
        </p:spPr>
        <p:txBody>
          <a:bodyPr vert="horz" lIns="0" tIns="45720" rIns="91440" bIns="45720" rtlCol="0" anchor="t">
            <a:noAutofit/>
          </a:bodyPr>
          <a:lstStyle>
            <a:lvl1pPr>
              <a:defRPr lang="en-US" sz="3200" b="1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spcBef>
                <a:spcPct val="20000"/>
              </a:spcBef>
              <a:buFont typeface="Arial" pitchFamily="34" charset="0"/>
            </a:pPr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6" name="내용 개체 틀 3"/>
          <p:cNvSpPr>
            <a:spLocks noGrp="1"/>
          </p:cNvSpPr>
          <p:nvPr>
            <p:ph sz="quarter" idx="16" hasCustomPrompt="1"/>
          </p:nvPr>
        </p:nvSpPr>
        <p:spPr>
          <a:xfrm>
            <a:off x="331931" y="286891"/>
            <a:ext cx="1597298" cy="276225"/>
          </a:xfrm>
        </p:spPr>
        <p:txBody>
          <a:bodyPr>
            <a:noAutofit/>
          </a:bodyPr>
          <a:lstStyle>
            <a:lvl1pPr marL="0" indent="0">
              <a:buNone/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ko-KR" altLang="en-US" dirty="0" err="1" smtClean="0"/>
              <a:t>고객사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CI (optional)</a:t>
            </a:r>
            <a:endParaRPr lang="ko-KR" altLang="en-US" dirty="0"/>
          </a:p>
        </p:txBody>
      </p:sp>
      <p:pic>
        <p:nvPicPr>
          <p:cNvPr id="7" name="Picture 8" descr="반도체부문영문좌우조합-1"/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0" y="0"/>
            <a:ext cx="2135188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768515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175" y="1380566"/>
            <a:ext cx="8693649" cy="409686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9087" y="2128657"/>
            <a:ext cx="5106568" cy="1300342"/>
          </a:xfrm>
        </p:spPr>
        <p:txBody>
          <a:bodyPr vert="horz" lIns="0" tIns="45720" rIns="91440" bIns="45720" rtlCol="0" anchor="t">
            <a:noAutofit/>
          </a:bodyPr>
          <a:lstStyle>
            <a:lvl1pPr>
              <a:defRPr lang="en-US" sz="3200" b="1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spcBef>
                <a:spcPct val="20000"/>
              </a:spcBef>
              <a:buFont typeface="Arial" pitchFamily="34" charset="0"/>
            </a:pPr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89086" y="3489122"/>
            <a:ext cx="4249272" cy="882784"/>
          </a:xfrm>
        </p:spPr>
        <p:txBody>
          <a:bodyPr vert="horz" lIns="0" tIns="45720" rIns="91440" bIns="45720" rtlCol="0">
            <a:noAutofit/>
          </a:bodyPr>
          <a:lstStyle>
            <a:lvl1pPr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0" lvl="0" indent="0">
              <a:spcBef>
                <a:spcPct val="20000"/>
              </a:spcBef>
              <a:buNone/>
            </a:pPr>
            <a:r>
              <a:rPr lang="ko-KR" altLang="en-US" dirty="0" smtClean="0"/>
              <a:t>마스터 부제목 스타일 편집</a:t>
            </a:r>
            <a:endParaRPr lang="en-US" dirty="0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97" t="1461" r="5575" b="59767"/>
          <a:stretch/>
        </p:blipFill>
        <p:spPr>
          <a:xfrm>
            <a:off x="8240028" y="6068987"/>
            <a:ext cx="1145555" cy="458923"/>
          </a:xfrm>
          <a:prstGeom prst="rect">
            <a:avLst/>
          </a:prstGeom>
        </p:spPr>
      </p:pic>
      <p:sp>
        <p:nvSpPr>
          <p:cNvPr id="17" name="내용 개체 틀 3"/>
          <p:cNvSpPr>
            <a:spLocks noGrp="1"/>
          </p:cNvSpPr>
          <p:nvPr>
            <p:ph sz="quarter" idx="16" hasCustomPrompt="1"/>
          </p:nvPr>
        </p:nvSpPr>
        <p:spPr>
          <a:xfrm>
            <a:off x="331931" y="286891"/>
            <a:ext cx="1597298" cy="276225"/>
          </a:xfrm>
        </p:spPr>
        <p:txBody>
          <a:bodyPr>
            <a:noAutofit/>
          </a:bodyPr>
          <a:lstStyle>
            <a:lvl1pPr marL="0" indent="0">
              <a:buNone/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ko-KR" altLang="en-US" dirty="0" err="1" smtClean="0"/>
              <a:t>고객사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CI (optional)</a:t>
            </a:r>
            <a:endParaRPr lang="ko-KR" altLang="en-US" dirty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4977596" y="6248348"/>
            <a:ext cx="32624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© 2026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Miracom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Inc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Co., Ltd.</a:t>
            </a:r>
            <a:r>
              <a:rPr lang="en-US" altLang="ko-KR" sz="900" b="0" baseline="0" dirty="0" smtClean="0">
                <a:solidFill>
                  <a:schemeClr val="bg1">
                    <a:lumMod val="50000"/>
                  </a:schemeClr>
                </a:solidFill>
              </a:rPr>
              <a:t>  </a:t>
            </a:r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All rights reserved   |  Confidential </a:t>
            </a:r>
          </a:p>
        </p:txBody>
      </p:sp>
      <p:pic>
        <p:nvPicPr>
          <p:cNvPr id="8" name="Picture 8" descr="반도체부문영문좌우조합-1"/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0" y="11394"/>
            <a:ext cx="2135188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65416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573633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07715" y="1355782"/>
            <a:ext cx="4998285" cy="1300342"/>
          </a:xfrm>
        </p:spPr>
        <p:txBody>
          <a:bodyPr vert="horz" lIns="0" tIns="45720" rIns="91440" bIns="45720" rtlCol="0" anchor="t">
            <a:noAutofit/>
          </a:bodyPr>
          <a:lstStyle>
            <a:lvl1pPr>
              <a:defRPr lang="en-US" sz="3200" b="1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spcBef>
                <a:spcPct val="20000"/>
              </a:spcBef>
              <a:buFont typeface="Arial" pitchFamily="34" charset="0"/>
            </a:pPr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0870" y="3796092"/>
            <a:ext cx="4249272" cy="882784"/>
          </a:xfrm>
        </p:spPr>
        <p:txBody>
          <a:bodyPr vert="horz" lIns="0" tIns="45720" rIns="91440" bIns="45720" rtlCol="0">
            <a:noAutofit/>
          </a:bodyPr>
          <a:lstStyle>
            <a:lvl1pPr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0" lvl="0" indent="0">
              <a:spcBef>
                <a:spcPct val="20000"/>
              </a:spcBef>
              <a:buNone/>
            </a:pPr>
            <a:r>
              <a:rPr lang="ko-KR" altLang="en-US" dirty="0" smtClean="0"/>
              <a:t>마스터 부제목 스타일 편집</a:t>
            </a:r>
            <a:endParaRPr lang="en-US" dirty="0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97" t="1461" r="5575" b="59767"/>
          <a:stretch/>
        </p:blipFill>
        <p:spPr>
          <a:xfrm>
            <a:off x="8714068" y="6069419"/>
            <a:ext cx="992149" cy="397467"/>
          </a:xfrm>
          <a:prstGeom prst="rect">
            <a:avLst/>
          </a:prstGeom>
        </p:spPr>
      </p:pic>
      <p:sp>
        <p:nvSpPr>
          <p:cNvPr id="17" name="내용 개체 틀 3"/>
          <p:cNvSpPr>
            <a:spLocks noGrp="1"/>
          </p:cNvSpPr>
          <p:nvPr>
            <p:ph sz="quarter" idx="16" hasCustomPrompt="1"/>
          </p:nvPr>
        </p:nvSpPr>
        <p:spPr>
          <a:xfrm>
            <a:off x="331931" y="286891"/>
            <a:ext cx="1597298" cy="276225"/>
          </a:xfrm>
        </p:spPr>
        <p:txBody>
          <a:bodyPr>
            <a:noAutofit/>
          </a:bodyPr>
          <a:lstStyle>
            <a:lvl1pPr marL="0" indent="0">
              <a:buNone/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ko-KR" altLang="en-US" dirty="0" err="1" smtClean="0"/>
              <a:t>고객사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CI (optional)</a:t>
            </a:r>
            <a:endParaRPr lang="ko-KR" altLang="en-US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331931" y="6236054"/>
            <a:ext cx="32624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© 2026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Miracom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Inc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Co., Ltd.</a:t>
            </a:r>
            <a:r>
              <a:rPr lang="en-US" altLang="ko-KR" sz="900" b="0" baseline="0" dirty="0" smtClean="0">
                <a:solidFill>
                  <a:schemeClr val="bg1">
                    <a:lumMod val="50000"/>
                  </a:schemeClr>
                </a:solidFill>
              </a:rPr>
              <a:t>  </a:t>
            </a:r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All rights reserved   |  Confidential </a:t>
            </a:r>
          </a:p>
        </p:txBody>
      </p:sp>
      <p:pic>
        <p:nvPicPr>
          <p:cNvPr id="9" name="Picture 8" descr="반도체부문영문좌우조합-1"/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0" y="0"/>
            <a:ext cx="2135188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78770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5573889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97" t="1461" r="5575" b="59767"/>
          <a:stretch/>
        </p:blipFill>
        <p:spPr>
          <a:xfrm>
            <a:off x="8687898" y="6207359"/>
            <a:ext cx="1028748" cy="412129"/>
          </a:xfrm>
          <a:prstGeom prst="rect">
            <a:avLst/>
          </a:prstGeom>
        </p:spPr>
      </p:pic>
      <p:sp>
        <p:nvSpPr>
          <p:cNvPr id="17" name="내용 개체 틀 3"/>
          <p:cNvSpPr>
            <a:spLocks noGrp="1"/>
          </p:cNvSpPr>
          <p:nvPr>
            <p:ph sz="quarter" idx="16" hasCustomPrompt="1"/>
          </p:nvPr>
        </p:nvSpPr>
        <p:spPr>
          <a:xfrm>
            <a:off x="331931" y="286891"/>
            <a:ext cx="1597298" cy="276225"/>
          </a:xfrm>
        </p:spPr>
        <p:txBody>
          <a:bodyPr>
            <a:noAutofit/>
          </a:bodyPr>
          <a:lstStyle>
            <a:lvl1pPr marL="0" indent="0">
              <a:buNone/>
              <a:defRPr sz="1200" baseline="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ko-KR" altLang="en-US" dirty="0" err="1" smtClean="0"/>
              <a:t>고객사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CI (optional)</a:t>
            </a:r>
            <a:endParaRPr lang="ko-KR" altLang="en-US" dirty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405596" y="6328657"/>
            <a:ext cx="32624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© 2026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Miracom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Inc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Co., Ltd.</a:t>
            </a:r>
            <a:r>
              <a:rPr lang="en-US" altLang="ko-KR" sz="900" b="0" baseline="0" dirty="0" smtClean="0">
                <a:solidFill>
                  <a:schemeClr val="bg1">
                    <a:lumMod val="50000"/>
                  </a:schemeClr>
                </a:solidFill>
              </a:rPr>
              <a:t>  </a:t>
            </a:r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All rights reserved   |  Confidential </a:t>
            </a:r>
          </a:p>
        </p:txBody>
      </p:sp>
      <p:sp>
        <p:nvSpPr>
          <p:cNvPr id="7" name="직사각형 6"/>
          <p:cNvSpPr/>
          <p:nvPr userDrawn="1"/>
        </p:nvSpPr>
        <p:spPr>
          <a:xfrm>
            <a:off x="609892" y="712109"/>
            <a:ext cx="4599992" cy="5271796"/>
          </a:xfrm>
          <a:prstGeom prst="rect">
            <a:avLst/>
          </a:prstGeom>
          <a:solidFill>
            <a:srgbClr val="028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9575" y="1358676"/>
            <a:ext cx="4998285" cy="1300342"/>
          </a:xfrm>
        </p:spPr>
        <p:txBody>
          <a:bodyPr vert="horz" lIns="0" tIns="45720" rIns="91440" bIns="45720" rtlCol="0" anchor="t">
            <a:noAutofit/>
          </a:bodyPr>
          <a:lstStyle>
            <a:lvl1pPr>
              <a:defRPr lang="en-US" sz="3200" b="1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spcBef>
                <a:spcPct val="20000"/>
              </a:spcBef>
              <a:buFont typeface="Arial" pitchFamily="34" charset="0"/>
            </a:pPr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9575" y="3348007"/>
            <a:ext cx="4249272" cy="882784"/>
          </a:xfrm>
        </p:spPr>
        <p:txBody>
          <a:bodyPr vert="horz" lIns="0" tIns="45720" rIns="91440" bIns="45720" rtlCol="0">
            <a:noAutofit/>
          </a:bodyPr>
          <a:lstStyle>
            <a:lvl1pPr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0" lvl="0" indent="0">
              <a:spcBef>
                <a:spcPct val="20000"/>
              </a:spcBef>
              <a:buNone/>
            </a:pPr>
            <a:r>
              <a:rPr lang="ko-KR" altLang="en-US" dirty="0" smtClean="0"/>
              <a:t>마스터 부제목 스타일 편집</a:t>
            </a:r>
            <a:endParaRPr lang="en-US" dirty="0"/>
          </a:p>
        </p:txBody>
      </p:sp>
      <p:sp>
        <p:nvSpPr>
          <p:cNvPr id="9" name="직사각형 8"/>
          <p:cNvSpPr/>
          <p:nvPr userDrawn="1"/>
        </p:nvSpPr>
        <p:spPr>
          <a:xfrm>
            <a:off x="483929" y="583121"/>
            <a:ext cx="4851919" cy="5529773"/>
          </a:xfrm>
          <a:prstGeom prst="rect">
            <a:avLst/>
          </a:prstGeom>
          <a:noFill/>
          <a:ln>
            <a:solidFill>
              <a:srgbClr val="028D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469017" y="5212996"/>
            <a:ext cx="4290803" cy="250830"/>
          </a:xfrm>
          <a:prstGeom prst="rect">
            <a:avLst/>
          </a:prstGeom>
        </p:spPr>
      </p:pic>
      <p:pic>
        <p:nvPicPr>
          <p:cNvPr id="11" name="Picture 8" descr="반도체부문영문좌우조합-1"/>
          <p:cNvPicPr>
            <a:picLocks noChangeAspect="1" noChangeArrowheads="1"/>
          </p:cNvPicPr>
          <p:nvPr userDrawn="1"/>
        </p:nvPicPr>
        <p:blipFill>
          <a:blip r:embed="rId5"/>
          <a:srcRect/>
          <a:stretch>
            <a:fillRect/>
          </a:stretch>
        </p:blipFill>
        <p:spPr bwMode="auto">
          <a:xfrm>
            <a:off x="0" y="-17909"/>
            <a:ext cx="2135188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43331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 userDrawn="1"/>
        </p:nvSpPr>
        <p:spPr>
          <a:xfrm>
            <a:off x="0" y="6184232"/>
            <a:ext cx="9906000" cy="689548"/>
          </a:xfrm>
          <a:prstGeom prst="rect">
            <a:avLst/>
          </a:prstGeom>
          <a:solidFill>
            <a:srgbClr val="D7D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97" t="1461" r="5575" b="59767"/>
          <a:stretch/>
        </p:blipFill>
        <p:spPr>
          <a:xfrm>
            <a:off x="8673352" y="6330111"/>
            <a:ext cx="992149" cy="397467"/>
          </a:xfrm>
          <a:prstGeom prst="rect">
            <a:avLst/>
          </a:prstGeom>
        </p:spPr>
      </p:pic>
      <p:sp>
        <p:nvSpPr>
          <p:cNvPr id="20" name="텍스트 개체 틀 19"/>
          <p:cNvSpPr>
            <a:spLocks noGrp="1"/>
          </p:cNvSpPr>
          <p:nvPr>
            <p:ph type="body" sz="quarter" idx="13"/>
          </p:nvPr>
        </p:nvSpPr>
        <p:spPr>
          <a:xfrm>
            <a:off x="4124330" y="1397711"/>
            <a:ext cx="4868156" cy="2551112"/>
          </a:xfrm>
        </p:spPr>
        <p:txBody>
          <a:bodyPr>
            <a:normAutofit/>
          </a:bodyPr>
          <a:lstStyle>
            <a:lvl1pPr marL="361950" indent="-361950">
              <a:buFont typeface="+mj-lt"/>
              <a:buAutoNum type="romanUcPeriod"/>
              <a:defRPr sz="18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21" name="TextBox 20"/>
          <p:cNvSpPr txBox="1"/>
          <p:nvPr userDrawn="1"/>
        </p:nvSpPr>
        <p:spPr>
          <a:xfrm>
            <a:off x="1001676" y="1394537"/>
            <a:ext cx="1908212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algn="l" defTabSz="914400" rtl="0" eaLnBrk="1" latinLnBrk="1" hangingPunct="1"/>
            <a:r>
              <a:rPr lang="en-US" altLang="ko-KR" sz="4000" b="1" kern="1200" dirty="0" smtClean="0">
                <a:solidFill>
                  <a:srgbClr val="028D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Agenda</a:t>
            </a:r>
            <a:endParaRPr lang="ko-KR" altLang="en-US" sz="4000" b="1" kern="1200" dirty="0" err="1" smtClean="0">
              <a:solidFill>
                <a:srgbClr val="028DEA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440766" y="6413428"/>
            <a:ext cx="32624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© 2026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Miracom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Inc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Co., Ltd.</a:t>
            </a:r>
            <a:r>
              <a:rPr lang="en-US" altLang="ko-KR" sz="900" b="0" baseline="0" dirty="0" smtClean="0">
                <a:solidFill>
                  <a:schemeClr val="bg1">
                    <a:lumMod val="50000"/>
                  </a:schemeClr>
                </a:solidFill>
              </a:rPr>
              <a:t>  </a:t>
            </a:r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All rights reserved   |  Confidential </a:t>
            </a:r>
          </a:p>
        </p:txBody>
      </p:sp>
    </p:spTree>
    <p:extLst>
      <p:ext uri="{BB962C8B-B14F-4D97-AF65-F5344CB8AC3E}">
        <p14:creationId xmlns:p14="http://schemas.microsoft.com/office/powerpoint/2010/main" val="3895574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1013791"/>
            <a:ext cx="5933661" cy="696806"/>
          </a:xfrm>
          <a:prstGeom prst="rect">
            <a:avLst/>
          </a:prstGeom>
          <a:solidFill>
            <a:srgbClr val="028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자유형 7"/>
          <p:cNvSpPr/>
          <p:nvPr userDrawn="1"/>
        </p:nvSpPr>
        <p:spPr>
          <a:xfrm>
            <a:off x="1302026" y="875383"/>
            <a:ext cx="7729329" cy="2680869"/>
          </a:xfrm>
          <a:custGeom>
            <a:avLst/>
            <a:gdLst>
              <a:gd name="connsiteX0" fmla="*/ 2768600 w 5723467"/>
              <a:gd name="connsiteY0" fmla="*/ 25400 h 4114800"/>
              <a:gd name="connsiteX1" fmla="*/ 0 w 5723467"/>
              <a:gd name="connsiteY1" fmla="*/ 4106333 h 4114800"/>
              <a:gd name="connsiteX2" fmla="*/ 5715000 w 5723467"/>
              <a:gd name="connsiteY2" fmla="*/ 4114800 h 4114800"/>
              <a:gd name="connsiteX3" fmla="*/ 5723467 w 5723467"/>
              <a:gd name="connsiteY3" fmla="*/ 0 h 4114800"/>
              <a:gd name="connsiteX4" fmla="*/ 2768600 w 5723467"/>
              <a:gd name="connsiteY4" fmla="*/ 25400 h 4114800"/>
              <a:gd name="connsiteX0" fmla="*/ 1074882 w 5723467"/>
              <a:gd name="connsiteY0" fmla="*/ 77354 h 4114800"/>
              <a:gd name="connsiteX1" fmla="*/ 0 w 5723467"/>
              <a:gd name="connsiteY1" fmla="*/ 4106333 h 4114800"/>
              <a:gd name="connsiteX2" fmla="*/ 5715000 w 5723467"/>
              <a:gd name="connsiteY2" fmla="*/ 4114800 h 4114800"/>
              <a:gd name="connsiteX3" fmla="*/ 5723467 w 5723467"/>
              <a:gd name="connsiteY3" fmla="*/ 0 h 4114800"/>
              <a:gd name="connsiteX4" fmla="*/ 1074882 w 5723467"/>
              <a:gd name="connsiteY4" fmla="*/ 77354 h 4114800"/>
              <a:gd name="connsiteX0" fmla="*/ 2010064 w 6658649"/>
              <a:gd name="connsiteY0" fmla="*/ 77354 h 4116724"/>
              <a:gd name="connsiteX1" fmla="*/ 0 w 6658649"/>
              <a:gd name="connsiteY1" fmla="*/ 4116724 h 4116724"/>
              <a:gd name="connsiteX2" fmla="*/ 6650182 w 6658649"/>
              <a:gd name="connsiteY2" fmla="*/ 4114800 h 4116724"/>
              <a:gd name="connsiteX3" fmla="*/ 6658649 w 6658649"/>
              <a:gd name="connsiteY3" fmla="*/ 0 h 4116724"/>
              <a:gd name="connsiteX4" fmla="*/ 2010064 w 6658649"/>
              <a:gd name="connsiteY4" fmla="*/ 77354 h 4116724"/>
              <a:gd name="connsiteX0" fmla="*/ 2010064 w 6658649"/>
              <a:gd name="connsiteY0" fmla="*/ 28118 h 4116724"/>
              <a:gd name="connsiteX1" fmla="*/ 0 w 6658649"/>
              <a:gd name="connsiteY1" fmla="*/ 4116724 h 4116724"/>
              <a:gd name="connsiteX2" fmla="*/ 6650182 w 6658649"/>
              <a:gd name="connsiteY2" fmla="*/ 4114800 h 4116724"/>
              <a:gd name="connsiteX3" fmla="*/ 6658649 w 6658649"/>
              <a:gd name="connsiteY3" fmla="*/ 0 h 4116724"/>
              <a:gd name="connsiteX4" fmla="*/ 2010064 w 6658649"/>
              <a:gd name="connsiteY4" fmla="*/ 28118 h 4116724"/>
              <a:gd name="connsiteX0" fmla="*/ 2010064 w 6658649"/>
              <a:gd name="connsiteY0" fmla="*/ 0 h 4088606"/>
              <a:gd name="connsiteX1" fmla="*/ 0 w 6658649"/>
              <a:gd name="connsiteY1" fmla="*/ 4088606 h 4088606"/>
              <a:gd name="connsiteX2" fmla="*/ 6650182 w 6658649"/>
              <a:gd name="connsiteY2" fmla="*/ 4086682 h 4088606"/>
              <a:gd name="connsiteX3" fmla="*/ 6658649 w 6658649"/>
              <a:gd name="connsiteY3" fmla="*/ 77390 h 4088606"/>
              <a:gd name="connsiteX4" fmla="*/ 2010064 w 6658649"/>
              <a:gd name="connsiteY4" fmla="*/ 0 h 4088606"/>
              <a:gd name="connsiteX0" fmla="*/ 2010064 w 6650479"/>
              <a:gd name="connsiteY0" fmla="*/ 7016 h 4095622"/>
              <a:gd name="connsiteX1" fmla="*/ 0 w 6650479"/>
              <a:gd name="connsiteY1" fmla="*/ 4095622 h 4095622"/>
              <a:gd name="connsiteX2" fmla="*/ 6650182 w 6650479"/>
              <a:gd name="connsiteY2" fmla="*/ 4093698 h 4095622"/>
              <a:gd name="connsiteX3" fmla="*/ 6637548 w 6650479"/>
              <a:gd name="connsiteY3" fmla="*/ 0 h 4095622"/>
              <a:gd name="connsiteX4" fmla="*/ 2010064 w 6650479"/>
              <a:gd name="connsiteY4" fmla="*/ 7016 h 4095622"/>
              <a:gd name="connsiteX0" fmla="*/ 2010064 w 6650640"/>
              <a:gd name="connsiteY0" fmla="*/ 7016 h 4095622"/>
              <a:gd name="connsiteX1" fmla="*/ 0 w 6650640"/>
              <a:gd name="connsiteY1" fmla="*/ 4095622 h 4095622"/>
              <a:gd name="connsiteX2" fmla="*/ 6650182 w 6650640"/>
              <a:gd name="connsiteY2" fmla="*/ 4093698 h 4095622"/>
              <a:gd name="connsiteX3" fmla="*/ 6644581 w 6650640"/>
              <a:gd name="connsiteY3" fmla="*/ 0 h 4095622"/>
              <a:gd name="connsiteX4" fmla="*/ 2010064 w 6650640"/>
              <a:gd name="connsiteY4" fmla="*/ 7016 h 4095622"/>
              <a:gd name="connsiteX0" fmla="*/ 2018531 w 6650640"/>
              <a:gd name="connsiteY0" fmla="*/ 0 h 4101306"/>
              <a:gd name="connsiteX1" fmla="*/ 0 w 6650640"/>
              <a:gd name="connsiteY1" fmla="*/ 4101306 h 4101306"/>
              <a:gd name="connsiteX2" fmla="*/ 6650182 w 6650640"/>
              <a:gd name="connsiteY2" fmla="*/ 4099382 h 4101306"/>
              <a:gd name="connsiteX3" fmla="*/ 6644581 w 6650640"/>
              <a:gd name="connsiteY3" fmla="*/ 5684 h 4101306"/>
              <a:gd name="connsiteX4" fmla="*/ 2018531 w 6650640"/>
              <a:gd name="connsiteY4" fmla="*/ 0 h 4101306"/>
              <a:gd name="connsiteX0" fmla="*/ 2018531 w 6650527"/>
              <a:gd name="connsiteY0" fmla="*/ 2782 h 4104088"/>
              <a:gd name="connsiteX1" fmla="*/ 0 w 6650527"/>
              <a:gd name="connsiteY1" fmla="*/ 4104088 h 4104088"/>
              <a:gd name="connsiteX2" fmla="*/ 6650182 w 6650527"/>
              <a:gd name="connsiteY2" fmla="*/ 4102164 h 4104088"/>
              <a:gd name="connsiteX3" fmla="*/ 6640348 w 6650527"/>
              <a:gd name="connsiteY3" fmla="*/ 0 h 4104088"/>
              <a:gd name="connsiteX4" fmla="*/ 2018531 w 6650527"/>
              <a:gd name="connsiteY4" fmla="*/ 2782 h 4104088"/>
              <a:gd name="connsiteX0" fmla="*/ 2018531 w 6650865"/>
              <a:gd name="connsiteY0" fmla="*/ 2782 h 4104088"/>
              <a:gd name="connsiteX1" fmla="*/ 0 w 6650865"/>
              <a:gd name="connsiteY1" fmla="*/ 4104088 h 4104088"/>
              <a:gd name="connsiteX2" fmla="*/ 6650182 w 6650865"/>
              <a:gd name="connsiteY2" fmla="*/ 4102164 h 4104088"/>
              <a:gd name="connsiteX3" fmla="*/ 6648815 w 6650865"/>
              <a:gd name="connsiteY3" fmla="*/ 0 h 4104088"/>
              <a:gd name="connsiteX4" fmla="*/ 2018531 w 6650865"/>
              <a:gd name="connsiteY4" fmla="*/ 2782 h 4104088"/>
              <a:gd name="connsiteX0" fmla="*/ 2018531 w 6650865"/>
              <a:gd name="connsiteY0" fmla="*/ 2782 h 4106397"/>
              <a:gd name="connsiteX1" fmla="*/ 0 w 6650865"/>
              <a:gd name="connsiteY1" fmla="*/ 4104088 h 4106397"/>
              <a:gd name="connsiteX2" fmla="*/ 6650182 w 6650865"/>
              <a:gd name="connsiteY2" fmla="*/ 4106397 h 4106397"/>
              <a:gd name="connsiteX3" fmla="*/ 6648815 w 6650865"/>
              <a:gd name="connsiteY3" fmla="*/ 0 h 4106397"/>
              <a:gd name="connsiteX4" fmla="*/ 2018531 w 6650865"/>
              <a:gd name="connsiteY4" fmla="*/ 2782 h 4106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50865" h="4106397">
                <a:moveTo>
                  <a:pt x="2018531" y="2782"/>
                </a:moveTo>
                <a:lnTo>
                  <a:pt x="0" y="4104088"/>
                </a:lnTo>
                <a:lnTo>
                  <a:pt x="6650182" y="4106397"/>
                </a:lnTo>
                <a:cubicBezTo>
                  <a:pt x="6653004" y="2734797"/>
                  <a:pt x="6645993" y="1371600"/>
                  <a:pt x="6648815" y="0"/>
                </a:cubicBezTo>
                <a:lnTo>
                  <a:pt x="2018531" y="278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97" t="1461" r="5575" b="59767"/>
          <a:stretch/>
        </p:blipFill>
        <p:spPr>
          <a:xfrm>
            <a:off x="8673352" y="6330111"/>
            <a:ext cx="992149" cy="397467"/>
          </a:xfrm>
          <a:prstGeom prst="rect">
            <a:avLst/>
          </a:prstGeom>
        </p:spPr>
      </p:pic>
      <p:sp>
        <p:nvSpPr>
          <p:cNvPr id="20" name="텍스트 개체 틀 19"/>
          <p:cNvSpPr>
            <a:spLocks noGrp="1"/>
          </p:cNvSpPr>
          <p:nvPr>
            <p:ph type="body" sz="quarter" idx="13"/>
          </p:nvPr>
        </p:nvSpPr>
        <p:spPr>
          <a:xfrm>
            <a:off x="3267601" y="2007160"/>
            <a:ext cx="5246462" cy="2934407"/>
          </a:xfrm>
        </p:spPr>
        <p:txBody>
          <a:bodyPr>
            <a:normAutofit/>
          </a:bodyPr>
          <a:lstStyle>
            <a:lvl1pPr marL="361950" indent="-361950">
              <a:buFont typeface="+mj-lt"/>
              <a:buAutoNum type="romanUcPeriod"/>
              <a:defRPr sz="16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21" name="TextBox 20"/>
          <p:cNvSpPr txBox="1"/>
          <p:nvPr userDrawn="1"/>
        </p:nvSpPr>
        <p:spPr>
          <a:xfrm>
            <a:off x="794652" y="1183007"/>
            <a:ext cx="2056502" cy="31861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algn="l" defTabSz="914400" rtl="0" eaLnBrk="1" latinLnBrk="1" hangingPunct="1"/>
            <a:r>
              <a:rPr lang="en-US" altLang="ko-KR" sz="3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Agenda</a:t>
            </a:r>
            <a:endParaRPr lang="ko-KR" altLang="en-US" sz="3200" b="1" kern="1200" dirty="0" err="1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440766" y="6413428"/>
            <a:ext cx="32624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© 2026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Miracom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Inc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Co., Ltd.</a:t>
            </a:r>
            <a:r>
              <a:rPr lang="en-US" altLang="ko-KR" sz="900" b="0" baseline="0" dirty="0" smtClean="0">
                <a:solidFill>
                  <a:schemeClr val="bg1">
                    <a:lumMod val="50000"/>
                  </a:schemeClr>
                </a:solidFill>
              </a:rPr>
              <a:t>  </a:t>
            </a:r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All rights reserved   |  Confidential </a:t>
            </a:r>
          </a:p>
        </p:txBody>
      </p:sp>
    </p:spTree>
    <p:extLst>
      <p:ext uri="{BB962C8B-B14F-4D97-AF65-F5344CB8AC3E}">
        <p14:creationId xmlns:p14="http://schemas.microsoft.com/office/powerpoint/2010/main" val="1333802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0" y="326571"/>
            <a:ext cx="9906000" cy="7761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974" y="443062"/>
            <a:ext cx="9241467" cy="597399"/>
          </a:xfrm>
        </p:spPr>
        <p:txBody>
          <a:bodyPr>
            <a:normAutofit/>
          </a:bodyPr>
          <a:lstStyle>
            <a:lvl1pPr>
              <a:defRPr sz="2000" b="1">
                <a:solidFill>
                  <a:srgbClr val="028DEA"/>
                </a:solidFill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5740" y="1237492"/>
            <a:ext cx="9182554" cy="849614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82175" y="6638575"/>
            <a:ext cx="2228850" cy="139844"/>
          </a:xfrm>
        </p:spPr>
        <p:txBody>
          <a:bodyPr/>
          <a:lstStyle>
            <a:lvl1pPr>
              <a:defRPr sz="1000">
                <a:solidFill>
                  <a:srgbClr val="009CE1"/>
                </a:solidFill>
              </a:defRPr>
            </a:lvl1pPr>
          </a:lstStyle>
          <a:p>
            <a:fld id="{8645AF44-5734-4C67-803C-E5F57A8BDDF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3"/>
          </p:nvPr>
        </p:nvSpPr>
        <p:spPr>
          <a:xfrm>
            <a:off x="7153947" y="76376"/>
            <a:ext cx="2646530" cy="268872"/>
          </a:xfrm>
        </p:spPr>
        <p:txBody>
          <a:bodyPr>
            <a:noAutofit/>
          </a:bodyPr>
          <a:lstStyle>
            <a:lvl1pPr marL="0" indent="0"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14"/>
          </p:nvPr>
        </p:nvSpPr>
        <p:spPr>
          <a:xfrm>
            <a:off x="205740" y="1988449"/>
            <a:ext cx="5087413" cy="1804988"/>
          </a:xfrm>
        </p:spPr>
        <p:txBody>
          <a:bodyPr/>
          <a:lstStyle>
            <a:lvl1pPr marL="185738" indent="-185738">
              <a:buFont typeface="Arial" panose="020B0604020202020204" pitchFamily="34" charset="0"/>
              <a:buChar char="•"/>
              <a:defRPr sz="1400"/>
            </a:lvl1pPr>
            <a:lvl2pPr marL="358775" indent="-173038">
              <a:buFont typeface="Calibri" panose="020F0502020204030204" pitchFamily="34" charset="0"/>
              <a:buChar char="–"/>
              <a:defRPr sz="1200"/>
            </a:lvl2pPr>
            <a:lvl3pPr marL="542925" indent="-184150">
              <a:buFont typeface="Wingdings" panose="05000000000000000000" pitchFamily="2" charset="2"/>
              <a:buChar char="§"/>
              <a:defRPr sz="1200"/>
            </a:lvl3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</p:txBody>
      </p:sp>
      <p:pic>
        <p:nvPicPr>
          <p:cNvPr id="19" name="그림 1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647"/>
          <a:stretch/>
        </p:blipFill>
        <p:spPr>
          <a:xfrm>
            <a:off x="120907" y="6504981"/>
            <a:ext cx="793492" cy="313194"/>
          </a:xfrm>
          <a:prstGeom prst="rect">
            <a:avLst/>
          </a:prstGeom>
        </p:spPr>
      </p:pic>
      <p:sp>
        <p:nvSpPr>
          <p:cNvPr id="20" name="Text Box 9"/>
          <p:cNvSpPr txBox="1">
            <a:spLocks noChangeArrowheads="1"/>
          </p:cNvSpPr>
          <p:nvPr userDrawn="1"/>
        </p:nvSpPr>
        <p:spPr bwMode="auto">
          <a:xfrm>
            <a:off x="5653978" y="6605832"/>
            <a:ext cx="360040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>
            <a:spAutoFit/>
          </a:bodyPr>
          <a:lstStyle/>
          <a:p>
            <a:pPr algn="r" eaLnBrk="0" latinLnBrk="0" hangingPunct="0"/>
            <a:r>
              <a:rPr lang="en-US" altLang="ko-KR" sz="700" dirty="0" smtClean="0">
                <a:solidFill>
                  <a:prstClr val="black"/>
                </a:solidFill>
              </a:rPr>
              <a:t>Copyright </a:t>
            </a:r>
            <a:r>
              <a:rPr lang="en-US" altLang="ko-KR" sz="700" dirty="0">
                <a:solidFill>
                  <a:prstClr val="black"/>
                </a:solidFill>
              </a:rPr>
              <a:t>© </a:t>
            </a:r>
            <a:r>
              <a:rPr lang="en-US" altLang="ko-KR" sz="700" dirty="0" smtClean="0">
                <a:solidFill>
                  <a:prstClr val="black"/>
                </a:solidFill>
              </a:rPr>
              <a:t>2026 </a:t>
            </a:r>
            <a:r>
              <a:rPr lang="en-US" altLang="ko-KR" sz="700" b="1" dirty="0" smtClean="0">
                <a:solidFill>
                  <a:prstClr val="black"/>
                </a:solidFill>
              </a:rPr>
              <a:t>Miracom Inc Co., Ltd.</a:t>
            </a:r>
            <a:r>
              <a:rPr lang="en-US" altLang="ko-KR" sz="700" b="0" baseline="0" dirty="0" smtClean="0">
                <a:solidFill>
                  <a:prstClr val="black"/>
                </a:solidFill>
              </a:rPr>
              <a:t> </a:t>
            </a:r>
            <a:r>
              <a:rPr lang="en-US" altLang="ko-KR" sz="700" dirty="0" smtClean="0">
                <a:solidFill>
                  <a:prstClr val="black"/>
                </a:solidFill>
              </a:rPr>
              <a:t>All </a:t>
            </a:r>
            <a:r>
              <a:rPr lang="en-US" altLang="ko-KR" sz="700" dirty="0">
                <a:solidFill>
                  <a:prstClr val="black"/>
                </a:solidFill>
              </a:rPr>
              <a:t>rights </a:t>
            </a:r>
            <a:r>
              <a:rPr lang="en-US" altLang="ko-KR" sz="700" dirty="0" smtClean="0">
                <a:solidFill>
                  <a:prstClr val="black"/>
                </a:solidFill>
              </a:rPr>
              <a:t>reserved.   </a:t>
            </a:r>
            <a:r>
              <a:rPr lang="en-US" altLang="ko-KR" sz="700" dirty="0">
                <a:solidFill>
                  <a:prstClr val="black"/>
                </a:solidFill>
              </a:rPr>
              <a:t>|  </a:t>
            </a:r>
            <a:r>
              <a:rPr lang="en-US" altLang="ko-KR" sz="700" dirty="0" smtClean="0">
                <a:solidFill>
                  <a:prstClr val="black"/>
                </a:solidFill>
              </a:rPr>
              <a:t>Confidential </a:t>
            </a:r>
            <a:endParaRPr lang="en-US" altLang="ko-KR" sz="700" dirty="0">
              <a:solidFill>
                <a:prstClr val="black"/>
              </a:solidFill>
            </a:endParaRPr>
          </a:p>
        </p:txBody>
      </p:sp>
      <p:sp>
        <p:nvSpPr>
          <p:cNvPr id="5" name="평행 사변형 4"/>
          <p:cNvSpPr/>
          <p:nvPr userDrawn="1"/>
        </p:nvSpPr>
        <p:spPr>
          <a:xfrm rot="283436">
            <a:off x="1026" y="156930"/>
            <a:ext cx="787112" cy="1013791"/>
          </a:xfrm>
          <a:prstGeom prst="parallelogram">
            <a:avLst>
              <a:gd name="adj" fmla="val 75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자유형 6"/>
          <p:cNvSpPr/>
          <p:nvPr userDrawn="1"/>
        </p:nvSpPr>
        <p:spPr>
          <a:xfrm>
            <a:off x="-19878" y="308113"/>
            <a:ext cx="576469" cy="785191"/>
          </a:xfrm>
          <a:custGeom>
            <a:avLst/>
            <a:gdLst>
              <a:gd name="connsiteX0" fmla="*/ 0 w 576469"/>
              <a:gd name="connsiteY0" fmla="*/ 0 h 785191"/>
              <a:gd name="connsiteX1" fmla="*/ 576469 w 576469"/>
              <a:gd name="connsiteY1" fmla="*/ 0 h 785191"/>
              <a:gd name="connsiteX2" fmla="*/ 19878 w 576469"/>
              <a:gd name="connsiteY2" fmla="*/ 785191 h 785191"/>
              <a:gd name="connsiteX3" fmla="*/ 0 w 576469"/>
              <a:gd name="connsiteY3" fmla="*/ 0 h 785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6469" h="785191">
                <a:moveTo>
                  <a:pt x="0" y="0"/>
                </a:moveTo>
                <a:lnTo>
                  <a:pt x="576469" y="0"/>
                </a:lnTo>
                <a:lnTo>
                  <a:pt x="19878" y="785191"/>
                </a:lnTo>
                <a:lnTo>
                  <a:pt x="0" y="0"/>
                </a:lnTo>
                <a:close/>
              </a:path>
            </a:pathLst>
          </a:custGeom>
          <a:solidFill>
            <a:srgbClr val="028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4254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6571" y="132054"/>
            <a:ext cx="9241467" cy="316414"/>
          </a:xfrm>
        </p:spPr>
        <p:txBody>
          <a:bodyPr>
            <a:normAutofit/>
          </a:bodyPr>
          <a:lstStyle>
            <a:lvl1pPr>
              <a:defRPr sz="1600" b="1">
                <a:solidFill>
                  <a:srgbClr val="009CE1"/>
                </a:solidFill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82175" y="6638575"/>
            <a:ext cx="2228850" cy="139844"/>
          </a:xfrm>
        </p:spPr>
        <p:txBody>
          <a:bodyPr/>
          <a:lstStyle>
            <a:lvl1pPr>
              <a:defRPr sz="1000">
                <a:solidFill>
                  <a:srgbClr val="009CE1"/>
                </a:solidFill>
              </a:defRPr>
            </a:lvl1pPr>
          </a:lstStyle>
          <a:p>
            <a:fld id="{8645AF44-5734-4C67-803C-E5F57A8BDDF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326571" y="76479"/>
            <a:ext cx="9302621" cy="0"/>
          </a:xfrm>
          <a:prstGeom prst="line">
            <a:avLst/>
          </a:prstGeom>
          <a:ln w="38100">
            <a:solidFill>
              <a:srgbClr val="028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 userDrawn="1"/>
        </p:nvCxnSpPr>
        <p:spPr>
          <a:xfrm>
            <a:off x="334261" y="504042"/>
            <a:ext cx="9302621" cy="0"/>
          </a:xfrm>
          <a:prstGeom prst="line">
            <a:avLst/>
          </a:prstGeom>
          <a:ln w="6350">
            <a:solidFill>
              <a:srgbClr val="028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그림 1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647"/>
          <a:stretch/>
        </p:blipFill>
        <p:spPr>
          <a:xfrm>
            <a:off x="120907" y="6504981"/>
            <a:ext cx="793492" cy="313194"/>
          </a:xfrm>
          <a:prstGeom prst="rect">
            <a:avLst/>
          </a:prstGeom>
        </p:spPr>
      </p:pic>
      <p:sp>
        <p:nvSpPr>
          <p:cNvPr id="20" name="Text Box 9"/>
          <p:cNvSpPr txBox="1">
            <a:spLocks noChangeArrowheads="1"/>
          </p:cNvSpPr>
          <p:nvPr userDrawn="1"/>
        </p:nvSpPr>
        <p:spPr bwMode="auto">
          <a:xfrm>
            <a:off x="5653978" y="6605832"/>
            <a:ext cx="360040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>
            <a:spAutoFit/>
          </a:bodyPr>
          <a:lstStyle/>
          <a:p>
            <a:pPr algn="r" eaLnBrk="0" latinLnBrk="0" hangingPunct="0"/>
            <a:r>
              <a:rPr lang="en-US" altLang="ko-KR" sz="700" dirty="0" smtClean="0">
                <a:solidFill>
                  <a:prstClr val="black"/>
                </a:solidFill>
              </a:rPr>
              <a:t>Copyright </a:t>
            </a:r>
            <a:r>
              <a:rPr lang="en-US" altLang="ko-KR" sz="700" dirty="0">
                <a:solidFill>
                  <a:prstClr val="black"/>
                </a:solidFill>
              </a:rPr>
              <a:t>© </a:t>
            </a:r>
            <a:r>
              <a:rPr lang="en-US" altLang="ko-KR" sz="700" dirty="0" smtClean="0">
                <a:solidFill>
                  <a:prstClr val="black"/>
                </a:solidFill>
              </a:rPr>
              <a:t>2026 </a:t>
            </a:r>
            <a:r>
              <a:rPr lang="en-US" altLang="ko-KR" sz="700" b="1" dirty="0" smtClean="0">
                <a:solidFill>
                  <a:prstClr val="black"/>
                </a:solidFill>
              </a:rPr>
              <a:t>Miracom Inc Co., Ltd.</a:t>
            </a:r>
            <a:r>
              <a:rPr lang="en-US" altLang="ko-KR" sz="700" b="0" baseline="0" dirty="0" smtClean="0">
                <a:solidFill>
                  <a:prstClr val="black"/>
                </a:solidFill>
              </a:rPr>
              <a:t> </a:t>
            </a:r>
            <a:r>
              <a:rPr lang="en-US" altLang="ko-KR" sz="700" dirty="0" smtClean="0">
                <a:solidFill>
                  <a:prstClr val="black"/>
                </a:solidFill>
              </a:rPr>
              <a:t>All </a:t>
            </a:r>
            <a:r>
              <a:rPr lang="en-US" altLang="ko-KR" sz="700" dirty="0">
                <a:solidFill>
                  <a:prstClr val="black"/>
                </a:solidFill>
              </a:rPr>
              <a:t>rights </a:t>
            </a:r>
            <a:r>
              <a:rPr lang="en-US" altLang="ko-KR" sz="700" dirty="0" smtClean="0">
                <a:solidFill>
                  <a:prstClr val="black"/>
                </a:solidFill>
              </a:rPr>
              <a:t>reserved.   </a:t>
            </a:r>
            <a:r>
              <a:rPr lang="en-US" altLang="ko-KR" sz="700" dirty="0">
                <a:solidFill>
                  <a:prstClr val="black"/>
                </a:solidFill>
              </a:rPr>
              <a:t>|  </a:t>
            </a:r>
            <a:r>
              <a:rPr lang="en-US" altLang="ko-KR" sz="700" dirty="0" smtClean="0">
                <a:solidFill>
                  <a:prstClr val="black"/>
                </a:solidFill>
              </a:rPr>
              <a:t>Confidential </a:t>
            </a:r>
            <a:endParaRPr lang="en-US" altLang="ko-KR" sz="7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767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/>
          <p:cNvSpPr>
            <a:spLocks noGrp="1"/>
          </p:cNvSpPr>
          <p:nvPr>
            <p:ph idx="1"/>
          </p:nvPr>
        </p:nvSpPr>
        <p:spPr bwMode="auto">
          <a:xfrm>
            <a:off x="272587" y="2057403"/>
            <a:ext cx="9360827" cy="1338263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ko-KR" dirty="0" smtClean="0"/>
              <a:t>Text on first level here</a:t>
            </a:r>
          </a:p>
          <a:p>
            <a:pPr lvl="1"/>
            <a:r>
              <a:rPr lang="en-US" altLang="ko-KR" dirty="0" smtClean="0"/>
              <a:t>Second level</a:t>
            </a:r>
          </a:p>
          <a:p>
            <a:pPr lvl="2"/>
            <a:r>
              <a:rPr lang="en-US" altLang="ko-KR" dirty="0" smtClean="0"/>
              <a:t>Third level</a:t>
            </a:r>
          </a:p>
          <a:p>
            <a:pPr lvl="3"/>
            <a:r>
              <a:rPr lang="en-US" altLang="ko-KR" dirty="0" smtClean="0"/>
              <a:t>Fourth level</a:t>
            </a:r>
          </a:p>
          <a:p>
            <a:pPr lvl="4"/>
            <a:r>
              <a:rPr lang="en-US" altLang="ko-KR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178400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0CB39C-1549-4F20-960B-CD7D0719942E}" type="datetime1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45AF44-5734-4C67-803C-E5F57A8BDD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8058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87" r:id="rId2"/>
    <p:sldLayoutId id="2147483688" r:id="rId3"/>
    <p:sldLayoutId id="2147483686" r:id="rId4"/>
    <p:sldLayoutId id="2147483672" r:id="rId5"/>
    <p:sldLayoutId id="2147483685" r:id="rId6"/>
    <p:sldLayoutId id="2147483677" r:id="rId7"/>
    <p:sldLayoutId id="2147483689" r:id="rId8"/>
    <p:sldLayoutId id="2147483662" r:id="rId9"/>
    <p:sldLayoutId id="2147483691" r:id="rId10"/>
    <p:sldLayoutId id="2147483690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3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3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3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3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3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3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3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3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3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3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Relationship Id="rId3" Type="http://schemas.openxmlformats.org/officeDocument/2006/relationships/image" Target="../media/image4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>
          <a:xfrm>
            <a:off x="1044226" y="1455453"/>
            <a:ext cx="5106568" cy="1300342"/>
          </a:xfrm>
        </p:spPr>
        <p:txBody>
          <a:bodyPr/>
          <a:lstStyle/>
          <a:p>
            <a:r>
              <a:rPr lang="en-US" altLang="ko-KR" sz="3600" dirty="0" smtClean="0"/>
              <a:t>SCK E-Test POC</a:t>
            </a:r>
            <a:endParaRPr lang="ko-KR" altLang="en-US" sz="3600" dirty="0"/>
          </a:p>
          <a:p>
            <a:r>
              <a:rPr lang="en-US" altLang="ko-KR" sz="3600" dirty="0" err="1" smtClean="0"/>
              <a:t>User Manual</a:t>
            </a:r>
            <a:endParaRPr lang="ko-KR" altLang="en-US" sz="3600" dirty="0"/>
          </a:p>
        </p:txBody>
      </p:sp>
      <p:sp>
        <p:nvSpPr>
          <p:cNvPr id="6" name="부제목 1"/>
          <p:cNvSpPr txBox="1">
            <a:spLocks/>
          </p:cNvSpPr>
          <p:nvPr/>
        </p:nvSpPr>
        <p:spPr>
          <a:xfrm>
            <a:off x="1044226" y="4569843"/>
            <a:ext cx="3723902" cy="34695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600" b="1" kern="1200" dirty="0">
                <a:solidFill>
                  <a:srgbClr val="7F7F7F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2026.10</a:t>
            </a:r>
            <a:endParaRPr kumimoji="0" lang="en-US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맑은 고딕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4275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/>
              <a:t>Installation Info</a:t>
            </a:r>
            <a:endParaRPr lang="ko-KR" altLang="en-US" b="0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570" y="2820604"/>
            <a:ext cx="3002401" cy="232962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Rectangle 6"/>
          <p:cNvSpPr/>
          <p:nvPr/>
        </p:nvSpPr>
        <p:spPr>
          <a:xfrm>
            <a:off x="326571" y="673380"/>
            <a:ext cx="3002400" cy="396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en-US" altLang="ko-KR" sz="1600" b="1" dirty="0" smtClean="0">
                <a:solidFill>
                  <a:schemeClr val="bg1"/>
                </a:solidFill>
                <a:latin typeface="+mn-ea"/>
              </a:rPr>
              <a:t>FTP Access</a:t>
            </a:r>
            <a:endParaRPr lang="ko-KR" altLang="en-US" sz="1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" name="Rectangle 7"/>
          <p:cNvSpPr/>
          <p:nvPr/>
        </p:nvSpPr>
        <p:spPr>
          <a:xfrm>
            <a:off x="326570" y="1134180"/>
            <a:ext cx="9241467" cy="5429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latinLnBrk="0"/>
            <a:r>
              <a:rPr lang="en-US" dirty="0">
                <a:solidFill>
                  <a:schemeClr val="tx1"/>
                </a:solidFill>
                <a:latin typeface="+mn-ea"/>
              </a:rPr>
              <a:t>ftp://</a:t>
            </a:r>
            <a:r>
              <a:rPr lang="en-US" dirty="0" smtClean="0">
                <a:solidFill>
                  <a:schemeClr val="tx1"/>
                </a:solidFill>
                <a:latin typeface="+mn-ea"/>
              </a:rPr>
              <a:t>10.86.253.162/SetupFile/</a:t>
            </a:r>
            <a:r>
              <a:rPr lang="en-US" dirty="0">
                <a:solidFill>
                  <a:schemeClr val="tx1"/>
                </a:solidFill>
                <a:latin typeface="+mn-ea"/>
              </a:rPr>
              <a:t/>
            </a:r>
            <a:br>
              <a:rPr lang="en-US" dirty="0">
                <a:solidFill>
                  <a:schemeClr val="tx1"/>
                </a:solidFill>
                <a:latin typeface="+mn-ea"/>
              </a:rPr>
            </a:br>
            <a:r>
              <a:rPr lang="en-US" dirty="0" smtClean="0">
                <a:solidFill>
                  <a:schemeClr val="tx1"/>
                </a:solidFill>
                <a:latin typeface="+mn-ea"/>
              </a:rPr>
              <a:t>POC / POC</a:t>
            </a:r>
            <a:endParaRPr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Rectangle 6"/>
          <p:cNvSpPr/>
          <p:nvPr/>
        </p:nvSpPr>
        <p:spPr>
          <a:xfrm>
            <a:off x="326571" y="1752092"/>
            <a:ext cx="3002400" cy="396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en-US" altLang="ko-KR" sz="1600" b="1" dirty="0" smtClean="0">
                <a:solidFill>
                  <a:schemeClr val="bg1"/>
                </a:solidFill>
                <a:latin typeface="+mn-ea"/>
              </a:rPr>
              <a:t>Installation Server Address</a:t>
            </a:r>
            <a:endParaRPr lang="ko-KR" altLang="en-US" sz="1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" name="Rectangle 7"/>
          <p:cNvSpPr/>
          <p:nvPr/>
        </p:nvSpPr>
        <p:spPr>
          <a:xfrm>
            <a:off x="326570" y="2212892"/>
            <a:ext cx="9241467" cy="5429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latinLnBrk="0"/>
            <a:r>
              <a:rPr lang="en-US" dirty="0">
                <a:solidFill>
                  <a:schemeClr val="tx1"/>
                </a:solidFill>
                <a:latin typeface="+mn-ea"/>
              </a:rPr>
              <a:t>10.86.253.162</a:t>
            </a:r>
            <a:endParaRPr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" name="Rectangle 6"/>
          <p:cNvSpPr/>
          <p:nvPr/>
        </p:nvSpPr>
        <p:spPr>
          <a:xfrm>
            <a:off x="326571" y="5298607"/>
            <a:ext cx="3002400" cy="396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en-US" altLang="ko-KR" sz="1600" b="1" dirty="0" smtClean="0">
                <a:solidFill>
                  <a:schemeClr val="bg1"/>
                </a:solidFill>
                <a:latin typeface="+mn-ea"/>
              </a:rPr>
              <a:t>Login Info</a:t>
            </a:r>
            <a:endParaRPr lang="ko-KR" altLang="en-US" sz="1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" name="Rectangle 7"/>
          <p:cNvSpPr/>
          <p:nvPr/>
        </p:nvSpPr>
        <p:spPr>
          <a:xfrm>
            <a:off x="326570" y="5759407"/>
            <a:ext cx="9241467" cy="5429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latinLnBrk="0"/>
            <a:r>
              <a:rPr lang="en-US" dirty="0" smtClean="0">
                <a:solidFill>
                  <a:schemeClr val="tx1"/>
                </a:solidFill>
                <a:latin typeface="+mn-ea"/>
              </a:rPr>
              <a:t>ADMIN / 1111</a:t>
            </a:r>
            <a:endParaRPr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70845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Screen Layout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1449180"/>
              </p:ext>
            </p:extLst>
          </p:nvPr>
        </p:nvGraphicFramePr>
        <p:xfrm>
          <a:off x="342000" y="831600"/>
          <a:ext cx="9117532" cy="564837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698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28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48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5349">
                <a:tc>
                  <a:txBody>
                    <a:bodyPr/>
                    <a:lstStyle/>
                    <a:p>
                      <a:pPr algn="ctr"/>
                      <a:r>
                        <a:rPr sz="1200" b="1" lang="en-US" altLang="ko-KR">
                          <a:solidFill>
                            <a:srgbClr val="FFFFFF"/>
                          </a:solidFill>
                          <a:latin typeface="+mn-ea"/>
                          <a:ea typeface="+mn-ea"/>
                        </a:rPr>
                        <a:t>Menu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en-US" altLang="ko-KR">
                          <a:solidFill>
                            <a:srgbClr val="FFFFFF"/>
                          </a:solidFill>
                          <a:latin typeface="+mn-ea"/>
                          <a:ea typeface="+mn-ea"/>
                        </a:rPr>
                        <a:t>Screen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en-US" altLang="ko-KR">
                          <a:solidFill>
                            <a:srgbClr val="FFFFFF"/>
                          </a:solidFill>
                          <a:latin typeface="+mn-ea"/>
                          <a:ea typeface="+mn-ea"/>
                        </a:rPr>
                        <a:t>Role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349">
                <a:tc rowSpan="6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POC Setup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GDS Map </a:t>
                      </a:r>
                      <a:r>
                        <a:rPr sz="95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Setup</a:t>
                      </a:r>
                      <a:endParaRPr sz="95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lang="en-US" altLang="ko-KR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Registers a GDS file in the DB as a device map</a:t>
                      </a:r>
                      <a:endParaRPr sz="950" b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534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Wafer Map Setup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lang="en-US" altLang="ko-KR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Creates and saves a round wafer map from a KLARF file</a:t>
                      </a:r>
                      <a:endParaRPr sz="950" b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534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E-Test Para </a:t>
                      </a:r>
                      <a:r>
                        <a:rPr sz="95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Register</a:t>
                      </a:r>
                      <a:endParaRPr sz="95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lang="en-US" altLang="ko-KR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Registers E-Test result file headers as parameters</a:t>
                      </a:r>
                      <a:endParaRPr sz="950" b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534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E-Test Para </a:t>
                      </a:r>
                      <a:r>
                        <a:rPr sz="95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Setup</a:t>
                      </a:r>
                      <a:endParaRPr sz="95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 lang="en-US" altLang="ko-KR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Sets GDS chain, spec and use for registered parameters</a:t>
                      </a:r>
                      <a:endParaRPr sz="950" b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534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E-Test Bin </a:t>
                      </a:r>
                      <a:r>
                        <a:rPr sz="95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Setup</a:t>
                      </a:r>
                      <a:endParaRPr sz="95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lang="en-US" altLang="ko-KR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Sets E-Test bins</a:t>
                      </a:r>
                      <a:endParaRPr sz="950" b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534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Defect Type Define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lang="en-US" altLang="ko-KR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Sets defect classes</a:t>
                      </a:r>
                      <a:endParaRPr sz="950" b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5349">
                <a:tc rowSpan="2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POC Data Upload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KLARF File </a:t>
                      </a:r>
                      <a:r>
                        <a:rPr sz="95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Upload</a:t>
                      </a:r>
                      <a:endParaRPr sz="95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lang="en-US" altLang="ko-KR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Saves KLARF files and defect images to the DMS DB</a:t>
                      </a:r>
                      <a:endParaRPr sz="950" b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534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E-Test Result </a:t>
                      </a:r>
                      <a:r>
                        <a:rPr sz="95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Upload</a:t>
                      </a:r>
                      <a:endParaRPr sz="95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lang="en-US" altLang="ko-KR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Saves E-Test result files to the DB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5349">
                <a:tc rowSpan="4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POC View /</a:t>
                      </a:r>
                      <a:br>
                        <a:rPr sz="105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</a:br>
                      <a:r>
                        <a:rPr sz="105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Analysis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GDS Map </a:t>
                      </a:r>
                      <a:r>
                        <a:rPr sz="95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View</a:t>
                      </a:r>
                      <a:endParaRPr sz="95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 lang="en-US" altLang="ko-KR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Views GDS maps in the DB and sets and saves chains</a:t>
                      </a:r>
                      <a:endParaRPr sz="950" b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534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Wafer Map </a:t>
                      </a:r>
                      <a:r>
                        <a:rPr sz="95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View</a:t>
                      </a:r>
                      <a:endParaRPr sz="95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 lang="en-US" altLang="ko-KR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Views saved wafer maps</a:t>
                      </a:r>
                      <a:endParaRPr sz="950" b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534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E-Test Result </a:t>
                      </a:r>
                      <a:r>
                        <a:rPr sz="95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View</a:t>
                      </a:r>
                      <a:endParaRPr sz="95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 lang="en-US" altLang="ko-KR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Views saved E-Test result files</a:t>
                      </a:r>
                      <a:endParaRPr sz="950" b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534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GDS-KLARF-ET </a:t>
                      </a:r>
                      <a:r>
                        <a:rPr sz="950" b="1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Correlation</a:t>
                      </a:r>
                      <a:endParaRPr sz="950" b="1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lang="en-US" altLang="ko-KR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Analyzes the correlation between KLARF defects and GDS chain locations</a:t>
                      </a:r>
                      <a:endParaRPr sz="95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5349">
                <a:tc rowSpan="4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DMS Analysis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Defect Map </a:t>
                      </a:r>
                      <a:r>
                        <a:rPr sz="95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Viewer</a:t>
                      </a:r>
                      <a:endParaRPr sz="95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 lang="en-US" altLang="ko-KR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Shows defect locations of the selected wafer on the wafer map</a:t>
                      </a:r>
                      <a:endParaRPr sz="950" b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534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Chart </a:t>
                      </a:r>
                      <a:r>
                        <a:rPr sz="95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Analysis</a:t>
                      </a:r>
                      <a:endParaRPr sz="95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 lang="en-US" altLang="ko-KR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Charts defects of the selected wafer by criteria</a:t>
                      </a:r>
                      <a:endParaRPr sz="950" b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534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Defect Map </a:t>
                      </a:r>
                      <a:r>
                        <a:rPr sz="95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Gallery</a:t>
                      </a:r>
                      <a:endParaRPr sz="95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 lang="en-US" altLang="ko-KR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Compares defect maps of several wafers on one screen</a:t>
                      </a:r>
                      <a:endParaRPr sz="950" b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534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Defect Image Gallery 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 lang="en-US" altLang="ko-KR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Shows defect images of the selected wafer by class</a:t>
                      </a:r>
                      <a:endParaRPr sz="950" b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5349">
                <a:tc rowSpan="7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TEST Analysis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TEST Map View 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lang="en-US" altLang="ko-KR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Analyzes the bin map and value map of one wafer</a:t>
                      </a:r>
                      <a:endParaRPr sz="950" b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534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Bin Map Gallery 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 lang="en-US" altLang="ko-KR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Compares bin maps of several wafers in a grid</a:t>
                      </a:r>
                      <a:endParaRPr sz="950" b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534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Test Map Gallery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 lang="en-US" altLang="ko-KR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Compares value maps of several wafers side by side</a:t>
                      </a:r>
                      <a:endParaRPr sz="950" b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3534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Wafer Cum Report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 lang="en-US" altLang="ko-KR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Shows bin locations of several wafers as a cumulative map</a:t>
                      </a:r>
                      <a:endParaRPr sz="950" b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3534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Wafer Bin Report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lang="en-US" altLang="ko-KR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Charts bin composition and yield by wafer and lot</a:t>
                      </a:r>
                      <a:endParaRPr sz="950" b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3534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Yield Report 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lang="en-US" altLang="ko-KR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Charts yield trends by wafer, lot and day</a:t>
                      </a:r>
                      <a:endParaRPr sz="950" b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3534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Param Analysis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lang="en-US" altLang="ko-KR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Shows item statistics and trends for one wafer</a:t>
                      </a:r>
                      <a:endParaRPr sz="950" b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>
          <a:xfrm>
            <a:off x="3572239" y="1889416"/>
            <a:ext cx="4868156" cy="2551112"/>
          </a:xfrm>
        </p:spPr>
        <p:txBody>
          <a:bodyPr>
            <a:normAutofit lnSpcReduction="10000"/>
          </a:bodyPr>
          <a:lstStyle/>
          <a:p>
            <a:r>
              <a:rPr lang="en-US" altLang="ko-KR" sz="5400" dirty="0" smtClean="0">
                <a:solidFill>
                  <a:schemeClr val="tx1"/>
                </a:solidFill>
              </a:rPr>
              <a:t>POC</a:t>
            </a:r>
          </a:p>
          <a:p>
            <a:r>
              <a:rPr lang="en-US" altLang="ko-KR" sz="5400" dirty="0">
                <a:solidFill>
                  <a:schemeClr val="bg2">
                    <a:lumMod val="90000"/>
                  </a:schemeClr>
                </a:solidFill>
              </a:rPr>
              <a:t>DMS Analysis</a:t>
            </a:r>
          </a:p>
          <a:p>
            <a:r>
              <a:rPr lang="en-US" altLang="ko-KR" sz="5400" dirty="0" smtClean="0">
                <a:solidFill>
                  <a:schemeClr val="bg2">
                    <a:lumMod val="90000"/>
                  </a:schemeClr>
                </a:solidFill>
              </a:rPr>
              <a:t>TEST Analysis</a:t>
            </a:r>
          </a:p>
        </p:txBody>
      </p:sp>
    </p:spTree>
    <p:extLst>
      <p:ext uri="{BB962C8B-B14F-4D97-AF65-F5344CB8AC3E}">
        <p14:creationId xmlns:p14="http://schemas.microsoft.com/office/powerpoint/2010/main" val="1499338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GDS Map Setup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1844693"/>
              </p:ext>
            </p:extLst>
          </p:nvPr>
        </p:nvGraphicFramePr>
        <p:xfrm>
          <a:off x="341719" y="830005"/>
          <a:ext cx="9226799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Screen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Functions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7545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Menu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POC → Setup → GDS Map Setup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View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Shows the GDS layout in layer colors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Mouse wheel zoom, drag to pan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Shapes per layer, selected total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Saves only checked layers as a device map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Limit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Applied: no save, edit or delete after 2027-01-31 (menus disabled)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Items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645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Open File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select a GDS file to show the layout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Device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device name to save the map under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Save to DB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saves shapes of checked layers only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Stop Saving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stops the save in progress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Layer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only checked layers are shown and saved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Show Origin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crosshair at the layout origin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en-US" altLang="ko-KR" sz="1400" dirty="0" smtClean="0">
                <a:latin typeface="+mn-ea"/>
              </a:rPr>
              <a:t>- </a:t>
            </a:r>
            <a:r>
              <a:rPr kumimoji="1" lang="en-US" altLang="ko-KR" sz="1400" b="1" dirty="0" smtClean="0">
                <a:latin typeface="+mn-ea"/>
              </a:rPr>
              <a:t>Role</a:t>
            </a:r>
            <a:r>
              <a:rPr kumimoji="1" lang="en-US" altLang="ko-KR" sz="1400" dirty="0" smtClean="0">
                <a:latin typeface="+mn-ea"/>
              </a:rPr>
              <a:t> : Selects GDS file layers and registers them in the DB as a device map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01_gds_map_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9" y="2001599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Wafer Map Setup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8458694"/>
              </p:ext>
            </p:extLst>
          </p:nvPr>
        </p:nvGraphicFramePr>
        <p:xfrm>
          <a:off x="341719" y="830005"/>
          <a:ext cx="9226799" cy="5794620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Screen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Functions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7545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Menu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POC → Setup → Wafer Map Setup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View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Preview of the round wafer map from KLARF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Net, created and inspected die counts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Die number and coordinates at the cursor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Die numbers on the map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Wafer size, edge, XY direction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Origin, die pitch, flat zone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Saves as a new map ID; same ID is overwritten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Limit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Applied: no save, edit or delete after 2027-01-31 (menus disabled)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Items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645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Select File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select a KLARF file to create the map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New Map ID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map ID to save as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Edge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excluded width at the wafer edge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(about 500)</a:t>
                      </a:r>
                      <a:endParaRPr kumimoji="1" lang="ko-KR" altLang="en-US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XY Direction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where die numbering starts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Die Pitch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die spacing, default from KLARF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Redraw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recreates the map with new settings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Save Map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saves as the new map ID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en-US" altLang="ko-KR" sz="1400" dirty="0" smtClean="0">
                <a:latin typeface="+mn-ea"/>
              </a:rPr>
              <a:t>- </a:t>
            </a:r>
            <a:r>
              <a:rPr kumimoji="1" lang="en-US" altLang="ko-KR" sz="1400" b="1" dirty="0" smtClean="0">
                <a:latin typeface="+mn-ea"/>
              </a:rPr>
              <a:t>Role</a:t>
            </a:r>
            <a:r>
              <a:rPr kumimoji="1" lang="en-US" altLang="ko-KR" sz="1400" dirty="0" smtClean="0">
                <a:latin typeface="+mn-ea"/>
              </a:rPr>
              <a:t> : Creates and saves a round wafer map from a KLARF file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02_wafer_map_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9" y="2001599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5723924" y="2238149"/>
            <a:ext cx="317475" cy="1058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630324" y="214454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445124" y="2393774"/>
            <a:ext cx="890175" cy="871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51524" y="23001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5124" y="2960249"/>
            <a:ext cx="890175" cy="871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51524" y="286664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436" y="2960249"/>
            <a:ext cx="438862" cy="871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02836" y="286664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5124" y="3570299"/>
            <a:ext cx="921300" cy="871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51524" y="34766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5124" y="3781949"/>
            <a:ext cx="547800" cy="1058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51524" y="368834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5124" y="3900224"/>
            <a:ext cx="890175" cy="1058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351524" y="380662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E-Test Para Register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7696146"/>
              </p:ext>
            </p:extLst>
          </p:nvPr>
        </p:nvGraphicFramePr>
        <p:xfrm>
          <a:off x="341719" y="830005"/>
          <a:ext cx="9226799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Screen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Functions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4553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Menu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POC → Setup → E-Test Para Register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View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Status per header (new, registered, error)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Measurement, condition, chain split from headers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Device and process read from the file name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Registers checked new headers as parameters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Deletes registrations and results per device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Limit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Applied: no save, edit or delete after 2027-01-31 (menus disabled)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Items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94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Open Result File :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reads an E-Test result file and shows headers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Rule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file name pattern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Status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only new rows can be registered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Save Name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parameter name saved in the DB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Select All New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checks all new rows shown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Registered Device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devices with parameters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Delete Device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deletes registrations and results of the device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en-US" altLang="ko-KR" sz="1400" dirty="0" smtClean="0">
                <a:latin typeface="+mn-ea"/>
              </a:rPr>
              <a:t>- </a:t>
            </a:r>
            <a:r>
              <a:rPr kumimoji="1" lang="en-US" altLang="ko-KR" sz="1400" b="1" dirty="0" smtClean="0">
                <a:latin typeface="+mn-ea"/>
              </a:rPr>
              <a:t>Role</a:t>
            </a:r>
            <a:r>
              <a:rPr kumimoji="1" lang="en-US" altLang="ko-KR" sz="1400" dirty="0" smtClean="0">
                <a:latin typeface="+mn-ea"/>
              </a:rPr>
              <a:t> : Registers E-Test result file headers as parameters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03_et_para_regi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9" y="2001599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1951574" y="2216361"/>
            <a:ext cx="454425" cy="933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857974" y="212276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2427786" y="2319074"/>
            <a:ext cx="108937" cy="560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334186" y="22254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9686" y="2512049"/>
            <a:ext cx="236550" cy="1182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16086" y="241844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61311" y="2512049"/>
            <a:ext cx="827925" cy="1182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767711" y="241844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02974" y="2406224"/>
            <a:ext cx="404625" cy="1058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509374" y="231262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899" y="2309736"/>
            <a:ext cx="1089375" cy="809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45299" y="2216136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53174" y="2306624"/>
            <a:ext cx="370387" cy="809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459574" y="221302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E-Test Para Setup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1691985"/>
              </p:ext>
            </p:extLst>
          </p:nvPr>
        </p:nvGraphicFramePr>
        <p:xfrm>
          <a:off x="341719" y="830005"/>
          <a:ext cx="9226799" cy="5794620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Screen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Functions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7545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Menu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POC → Setup → E-Test Para Setup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View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Registered parameters by device and process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Filters for measurement, chain 1, use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Setup chains of the GDS device with the same name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Parameters in use per chain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Enter the GDS chain name per parameter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Enter lower, upper and enable spec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Edit use and remarks, then save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Limit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Applied: no save, edit or delete after 2027-01-31 (menus disabled)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Items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645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Measurement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filter by measurement item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GDS Chain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GDS chain name linked to chain 1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Lower / Upper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spec lower and upper limits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Enable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use spec judgment or not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Use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save values on result upload or not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GDS Setup Chain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double-click to copy the chain name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Clear Filter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resets all filters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en-US" altLang="ko-KR" sz="1400" dirty="0" smtClean="0">
                <a:latin typeface="+mn-ea"/>
              </a:rPr>
              <a:t>- </a:t>
            </a:r>
            <a:r>
              <a:rPr kumimoji="1" lang="en-US" altLang="ko-KR" sz="1400" b="1" dirty="0" smtClean="0">
                <a:latin typeface="+mn-ea"/>
              </a:rPr>
              <a:t>Role</a:t>
            </a:r>
            <a:r>
              <a:rPr kumimoji="1" lang="en-US" altLang="ko-KR" sz="1400" dirty="0" smtClean="0">
                <a:latin typeface="+mn-ea"/>
              </a:rPr>
              <a:t> : Sets GDS chain, spec and use for registered parameters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04_et_para_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9" y="2001599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426449" y="2359536"/>
            <a:ext cx="432637" cy="809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32849" y="2265936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3498486" y="2449799"/>
            <a:ext cx="516675" cy="1182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404886" y="23561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96486" y="2449799"/>
            <a:ext cx="454425" cy="1182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902886" y="23561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2236" y="2449799"/>
            <a:ext cx="174300" cy="1182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338636" y="23561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61536" y="2449799"/>
            <a:ext cx="155625" cy="1182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267936" y="23561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32149" y="2624099"/>
            <a:ext cx="827925" cy="1182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138549" y="25304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72074" y="2343974"/>
            <a:ext cx="317475" cy="1058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978474" y="22503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E-Test Bin Setup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2908648"/>
              </p:ext>
            </p:extLst>
          </p:nvPr>
        </p:nvGraphicFramePr>
        <p:xfrm>
          <a:off x="341719" y="830005"/>
          <a:ext cx="9226799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Screen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Functions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7545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Menu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POC → Setup → E-Test Bin Setup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View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Bins by device and process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Software bin number per bin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Display color per bin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Good bin count, die count in file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Edit bin name, good flag, color, description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Add, delete bins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Limit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Applied: no save, edit or delete after 2027-01-31 (menus disabled)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Items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645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Bin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hardware bin number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Name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bin name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Good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good bin for YMS yield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Color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double-click to pick a color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Software Bin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software bin number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Add Bin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adds a new bin row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Delete Selected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deletes the selected bin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en-US" altLang="ko-KR" sz="1400" dirty="0" smtClean="0">
                <a:latin typeface="+mn-ea"/>
              </a:rPr>
              <a:t>- </a:t>
            </a:r>
            <a:r>
              <a:rPr kumimoji="1" lang="en-US" altLang="ko-KR" sz="1400" b="1" dirty="0" smtClean="0">
                <a:latin typeface="+mn-ea"/>
              </a:rPr>
              <a:t>Role</a:t>
            </a:r>
            <a:r>
              <a:rPr kumimoji="1" lang="en-US" altLang="ko-KR" sz="1400" dirty="0" smtClean="0">
                <a:latin typeface="+mn-ea"/>
              </a:rPr>
              <a:t> : Sets E-Test bin name, good flag, color and description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05_et_bin_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9" y="2001599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498036" y="2449799"/>
            <a:ext cx="192975" cy="809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04436" y="23561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672336" y="2449799"/>
            <a:ext cx="485550" cy="809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78736" y="23561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39211" y="2449799"/>
            <a:ext cx="155625" cy="809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45611" y="23561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76161" y="2449799"/>
            <a:ext cx="267675" cy="809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82561" y="23561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2061" y="2449799"/>
            <a:ext cx="357937" cy="809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938461" y="23561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899" y="2343974"/>
            <a:ext cx="317475" cy="1058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45299" y="22503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2399" y="2343974"/>
            <a:ext cx="342375" cy="1058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18799" y="22503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Defect Type Define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2686436"/>
              </p:ext>
            </p:extLst>
          </p:nvPr>
        </p:nvGraphicFramePr>
        <p:xfrm>
          <a:off x="341719" y="830005"/>
          <a:ext cx="9226799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Screen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Functions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9734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Menu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POC → Setup → Defect Type Define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View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Name, description, group, color per class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Created / updated user and time per class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Register a new class number, name, group, color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Edit name, description, group ID, color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Delete the selected class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Limit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Applied: no save, edit or delete after 2027-01-31 (menus disabled)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Items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26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Search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reloads the list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CLASSNUMBER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class number (KLARF class value)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Group ID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select a defect group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Insert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enter a new class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Edit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edit the selected class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Save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saves inputs and edits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Delete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deletes the selected class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en-US" altLang="ko-KR" sz="1400" dirty="0" smtClean="0">
                <a:latin typeface="+mn-ea"/>
              </a:rPr>
              <a:t>- </a:t>
            </a:r>
            <a:r>
              <a:rPr kumimoji="1" lang="en-US" altLang="ko-KR" sz="1400" b="1" dirty="0" smtClean="0">
                <a:latin typeface="+mn-ea"/>
              </a:rPr>
              <a:t>Role</a:t>
            </a:r>
            <a:r>
              <a:rPr kumimoji="1" lang="en-US" altLang="ko-KR" sz="1400" dirty="0" smtClean="0">
                <a:latin typeface="+mn-ea"/>
              </a:rPr>
              <a:t> : Registers name, group and color per defect class number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06_defect_type_def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9" y="2001599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6019611" y="2281724"/>
            <a:ext cx="339262" cy="902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926011" y="218812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413999" y="2396886"/>
            <a:ext cx="420187" cy="10271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20399" y="2303286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43399" y="2471586"/>
            <a:ext cx="846600" cy="5415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449799" y="2377986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06761" y="5322636"/>
            <a:ext cx="273900" cy="871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013161" y="5229036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58961" y="5409786"/>
            <a:ext cx="273900" cy="871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465361" y="5316186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32861" y="5322636"/>
            <a:ext cx="273900" cy="871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739261" y="5229036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32861" y="5409786"/>
            <a:ext cx="273900" cy="871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739261" y="5316186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KLARF File Upload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3656770"/>
              </p:ext>
            </p:extLst>
          </p:nvPr>
        </p:nvGraphicFramePr>
        <p:xfrm>
          <a:off x="341719" y="830005"/>
          <a:ext cx="9226799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Screen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Functions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2364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Menu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POC → Data Upload → KLARF File Upload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View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Summary of lot, device, step, defects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Defects, inspected dies, images per wafer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Map and defect list of the selected wafer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Saves KLARF defects and images to the DB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Edit product, step ID, equipment to save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Re-register or skip registered wafers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Limit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Applied: no save, edit or delete after 2027-01-31 (menus disabled)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Items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516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KLARF File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reads the file and previews it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Image Folder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defect image folder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Save Values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product, step ID, equipment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Save to DB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saves defects and images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Status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save result per wafer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Class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KLARF class number, map color key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Class Name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name of the class number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en-US" altLang="ko-KR" sz="1400" dirty="0" smtClean="0">
                <a:latin typeface="+mn-ea"/>
              </a:rPr>
              <a:t>- </a:t>
            </a:r>
            <a:r>
              <a:rPr kumimoji="1" lang="en-US" altLang="ko-KR" sz="1400" b="1" dirty="0" smtClean="0">
                <a:latin typeface="+mn-ea"/>
              </a:rPr>
              <a:t>Role</a:t>
            </a:r>
            <a:r>
              <a:rPr kumimoji="1" lang="en-US" altLang="ko-KR" sz="1400" dirty="0" smtClean="0">
                <a:latin typeface="+mn-ea"/>
              </a:rPr>
              <a:t> : Saves KLARF files and defect images to the DMS DB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07_klarf_up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9" y="2001599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470024" y="2281724"/>
            <a:ext cx="280125" cy="9960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76424" y="218812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024" y="2381324"/>
            <a:ext cx="280125" cy="9960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76424" y="228772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674" y="2493374"/>
            <a:ext cx="5484225" cy="1867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39074" y="23997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16899" y="2552511"/>
            <a:ext cx="454425" cy="1058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823299" y="245891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2036" y="2826411"/>
            <a:ext cx="267675" cy="902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388436" y="273281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35836" y="3501824"/>
            <a:ext cx="202312" cy="902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442236" y="340822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19474" y="3501824"/>
            <a:ext cx="239662" cy="902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3625874" y="340822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E-Test Result Upload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0846075"/>
              </p:ext>
            </p:extLst>
          </p:nvPr>
        </p:nvGraphicFramePr>
        <p:xfrm>
          <a:off x="341719" y="830005"/>
          <a:ext cx="9226799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Screen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Functions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4553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Menu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POC → Data Upload → E-Test Result Upload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View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Analysis status and reason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Result, fail count, map coordinates per die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Parameter values, spec, result of the selected die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Saves values of parameters in use only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Edit device, process, lot in the info table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Same wafer and process results are overwritten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Limit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Applied: no save, edit or delete after 2027-01-31 (menus disabled)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Items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94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Open File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reads and analyzes an E-Test result file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Reload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re-analyzes after setting changes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Upload Preview :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file info, analysis status, double-click to edit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Step 1: Die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result and fail count per die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Step 2: Defined Para Values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values, spec, result of the die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Map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die coordinates on the map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Save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saves the analysis to the DB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en-US" altLang="ko-KR" sz="1400" dirty="0" smtClean="0">
                <a:latin typeface="+mn-ea"/>
              </a:rPr>
              <a:t>- </a:t>
            </a:r>
            <a:r>
              <a:rPr kumimoji="1" lang="en-US" altLang="ko-KR" sz="1400" b="1" dirty="0" smtClean="0">
                <a:latin typeface="+mn-ea"/>
              </a:rPr>
              <a:t>Role</a:t>
            </a:r>
            <a:r>
              <a:rPr kumimoji="1" lang="en-US" altLang="ko-KR" sz="1400" dirty="0" smtClean="0">
                <a:latin typeface="+mn-ea"/>
              </a:rPr>
              <a:t> : Analyzes one E-Test result file (xlsx) and saves it to the DB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08_et_result_up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9" y="2001599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908886" y="2219474"/>
            <a:ext cx="354825" cy="1058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15286" y="21258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263711" y="2219474"/>
            <a:ext cx="317475" cy="1058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70111" y="21258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3999" y="2325299"/>
            <a:ext cx="1525125" cy="871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20399" y="22316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32899" y="2325299"/>
            <a:ext cx="4457100" cy="871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839299" y="22316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45349" y="4239486"/>
            <a:ext cx="557137" cy="560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851749" y="4145886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59311" y="2393774"/>
            <a:ext cx="252112" cy="12450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265711" y="23001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72524" y="2219474"/>
            <a:ext cx="292575" cy="1058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978924" y="21258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GDS Map View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6728695"/>
              </p:ext>
            </p:extLst>
          </p:nvPr>
        </p:nvGraphicFramePr>
        <p:xfrm>
          <a:off x="341719" y="830005"/>
          <a:ext cx="9226799" cy="5794620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Screen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Functions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7545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Menu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POC → View / Analysis → GDS Map View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View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Loads only checked layers from the DB to show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Switches front / back side view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Shows checked chains with colored outlines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Map info per device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Create chain, set input, find path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Add or exclude chain shapes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Save chain, copy or delete map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Limit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Partly applied: no chain save, map copy or delete after 2027-01-31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Items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645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Device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select a device to view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New Chain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creates a new chain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Set Input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sets the chain start shape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Find Path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traces shapes connected to the input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Add Shape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click the map to add a shape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Exclude Shape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click the map to exclude a shape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Save Chain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saves chain changes to the DB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endParaRPr kumimoji="1" lang="ko-KR" altLang="en-US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en-US" altLang="ko-KR" sz="1400" dirty="0" smtClean="0">
                <a:latin typeface="+mn-ea"/>
              </a:rPr>
              <a:t>- </a:t>
            </a:r>
            <a:r>
              <a:rPr kumimoji="1" lang="en-US" altLang="ko-KR" sz="1400" b="1" dirty="0" smtClean="0">
                <a:latin typeface="+mn-ea"/>
              </a:rPr>
              <a:t>Role</a:t>
            </a:r>
            <a:r>
              <a:rPr kumimoji="1" lang="en-US" altLang="ko-KR" sz="1400" dirty="0" smtClean="0">
                <a:latin typeface="+mn-ea"/>
              </a:rPr>
              <a:t> : Views GDS maps in the DB and sets and saves chains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09_gds_map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9" y="2001599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429561" y="2228811"/>
            <a:ext cx="582037" cy="809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35961" y="213521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5325524" y="2396886"/>
            <a:ext cx="364162" cy="1058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231924" y="2303286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3261" y="2328411"/>
            <a:ext cx="329925" cy="1058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59661" y="223481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27474" y="2328411"/>
            <a:ext cx="404625" cy="1058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633874" y="223481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59449" y="2328411"/>
            <a:ext cx="317475" cy="1058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565849" y="223481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70699" y="2328411"/>
            <a:ext cx="317475" cy="1058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877099" y="223481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99424" y="2496486"/>
            <a:ext cx="451312" cy="1058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505824" y="2402886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Wafer Map View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5987943"/>
              </p:ext>
            </p:extLst>
          </p:nvPr>
        </p:nvGraphicFramePr>
        <p:xfrm>
          <a:off x="341719" y="830005"/>
          <a:ext cx="9226799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Screen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Functions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1923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Menu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POC → View / Analysis → Wafer Map View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View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Wafer, net die, XY direction in the map list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Shape, used and removed dies of the map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Die numbers by XY direction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Limit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Not applied (view screen)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Items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20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View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reloads the map list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en-US" altLang="ko-KR" sz="1400" dirty="0" smtClean="0">
                <a:latin typeface="+mn-ea"/>
              </a:rPr>
              <a:t>- </a:t>
            </a:r>
            <a:r>
              <a:rPr kumimoji="1" lang="en-US" altLang="ko-KR" sz="1400" b="1" dirty="0" smtClean="0">
                <a:latin typeface="+mn-ea"/>
              </a:rPr>
              <a:t>Role</a:t>
            </a:r>
            <a:r>
              <a:rPr kumimoji="1" lang="en-US" altLang="ko-KR" sz="1400" dirty="0" smtClean="0">
                <a:latin typeface="+mn-ea"/>
              </a:rPr>
              <a:t> : Views saved wafer map shapes and die counts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10_wafer_map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9" y="2001599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8" name="Oval 7"/>
          <p:cNvSpPr/>
          <p:nvPr/>
        </p:nvSpPr>
        <p:spPr>
          <a:xfrm>
            <a:off x="351524" y="214454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E-Test Result View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5002840"/>
              </p:ext>
            </p:extLst>
          </p:nvPr>
        </p:nvGraphicFramePr>
        <p:xfrm>
          <a:off x="341719" y="830005"/>
          <a:ext cx="9226799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Screen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Functions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742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Menu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POC → View / Analysis → E-Test Result View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View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Saved files by device, process, lot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Spec pass / fail dies per file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Added parameters, spec changes, YMS status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Die results and para values of the file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Delete the selected file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Limit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Not applied (file delete is not limited)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Items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725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Spec Fail Die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number of spec fail dies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Added Para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parameters added after saving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Spec Changed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spec changed after judgment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Map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map used for coordinates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YMS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YMS update status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Lower / Upper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spec lower and upper limits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Delete File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deletes the file, dies and values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en-US" altLang="ko-KR" sz="1400" dirty="0" smtClean="0">
                <a:latin typeface="+mn-ea"/>
              </a:rPr>
              <a:t>- </a:t>
            </a:r>
            <a:r>
              <a:rPr kumimoji="1" lang="en-US" altLang="ko-KR" sz="1400" b="1" dirty="0" smtClean="0">
                <a:latin typeface="+mn-ea"/>
              </a:rPr>
              <a:t>Role</a:t>
            </a:r>
            <a:r>
              <a:rPr kumimoji="1" lang="en-US" altLang="ko-KR" sz="1400" dirty="0" smtClean="0">
                <a:latin typeface="+mn-ea"/>
              </a:rPr>
              <a:t> : Views and deletes saved E-Test result files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11_et_result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9" y="2001599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2340636" y="2325299"/>
            <a:ext cx="345487" cy="902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2247036" y="22316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3059624" y="2325299"/>
            <a:ext cx="280125" cy="902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966024" y="22316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21074" y="2325299"/>
            <a:ext cx="289462" cy="902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227474" y="22316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91861" y="2325299"/>
            <a:ext cx="189862" cy="902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498261" y="22316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44686" y="2325299"/>
            <a:ext cx="196087" cy="902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351086" y="22316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95999" y="4678349"/>
            <a:ext cx="423300" cy="12450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802399" y="458474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54249" y="2219474"/>
            <a:ext cx="404625" cy="1058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860649" y="21258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GDS-KLARF-ET Correlation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7439779"/>
              </p:ext>
            </p:extLst>
          </p:nvPr>
        </p:nvGraphicFramePr>
        <p:xfrm>
          <a:off x="341719" y="830005"/>
          <a:ext cx="9226799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Screen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Functions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184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Menu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POC → View / Analysis → GDS-KLARF-ET Correlation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View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Defects on chains per die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Defects on / off chains per die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Defect images of the selected die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Die X, Y, index at the cursor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Defect area method, tolerance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GDS chain side, KLARF offset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Map color ranges, display basis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Limit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Not applied (view screen)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Items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68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Color Range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sets map color ranges and basis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Defect Size + Tolerance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judges by size plus tolerance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Defect Center Square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judges by a square at the center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GDS Chain Side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select chain side (FS, BS)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KLARF Offset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adjusts KLARF X, Y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Re-analyze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re-analyzes with new settings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Summary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defects on / off chains per die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en-US" altLang="ko-KR" sz="1400" dirty="0" smtClean="0">
                <a:latin typeface="+mn-ea"/>
              </a:rPr>
              <a:t>- </a:t>
            </a:r>
            <a:r>
              <a:rPr kumimoji="1" lang="en-US" altLang="ko-KR" sz="1400" b="1" dirty="0" smtClean="0">
                <a:latin typeface="+mn-ea"/>
              </a:rPr>
              <a:t>Role</a:t>
            </a:r>
            <a:r>
              <a:rPr kumimoji="1" lang="en-US" altLang="ko-KR" sz="1400" dirty="0" smtClean="0">
                <a:latin typeface="+mn-ea"/>
              </a:rPr>
              <a:t> : Analyzes the correlation between KLARF defects and GDS chain locations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12_gds_klarf_et_co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9" y="2001599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3800399" y="2337749"/>
            <a:ext cx="410850" cy="1058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706799" y="224414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4267274" y="2515161"/>
            <a:ext cx="479325" cy="684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173674" y="242156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67274" y="2602311"/>
            <a:ext cx="448200" cy="684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173674" y="250871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67274" y="2695686"/>
            <a:ext cx="504225" cy="809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173674" y="2602086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45486" y="2801511"/>
            <a:ext cx="326812" cy="653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151886" y="270791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19611" y="2879324"/>
            <a:ext cx="345487" cy="1058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926011" y="278572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45486" y="2994486"/>
            <a:ext cx="115162" cy="653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151886" y="2900886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1017885"/>
              </p:ext>
            </p:extLst>
          </p:nvPr>
        </p:nvGraphicFramePr>
        <p:xfrm>
          <a:off x="341719" y="830005"/>
          <a:ext cx="9226799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Screen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Functions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184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Menu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POC → View / Analysis → GDS-KLARF-ET Correlation → double-click a die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View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Defects and defects on chains per die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Defects hit per chain, defects off chains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E-Test values of the chain (wafers with E-Test)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Layout display range, origin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Select chains to show on the layout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굴림" panose="020B0600000101010101" pitchFamily="50" charset="-127"/>
                          <a:cs typeface="+mn-cs"/>
                        </a:rPr>
                        <a:t>Limit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굴림" panose="020B0600000101010101" pitchFamily="50" charset="-127"/>
                          <a:cs typeface="+mn-cs"/>
                        </a:rPr>
                        <a:t>Not applied (view screen)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Items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68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Die List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switches detail to the selected die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Re-analyze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re-analyzes with main screen settings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Full Layout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shows all layers, not only chains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Show Origin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shows the layout origin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Hit / Fail Chains Only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chains with defects or E-Test fails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Show All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turns all chains on or off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Show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show each chain or not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1" name="그림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236" y="2208419"/>
            <a:ext cx="6025338" cy="3285977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GDS-KLARF-ET Correlation Detail (Die Detail Analysis)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en-US" altLang="ko-KR" sz="1400" dirty="0" smtClean="0">
                <a:latin typeface="+mn-ea"/>
              </a:rPr>
              <a:t>- </a:t>
            </a:r>
            <a:r>
              <a:rPr kumimoji="1" lang="en-US" altLang="ko-KR" sz="1400" b="1" dirty="0" smtClean="0">
                <a:latin typeface="+mn-ea"/>
              </a:rPr>
              <a:t>Role</a:t>
            </a:r>
            <a:r>
              <a:rPr kumimoji="1" lang="en-US" altLang="ko-KR" sz="1400" dirty="0" smtClean="0">
                <a:latin typeface="+mn-ea"/>
              </a:rPr>
              <a:t> : Checks chains, defect locations and E-Test values on the GDS layout of the die</a:t>
            </a:r>
            <a:endParaRPr kumimoji="1" lang="ko-KR" altLang="ko-KR" sz="1400" dirty="0">
              <a:latin typeface="+mn-ea"/>
            </a:endParaRPr>
          </a:p>
        </p:txBody>
      </p:sp>
      <p:sp>
        <p:nvSpPr>
          <p:cNvPr id="7" name="Rectangle 7"/>
          <p:cNvSpPr/>
          <p:nvPr/>
        </p:nvSpPr>
        <p:spPr>
          <a:xfrm>
            <a:off x="413999" y="2200799"/>
            <a:ext cx="1098712" cy="17430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8"/>
          <p:cNvSpPr/>
          <p:nvPr/>
        </p:nvSpPr>
        <p:spPr>
          <a:xfrm>
            <a:off x="320399" y="21071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9"/>
          <p:cNvSpPr/>
          <p:nvPr/>
        </p:nvSpPr>
        <p:spPr>
          <a:xfrm>
            <a:off x="5972924" y="2213249"/>
            <a:ext cx="392175" cy="1120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10"/>
          <p:cNvSpPr/>
          <p:nvPr/>
        </p:nvSpPr>
        <p:spPr>
          <a:xfrm>
            <a:off x="5879324" y="211964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1"/>
          <p:cNvSpPr/>
          <p:nvPr/>
        </p:nvSpPr>
        <p:spPr>
          <a:xfrm>
            <a:off x="2284611" y="2443574"/>
            <a:ext cx="255225" cy="684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2"/>
          <p:cNvSpPr/>
          <p:nvPr/>
        </p:nvSpPr>
        <p:spPr>
          <a:xfrm>
            <a:off x="2191011" y="23499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3"/>
          <p:cNvSpPr/>
          <p:nvPr/>
        </p:nvSpPr>
        <p:spPr>
          <a:xfrm>
            <a:off x="2539836" y="2443574"/>
            <a:ext cx="255225" cy="684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4"/>
          <p:cNvSpPr/>
          <p:nvPr/>
        </p:nvSpPr>
        <p:spPr>
          <a:xfrm>
            <a:off x="2446236" y="23499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198799" y="2648999"/>
            <a:ext cx="438862" cy="684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6"/>
          <p:cNvSpPr/>
          <p:nvPr/>
        </p:nvSpPr>
        <p:spPr>
          <a:xfrm>
            <a:off x="4105199" y="25553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7" name="Rectangle 17"/>
          <p:cNvSpPr/>
          <p:nvPr/>
        </p:nvSpPr>
        <p:spPr>
          <a:xfrm>
            <a:off x="4646999" y="2648999"/>
            <a:ext cx="255225" cy="684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8"/>
          <p:cNvSpPr/>
          <p:nvPr/>
        </p:nvSpPr>
        <p:spPr>
          <a:xfrm>
            <a:off x="4553399" y="25553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9" name="Rectangle 19"/>
          <p:cNvSpPr/>
          <p:nvPr/>
        </p:nvSpPr>
        <p:spPr>
          <a:xfrm>
            <a:off x="4186349" y="2723699"/>
            <a:ext cx="166567" cy="1703521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20"/>
          <p:cNvSpPr/>
          <p:nvPr/>
        </p:nvSpPr>
        <p:spPr>
          <a:xfrm>
            <a:off x="4092749" y="3991817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>
          <a:xfrm>
            <a:off x="3572239" y="1889416"/>
            <a:ext cx="4868156" cy="2551112"/>
          </a:xfrm>
        </p:spPr>
        <p:txBody>
          <a:bodyPr>
            <a:normAutofit lnSpcReduction="10000"/>
          </a:bodyPr>
          <a:lstStyle/>
          <a:p>
            <a:r>
              <a:rPr lang="en-US" altLang="ko-KR" sz="5400" dirty="0" smtClean="0">
                <a:solidFill>
                  <a:schemeClr val="bg2">
                    <a:lumMod val="90000"/>
                  </a:schemeClr>
                </a:solidFill>
              </a:rPr>
              <a:t>POC</a:t>
            </a:r>
          </a:p>
          <a:p>
            <a:r>
              <a:rPr lang="en-US" altLang="ko-KR" sz="5400" dirty="0">
                <a:solidFill>
                  <a:schemeClr val="tx1"/>
                </a:solidFill>
              </a:rPr>
              <a:t>DMS Analysis</a:t>
            </a:r>
          </a:p>
          <a:p>
            <a:r>
              <a:rPr lang="en-US" altLang="ko-KR" sz="5400" dirty="0" smtClean="0">
                <a:solidFill>
                  <a:schemeClr val="bg2">
                    <a:lumMod val="90000"/>
                  </a:schemeClr>
                </a:solidFill>
              </a:rPr>
              <a:t>TEST Analysis</a:t>
            </a:r>
          </a:p>
        </p:txBody>
      </p:sp>
    </p:spTree>
    <p:extLst>
      <p:ext uri="{BB962C8B-B14F-4D97-AF65-F5344CB8AC3E}">
        <p14:creationId xmlns:p14="http://schemas.microsoft.com/office/powerpoint/2010/main" val="1499338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DMSearch (left wafer search panel)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8504663"/>
              </p:ext>
            </p:extLst>
          </p:nvPr>
        </p:nvGraphicFramePr>
        <p:xfrm>
          <a:off x="341719" y="830005"/>
          <a:ext cx="9226799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Screen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Functions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9372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Menu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Shown on the left in DMS Analysis and Correlation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View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Wafer inspections matching period and conditions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Defects and images per inspection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Tree grouped by condition items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Search by lot / wafer without a period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Limit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Not applied (view screen)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Items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46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From / To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inspection period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Last Inspection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last inspection only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Not Use Date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search by lot / wafer without a period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Dynamic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enter conditions per item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Search Icon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lists matching inspections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Search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sends selected wafers to analysis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en-US" altLang="ko-KR" sz="1400" dirty="0" smtClean="0">
                <a:latin typeface="+mn-ea"/>
              </a:rPr>
              <a:t>- </a:t>
            </a:r>
            <a:r>
              <a:rPr kumimoji="1" lang="en-US" altLang="ko-KR" sz="1400" b="1" dirty="0" smtClean="0">
                <a:latin typeface="+mn-ea"/>
              </a:rPr>
              <a:t>Role</a:t>
            </a:r>
            <a:r>
              <a:rPr kumimoji="1" lang="en-US" altLang="ko-KR" sz="1400" dirty="0" smtClean="0">
                <a:latin typeface="+mn-ea"/>
              </a:rPr>
              <a:t> : Finds matching wafer inspections and sends them to the analysis screen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p_dm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1198800"/>
            <a:ext cx="1881630" cy="51912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459551" y="1327744"/>
            <a:ext cx="778440" cy="27221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65951" y="123414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237992" y="1303865"/>
            <a:ext cx="553982" cy="10506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44392" y="1210265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37992" y="1494894"/>
            <a:ext cx="496673" cy="10506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44392" y="140129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8654" y="1719352"/>
            <a:ext cx="1690601" cy="8405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85054" y="1625752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31050" y="2034549"/>
            <a:ext cx="181477" cy="515777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037450" y="194094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62450" y="6218074"/>
            <a:ext cx="859627" cy="162374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368850" y="61244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lang="en-US" sz="1000" b="1" dirty="0" smtClean="0">
                <a:solidFill>
                  <a:srgbClr val="000000"/>
                </a:solidFill>
              </a:rPr>
              <a:t>6</a:t>
            </a:r>
            <a:endParaRPr sz="10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Defect Map Viewer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2329309"/>
              </p:ext>
            </p:extLst>
          </p:nvPr>
        </p:nvGraphicFramePr>
        <p:xfrm>
          <a:off x="341719" y="830005"/>
          <a:ext cx="9226799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Screen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Functions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7545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Menu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DMS Analysis → Defect Map Viewer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View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Defect locations on the map, colors by class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Defect distribution chart by class and size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Image, die, class, size of the defect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Map info, selected defect details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Defect count color ranges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Colors by class (Defect Color tab)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Limit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Not applied (view screen)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Items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645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Defect Select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drag to select defects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X-Axis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chart category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Chart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click a bar to show those defects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Defect Count Color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colors by defects per die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ImageList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defect image, double-click to zoom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Raw Data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defect ID, coordinates, size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Information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map and defect info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en-US" altLang="ko-KR" sz="1400" dirty="0" smtClean="0">
                <a:latin typeface="+mn-ea"/>
              </a:rPr>
              <a:t>- </a:t>
            </a:r>
            <a:r>
              <a:rPr kumimoji="1" lang="en-US" altLang="ko-KR" sz="1400" b="1" dirty="0" smtClean="0">
                <a:latin typeface="+mn-ea"/>
              </a:rPr>
              <a:t>Role</a:t>
            </a:r>
            <a:r>
              <a:rPr kumimoji="1" lang="en-US" altLang="ko-KR" sz="1400" dirty="0" smtClean="0">
                <a:latin typeface="+mn-ea"/>
              </a:rPr>
              <a:t> : Shows defect locations of the selected wafer on the wafer map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13_defect_map_vie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9" y="2001599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5415786" y="3056736"/>
            <a:ext cx="155625" cy="560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322186" y="2963136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5365986" y="2963361"/>
            <a:ext cx="168075" cy="7470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272386" y="286976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81549" y="2291061"/>
            <a:ext cx="479325" cy="84037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287949" y="219746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20811" y="5434686"/>
            <a:ext cx="217875" cy="902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627211" y="5341086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29349" y="5434686"/>
            <a:ext cx="211650" cy="902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835749" y="5341086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34774" y="5434686"/>
            <a:ext cx="233437" cy="902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041174" y="5341086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Chart Analysis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1699797"/>
              </p:ext>
            </p:extLst>
          </p:nvPr>
        </p:nvGraphicFramePr>
        <p:xfrm>
          <a:off x="341719" y="830005"/>
          <a:ext cx="9226799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Screen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Functions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9734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Menu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DMS Analysis → Chart Analysis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View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Charts by step, wafer, class, etc.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Defect count, density, bad dies and ratio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Limit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Not applied (view screen)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Items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26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Chart Type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bar or line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X-Axis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chart category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Y-Axis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value (defect count, etc.)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Filter Icon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size range, defect type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Normalize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shows as ratio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X Label / X Insp. Time / X Value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X-axis sort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Redraw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redraws with new options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en-US" altLang="ko-KR" sz="1400" dirty="0" smtClean="0">
                <a:latin typeface="+mn-ea"/>
              </a:rPr>
              <a:t>- </a:t>
            </a:r>
            <a:r>
              <a:rPr kumimoji="1" lang="en-US" altLang="ko-KR" sz="1400" b="1" dirty="0" smtClean="0">
                <a:latin typeface="+mn-ea"/>
              </a:rPr>
              <a:t>Role</a:t>
            </a:r>
            <a:r>
              <a:rPr kumimoji="1" lang="en-US" altLang="ko-KR" sz="1400" dirty="0" smtClean="0">
                <a:latin typeface="+mn-ea"/>
              </a:rPr>
              <a:t> : Charts defects of the selected wafer by criteria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14_chart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9" y="2001599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1665224" y="2266161"/>
            <a:ext cx="364162" cy="871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571624" y="217256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665224" y="2350199"/>
            <a:ext cx="277012" cy="871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571624" y="22565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65224" y="2437349"/>
            <a:ext cx="277012" cy="871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571624" y="234374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42236" y="2350199"/>
            <a:ext cx="87150" cy="1680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848636" y="22565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51886" y="2437349"/>
            <a:ext cx="277012" cy="809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558286" y="234374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47574" y="2278611"/>
            <a:ext cx="317475" cy="2147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853974" y="218501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41399" y="2266161"/>
            <a:ext cx="342375" cy="171187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947799" y="217256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Defect Map Gallery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4876115"/>
              </p:ext>
            </p:extLst>
          </p:nvPr>
        </p:nvGraphicFramePr>
        <p:xfrm>
          <a:off x="341719" y="830005"/>
          <a:ext cx="9226799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Screen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Functions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9734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Menu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DMS Analysis → Defect Map Gallery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View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Defect maps per inspection side by side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Grid by lot, step, class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Lot, wafer info per map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Maps per row and column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Die grid, image marks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Grouping (column, row)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Limit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Not applied (view screen)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Items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26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Column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horizontal grouping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Row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vertical grouping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Col / Row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maps per row and column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Apply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applies the counts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Show dies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shows the die grid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New defects only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new defects only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Image Mark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marks defects with images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en-US" altLang="ko-KR" sz="1400" dirty="0" smtClean="0">
                <a:latin typeface="+mn-ea"/>
              </a:rPr>
              <a:t>- </a:t>
            </a:r>
            <a:r>
              <a:rPr kumimoji="1" lang="en-US" altLang="ko-KR" sz="1400" b="1" dirty="0" smtClean="0">
                <a:latin typeface="+mn-ea"/>
              </a:rPr>
              <a:t>Role</a:t>
            </a:r>
            <a:r>
              <a:rPr kumimoji="1" lang="en-US" altLang="ko-KR" sz="1400" dirty="0" smtClean="0">
                <a:latin typeface="+mn-ea"/>
              </a:rPr>
              <a:t> : Compares defect maps of several wafers on one screen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15_defect_map_gall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9" y="2001599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1649661" y="2219474"/>
            <a:ext cx="638062" cy="871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556061" y="21258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7724" y="2219474"/>
            <a:ext cx="610050" cy="871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194124" y="21258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7724" y="2219474"/>
            <a:ext cx="893287" cy="871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194124" y="21258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30011" y="2216361"/>
            <a:ext cx="183637" cy="902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336411" y="212276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32324" y="2225699"/>
            <a:ext cx="280125" cy="684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538724" y="21320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12449" y="2225699"/>
            <a:ext cx="401512" cy="684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818849" y="21320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13961" y="2225699"/>
            <a:ext cx="301912" cy="684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220361" y="21320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Defect Image Gallery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22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8912633"/>
              </p:ext>
            </p:extLst>
          </p:nvPr>
        </p:nvGraphicFramePr>
        <p:xfrm>
          <a:off x="341719" y="830005"/>
          <a:ext cx="9226799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Screen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Functions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7545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Menu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DMS Analysis → Defect Image Gallery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View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Image thumbnails by defect class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Images compared by wafer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Double-click to enlarge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Images per row and column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List without class grouping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Limit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Not applied (view screen)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Items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645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Col / Row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images per row and column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Apply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applies the counts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NONE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no class grouping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No Display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hides info under thumbnails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Zoom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opens a zoom window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Information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defect info of the image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Remove Image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deletes the selected image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en-US" altLang="ko-KR" sz="1400" dirty="0" smtClean="0">
                <a:latin typeface="+mn-ea"/>
              </a:rPr>
              <a:t>- </a:t>
            </a:r>
            <a:r>
              <a:rPr kumimoji="1" lang="en-US" altLang="ko-KR" sz="1400" b="1" dirty="0" smtClean="0">
                <a:latin typeface="+mn-ea"/>
              </a:rPr>
              <a:t>Role</a:t>
            </a:r>
            <a:r>
              <a:rPr kumimoji="1" lang="en-US" altLang="ko-KR" sz="1400" dirty="0" smtClean="0">
                <a:latin typeface="+mn-ea"/>
              </a:rPr>
              <a:t> : Shows defect images of the selected wafer by class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16_defect_image_gall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9" y="2001599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1680786" y="2216361"/>
            <a:ext cx="504225" cy="84037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587186" y="212276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2181899" y="2213249"/>
            <a:ext cx="183637" cy="902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088299" y="211964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65536" y="2200799"/>
            <a:ext cx="202312" cy="1120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271936" y="21071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49174" y="2200799"/>
            <a:ext cx="286350" cy="1120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455574" y="21071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16849" y="2200799"/>
            <a:ext cx="196087" cy="1120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723249" y="21071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78036" y="2207024"/>
            <a:ext cx="249000" cy="7470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384436" y="211342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29349" y="2207024"/>
            <a:ext cx="320587" cy="7470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835749" y="211342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>
          <a:xfrm>
            <a:off x="3572239" y="1889416"/>
            <a:ext cx="4868156" cy="2551112"/>
          </a:xfrm>
        </p:spPr>
        <p:txBody>
          <a:bodyPr>
            <a:normAutofit lnSpcReduction="10000"/>
          </a:bodyPr>
          <a:lstStyle/>
          <a:p>
            <a:r>
              <a:rPr lang="en-US" altLang="ko-KR" sz="5400" dirty="0" smtClean="0">
                <a:solidFill>
                  <a:schemeClr val="bg2">
                    <a:lumMod val="90000"/>
                  </a:schemeClr>
                </a:solidFill>
              </a:rPr>
              <a:t>POC</a:t>
            </a:r>
          </a:p>
          <a:p>
            <a:r>
              <a:rPr lang="en-US" altLang="ko-KR" sz="5400" dirty="0">
                <a:solidFill>
                  <a:schemeClr val="bg2">
                    <a:lumMod val="90000"/>
                  </a:schemeClr>
                </a:solidFill>
              </a:rPr>
              <a:t>DMS Analysis</a:t>
            </a:r>
          </a:p>
          <a:p>
            <a:r>
              <a:rPr lang="en-US" altLang="ko-KR" sz="5400" dirty="0" smtClean="0">
                <a:solidFill>
                  <a:schemeClr val="tx1"/>
                </a:solidFill>
              </a:rPr>
              <a:t>TEST Analysis</a:t>
            </a:r>
          </a:p>
        </p:txBody>
      </p:sp>
    </p:spTree>
    <p:extLst>
      <p:ext uri="{BB962C8B-B14F-4D97-AF65-F5344CB8AC3E}">
        <p14:creationId xmlns:p14="http://schemas.microsoft.com/office/powerpoint/2010/main" val="1499338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TESTSearch (left TEST search panel)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24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561630"/>
              </p:ext>
            </p:extLst>
          </p:nvPr>
        </p:nvGraphicFramePr>
        <p:xfrm>
          <a:off x="341719" y="830005"/>
          <a:ext cx="9226799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Screen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Functions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1923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Menu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Shown on the left in TEST Analysis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View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Wafers matching period and conditions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Yield, tested dies, test time per wafer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Tree by lot / product for checked items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Add, delete, reorder condition items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Restores last conditions and period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Limit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Not applied (view screen)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Items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20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From / To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test period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Last Test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latest result for retested wafers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Not Use Date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search by lot / wafer without a period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Condition Table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enter conditions (comma, *)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Settings Icon (tool)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sets condition items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Search Icon (table)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lists matching tests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Search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sends selected wafers to analysis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en-US" altLang="ko-KR" sz="1400" dirty="0" smtClean="0">
                <a:latin typeface="+mn-ea"/>
              </a:rPr>
              <a:t>- </a:t>
            </a:r>
            <a:r>
              <a:rPr kumimoji="1" lang="en-US" altLang="ko-KR" sz="1400" b="1" dirty="0" smtClean="0">
                <a:latin typeface="+mn-ea"/>
              </a:rPr>
              <a:t>Role</a:t>
            </a:r>
            <a:r>
              <a:rPr kumimoji="1" lang="en-US" altLang="ko-KR" sz="1400" dirty="0" smtClean="0">
                <a:latin typeface="+mn-ea"/>
              </a:rPr>
              <a:t> : Finds matching TEST wafers and sends them to the analysis screen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p_test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1198800"/>
            <a:ext cx="1881630" cy="51912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507308" y="1332519"/>
            <a:ext cx="778440" cy="267439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13708" y="123891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285749" y="1375501"/>
            <a:ext cx="396383" cy="10506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92149" y="128190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5749" y="1475791"/>
            <a:ext cx="496673" cy="10506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92149" y="138219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9102" y="1590408"/>
            <a:ext cx="1719255" cy="916936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75502" y="1496808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50152" y="1580857"/>
            <a:ext cx="171925" cy="382057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056552" y="1487257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50152" y="1934259"/>
            <a:ext cx="171925" cy="563534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056552" y="184065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76777" y="6203747"/>
            <a:ext cx="845300" cy="176701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383177" y="6110147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TEST Map View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25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7908029"/>
              </p:ext>
            </p:extLst>
          </p:nvPr>
        </p:nvGraphicFramePr>
        <p:xfrm>
          <a:off x="341719" y="830005"/>
          <a:ext cx="9226799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Screen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Functions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2364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Menu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 Analysis → TEST Map View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View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Bin-colored wafer map, count and ratio per bin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Count chart per bin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Color map by value range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Values per die (raw data)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Limit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Not applied (view screen)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Items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516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Bin Select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bins to show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Map Draw (Option)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redraws with selected bins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Bin / Wafer Info / Zone Map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bin no., wafer info, zones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Test Item List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color map of the selected item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Section Filter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number and choice of ranges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Para Limit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select the spec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Para Analysis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distribution chart of the item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en-US" altLang="ko-KR" sz="1400" dirty="0" smtClean="0">
                <a:latin typeface="+mn-ea"/>
              </a:rPr>
              <a:t>- </a:t>
            </a:r>
            <a:r>
              <a:rPr kumimoji="1" lang="en-US" altLang="ko-KR" sz="1400" b="1" dirty="0" smtClean="0">
                <a:latin typeface="+mn-ea"/>
              </a:rPr>
              <a:t>Role</a:t>
            </a:r>
            <a:r>
              <a:rPr kumimoji="1" lang="en-US" altLang="ko-KR" sz="1400" dirty="0" smtClean="0">
                <a:latin typeface="+mn-ea"/>
              </a:rPr>
              <a:t> : Analyzes the bin map and value map of one wafer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17_test_map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9" y="2001599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5415786" y="2269274"/>
            <a:ext cx="974212" cy="809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322186" y="21756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8286" y="5229261"/>
            <a:ext cx="273900" cy="1431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944686" y="513566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25124" y="5229261"/>
            <a:ext cx="292575" cy="2054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331524" y="513566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18099" y="5434686"/>
            <a:ext cx="199200" cy="902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524499" y="5341086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Bin Map Gallery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26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6439058"/>
              </p:ext>
            </p:extLst>
          </p:nvPr>
        </p:nvGraphicFramePr>
        <p:xfrm>
          <a:off x="341719" y="830005"/>
          <a:ext cx="9226799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Screen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Functions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742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Menu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 Analysis → Bin Map Gallery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View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Bin-colored maps per wafer on one screen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Product, program, yield, tester per map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Enlarge one map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Limit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Not applied (view screen)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Items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725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Col Cnt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maps per row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Redraw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rearranges the maps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Map View Mode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double-click opens map analysis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&lt;&lt; &lt; &gt; &gt;&gt;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moves the enlarged view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Stop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stops map creation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Map Click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select maps (Ctrl, Shift for multiple)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en-US" altLang="ko-KR" sz="1400" dirty="0" smtClean="0">
                <a:latin typeface="+mn-ea"/>
              </a:rPr>
              <a:t>- </a:t>
            </a:r>
            <a:r>
              <a:rPr kumimoji="1" lang="en-US" altLang="ko-KR" sz="1400" b="1" dirty="0" smtClean="0">
                <a:latin typeface="+mn-ea"/>
              </a:rPr>
              <a:t>Role</a:t>
            </a:r>
            <a:r>
              <a:rPr kumimoji="1" lang="en-US" altLang="ko-KR" sz="1400" dirty="0" smtClean="0">
                <a:latin typeface="+mn-ea"/>
              </a:rPr>
              <a:t> : Compares bin maps of several wafers in a grid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18_bin_map_gall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9" y="2001599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1649661" y="2200799"/>
            <a:ext cx="317475" cy="809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556061" y="21071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948461" y="2200799"/>
            <a:ext cx="192975" cy="809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854861" y="21071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38686" y="2207024"/>
            <a:ext cx="382837" cy="684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845086" y="211342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47661" y="2200799"/>
            <a:ext cx="417075" cy="809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054061" y="21071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8149" y="5428461"/>
            <a:ext cx="161850" cy="933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134549" y="533486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Test Map Gallery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27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4105116"/>
              </p:ext>
            </p:extLst>
          </p:nvPr>
        </p:nvGraphicFramePr>
        <p:xfrm>
          <a:off x="341719" y="830005"/>
          <a:ext cx="9226799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Screen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Functions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742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Menu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 Analysis → Test Map Gallery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View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Compare value maps of one item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Pass / fail map by spec lines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Values per die of the item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Limit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Not applied (view screen)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Items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725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Column Count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maps per row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Filter Box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filter by item name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Total Para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shows all items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Decimal Length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decimal places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Map Draw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redraws with the item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Section Filter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number and choice of ranges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Spec Limit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select the spec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en-US" altLang="ko-KR" sz="1400" dirty="0" smtClean="0">
                <a:latin typeface="+mn-ea"/>
              </a:rPr>
              <a:t>- </a:t>
            </a:r>
            <a:r>
              <a:rPr kumimoji="1" lang="en-US" altLang="ko-KR" sz="1400" b="1" dirty="0" smtClean="0">
                <a:latin typeface="+mn-ea"/>
              </a:rPr>
              <a:t>Role</a:t>
            </a:r>
            <a:r>
              <a:rPr kumimoji="1" lang="en-US" altLang="ko-KR" sz="1400" dirty="0" smtClean="0">
                <a:latin typeface="+mn-ea"/>
              </a:rPr>
              <a:t> : Compares value maps of several wafers side by side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19_test_map_gall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9" y="2001599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1658999" y="2228811"/>
            <a:ext cx="678525" cy="84037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565399" y="213521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7374" y="2331524"/>
            <a:ext cx="902625" cy="84037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393774" y="223792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99824" y="4513386"/>
            <a:ext cx="273900" cy="684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406224" y="4419786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35574" y="4504049"/>
            <a:ext cx="441975" cy="84037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841974" y="441044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26636" y="4603649"/>
            <a:ext cx="345487" cy="196087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733036" y="451004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93599" y="4793511"/>
            <a:ext cx="283237" cy="7470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399999" y="469991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58161" y="4793511"/>
            <a:ext cx="242775" cy="7470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664561" y="469991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Wafer Cum Report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28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9191905"/>
              </p:ext>
            </p:extLst>
          </p:nvPr>
        </p:nvGraphicFramePr>
        <p:xfrm>
          <a:off x="341719" y="830005"/>
          <a:ext cx="9226799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Screen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Functions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742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Menu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 Analysis → Wafer Cum Report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View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Bin count and ratio per wafer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Cumulative map of selected bins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Bar chart of dies per selected bin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Colors by cumulative count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Toggle table ratio / count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Limit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Not applied (view screen)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Items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725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Rate / Count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ratio or count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Bin Column (yellow)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bins to accumulate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Apply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cumulative map of wafers and bins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X / Y / Count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die coordinates, count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Cum Chart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dies per selected bin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Cum Count Color Setup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colors by count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en-US" altLang="ko-KR" sz="1400" dirty="0" smtClean="0">
                <a:latin typeface="+mn-ea"/>
              </a:rPr>
              <a:t>- </a:t>
            </a:r>
            <a:r>
              <a:rPr kumimoji="1" lang="en-US" altLang="ko-KR" sz="1400" b="1" dirty="0" smtClean="0">
                <a:latin typeface="+mn-ea"/>
              </a:rPr>
              <a:t>Role</a:t>
            </a:r>
            <a:r>
              <a:rPr kumimoji="1" lang="en-US" altLang="ko-KR" sz="1400" dirty="0" smtClean="0">
                <a:latin typeface="+mn-ea"/>
              </a:rPr>
              <a:t> : Shows bin locations of several wafers as a cumulative map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20_wafer_cum_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9" y="2001599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5546511" y="2238149"/>
            <a:ext cx="373500" cy="684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452911" y="214454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413999" y="2325299"/>
            <a:ext cx="5976000" cy="30782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20399" y="22316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60474" y="2219474"/>
            <a:ext cx="410850" cy="1058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866874" y="21258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15024" y="2851311"/>
            <a:ext cx="236550" cy="84037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621424" y="275771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06936" y="2854424"/>
            <a:ext cx="1883062" cy="902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413336" y="276082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06936" y="4186574"/>
            <a:ext cx="1883062" cy="902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413336" y="40929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Wafer Bin Report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29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1328032"/>
              </p:ext>
            </p:extLst>
          </p:nvPr>
        </p:nvGraphicFramePr>
        <p:xfrm>
          <a:off x="341719" y="830005"/>
          <a:ext cx="9226799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Screen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Functions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742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Menu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 Analysis → Wafer Bin Report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View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Stacked bin bars and yield line per wafer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Totals compared by lot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Count, ratio, fail rate per bin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Chart Y-axis max, min, interval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Show bins and value labels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Limit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Not applied (view screen)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Items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725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Wafer Base / Lot Base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per wafer or lot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Rate Mode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bins as ratios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Item Visible (legend)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bins to show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Label Visible (legend)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values on bars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Size Reset (right-click)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resets zoom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Chart Config (right-click)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Y-axis range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en-US" altLang="ko-KR" sz="1400" dirty="0" smtClean="0">
                <a:latin typeface="+mn-ea"/>
              </a:rPr>
              <a:t>- </a:t>
            </a:r>
            <a:r>
              <a:rPr kumimoji="1" lang="en-US" altLang="ko-KR" sz="1400" b="1" dirty="0" smtClean="0">
                <a:latin typeface="+mn-ea"/>
              </a:rPr>
              <a:t>Role</a:t>
            </a:r>
            <a:r>
              <a:rPr kumimoji="1" lang="en-US" altLang="ko-KR" sz="1400" dirty="0" smtClean="0">
                <a:latin typeface="+mn-ea"/>
              </a:rPr>
              <a:t> : Charts bin composition and yield by wafer and lot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21_wafer_bin_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9" y="2001599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1674561" y="2222586"/>
            <a:ext cx="535350" cy="684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580961" y="2128986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8086" y="2222586"/>
            <a:ext cx="283237" cy="684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994486" y="2128986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42599" y="2319074"/>
            <a:ext cx="239662" cy="560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648999" y="22254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42599" y="2371986"/>
            <a:ext cx="261450" cy="560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648999" y="2278386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Yield Report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30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4505643"/>
              </p:ext>
            </p:extLst>
          </p:nvPr>
        </p:nvGraphicFramePr>
        <p:xfrm>
          <a:off x="341719" y="830005"/>
          <a:ext cx="9226799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Screen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Functions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8931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Menu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 Analysis → Yield Report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View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Yield line chart per wafer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Average yield trend by lot and day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Wafer yield distribution per lot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X-axis labels, point values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Limit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Not applied (view screen)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Items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506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Wafer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yield per wafer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Lot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average yield per lot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Day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average yield per day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Scatter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wafer yield per lot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Box Plot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yield box plot per lot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X Label / Y Label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axis labels, point values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ToExcel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saves table and chart to Excel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en-US" altLang="ko-KR" sz="1400" dirty="0" smtClean="0">
                <a:latin typeface="+mn-ea"/>
              </a:rPr>
              <a:t>- </a:t>
            </a:r>
            <a:r>
              <a:rPr kumimoji="1" lang="en-US" altLang="ko-KR" sz="1400" b="1" dirty="0" smtClean="0">
                <a:latin typeface="+mn-ea"/>
              </a:rPr>
              <a:t>Role</a:t>
            </a:r>
            <a:r>
              <a:rPr kumimoji="1" lang="en-US" altLang="ko-KR" sz="1400" dirty="0" smtClean="0">
                <a:latin typeface="+mn-ea"/>
              </a:rPr>
              <a:t> : Charts yield trends by wafer, lot and day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22_yield_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9" y="2001599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1683899" y="2418674"/>
            <a:ext cx="242775" cy="933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590299" y="23250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926674" y="2418674"/>
            <a:ext cx="242775" cy="933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833074" y="23250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69449" y="2418674"/>
            <a:ext cx="242775" cy="933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075849" y="23250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93549" y="2418674"/>
            <a:ext cx="233437" cy="933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299949" y="23250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26986" y="2418674"/>
            <a:ext cx="236550" cy="933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533386" y="23250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74124" y="2434236"/>
            <a:ext cx="454425" cy="684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580524" y="2340636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8549" y="2412449"/>
            <a:ext cx="261450" cy="108937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034949" y="231884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Param Analysis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31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6235960"/>
              </p:ext>
            </p:extLst>
          </p:nvPr>
        </p:nvGraphicFramePr>
        <p:xfrm>
          <a:off x="341719" y="830005"/>
          <a:ext cx="9226799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Screen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Functions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742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Menu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 Analysis → Param Analysis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View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Values per die (raw)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Min, max, mean, std. dev. per item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Trend, sigma and spec lines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Chart Y-axis max, min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Limit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Not applied (view screen)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Items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725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Item Search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filter by item name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Total Para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shows all items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Analysis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table and chart of the items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Raw / Statistics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values per die, stats per item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en-US" altLang="ko-KR" sz="1400" dirty="0" smtClean="0">
                <a:latin typeface="+mn-ea"/>
              </a:rPr>
              <a:t>- </a:t>
            </a:r>
            <a:r>
              <a:rPr kumimoji="1" lang="en-US" altLang="ko-KR" sz="1400" b="1" dirty="0" smtClean="0">
                <a:latin typeface="+mn-ea"/>
              </a:rPr>
              <a:t>Role</a:t>
            </a:r>
            <a:r>
              <a:rPr kumimoji="1" lang="en-US" altLang="ko-KR" sz="1400" dirty="0" smtClean="0">
                <a:latin typeface="+mn-ea"/>
              </a:rPr>
              <a:t> : Shows item statistics and trends for one wafer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23_param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9" y="2001599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1680786" y="2287949"/>
            <a:ext cx="1123612" cy="84037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587186" y="219434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674561" y="4158561"/>
            <a:ext cx="273900" cy="684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580961" y="406496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02886" y="4136774"/>
            <a:ext cx="498000" cy="108937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309286" y="40431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41349" y="2210136"/>
            <a:ext cx="317475" cy="7470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847749" y="2116536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/>
              <a:t>Troubleshooting</a:t>
            </a:r>
            <a:endParaRPr lang="ko-KR" altLang="en-US" b="0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32</a:t>
            </a:fld>
            <a:endParaRPr lang="ko-KR" altLang="en-US" dirty="0"/>
          </a:p>
        </p:txBody>
      </p:sp>
      <p:sp>
        <p:nvSpPr>
          <p:cNvPr id="4" name="Rectangle 6"/>
          <p:cNvSpPr/>
          <p:nvPr/>
        </p:nvSpPr>
        <p:spPr>
          <a:xfrm>
            <a:off x="327600" y="673200"/>
            <a:ext cx="3002400" cy="396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en-US" altLang="ko-KR" sz="1600" b="1" dirty="0" smtClean="0">
                <a:solidFill>
                  <a:schemeClr val="bg1"/>
                </a:solidFill>
                <a:latin typeface="+mn-ea"/>
              </a:rPr>
              <a:t>Oracle Connection Lost</a:t>
            </a:r>
            <a:endParaRPr lang="ko-KR" altLang="en-US" sz="1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Rectangle 7"/>
          <p:cNvSpPr/>
          <p:nvPr/>
        </p:nvSpPr>
        <p:spPr>
          <a:xfrm>
            <a:off x="327600" y="1134000"/>
            <a:ext cx="9241200" cy="1319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latinLnBrk="0"/>
            <a:r>
              <a:rPr lang="en-US" sz="1300" b="1" dirty="0" altLang="ko-KR">
                <a:solidFill>
                  <a:schemeClr val="tx1"/>
                </a:solidFill>
                <a:latin typeface="+mn-ea"/>
              </a:rPr>
              <a:t>Symptom</a:t>
            </a:r>
            <a:r>
              <a:rPr lang="en-US" sz="1300" b="0" dirty="0" altLang="ko-KR">
                <a:solidFill>
                  <a:schemeClr val="tx1"/>
                </a:solidFill>
                <a:latin typeface="+mn-ea"/>
              </a:rPr>
              <a:t> : DB error on search or save after the program sits idle</a:t>
            </a:r>
            <a:endParaRPr lang="en-US" altLang="ko-KR" sz="1300" b="0" dirty="0" smtClean="0">
              <a:solidFill>
                <a:schemeClr val="tx1"/>
              </a:solidFill>
              <a:latin typeface="+mn-ea"/>
            </a:endParaRPr>
          </a:p>
          <a:p>
            <a:pPr latinLnBrk="0"/>
            <a:r>
              <a:rPr lang="en-US" sz="1300" b="1" dirty="0" smtClean="0" altLang="ko-KR">
                <a:solidFill>
                  <a:schemeClr val="tx1"/>
                </a:solidFill>
                <a:latin typeface="+mn-ea"/>
              </a:rPr>
              <a:t>Cause</a:t>
            </a:r>
            <a:r>
              <a:rPr lang="en-US" sz="1300" b="0" dirty="0" altLang="ko-KR">
                <a:solidFill>
                  <a:schemeClr val="tx1"/>
                </a:solidFill>
                <a:latin typeface="+mn-ea"/>
              </a:rPr>
              <a:t> : the DB idle time limit closes unused connections</a:t>
            </a:r>
          </a:p>
          <a:p>
            <a:pPr latinLnBrk="0"/>
            <a:r>
              <a:rPr lang="en-US" sz="1300" b="1" dirty="0" altLang="ko-KR">
                <a:solidFill>
                  <a:schemeClr val="tx1"/>
                </a:solidFill>
                <a:latin typeface="+mn-ea"/>
              </a:rPr>
              <a:t>Action</a:t>
            </a:r>
            <a:r>
              <a:rPr lang="en-US" sz="1300" b="0" dirty="0" altLang="ko-KR">
                <a:solidFill>
                  <a:schemeClr val="tx1"/>
                </a:solidFill>
                <a:latin typeface="+mn-ea"/>
              </a:rPr>
              <a:t> : restart the program or search again a few times</a:t>
            </a:r>
            <a:endParaRPr lang="ko-KR" sz="13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327600" y="2598000"/>
            <a:ext cx="3002400" cy="396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en-US" altLang="ko-KR" sz="1600" b="1" dirty="0" smtClean="0">
                <a:solidFill>
                  <a:schemeClr val="bg1"/>
                </a:solidFill>
                <a:latin typeface="+mn-ea"/>
              </a:rPr>
              <a:t>Shared Folder File Freeze</a:t>
            </a:r>
            <a:endParaRPr lang="ko-KR" altLang="en-US" sz="1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Rectangle 7"/>
          <p:cNvSpPr/>
          <p:nvPr/>
        </p:nvSpPr>
        <p:spPr>
          <a:xfrm>
            <a:off x="327600" y="3058800"/>
            <a:ext cx="9241200" cy="1319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latinLnBrk="0"/>
            <a:r>
              <a:rPr lang="en-US" sz="1300" b="1" dirty="0" altLang="ko-KR">
                <a:solidFill>
                  <a:schemeClr val="tx1"/>
                </a:solidFill>
                <a:latin typeface="+mn-ea"/>
              </a:rPr>
              <a:t>Symptom</a:t>
            </a:r>
            <a:r>
              <a:rPr lang="en-US" sz="1300" b="0" dirty="0" altLang="ko-KR">
                <a:solidFill>
                  <a:schemeClr val="tx1"/>
                </a:solidFill>
                <a:latin typeface="+mn-ea"/>
              </a:rPr>
              <a:t> : the screen freezes when a GDS, KLARF or E-Test file is opened directly from a shared (network) folder</a:t>
            </a:r>
          </a:p>
          <a:p>
            <a:pPr latinLnBrk="0"/>
            <a:r>
              <a:rPr lang="en-US" sz="1300" b="1" dirty="0" smtClean="0" altLang="ko-KR">
                <a:solidFill>
                  <a:schemeClr val="tx1"/>
                </a:solidFill>
                <a:latin typeface="+mn-ea"/>
              </a:rPr>
              <a:t>Action</a:t>
            </a:r>
            <a:r>
              <a:rPr lang="en-US" sz="1300" b="0" dirty="0" altLang="ko-KR">
                <a:solidFill>
                  <a:schemeClr val="tx1"/>
                </a:solidFill>
                <a:latin typeface="+mn-ea"/>
              </a:rPr>
              <a:t> : copy the file to a local PC folder and open it from there</a:t>
            </a:r>
          </a:p>
        </p:txBody>
      </p:sp>
      <p:sp>
        <p:nvSpPr>
          <p:cNvPr id="8" name="Rectangle 6"/>
          <p:cNvSpPr/>
          <p:nvPr/>
        </p:nvSpPr>
        <p:spPr>
          <a:xfrm>
            <a:off x="327600" y="4522800"/>
            <a:ext cx="3002400" cy="396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en-US" altLang="ko-KR" sz="1600" b="1" dirty="0" smtClean="0">
                <a:solidFill>
                  <a:schemeClr val="bg1"/>
                </a:solidFill>
                <a:latin typeface="+mn-ea"/>
              </a:rPr>
              <a:t>GDS Needs a Graphics Card</a:t>
            </a:r>
            <a:endParaRPr lang="ko-KR" altLang="en-US" sz="1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" name="Rectangle 7"/>
          <p:cNvSpPr/>
          <p:nvPr/>
        </p:nvSpPr>
        <p:spPr>
          <a:xfrm>
            <a:off x="327600" y="4983599"/>
            <a:ext cx="9241200" cy="1319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latinLnBrk="0"/>
            <a:r>
              <a:rPr lang="en-US" sz="1300" b="1" dirty="0" altLang="ko-KR">
                <a:solidFill>
                  <a:schemeClr val="tx1"/>
                </a:solidFill>
                <a:latin typeface="+mn-ea"/>
              </a:rPr>
              <a:t>Symptom</a:t>
            </a:r>
            <a:r>
              <a:rPr lang="en-US" sz="1300" b="0" dirty="0" altLang="ko-KR">
                <a:solidFill>
                  <a:schemeClr val="tx1"/>
                </a:solidFill>
                <a:latin typeface="+mn-ea"/>
              </a:rPr>
              <a:t> : on a PC without a graphics card, the GDS layout is not shown or a screen error occurs</a:t>
            </a:r>
          </a:p>
          <a:p>
            <a:pPr latinLnBrk="0"/>
            <a:r>
              <a:rPr lang="en-US" sz="1300" b="1" dirty="0" altLang="ko-KR">
                <a:solidFill>
                  <a:schemeClr val="tx1"/>
                </a:solidFill>
                <a:latin typeface="+mn-ea"/>
              </a:rPr>
              <a:t>Cause</a:t>
            </a:r>
            <a:r>
              <a:rPr lang="en-US" sz="1300" b="0" dirty="0" altLang="ko-KR">
                <a:solidFill>
                  <a:schemeClr val="tx1"/>
                </a:solidFill>
                <a:latin typeface="+mn-ea"/>
              </a:rPr>
              <a:t> : the GDS layout is drawn by the graphics card</a:t>
            </a:r>
          </a:p>
          <a:p>
            <a:pPr latinLnBrk="0"/>
            <a:r>
              <a:rPr lang="en-US" sz="1300" b="1" dirty="0" altLang="ko-KR">
                <a:solidFill>
                  <a:schemeClr val="tx1"/>
                </a:solidFill>
                <a:latin typeface="+mn-ea"/>
              </a:rPr>
              <a:t>Screens</a:t>
            </a:r>
            <a:r>
              <a:rPr lang="en-US" sz="1300" b="0" dirty="0" altLang="ko-KR">
                <a:solidFill>
                  <a:schemeClr val="tx1"/>
                </a:solidFill>
                <a:latin typeface="+mn-ea"/>
              </a:rPr>
              <a:t> : GDS Map Setup, GDS Map View, GDS-KLARF-ET Correlation Detail</a:t>
            </a:r>
          </a:p>
          <a:p>
            <a:pPr latinLnBrk="0"/>
            <a:r>
              <a:rPr lang="en-US" sz="1300" b="1" dirty="0" altLang="ko-KR">
                <a:solidFill>
                  <a:schemeClr val="tx1"/>
                </a:solidFill>
                <a:latin typeface="+mn-ea"/>
              </a:rPr>
              <a:t>Action</a:t>
            </a:r>
            <a:r>
              <a:rPr lang="en-US" sz="1300" b="0" dirty="0" altLang="ko-KR">
                <a:solidFill>
                  <a:schemeClr val="tx1"/>
                </a:solidFill>
                <a:latin typeface="+mn-ea"/>
              </a:rPr>
              <a:t> : use a PC with a graphics card and driver (integrated graphics OK). Remote desktop, VDI or virtual PCs may not work</a:t>
            </a: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5680" y="1275025"/>
            <a:ext cx="2867980" cy="108717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509"/>
          <a:stretch/>
        </p:blipFill>
        <p:spPr>
          <a:xfrm>
            <a:off x="1460612" y="2852936"/>
            <a:ext cx="1610306" cy="580254"/>
          </a:xfrm>
          <a:prstGeom prst="rect">
            <a:avLst/>
          </a:prstGeom>
        </p:spPr>
      </p:pic>
      <p:sp>
        <p:nvSpPr>
          <p:cNvPr id="8" name="텍스트 개체 틀 22"/>
          <p:cNvSpPr txBox="1">
            <a:spLocks/>
          </p:cNvSpPr>
          <p:nvPr/>
        </p:nvSpPr>
        <p:spPr>
          <a:xfrm>
            <a:off x="6126443" y="3423915"/>
            <a:ext cx="2350003" cy="9695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138113" indent="-138113" algn="l" rtl="0" eaLnBrk="1" fontAlgn="base" latinLnBrk="1" hangingPunct="1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Char char="§"/>
              <a:defRPr lang="en-US" altLang="ko-KR" sz="1200" kern="1200" dirty="0" smtClean="0">
                <a:solidFill>
                  <a:schemeClr val="tx1"/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defRPr>
            </a:lvl1pPr>
            <a:lvl2pPr marL="466725" indent="-171450" algn="l" rtl="0" eaLnBrk="1" fontAlgn="base" latinLnBrk="1" hangingPunct="1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Tx/>
              <a:buFont typeface="Arial" pitchFamily="34" charset="0"/>
              <a:buChar char="-"/>
              <a:defRPr lang="en-US" altLang="ko-KR" sz="1200" kern="1200" dirty="0" smtClean="0">
                <a:solidFill>
                  <a:schemeClr val="tx1"/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defRPr>
            </a:lvl2pPr>
            <a:lvl3pPr marL="685800" indent="-161925" algn="l" rtl="0" eaLnBrk="1" fontAlgn="base" latinLnBrk="1" hangingPunct="1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Tx/>
              <a:buFont typeface="Arial" pitchFamily="34" charset="0"/>
              <a:buChar char="-"/>
              <a:defRPr lang="en-US" altLang="ko-KR" sz="1200" kern="1200" dirty="0" smtClean="0">
                <a:solidFill>
                  <a:schemeClr val="tx1"/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defRPr>
            </a:lvl3pPr>
            <a:lvl4pPr marL="936625" indent="-171450" algn="l" rtl="0" eaLnBrk="1" fontAlgn="base" latinLnBrk="1" hangingPunct="1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Tx/>
              <a:buFont typeface="Arial" pitchFamily="34" charset="0"/>
              <a:buChar char="-"/>
              <a:defRPr lang="en-US" altLang="ko-KR" sz="1200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466725" indent="-171450" algn="l" rtl="0" eaLnBrk="1" fontAlgn="base" latinLnBrk="1" hangingPunct="1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002060"/>
              </a:buClr>
              <a:buFont typeface="Arial" pitchFamily="34" charset="0"/>
              <a:buChar char="-"/>
              <a:defRPr lang="en-US" altLang="ko-KR" sz="1200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lang="en-US" altLang="ko-KR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Wingdings" pitchFamily="2" charset="2"/>
              <a:buNone/>
            </a:pPr>
            <a:r>
              <a:rPr sz="7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Copyright ⓒ</a:t>
            </a:r>
            <a:r>
              <a:rPr sz="700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2026 </a:t>
            </a:r>
            <a:r>
              <a:rPr sz="700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Miracom</a:t>
            </a:r>
            <a:r>
              <a:rPr sz="700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Inc. Co., Ltd. All rights reserved</a:t>
            </a:r>
            <a:endParaRPr sz="7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3" name="직선 연결선 2"/>
          <p:cNvCxnSpPr/>
          <p:nvPr/>
        </p:nvCxnSpPr>
        <p:spPr>
          <a:xfrm flipV="1">
            <a:off x="3154865" y="2955863"/>
            <a:ext cx="0" cy="468052"/>
          </a:xfrm>
          <a:prstGeom prst="line">
            <a:avLst/>
          </a:prstGeom>
          <a:ln w="3175" cap="flat">
            <a:solidFill>
              <a:schemeClr val="tx1">
                <a:lumMod val="40000"/>
                <a:lumOff val="60000"/>
              </a:schemeClr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1509" y="3009387"/>
            <a:ext cx="5291328" cy="41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167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8927</TotalTime>
  <Words>3973</Words>
  <Application>Microsoft Office PowerPoint</Application>
  <PresentationFormat>A4 용지(210x297mm)</PresentationFormat>
  <Paragraphs>850</Paragraphs>
  <Slides>34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41" baseType="lpstr">
      <vt:lpstr>굴림</vt:lpstr>
      <vt:lpstr>맑은 고딕</vt:lpstr>
      <vt:lpstr>Arial</vt:lpstr>
      <vt:lpstr>Calibri</vt:lpstr>
      <vt:lpstr>Calibri Light</vt:lpstr>
      <vt:lpstr>Wingdings</vt:lpstr>
      <vt:lpstr>Office 테마</vt:lpstr>
      <vt:lpstr>SCK E-Test POC 사용자 메뉴얼</vt:lpstr>
      <vt:lpstr>설치 정보</vt:lpstr>
      <vt:lpstr>화면 구성</vt:lpstr>
      <vt:lpstr>PowerPoint 프레젠테이션</vt:lpstr>
      <vt:lpstr>GDS Map Setup (GDS Map 설정)</vt:lpstr>
      <vt:lpstr>Wafer Map Setup</vt:lpstr>
      <vt:lpstr>E-Test Para Register (E-Test Para 등록)</vt:lpstr>
      <vt:lpstr>E-Test Para Setup (E-Test Para 설정)</vt:lpstr>
      <vt:lpstr>E-Test Bin Setup (E-Test Bin 설정)</vt:lpstr>
      <vt:lpstr>Defect Type Define</vt:lpstr>
      <vt:lpstr>KLARF File Upload (KLARF File 업로드)</vt:lpstr>
      <vt:lpstr>E-Test Result Upload (E-Test 결과 업로드)</vt:lpstr>
      <vt:lpstr>GDS Map View (GDS Map 조회)</vt:lpstr>
      <vt:lpstr>Wafer Map View (Wafer Map 조회)</vt:lpstr>
      <vt:lpstr>E-Test Result View (E-Test 결과 조회)</vt:lpstr>
      <vt:lpstr>GDS-KLARF-ET Correlation (GDS-KLARF-ET 연관 분석)</vt:lpstr>
      <vt:lpstr>GDS-KLARF-ET Correlation 상세보기 (Die 상세 분석)</vt:lpstr>
      <vt:lpstr>PowerPoint 프레젠테이션</vt:lpstr>
      <vt:lpstr>DMSearch (왼쪽 Wafer 조회 창)</vt:lpstr>
      <vt:lpstr>Defect Map Viewer (Defect 맵 조회)</vt:lpstr>
      <vt:lpstr>Chart Analysis (Chart 분석)</vt:lpstr>
      <vt:lpstr>Defect Map Gallery (Defect 맵 갤러리)</vt:lpstr>
      <vt:lpstr>Defect Image Gallery (Defect 이미지 갤러리)</vt:lpstr>
      <vt:lpstr>PowerPoint 프레젠테이션</vt:lpstr>
      <vt:lpstr>TESTSearch (왼쪽 TEST 조회 창)</vt:lpstr>
      <vt:lpstr>TEST Map View (TEST 맵 분석)</vt:lpstr>
      <vt:lpstr>Bin Map Gallery (Probe 맵 갤러리)</vt:lpstr>
      <vt:lpstr>Test Map Gallery</vt:lpstr>
      <vt:lpstr>Wafer Cum Report</vt:lpstr>
      <vt:lpstr>Wafer Bin Report</vt:lpstr>
      <vt:lpstr>Yield Report (수율 리포트)</vt:lpstr>
      <vt:lpstr>Param Analysis</vt:lpstr>
      <vt:lpstr>트러블 슈팅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SCK E-Test POC 사용자 메뉴얼 (2차 시안)</dc:title>
  <dc:subject/>
  <dc:creator/>
  <cp:keywords/>
  <dc:description/>
  <cp:lastModifiedBy>BJ</cp:lastModifiedBy>
  <cp:revision>47</cp:revision>
  <dcterms:created xsi:type="dcterms:W3CDTF">2014-01-27T23:50:26Z</dcterms:created>
  <dcterms:modified xsi:type="dcterms:W3CDTF">2026-10-27T07:29:36Z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