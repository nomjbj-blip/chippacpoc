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8"/>
  </p:notesMasterIdLst>
  <p:handoutMasterIdLst>
    <p:handoutMasterId r:id="rId9"/>
  </p:handoutMasterIdLst>
  <p:sldIdLst>
    <p:sldId id="257" r:id="rId5"/>
    <p:sldId id="258" r:id="rId6"/>
    <p:sldId id="259" r:id="rId7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69" autoAdjust="0"/>
    <p:restoredTop sz="96339" autoAdjust="0"/>
  </p:normalViewPr>
  <p:slideViewPr>
    <p:cSldViewPr snapToGrid="0">
      <p:cViewPr varScale="1">
        <p:scale>
          <a:sx n="92" d="100"/>
          <a:sy n="92" d="100"/>
        </p:scale>
        <p:origin x="1292" y="68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2026-10-16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4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2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2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smtClean="0"/>
              <a:t>'26.10</a:t>
            </a:r>
            <a:endParaRPr lang="ko-KR" altLang="en-US" dirty="0"/>
          </a:p>
        </p:txBody>
      </p:sp>
      <p:sp>
        <p:nvSpPr>
          <p:cNvPr id="9" name="내용 개체 틀 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rPr lang="ko-KR" altLang="en-US" dirty="0" smtClean="0"/>
              <a:t>미라콤 정병주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xfrm>
            <a:off x="1079999" y="1952625"/>
            <a:ext cx="7405909" cy="126035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GDS, KLARF, </a:t>
            </a:r>
            <a:r>
              <a:rPr lang="ko-KR" altLang="en-US" dirty="0" err="1" smtClean="0"/>
              <a:t>E-Test</a:t>
            </a:r>
            <a:r>
              <a:rPr lang="ko-KR" altLang="en-US" dirty="0" smtClean="0"/>
              <a:t> 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연결 </a:t>
            </a:r>
            <a:r>
              <a:rPr lang="ko-KR" altLang="en-US" dirty="0" err="1" smtClean="0"/>
              <a:t>기준정보와</a:t>
            </a:r>
            <a:r>
              <a:rPr lang="ko-KR" altLang="en-US" dirty="0" smtClean="0"/>
              <a:t> </a:t>
            </a:r>
            <a:r>
              <a:rPr lang="ko-KR" altLang="en-US" dirty="0" smtClean="0"/>
              <a:t>처리 흐름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t>Defect E-Test 분석 시스템 POC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5개 연결 키로 GDS, KLARF, E-Test를 묶음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I. 연결 기준정보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각 데이터의 </a:t>
            </a:r>
            <a:r>
              <a:rPr b="1"/>
              <a:t>기준정보 값</a:t>
            </a:r>
            <a:r>
              <a:t>을 </a:t>
            </a:r>
            <a:r>
              <a:rPr b="1"/>
              <a:t>묶는 규칙</a:t>
            </a:r>
            <a:r>
              <a:t>으로 맞춰 같은 Wafer, 같은 Die, 같은 Chain을 찾음</a:t>
            </a:r>
            <a:endParaRPr lang="ko-KR" altLang="en-US"/>
          </a:p>
          <a:p>
            <a:r>
              <a:t>GDS는 Chip 1개 도면이라 Wafer, Die 키가 없고 </a:t>
            </a:r>
            <a:r>
              <a:rPr b="1"/>
              <a:t>Die 안 위치</a:t>
            </a:r>
            <a:r>
              <a:t>와 </a:t>
            </a:r>
            <a:r>
              <a:rPr b="1"/>
              <a:t>Chain 이름</a:t>
            </a:r>
            <a:r>
              <a:t>으로 연결됨</a:t>
            </a:r>
            <a:endParaRPr lang="ko-KR" altLang="en-US"/>
          </a:p>
        </p:txBody>
      </p:sp>
      <p:graphicFrame>
        <p:nvGraphicFramePr>
          <p:cNvPr id="8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048067"/>
              </p:ext>
            </p:extLst>
          </p:nvPr>
        </p:nvGraphicFramePr>
        <p:xfrm>
          <a:off x="381000" y="1520825"/>
          <a:ext cx="9144000" cy="4968000"/>
        </p:xfrm>
        <a:graphic>
          <a:graphicData uri="http://schemas.openxmlformats.org/drawingml/2006/table">
            <a:tbl>
              <a:tblPr/>
              <a:tblGrid>
                <a:gridCol w="11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연결 키</a:t>
                      </a:r>
                      <a:endParaRPr lang="ko-KR" altLang="en-US" sz="1500" dirty="0"/>
                    </a:p>
                  </a:txBody>
                  <a:tcPr marL="72000" marR="54000" marT="28800" marB="28800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GDS Chain</a:t>
                      </a:r>
                      <a:endParaRPr lang="ko-KR" altLang="en-US" sz="1500" dirty="0"/>
                    </a:p>
                  </a:txBody>
                  <a:tcPr marL="72000" marR="54000" marT="28800" marB="2880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KLARF (AOI)</a:t>
                      </a:r>
                      <a:endParaRPr lang="ko-KR" altLang="en-US" sz="1500" dirty="0"/>
                    </a:p>
                  </a:txBody>
                  <a:tcPr marL="72000" marR="54000" marT="28800" marB="28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E-Test</a:t>
                      </a:r>
                      <a:endParaRPr lang="ko-KR" altLang="en-US" sz="1500" dirty="0"/>
                    </a:p>
                  </a:txBody>
                  <a:tcPr marL="72000" marR="54000" marT="28800" marB="28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묶는 규칙</a:t>
                      </a:r>
                      <a:endParaRPr lang="ko-KR" altLang="en-US" sz="1500" dirty="0"/>
                    </a:p>
                  </a:txBody>
                  <a:tcPr marL="72000" marR="54000" marT="28800" marB="288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Device</a:t>
                      </a:r>
                      <a:endParaRPr lang="ko-KR" altLang="en-US" sz="1400" dirty="0"/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제품</a:t>
                      </a:r>
                      <a:endParaRPr lang="ko-KR" altLang="en-US" sz="1050" dirty="0"/>
                    </a:p>
                  </a:txBody>
                  <a:tcPr marL="72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Device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GDS Map 설정 화면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Product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DeviceID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Device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E-Test 업로드 파일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KLARF Product = GDS Device 이름</a:t>
                      </a:r>
                      <a:endParaRPr lang="ko-KR" altLang="en-US" sz="1200" dirty="0"/>
                    </a:p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E-Test Device는 달라도 됨</a:t>
                      </a:r>
                      <a:endParaRPr lang="ko-KR" altLang="en-US" sz="1200" dirty="0"/>
                    </a:p>
                    <a:p>
                      <a:pPr marL="12600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예: OMM_Hybrid / OMM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Wafer</a:t>
                      </a:r>
                      <a:endParaRPr lang="ko-KR" altLang="en-US" sz="1400" dirty="0"/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실물 Wafer</a:t>
                      </a:r>
                      <a:endParaRPr lang="ko-KR" altLang="en-US" sz="1050" dirty="0"/>
                    </a:p>
                  </a:txBody>
                  <a:tcPr marL="72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없음 (공통 도면)</a:t>
                      </a:r>
                      <a:endParaRPr lang="ko-KR" altLang="en-US" sz="11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Lot ID + Slot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파일 LotID, Slot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Wafer ID (Lot-Slot)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예: RH-HS2615-02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Wafer Key = Lot 핵심 + Slot 2자리</a:t>
                      </a:r>
                      <a:endParaRPr lang="ko-KR" altLang="en-US" sz="1200" dirty="0"/>
                    </a:p>
                    <a:p>
                      <a:pPr marL="12600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예: PFIC_RH-HS2615_C4Bump, Slot 2</a:t>
                      </a:r>
                      <a:endParaRPr lang="ko-KR" altLang="en-US" sz="1000" dirty="0"/>
                    </a:p>
                    <a:p>
                      <a:pPr marL="12600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→ RH-HS2615-02 (E-Test와 같은 Wafer)</a:t>
                      </a:r>
                      <a:endParaRPr lang="ko-KR" altLang="en-US" sz="1000" dirty="0"/>
                    </a:p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잠정 규칙, 고객 협의 </a:t>
                      </a:r>
                      <a:r>
                        <a:rPr lang="ko-KR" altLang="en-US" sz="1200" b="0" dirty="0">
                          <a:solidFill>
                            <a:schemeClr val="accent6"/>
                          </a:solidFill>
                          <a:latin typeface="+mn-ea"/>
                          <a:ea typeface="+mn-ea"/>
                        </a:rPr>
                        <a:t>[확인 필요]</a:t>
                      </a:r>
                      <a:endParaRPr lang="ko-KR" altLang="en-US" sz="12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Die</a:t>
                      </a:r>
                      <a:endParaRPr lang="ko-KR" altLang="en-US" sz="1400" dirty="0"/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Wafer 안 칸</a:t>
                      </a:r>
                      <a:endParaRPr lang="ko-KR" altLang="en-US" sz="1050" dirty="0"/>
                    </a:p>
                  </a:txBody>
                  <a:tcPr marL="72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없음 (공통 도면)</a:t>
                      </a:r>
                      <a:endParaRPr lang="ko-KR" altLang="en-US" sz="11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Die Index (X, Y)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Map Setup 원점 기준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Die 좌표 (MAP_X, Y)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업로드 때 계산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Wafer Map 기준 시스템 Die 좌표</a:t>
                      </a:r>
                      <a:endParaRPr lang="ko-KR" altLang="en-US" sz="1200" dirty="0"/>
                    </a:p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KLARF는 검사 면(BS / FS)에 맞춰 변환</a:t>
                      </a:r>
                      <a:endParaRPr lang="ko-KR" altLang="en-US" sz="1200" dirty="0"/>
                    </a:p>
                    <a:p>
                      <a:pPr marL="12600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예: 시스템 (7,5) = E-Test (4,5) = KLARF BS (0,0)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위치</a:t>
                      </a:r>
                      <a:endParaRPr lang="ko-KR" altLang="en-US" sz="1400" dirty="0"/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Die 안 µm</a:t>
                      </a:r>
                      <a:endParaRPr lang="ko-KR" altLang="en-US" sz="1050" dirty="0"/>
                    </a:p>
                  </a:txBody>
                  <a:tcPr marL="72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Chain 도형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µm, FS 기준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Defect 위치, 크기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XREL, YREL / XSIZE, YSIZE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없음</a:t>
                      </a:r>
                      <a:endParaRPr lang="ko-KR" altLang="en-US" sz="11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Chip 좌표 = XREL − Pitch/2 + 보정</a:t>
                      </a:r>
                      <a:endParaRPr lang="ko-KR" altLang="en-US" sz="1200" dirty="0"/>
                    </a:p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면이 BS면 X 반전</a:t>
                      </a:r>
                      <a:endParaRPr lang="ko-KR" altLang="en-US" sz="1200" dirty="0"/>
                    </a:p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도형과 거리 5 µm 이내면 걸림</a:t>
                      </a:r>
                      <a:endParaRPr lang="ko-KR" altLang="en-US" sz="12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0800">
                <a:tc>
                  <a:txBody>
                    <a:bodyPr/>
                    <a:lstStyle/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Chain</a:t>
                      </a:r>
                      <a:endParaRPr lang="ko-KR" altLang="en-US" sz="1400" dirty="0"/>
                    </a:p>
                    <a:p>
                      <a:pPr marL="0" indent="0"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5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배선 묶음</a:t>
                      </a:r>
                      <a:endParaRPr lang="ko-KR" altLang="en-US" sz="1050" dirty="0"/>
                    </a:p>
                  </a:txBody>
                  <a:tcPr marL="72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5A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Chain 이름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GDS Chain 설정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1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없음 (위치로 연결)</a:t>
                      </a:r>
                      <a:endParaRPr lang="ko-KR" altLang="en-US" sz="11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GDS_CHAIN_NAME</a:t>
                      </a:r>
                      <a:endParaRPr lang="ko-KR" altLang="en-US" sz="1200" dirty="0"/>
                    </a:p>
                    <a:p>
                      <a:pPr marL="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E-Test Parameter 등록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26000" indent="-12600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Clr>
                          <a:schemeClr val="tx1"/>
                        </a:buClr>
                        <a:buSzPct val="100000"/>
                        <a:buFont typeface="Arial" pitchFamily="34" charset="0"/>
                        <a:buChar char="•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일치 (대소문자, 공백 무시)</a:t>
                      </a:r>
                      <a:endParaRPr lang="ko-KR" altLang="en-US" sz="1200" dirty="0"/>
                    </a:p>
                    <a:p>
                      <a:pPr marL="126000" indent="0"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buNone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+mn-ea"/>
                          <a:ea typeface="+mn-ea"/>
                        </a:rPr>
                        <a:t>예: …_TSVDC_TR_FH → TSVDC_TR_FH</a:t>
                      </a:r>
                      <a:endParaRPr lang="ko-KR" altLang="en-US" sz="1000" dirty="0"/>
                    </a:p>
                  </a:txBody>
                  <a:tcPr marL="90000" marR="54000" marT="28800" marB="2880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C0C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65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등록, 적재, 준비, 판정 4단계로 처리함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r>
              <a:rPr lang="ko-KR" altLang="en-US" b="1" dirty="0"/>
              <a:t>①② 구현 완료</a:t>
            </a:r>
            <a:r>
              <a:rPr lang="ko-KR" altLang="en-US" dirty="0"/>
              <a:t>, ③④는 설계 확정('26.10.16) 후 1차 화면 시안 진행 중</a:t>
            </a:r>
            <a:endParaRPr lang="en-US" altLang="ko-KR" dirty="0" smtClean="0"/>
          </a:p>
          <a:p>
            <a:r>
              <a:rPr lang="en-US" altLang="ko-KR" dirty="0" smtClean="0"/>
              <a:t>결과는 </a:t>
            </a:r>
            <a:r>
              <a:rPr lang="en-US" altLang="ko-KR" b="1" dirty="0" smtClean="0"/>
              <a:t>(Die, Chain) 단위 4분류</a:t>
            </a:r>
            <a:r>
              <a:rPr lang="en-US" altLang="ko-KR" dirty="0" smtClean="0"/>
              <a:t>로 보이고, 연관 여부는 엔지니어가 판단함</a:t>
            </a:r>
            <a:endParaRPr lang="en-US" altLang="ko-KR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II. 처리 흐름</a:t>
            </a:r>
            <a:endParaRPr lang="ko-KR" altLang="en-US"/>
          </a:p>
        </p:txBody>
      </p:sp>
      <p:sp>
        <p:nvSpPr>
          <p:cNvPr id="7" name="단계 1"/>
          <p:cNvSpPr/>
          <p:nvPr/>
        </p:nvSpPr>
        <p:spPr>
          <a:xfrm>
            <a:off x="381600" y="1519200"/>
            <a:ext cx="2164500" cy="396000"/>
          </a:xfrm>
          <a:prstGeom prst="rect">
            <a:avLst/>
          </a:prstGeom>
          <a:solidFill>
            <a:schemeClr val="accent2"/>
          </a:solidFill>
          <a:ln w="12700">
            <a:noFill/>
          </a:ln>
        </p:spPr>
        <p:txBody>
          <a:bodyPr wrap="square" lIns="36000" tIns="18000" rIns="36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① 기준정보 등록</a:t>
            </a:r>
            <a:endParaRPr lang="ko-KR" altLang="en-US" sz="1600" dirty="0"/>
          </a:p>
        </p:txBody>
      </p:sp>
      <p:sp>
        <p:nvSpPr>
          <p:cNvPr id="8" name="단계 설명 1"/>
          <p:cNvSpPr/>
          <p:nvPr/>
        </p:nvSpPr>
        <p:spPr>
          <a:xfrm>
            <a:off x="381600" y="1987200"/>
            <a:ext cx="2164500" cy="24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108000" tIns="90000" rIns="90000" bIns="54000" rtlCol="0" anchor="t">
            <a:noAutofit/>
          </a:bodyPr>
          <a:lstStyle/>
          <a:p>
            <a:pPr marL="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화면에서 미리 1회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GDS Map 저장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Device별 도형 좌표(µm)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Chain 설정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Member 도형, Chain 이름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Wafer Map Setup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사용 Die, 원점, Pitch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E-Test Parameter 등록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Spec, GDS_CHAIN_NAME</a:t>
            </a:r>
            <a:endParaRPr lang="ko-KR" altLang="en-US" sz="1100" dirty="0"/>
          </a:p>
        </p:txBody>
      </p:sp>
      <p:sp>
        <p:nvSpPr>
          <p:cNvPr id="9" name="화살표 1"/>
          <p:cNvSpPr/>
          <p:nvPr/>
        </p:nvSpPr>
        <p:spPr>
          <a:xfrm>
            <a:off x="2580300" y="1638000"/>
            <a:ext cx="93600" cy="15840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단계 2"/>
          <p:cNvSpPr/>
          <p:nvPr/>
        </p:nvSpPr>
        <p:spPr>
          <a:xfrm>
            <a:off x="2708100" y="1519200"/>
            <a:ext cx="2164500" cy="3960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txBody>
          <a:bodyPr wrap="square" lIns="36000" tIns="18000" rIns="36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② 데이터 적재</a:t>
            </a:r>
            <a:endParaRPr lang="ko-KR" altLang="en-US" sz="1600" dirty="0"/>
          </a:p>
        </p:txBody>
      </p:sp>
      <p:sp>
        <p:nvSpPr>
          <p:cNvPr id="11" name="단계 설명 2"/>
          <p:cNvSpPr/>
          <p:nvPr/>
        </p:nvSpPr>
        <p:spPr>
          <a:xfrm>
            <a:off x="2708100" y="1987200"/>
            <a:ext cx="2164500" cy="24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108000" tIns="90000" rIns="90000" bIns="54000" rtlCol="0" anchor="t">
            <a:noAutofit/>
          </a:bodyPr>
          <a:lstStyle/>
          <a:p>
            <a:pPr marL="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파일을 올릴 때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KLARF 업로드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Defect 위치, 크기, 분류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E-Test 업로드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Die별 측정값, 판정(P / F)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Die 좌표 계산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E-Test Die → 시스템 좌표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Wafer Map 확인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Map 없으면 업로드 오류</a:t>
            </a:r>
            <a:endParaRPr lang="ko-KR" altLang="en-US" sz="1100" dirty="0"/>
          </a:p>
        </p:txBody>
      </p:sp>
      <p:sp>
        <p:nvSpPr>
          <p:cNvPr id="12" name="화살표 2"/>
          <p:cNvSpPr/>
          <p:nvPr/>
        </p:nvSpPr>
        <p:spPr>
          <a:xfrm>
            <a:off x="4906800" y="1638000"/>
            <a:ext cx="93600" cy="15840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단계 3"/>
          <p:cNvSpPr/>
          <p:nvPr/>
        </p:nvSpPr>
        <p:spPr>
          <a:xfrm>
            <a:off x="5034600" y="1519200"/>
            <a:ext cx="2164500" cy="396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36000" tIns="18000" rIns="36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③ Wafer 준비</a:t>
            </a:r>
            <a:endParaRPr lang="ko-KR" altLang="en-US" sz="1600" dirty="0"/>
          </a:p>
        </p:txBody>
      </p:sp>
      <p:sp>
        <p:nvSpPr>
          <p:cNvPr id="14" name="단계 설명 3"/>
          <p:cNvSpPr/>
          <p:nvPr/>
        </p:nvSpPr>
        <p:spPr>
          <a:xfrm>
            <a:off x="5034600" y="1987200"/>
            <a:ext cx="2164500" cy="24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108000" tIns="90000" rIns="90000" bIns="54000" rtlCol="0" anchor="t">
            <a:noAutofit/>
          </a:bodyPr>
          <a:lstStyle/>
          <a:p>
            <a:pPr marL="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Wafer를 고를 때 (목록만)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Wafer 선택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DMS 조회 화면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자동 수집 (Wafer Key)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같은 Wafer의 KLARF, E-Test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엔지니어 선택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Step, 검사 면(BS / FS), 공정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점검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Map, Chain 연결 상태</a:t>
            </a:r>
            <a:endParaRPr lang="ko-KR" altLang="en-US" sz="1100" dirty="0"/>
          </a:p>
        </p:txBody>
      </p:sp>
      <p:sp>
        <p:nvSpPr>
          <p:cNvPr id="15" name="화살표 3"/>
          <p:cNvSpPr/>
          <p:nvPr/>
        </p:nvSpPr>
        <p:spPr>
          <a:xfrm>
            <a:off x="7233300" y="1638000"/>
            <a:ext cx="93600" cy="158400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단계 4"/>
          <p:cNvSpPr/>
          <p:nvPr/>
        </p:nvSpPr>
        <p:spPr>
          <a:xfrm>
            <a:off x="7361100" y="1519200"/>
            <a:ext cx="2164500" cy="396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txBody>
          <a:bodyPr wrap="square" lIns="36000" tIns="18000" rIns="36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④ 연관 판정</a:t>
            </a:r>
            <a:endParaRPr lang="ko-KR" altLang="en-US" sz="1600" dirty="0"/>
          </a:p>
        </p:txBody>
      </p:sp>
      <p:sp>
        <p:nvSpPr>
          <p:cNvPr id="17" name="단계 설명 4"/>
          <p:cNvSpPr/>
          <p:nvPr/>
        </p:nvSpPr>
        <p:spPr>
          <a:xfrm>
            <a:off x="7361100" y="1987200"/>
            <a:ext cx="2164500" cy="248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</p:spPr>
        <p:txBody>
          <a:bodyPr wrap="square" lIns="108000" tIns="90000" rIns="90000" bIns="54000" rtlCol="0" anchor="t">
            <a:noAutofit/>
          </a:bodyPr>
          <a:lstStyle/>
          <a:p>
            <a:pPr marL="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[분석]을 누를 때 (서버)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Defect → Chip 좌표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Pitch, 검사 면, 보정 X / Y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거리(Gap) 판정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Chain 도형까지 5 µm 이내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E-Test 집계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(Die, Chain 이름)별 Fail 수</a:t>
            </a:r>
            <a:endParaRPr lang="ko-KR" altLang="en-US" sz="1100" dirty="0"/>
          </a:p>
          <a:p>
            <a:pPr marL="126000" indent="-126000" algn="l" latinLnBrk="1">
              <a:lnSpc>
                <a:spcPct val="100000"/>
              </a:lnSpc>
              <a:spcBef>
                <a:spcPts val="7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  <a:ea typeface="+mn-ea"/>
              </a:rPr>
              <a:t>결과 합치기</a:t>
            </a:r>
            <a:endParaRPr lang="ko-KR" altLang="en-US" sz="1200" dirty="0"/>
          </a:p>
          <a:p>
            <a:pPr marL="12600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Die 좌표 + Chain 이름</a:t>
            </a:r>
            <a:endParaRPr lang="ko-KR" altLang="en-US" sz="1100" dirty="0"/>
          </a:p>
        </p:txBody>
      </p:sp>
      <p:sp>
        <p:nvSpPr>
          <p:cNvPr id="18" name="상태 구현"/>
          <p:cNvSpPr/>
          <p:nvPr/>
        </p:nvSpPr>
        <p:spPr>
          <a:xfrm>
            <a:off x="381600" y="4543200"/>
            <a:ext cx="4491000" cy="2232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36000" tIns="7200" rIns="36000" bIns="72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구현 완료 (일부 DMS 화면 확인 대기)</a:t>
            </a:r>
            <a:endParaRPr lang="ko-KR" altLang="en-US" sz="1200" dirty="0"/>
          </a:p>
        </p:txBody>
      </p:sp>
      <p:sp>
        <p:nvSpPr>
          <p:cNvPr id="19" name="상태 설계"/>
          <p:cNvSpPr/>
          <p:nvPr/>
        </p:nvSpPr>
        <p:spPr>
          <a:xfrm>
            <a:off x="5034600" y="4543200"/>
            <a:ext cx="4491000" cy="2232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</p:spPr>
        <p:txBody>
          <a:bodyPr wrap="square" lIns="36000" tIns="7200" rIns="36000" bIns="72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1" dirty="0">
                <a:solidFill>
                  <a:schemeClr val="bg1"/>
                </a:solidFill>
                <a:latin typeface="+mn-ea"/>
                <a:ea typeface="+mn-ea"/>
              </a:rPr>
              <a:t>설계 확정 '26.10.16 / 1차 화면 시안 진행 중</a:t>
            </a:r>
            <a:endParaRPr lang="ko-KR" altLang="en-US" sz="1200" dirty="0"/>
          </a:p>
        </p:txBody>
      </p:sp>
      <p:sp>
        <p:nvSpPr>
          <p:cNvPr id="20" name="결과 라벨"/>
          <p:cNvSpPr/>
          <p:nvPr/>
        </p:nvSpPr>
        <p:spPr>
          <a:xfrm>
            <a:off x="381600" y="4892400"/>
            <a:ext cx="1080000" cy="864000"/>
          </a:xfrm>
          <a:prstGeom prst="rect">
            <a:avLst/>
          </a:prstGeom>
          <a:solidFill>
            <a:schemeClr val="accent4"/>
          </a:solidFill>
          <a:ln w="12700">
            <a:noFill/>
          </a:ln>
        </p:spPr>
        <p:txBody>
          <a:bodyPr wrap="square" lIns="36000" tIns="18000" rIns="36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  <a:ea typeface="+mn-ea"/>
              </a:rPr>
              <a:t>결과</a:t>
            </a:r>
            <a:endParaRPr lang="ko-KR" altLang="en-US" sz="1600" dirty="0"/>
          </a:p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+mn-ea"/>
                <a:ea typeface="+mn-ea"/>
              </a:rPr>
              <a:t>(Die, Chain)</a:t>
            </a:r>
            <a:endParaRPr lang="ko-KR" altLang="en-US" sz="1200" dirty="0"/>
          </a:p>
        </p:txBody>
      </p:sp>
      <p:sp>
        <p:nvSpPr>
          <p:cNvPr id="21" name="결과 일치"/>
          <p:cNvSpPr/>
          <p:nvPr/>
        </p:nvSpPr>
        <p:spPr>
          <a:xfrm>
            <a:off x="1533600" y="4892400"/>
            <a:ext cx="1944000" cy="864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chemeClr val="bg1"/>
                </a:solidFill>
                <a:latin typeface="+mn-ea"/>
                <a:ea typeface="+mn-ea"/>
              </a:rPr>
              <a:t>일치</a:t>
            </a:r>
            <a:endParaRPr lang="ko-KR" altLang="en-US" sz="1500" dirty="0"/>
          </a:p>
          <a:p>
            <a:pPr marL="0" indent="0" algn="ctr" latinLnBrk="1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200" b="0" dirty="0">
                <a:solidFill>
                  <a:schemeClr val="bg1"/>
                </a:solidFill>
                <a:latin typeface="+mn-ea"/>
                <a:ea typeface="+mn-ea"/>
              </a:rPr>
              <a:t>Defect + E-Test Fail</a:t>
            </a:r>
            <a:endParaRPr lang="ko-KR" altLang="en-US" sz="1200" dirty="0"/>
          </a:p>
          <a:p>
            <a:pPr marL="0" indent="0" algn="ctr" latinLnBrk="1">
              <a:lnSpc>
                <a:spcPct val="100000"/>
              </a:lnSpc>
              <a:spcBef>
                <a:spcPts val="200"/>
              </a:spcBef>
              <a:buNone/>
            </a:pPr>
            <a:r>
              <a:rPr lang="ko-KR" altLang="en-US" sz="1100" b="0" dirty="0">
                <a:solidFill>
                  <a:schemeClr val="bg1"/>
                </a:solidFill>
                <a:latin typeface="+mn-ea"/>
                <a:ea typeface="+mn-ea"/>
              </a:rPr>
              <a:t>Fail 원인 후보</a:t>
            </a:r>
            <a:endParaRPr lang="ko-KR" altLang="en-US" sz="1100" dirty="0"/>
          </a:p>
        </p:txBody>
      </p:sp>
      <p:sp>
        <p:nvSpPr>
          <p:cNvPr id="22" name="결과 Fail만"/>
          <p:cNvSpPr/>
          <p:nvPr/>
        </p:nvSpPr>
        <p:spPr>
          <a:xfrm>
            <a:off x="3549600" y="4892400"/>
            <a:ext cx="1944000" cy="86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chemeClr val="accent1"/>
                </a:solidFill>
                <a:latin typeface="+mn-ea"/>
                <a:ea typeface="+mn-ea"/>
              </a:rPr>
              <a:t>Fail만</a:t>
            </a:r>
            <a:endParaRPr lang="ko-KR" altLang="en-US" sz="1500" dirty="0"/>
          </a:p>
          <a:p>
            <a:pPr marL="0" indent="0" algn="ctr" latinLnBrk="1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  <a:ea typeface="+mn-ea"/>
              </a:rPr>
              <a:t>Defect 없음 + Fail</a:t>
            </a:r>
            <a:endParaRPr lang="ko-KR" altLang="en-US" sz="1200" dirty="0"/>
          </a:p>
          <a:p>
            <a:pPr marL="0" indent="0" algn="ctr" latinLnBrk="1">
              <a:lnSpc>
                <a:spcPct val="100000"/>
              </a:lnSpc>
              <a:spcBef>
                <a:spcPts val="20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안 보이는 결함, 다른 Step</a:t>
            </a:r>
            <a:endParaRPr lang="ko-KR" altLang="en-US" sz="1100" dirty="0"/>
          </a:p>
        </p:txBody>
      </p:sp>
      <p:sp>
        <p:nvSpPr>
          <p:cNvPr id="23" name="결과 Defect만"/>
          <p:cNvSpPr/>
          <p:nvPr/>
        </p:nvSpPr>
        <p:spPr>
          <a:xfrm>
            <a:off x="5565600" y="4892400"/>
            <a:ext cx="1944000" cy="86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chemeClr val="accent1"/>
                </a:solidFill>
                <a:latin typeface="+mn-ea"/>
                <a:ea typeface="+mn-ea"/>
              </a:rPr>
              <a:t>Defect만</a:t>
            </a:r>
            <a:endParaRPr lang="ko-KR" altLang="en-US" sz="1500" dirty="0"/>
          </a:p>
          <a:p>
            <a:pPr marL="0" indent="0" algn="ctr" latinLnBrk="1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  <a:ea typeface="+mn-ea"/>
              </a:rPr>
              <a:t>Defect + Pass</a:t>
            </a:r>
            <a:endParaRPr lang="ko-KR" altLang="en-US" sz="1200" dirty="0"/>
          </a:p>
          <a:p>
            <a:pPr marL="0" indent="0" algn="ctr" latinLnBrk="1">
              <a:lnSpc>
                <a:spcPct val="100000"/>
              </a:lnSpc>
              <a:spcBef>
                <a:spcPts val="20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전기적 영향 없는 Defect</a:t>
            </a:r>
            <a:endParaRPr lang="ko-KR" altLang="en-US" sz="1100" dirty="0"/>
          </a:p>
        </p:txBody>
      </p:sp>
      <p:sp>
        <p:nvSpPr>
          <p:cNvPr id="24" name="결과 정상"/>
          <p:cNvSpPr/>
          <p:nvPr/>
        </p:nvSpPr>
        <p:spPr>
          <a:xfrm>
            <a:off x="7581600" y="4892400"/>
            <a:ext cx="1944000" cy="86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54000" tIns="18000" rIns="54000" bIns="18000" rtlCol="0" anchor="ctr">
            <a:noAutofit/>
          </a:bodyPr>
          <a:lstStyle/>
          <a:p>
            <a:pPr marL="0" indent="0" algn="ctr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500" b="1" dirty="0">
                <a:solidFill>
                  <a:schemeClr val="accent1"/>
                </a:solidFill>
                <a:latin typeface="+mn-ea"/>
                <a:ea typeface="+mn-ea"/>
              </a:rPr>
              <a:t>정상</a:t>
            </a:r>
            <a:endParaRPr lang="ko-KR" altLang="en-US" sz="1500" dirty="0"/>
          </a:p>
          <a:p>
            <a:pPr marL="0" indent="0" algn="ctr" latinLnBrk="1">
              <a:lnSpc>
                <a:spcPct val="100000"/>
              </a:lnSpc>
              <a:spcBef>
                <a:spcPts val="400"/>
              </a:spcBef>
              <a:buNone/>
            </a:pPr>
            <a:r>
              <a:rPr lang="ko-KR" altLang="en-US" sz="1200" b="0" dirty="0">
                <a:solidFill>
                  <a:schemeClr val="tx1"/>
                </a:solidFill>
                <a:latin typeface="+mn-ea"/>
                <a:ea typeface="+mn-ea"/>
              </a:rPr>
              <a:t>Defect 없음 + Pass</a:t>
            </a:r>
            <a:endParaRPr lang="ko-KR" altLang="en-US" sz="1200" dirty="0"/>
          </a:p>
          <a:p>
            <a:pPr marL="0" indent="0" algn="ctr" latinLnBrk="1">
              <a:lnSpc>
                <a:spcPct val="100000"/>
              </a:lnSpc>
              <a:spcBef>
                <a:spcPts val="200"/>
              </a:spcBef>
              <a:buNone/>
            </a:pPr>
            <a:r>
              <a:rPr lang="ko-KR" altLang="en-US" sz="11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확인 대상 아님</a:t>
            </a:r>
            <a:endParaRPr lang="ko-KR" altLang="en-US" sz="1100" dirty="0"/>
          </a:p>
        </p:txBody>
      </p:sp>
      <p:sp>
        <p:nvSpPr>
          <p:cNvPr id="25" name="참고"/>
          <p:cNvSpPr/>
          <p:nvPr/>
        </p:nvSpPr>
        <p:spPr>
          <a:xfrm>
            <a:off x="381600" y="5810400"/>
            <a:ext cx="9144000" cy="669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18000" rIns="0" bIns="0" rtlCol="0" anchor="t">
            <a:noAutofit/>
          </a:bodyPr>
          <a:lstStyle/>
          <a:p>
            <a:pPr marL="0" indent="0" algn="l" latinLnBrk="1">
              <a:lnSpc>
                <a:spcPct val="100000"/>
              </a:lnSpc>
              <a:spcBef>
                <a:spcPts val="0"/>
              </a:spcBef>
              <a:buNone/>
            </a:pPr>
            <a:r>
              <a:rPr lang="ko-KR" altLang="en-US" sz="10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※ Chain별로 Defect 있는 Die와 없는 Die의 Fail률을 비교하고, Die 상세에서 도면 위 Defect, Chain, E-Test 값을 확인</a:t>
            </a:r>
            <a:endParaRPr lang="ko-KR" altLang="en-US" sz="1050" dirty="0"/>
          </a:p>
          <a:p>
            <a:pPr marL="0" indent="0" algn="l" latinLnBrk="1">
              <a:lnSpc>
                <a:spcPct val="100000"/>
              </a:lnSpc>
              <a:spcBef>
                <a:spcPts val="200"/>
              </a:spcBef>
              <a:buNone/>
            </a:pPr>
            <a:r>
              <a:rPr lang="ko-KR" altLang="en-US" sz="10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※ 현재 운영 화면은 GDS × KLARF만 연결(Bounds 겹침). E-Test 연결, Wafer 준비, 거리 판정은 이번 설계로 추가</a:t>
            </a:r>
            <a:endParaRPr lang="ko-KR" altLang="en-US" sz="1050" dirty="0"/>
          </a:p>
          <a:p>
            <a:pPr marL="0" indent="0" algn="l" latinLnBrk="1">
              <a:lnSpc>
                <a:spcPct val="100000"/>
              </a:lnSpc>
              <a:spcBef>
                <a:spcPts val="200"/>
              </a:spcBef>
              <a:buNone/>
            </a:pPr>
            <a:r>
              <a:rPr lang="ko-KR" altLang="en-US" sz="10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※ 고객 협의 </a:t>
            </a:r>
            <a:r>
              <a:rPr lang="ko-KR" altLang="en-US" sz="1050" b="0" dirty="0">
                <a:solidFill>
                  <a:schemeClr val="accent6"/>
                </a:solidFill>
                <a:latin typeface="+mn-ea"/>
                <a:ea typeface="+mn-ea"/>
              </a:rPr>
              <a:t>[확인 필요]</a:t>
            </a:r>
            <a:r>
              <a:rPr lang="ko-KR" altLang="en-US" sz="105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rPr>
              <a:t>: Wafer ID 규칙, 허용오차 값, Chip 위치 보정 값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27955</TotalTime>
  <Words>658</Words>
  <Application>Microsoft Office PowerPoint</Application>
  <PresentationFormat>A4 용지(210x297mm)</PresentationFormat>
  <Paragraphs>129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Segoe UI</vt:lpstr>
      <vt:lpstr>문서템플릿</vt:lpstr>
      <vt:lpstr>PowerPoint 프레젠테이션</vt:lpstr>
      <vt:lpstr>5개 연결 키로 GDS, KLARF, E-Test를 묶음</vt:lpstr>
      <vt:lpstr>등록, 적재, 준비, 판정 4단계로 처리함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GDS KLARF E-Test 연결 기준정보와 처리 흐름</dc:title>
  <dc:creator/>
  <cp:lastModifiedBy>BJ</cp:lastModifiedBy>
  <cp:revision>2</cp:revision>
  <dcterms:created xsi:type="dcterms:W3CDTF">2013-11-13T01:08:07Z</dcterms:created>
  <dcterms:modified xsi:type="dcterms:W3CDTF">2026-10-16T00:20:30Z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