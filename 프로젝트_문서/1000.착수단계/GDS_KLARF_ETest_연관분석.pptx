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8"/>
  </p:notesMasterIdLst>
  <p:handoutMasterIdLst>
    <p:handoutMasterId r:id="rId9"/>
  </p:handoutMasterIdLst>
  <p:sldIdLst>
    <p:sldId id="257" r:id="rId5"/>
    <p:sldId id="258" r:id="rId6"/>
    <p:sldId id="259" r:id="rId7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9" autoAdjust="0"/>
    <p:restoredTop sz="96339" autoAdjust="0"/>
  </p:normalViewPr>
  <p:slideViewPr>
    <p:cSldViewPr snapToGrid="0">
      <p:cViewPr varScale="1">
        <p:scale>
          <a:sx n="92" d="100"/>
          <a:sy n="92" d="100"/>
        </p:scale>
        <p:origin x="1292" y="68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3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947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업_배경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24000" y="-1523998"/>
            <a:ext cx="6858000" cy="9906000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각 삼각형 3"/>
          <p:cNvSpPr/>
          <p:nvPr userDrawn="1"/>
        </p:nvSpPr>
        <p:spPr>
          <a:xfrm flipH="1">
            <a:off x="3833446" y="785449"/>
            <a:ext cx="6072552" cy="6072552"/>
          </a:xfrm>
          <a:prstGeom prst="rtTriangle">
            <a:avLst/>
          </a:prstGeom>
          <a:gradFill flip="none" rotWithShape="1">
            <a:gsLst>
              <a:gs pos="51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37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25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35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40" name="그룹 3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47" name="직사각형 4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직사각형 4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41" name="그룹 4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42" name="직사각형 4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43" name="그룹 4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45" name="직사각형 4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6" name="직사각형 4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44" name="직사각형 4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49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44084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2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41683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>
          <p15:clr>
            <a:srgbClr val="FBAE40"/>
          </p15:clr>
        </p15:guide>
        <p15:guide id="2" pos="60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21813" y="1618816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2751826" y="908721"/>
            <a:ext cx="6487065" cy="546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115038" y="1124745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ko-KR" altLang="en-US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별첨자료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037" y="1019970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cxnSp>
        <p:nvCxnSpPr>
          <p:cNvPr id="6" name="직선 연결선 5"/>
          <p:cNvCxnSpPr/>
          <p:nvPr userDrawn="1"/>
        </p:nvCxnSpPr>
        <p:spPr>
          <a:xfrm flipV="1">
            <a:off x="819509" y="1645444"/>
            <a:ext cx="1506972" cy="95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2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3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오브젝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3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aphicFrame>
        <p:nvGraphicFramePr>
          <p:cNvPr id="19" name="표 2">
            <a:extLst>
              <a:ext uri="{FF2B5EF4-FFF2-40B4-BE49-F238E27FC236}">
                <a16:creationId xmlns:a16="http://schemas.microsoft.com/office/drawing/2014/main" id="{F97B612E-35DE-560C-37CA-503D4EBDF32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8004078"/>
              </p:ext>
            </p:extLst>
          </p:nvPr>
        </p:nvGraphicFramePr>
        <p:xfrm>
          <a:off x="417515" y="1563113"/>
          <a:ext cx="9072880" cy="48842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644">
                  <a:extLst>
                    <a:ext uri="{9D8B030D-6E8A-4147-A177-3AD203B41FA5}">
                      <a16:colId xmlns:a16="http://schemas.microsoft.com/office/drawing/2014/main" val="397380730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20007287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40174775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9298287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48622524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032514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19069717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03039018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713891701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0596480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19888667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6690651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95831483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868525859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68234630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51942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78799090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26539898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022057505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398815053"/>
                    </a:ext>
                  </a:extLst>
                </a:gridCol>
              </a:tblGrid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433756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765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67125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97570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63577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80053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4917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911529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0874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10953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83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1500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orient="horz" pos="4088">
          <p15:clr>
            <a:srgbClr val="FBAE40"/>
          </p15:clr>
        </p15:guide>
        <p15:guide id="3" pos="240">
          <p15:clr>
            <a:srgbClr val="FBAE40"/>
          </p15:clr>
        </p15:guide>
        <p15:guide id="4" pos="60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090907" y="3432561"/>
            <a:ext cx="1722138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</a:t>
            </a:r>
            <a:endParaRPr lang="ko-KR" altLang="en-US" sz="1600" b="1" dirty="0">
              <a:solidFill>
                <a:schemeClr val="tx2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4027" r:id="rId2"/>
    <p:sldLayoutId id="2147483958" r:id="rId3"/>
    <p:sldLayoutId id="2147484030" r:id="rId4"/>
    <p:sldLayoutId id="2147484095" r:id="rId5"/>
    <p:sldLayoutId id="2147484097" r:id="rId6"/>
    <p:sldLayoutId id="2147484096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'26.10.13</a:t>
            </a:r>
            <a:endParaRPr lang="ko-KR" altLang="en-US" dirty="0"/>
          </a:p>
        </p:txBody>
      </p:sp>
      <p:sp>
        <p:nvSpPr>
          <p:cNvPr id="9" name="내용 개체 틀 1"/>
          <p:cNvSpPr>
            <a:spLocks noGrp="1"/>
          </p:cNvSpPr>
          <p:nvPr>
            <p:ph sz="quarter" idx="16"/>
          </p:nvPr>
        </p:nvSpPr>
        <p:spPr>
          <a:xfrm>
            <a:off x="900000" y="5301208"/>
            <a:ext cx="2092582" cy="372228"/>
          </a:xfrm>
        </p:spPr>
        <p:txBody>
          <a:bodyPr/>
          <a:lstStyle/>
          <a:p>
            <a:r>
              <a:rPr lang="ko-KR" altLang="en-US" dirty="0" smtClean="0"/>
              <a:t>미라콤 정병주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GDS, KLARF, E-Test 연관 분석 방법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dirty="0"/>
              <a:t>Defect E-Test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POC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228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데이터는 </a:t>
            </a:r>
            <a:r>
              <a:rPr lang="ko-KR" altLang="en-US" dirty="0"/>
              <a:t>Wafer, Die, Chain 기준으로 </a:t>
            </a:r>
            <a:r>
              <a:rPr lang="ko-KR" altLang="en-US" dirty="0" smtClean="0"/>
              <a:t>연결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GDS는 </a:t>
            </a:r>
            <a:r>
              <a:rPr lang="ko-KR" altLang="en-US" b="1" dirty="0"/>
              <a:t>Chain이 지나가는 위치</a:t>
            </a:r>
            <a:r>
              <a:rPr lang="ko-KR" altLang="en-US" dirty="0"/>
              <a:t>, KLARF는 </a:t>
            </a:r>
            <a:r>
              <a:rPr lang="ko-KR" altLang="en-US" b="1" dirty="0"/>
              <a:t>Defect 위치</a:t>
            </a:r>
            <a:r>
              <a:rPr lang="ko-KR" altLang="en-US" dirty="0"/>
              <a:t>, </a:t>
            </a:r>
            <a:r>
              <a:rPr lang="ko-KR" altLang="en-US" dirty="0" err="1"/>
              <a:t>E-Test는</a:t>
            </a:r>
            <a:r>
              <a:rPr lang="ko-KR" altLang="en-US" dirty="0"/>
              <a:t> </a:t>
            </a:r>
            <a:r>
              <a:rPr lang="ko-KR" altLang="en-US" b="1" dirty="0" err="1"/>
              <a:t>Chain</a:t>
            </a:r>
            <a:r>
              <a:rPr lang="en-US" altLang="ko-KR" b="1" dirty="0" smtClean="0"/>
              <a:t> + Measure Data</a:t>
            </a:r>
            <a:endParaRPr lang="en-US" altLang="ko-KR" dirty="0" smtClean="0"/>
          </a:p>
          <a:p>
            <a:r>
              <a:rPr lang="en-US" altLang="ko-KR" dirty="0" smtClean="0"/>
              <a:t>세 가지를 같은 Wafer, 같은 Die, 같은 Chain으로 맞춰 </a:t>
            </a:r>
            <a:r>
              <a:rPr lang="en-US" altLang="ko-KR" dirty="0" err="1" smtClean="0"/>
              <a:t>겹쳐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I. 데이터 연결 구조</a:t>
            </a: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3002400" cy="39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>
              <a:spcAft>
                <a:spcPts val="200"/>
              </a:spcAft>
            </a:pPr>
            <a:r>
              <a:rPr sz="1600" b="1">
                <a:solidFill>
                  <a:schemeClr val="bg1"/>
                </a:solidFill>
              </a:rPr>
              <a:t>GDS (칩 도면)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69200"/>
            <a:ext cx="3002400" cy="21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2036837"/>
            <a:ext cx="2858400" cy="1790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atinLnBrk="0">
              <a:spcAft>
                <a:spcPts val="200"/>
              </a:spcAft>
            </a:pPr>
            <a:r>
              <a:rPr sz="1200" b="0" dirty="0">
                <a:solidFill>
                  <a:schemeClr val="tx1"/>
                </a:solidFill>
              </a:rPr>
              <a:t>칩 </a:t>
            </a:r>
            <a:r>
              <a:rPr sz="1200" b="0" dirty="0" err="1">
                <a:solidFill>
                  <a:schemeClr val="tx1"/>
                </a:solidFill>
              </a:rPr>
              <a:t>안에서</a:t>
            </a:r>
            <a:r>
              <a:rPr sz="1200" b="0" dirty="0">
                <a:solidFill>
                  <a:schemeClr val="tx1"/>
                </a:solidFill>
              </a:rPr>
              <a:t> Chain(</a:t>
            </a:r>
            <a:r>
              <a:rPr sz="1200" b="0" dirty="0" err="1">
                <a:solidFill>
                  <a:schemeClr val="tx1"/>
                </a:solidFill>
              </a:rPr>
              <a:t>데이지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체인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배선</a:t>
            </a:r>
            <a:r>
              <a:rPr sz="1200" b="0" dirty="0">
                <a:solidFill>
                  <a:schemeClr val="tx1"/>
                </a:solidFill>
              </a:rPr>
              <a:t>)이</a:t>
            </a:r>
            <a:r>
              <a:rPr dirty="0"/>
              <a:t/>
            </a:r>
            <a:br>
              <a:rPr dirty="0"/>
            </a:br>
            <a:r>
              <a:rPr sz="1200" b="0" dirty="0" err="1">
                <a:solidFill>
                  <a:schemeClr val="tx1"/>
                </a:solidFill>
              </a:rPr>
              <a:t>지나가는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 smtClean="0">
                <a:solidFill>
                  <a:schemeClr val="tx1"/>
                </a:solidFill>
              </a:rPr>
              <a:t>위치</a:t>
            </a:r>
            <a:endParaRPr lang="en-US" sz="1200" b="0" dirty="0" smtClean="0">
              <a:solidFill>
                <a:schemeClr val="tx1"/>
              </a:solidFill>
            </a:endParaRPr>
          </a:p>
          <a:p>
            <a:pPr latinLnBrk="0">
              <a:spcAft>
                <a:spcPts val="200"/>
              </a:spcAft>
            </a:pPr>
            <a:r>
              <a:rPr lang="en-US" sz="1200" b="0" dirty="0" smtClean="0">
                <a:solidFill>
                  <a:schemeClr val="tx1"/>
                </a:solidFill>
              </a:rPr>
              <a:t/>
            </a:r>
            <a:br>
              <a:rPr lang="en-US" sz="1200" b="0" dirty="0" smtClean="0">
                <a:solidFill>
                  <a:schemeClr val="tx1"/>
                </a:solidFill>
              </a:rPr>
            </a:br>
            <a:r>
              <a:rPr lang="en-US" altLang="ko-KR" sz="1200" dirty="0"/>
              <a:t>Input, Output </a:t>
            </a:r>
            <a:r>
              <a:rPr lang="ko-KR" altLang="en-US" sz="1200" dirty="0"/>
              <a:t>단자를 지정해</a:t>
            </a:r>
            <a:br>
              <a:rPr lang="ko-KR" altLang="en-US" sz="1200" dirty="0"/>
            </a:br>
            <a:r>
              <a:rPr lang="en-US" altLang="ko-KR" sz="1200" dirty="0"/>
              <a:t>Chain </a:t>
            </a:r>
            <a:r>
              <a:rPr lang="ko-KR" altLang="en-US" sz="1200" dirty="0"/>
              <a:t>영역 등록 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디바이스별</a:t>
            </a:r>
            <a:r>
              <a:rPr lang="ko-KR" altLang="en-US" sz="1200" dirty="0"/>
              <a:t> </a:t>
            </a:r>
            <a:r>
              <a:rPr lang="en-US" altLang="ko-KR" sz="1200" dirty="0"/>
              <a:t>1</a:t>
            </a:r>
            <a:r>
              <a:rPr lang="ko-KR" altLang="en-US" sz="1200" dirty="0"/>
              <a:t>회</a:t>
            </a:r>
            <a:r>
              <a:rPr lang="en-US" altLang="ko-KR" sz="1200" dirty="0" smtClean="0"/>
              <a:t>)</a:t>
            </a:r>
          </a:p>
          <a:p>
            <a:pPr latinLnBrk="0">
              <a:spcAft>
                <a:spcPts val="200"/>
              </a:spcAft>
            </a:pPr>
            <a:endParaRPr lang="en-US" altLang="ko-KR" sz="1200" dirty="0"/>
          </a:p>
          <a:p>
            <a:pPr latinLnBrk="0">
              <a:spcAft>
                <a:spcPts val="200"/>
              </a:spcAft>
            </a:pPr>
            <a:r>
              <a:rPr lang="ko-KR" altLang="en-US" sz="1200" dirty="0"/>
              <a:t>원본은 </a:t>
            </a:r>
            <a:r>
              <a:rPr lang="en-US" altLang="ko-KR" sz="1200" dirty="0"/>
              <a:t>FS, </a:t>
            </a:r>
            <a:r>
              <a:rPr lang="ko-KR" altLang="en-US" sz="1200" dirty="0"/>
              <a:t>분석에서는 </a:t>
            </a:r>
            <a:r>
              <a:rPr lang="en-US" altLang="ko-KR" sz="1200" dirty="0"/>
              <a:t>BS</a:t>
            </a:r>
            <a:r>
              <a:rPr lang="ko-KR" altLang="en-US" sz="1200" dirty="0"/>
              <a:t>로 뒤집어 사용</a:t>
            </a:r>
          </a:p>
          <a:p>
            <a:pPr latinLnBrk="0">
              <a:spcAft>
                <a:spcPts val="200"/>
              </a:spcAft>
            </a:pPr>
            <a:r>
              <a:rPr lang="en-US" altLang="ko-KR" sz="1200" dirty="0" smtClean="0"/>
              <a:t>-&gt; </a:t>
            </a:r>
            <a:r>
              <a:rPr lang="ko-KR" altLang="en-US" sz="1200" dirty="0" smtClean="0"/>
              <a:t>사용자가 선택 가능</a:t>
            </a:r>
            <a:endParaRPr lang="en-US" altLang="ko-KR" sz="1200" dirty="0"/>
          </a:p>
          <a:p>
            <a:pPr algn="l" latinLnBrk="0">
              <a:spcAft>
                <a:spcPts val="200"/>
              </a:spcAft>
            </a:pPr>
            <a:endParaRPr sz="1200" b="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52400" y="1519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>
              <a:spcAft>
                <a:spcPts val="200"/>
              </a:spcAft>
            </a:pPr>
            <a:r>
              <a:rPr sz="1600" b="1">
                <a:solidFill>
                  <a:schemeClr val="bg1"/>
                </a:solidFill>
              </a:rPr>
              <a:t>KLARF (AOI 결과)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52400" y="1969200"/>
            <a:ext cx="3002400" cy="21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4399" y="2036837"/>
            <a:ext cx="2858400" cy="78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 dirty="0" err="1">
                <a:solidFill>
                  <a:schemeClr val="tx1"/>
                </a:solidFill>
              </a:rPr>
              <a:t>Defect가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있는</a:t>
            </a:r>
            <a:r>
              <a:rPr sz="1200" b="0" dirty="0">
                <a:solidFill>
                  <a:schemeClr val="tx1"/>
                </a:solidFill>
              </a:rPr>
              <a:t> Die, Die 안 </a:t>
            </a:r>
            <a:r>
              <a:rPr sz="1200" b="0" dirty="0" err="1">
                <a:solidFill>
                  <a:schemeClr val="tx1"/>
                </a:solidFill>
              </a:rPr>
              <a:t>위치</a:t>
            </a:r>
            <a:r>
              <a:rPr sz="1200" b="0" dirty="0">
                <a:solidFill>
                  <a:schemeClr val="tx1"/>
                </a:solidFill>
              </a:rPr>
              <a:t>,</a:t>
            </a:r>
            <a:r>
              <a:rPr dirty="0"/>
              <a:t/>
            </a:r>
            <a:br>
              <a:rPr dirty="0"/>
            </a:br>
            <a:r>
              <a:rPr sz="1200" b="0" dirty="0" err="1">
                <a:solidFill>
                  <a:schemeClr val="tx1"/>
                </a:solidFill>
              </a:rPr>
              <a:t>분류</a:t>
            </a:r>
            <a:r>
              <a:rPr sz="1200" b="0" dirty="0">
                <a:solidFill>
                  <a:schemeClr val="tx1"/>
                </a:solidFill>
              </a:rPr>
              <a:t>, </a:t>
            </a:r>
            <a:r>
              <a:rPr sz="1200" b="0" dirty="0" err="1" smtClean="0">
                <a:solidFill>
                  <a:schemeClr val="tx1"/>
                </a:solidFill>
              </a:rPr>
              <a:t>이미지</a:t>
            </a:r>
            <a:endParaRPr lang="en-US" sz="1200" b="0" dirty="0" smtClean="0">
              <a:solidFill>
                <a:schemeClr val="tx1"/>
              </a:solidFill>
            </a:endParaRPr>
          </a:p>
          <a:p>
            <a:pPr algn="l" latinLnBrk="0">
              <a:spcAft>
                <a:spcPts val="200"/>
              </a:spcAft>
            </a:pPr>
            <a:endParaRPr lang="en-US" sz="1200" dirty="0"/>
          </a:p>
          <a:p>
            <a:pPr algn="l" latinLnBrk="0">
              <a:spcAft>
                <a:spcPts val="200"/>
              </a:spcAft>
            </a:pPr>
            <a:endParaRPr sz="1200" b="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23199" y="1519200"/>
            <a:ext cx="3002400" cy="39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>
              <a:spcAft>
                <a:spcPts val="200"/>
              </a:spcAft>
            </a:pPr>
            <a:r>
              <a:rPr sz="1600" b="1">
                <a:solidFill>
                  <a:schemeClr val="bg1"/>
                </a:solidFill>
              </a:rPr>
              <a:t>E-Test (전기 측정)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23199" y="1969200"/>
            <a:ext cx="3002400" cy="21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95199" y="2036837"/>
            <a:ext cx="2858400" cy="394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 dirty="0" err="1">
                <a:solidFill>
                  <a:schemeClr val="tx1"/>
                </a:solidFill>
              </a:rPr>
              <a:t>Die별</a:t>
            </a:r>
            <a:r>
              <a:rPr sz="1200" b="0" dirty="0">
                <a:solidFill>
                  <a:schemeClr val="tx1"/>
                </a:solidFill>
              </a:rPr>
              <a:t>, </a:t>
            </a:r>
            <a:r>
              <a:rPr sz="1200" b="0" dirty="0" err="1">
                <a:solidFill>
                  <a:schemeClr val="tx1"/>
                </a:solidFill>
              </a:rPr>
              <a:t>Chain별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저항</a:t>
            </a:r>
            <a:r>
              <a:rPr sz="1200" b="0" dirty="0">
                <a:solidFill>
                  <a:schemeClr val="tx1"/>
                </a:solidFill>
              </a:rPr>
              <a:t>(RES)과 </a:t>
            </a:r>
            <a:r>
              <a:rPr sz="1200" b="0" dirty="0" err="1">
                <a:solidFill>
                  <a:schemeClr val="tx1"/>
                </a:solidFill>
              </a:rPr>
              <a:t>누설</a:t>
            </a:r>
            <a:r>
              <a:rPr sz="1200" b="0" dirty="0">
                <a:solidFill>
                  <a:schemeClr val="tx1"/>
                </a:solidFill>
              </a:rPr>
              <a:t>(LKG) </a:t>
            </a:r>
            <a:r>
              <a:rPr sz="1200" b="0" dirty="0" smtClean="0">
                <a:solidFill>
                  <a:schemeClr val="tx1"/>
                </a:solidFill>
              </a:rPr>
              <a:t>값</a:t>
            </a:r>
            <a:endParaRPr lang="en-US" sz="1200" b="0" dirty="0" smtClean="0">
              <a:solidFill>
                <a:schemeClr val="tx1"/>
              </a:solidFill>
            </a:endParaRPr>
          </a:p>
          <a:p>
            <a:pPr algn="l" latinLnBrk="0">
              <a:spcAft>
                <a:spcPts val="200"/>
              </a:spcAft>
            </a:pPr>
            <a:endParaRPr sz="1200" b="0" dirty="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1600" y="4237200"/>
            <a:ext cx="914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400" b="1">
                <a:solidFill>
                  <a:schemeClr val="tx1"/>
                </a:solidFill>
              </a:rPr>
              <a:t>연결 기준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1600" y="4507200"/>
            <a:ext cx="1080000" cy="34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>
              <a:spcAft>
                <a:spcPts val="200"/>
              </a:spcAft>
            </a:pPr>
            <a:r>
              <a:rPr sz="1200" b="1">
                <a:solidFill>
                  <a:schemeClr val="accent1"/>
                </a:solidFill>
              </a:rPr>
              <a:t>Wafer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3600" y="4507200"/>
            <a:ext cx="1512000" cy="34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tx1"/>
                </a:solidFill>
              </a:rPr>
              <a:t>KLARF ↔ E-Test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45600" y="4507200"/>
            <a:ext cx="6480000" cy="34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KLARF Wafer ID와 E-Test 파일명의 Lot-Wafer 번호 (예: U9-HS2633-01)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81600" y="4878000"/>
            <a:ext cx="9143999" cy="0"/>
          </a:xfrm>
          <a:prstGeom prst="line">
            <a:avLst/>
          </a:prstGeom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81600" y="4910400"/>
            <a:ext cx="1080000" cy="34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>
              <a:spcAft>
                <a:spcPts val="200"/>
              </a:spcAft>
            </a:pPr>
            <a:r>
              <a:rPr sz="1200" b="1">
                <a:solidFill>
                  <a:schemeClr val="accent1"/>
                </a:solidFill>
              </a:rPr>
              <a:t>Die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00" y="4910400"/>
            <a:ext cx="1512000" cy="34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 dirty="0">
                <a:solidFill>
                  <a:schemeClr val="tx1"/>
                </a:solidFill>
              </a:rPr>
              <a:t>KLARF ↔ E-Test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45600" y="4952715"/>
            <a:ext cx="6480000" cy="257369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 dirty="0">
                <a:solidFill>
                  <a:schemeClr val="tx1"/>
                </a:solidFill>
              </a:rPr>
              <a:t>두 </a:t>
            </a:r>
            <a:r>
              <a:rPr sz="1200" b="0" dirty="0" err="1">
                <a:solidFill>
                  <a:schemeClr val="tx1"/>
                </a:solidFill>
              </a:rPr>
              <a:t>파일의</a:t>
            </a:r>
            <a:r>
              <a:rPr sz="1200" b="0" dirty="0">
                <a:solidFill>
                  <a:schemeClr val="tx1"/>
                </a:solidFill>
              </a:rPr>
              <a:t> Die </a:t>
            </a:r>
            <a:r>
              <a:rPr sz="1200" b="0" dirty="0" err="1">
                <a:solidFill>
                  <a:schemeClr val="tx1"/>
                </a:solidFill>
              </a:rPr>
              <a:t>좌표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체계가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다름</a:t>
            </a:r>
            <a:r>
              <a:rPr sz="1200" b="0" dirty="0">
                <a:solidFill>
                  <a:schemeClr val="tx1"/>
                </a:solidFill>
              </a:rPr>
              <a:t> → </a:t>
            </a:r>
            <a:r>
              <a:rPr sz="1200" b="0" dirty="0" err="1">
                <a:solidFill>
                  <a:schemeClr val="tx1"/>
                </a:solidFill>
              </a:rPr>
              <a:t>연구소</a:t>
            </a:r>
            <a:r>
              <a:rPr sz="1200" b="0" dirty="0">
                <a:solidFill>
                  <a:schemeClr val="tx1"/>
                </a:solidFill>
              </a:rPr>
              <a:t> Die </a:t>
            </a:r>
            <a:r>
              <a:rPr sz="1200" b="0" dirty="0" err="1" smtClean="0">
                <a:solidFill>
                  <a:schemeClr val="tx1"/>
                </a:solidFill>
              </a:rPr>
              <a:t>대응표로</a:t>
            </a:r>
            <a:r>
              <a:rPr sz="1200" b="0" dirty="0" smtClean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같은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Die를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찾음</a:t>
            </a:r>
            <a:endParaRPr sz="1200" b="0" dirty="0">
              <a:solidFill>
                <a:schemeClr val="tx1"/>
              </a:solidFill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381600" y="5281200"/>
            <a:ext cx="9143999" cy="0"/>
          </a:xfrm>
          <a:prstGeom prst="line">
            <a:avLst/>
          </a:prstGeom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81600" y="5313600"/>
            <a:ext cx="1080000" cy="34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>
              <a:spcAft>
                <a:spcPts val="200"/>
              </a:spcAft>
            </a:pPr>
            <a:r>
              <a:rPr sz="1200" b="1">
                <a:solidFill>
                  <a:schemeClr val="accent1"/>
                </a:solidFill>
              </a:rPr>
              <a:t>Chain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3600" y="5313600"/>
            <a:ext cx="1512000" cy="34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tx1"/>
                </a:solidFill>
              </a:rPr>
              <a:t>E-Test ↔ GDS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5600" y="5313600"/>
            <a:ext cx="6480000" cy="34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E-Test Parameter 안의 Chain 이름과 GDS 라벨로 등록한 Chain을 1:1로 연결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81600" y="5684400"/>
            <a:ext cx="9143999" cy="0"/>
          </a:xfrm>
          <a:prstGeom prst="line">
            <a:avLst/>
          </a:prstGeom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81600" y="5716800"/>
            <a:ext cx="1080000" cy="34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>
              <a:spcAft>
                <a:spcPts val="200"/>
              </a:spcAft>
            </a:pPr>
            <a:r>
              <a:rPr sz="1200" b="1">
                <a:solidFill>
                  <a:schemeClr val="accent1"/>
                </a:solidFill>
              </a:rPr>
              <a:t>위치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33600" y="5716800"/>
            <a:ext cx="1512000" cy="34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tx1"/>
                </a:solidFill>
              </a:rPr>
              <a:t>KLARF ↔ GDS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5600" y="5716800"/>
            <a:ext cx="6480000" cy="34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Defect의 Die 안 좌표를 칩 도면 좌표로 옮겨 Chain 영역과 겹침 확인 (허용오차 적용)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81600" y="6087600"/>
            <a:ext cx="9143999" cy="0"/>
          </a:xfrm>
          <a:prstGeom prst="line">
            <a:avLst/>
          </a:prstGeom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Fail Chain에서 시작해 Defect 후보까지 좁혀 감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E-Test로 끊긴 Chain을 찾고, 같은 Die의 Defect가 그 Chain 위에 있는지 도면에 겹쳐 확인</a:t>
            </a:r>
            <a:endParaRPr lang="en-US" altLang="ko-KR" dirty="0" smtClean="0"/>
          </a:p>
          <a:p>
            <a:r>
              <a:rPr lang="en-US" altLang="ko-KR" b="1" dirty="0" smtClean="0"/>
              <a:t>연관 여부 판단은 엔지니어</a:t>
            </a:r>
            <a:r>
              <a:rPr lang="en-US" altLang="ko-KR" dirty="0" smtClean="0"/>
              <a:t>가 하고, 시스템은 위치와 개수를 보여줌</a:t>
            </a:r>
            <a:endParaRPr lang="en-US" altLang="ko-KR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II. 분석 흐름</a:t>
            </a:r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1191599" y="1519200"/>
            <a:ext cx="503999" cy="5039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latinLnBrk="0">
              <a:spcAft>
                <a:spcPts val="200"/>
              </a:spcAft>
            </a:pPr>
            <a:r>
              <a:rPr sz="1600" b="1" dirty="0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2113199"/>
            <a:ext cx="2124000" cy="3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Fail Chain 찾기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2527200"/>
            <a:ext cx="2124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t"/>
          <a:lstStyle/>
          <a:p>
            <a:pPr algn="l" latinLnBrk="0">
              <a:spcAft>
                <a:spcPts val="200"/>
              </a:spcAft>
            </a:pPr>
            <a:r>
              <a:rPr sz="1200" b="0" dirty="0">
                <a:solidFill>
                  <a:schemeClr val="tx1"/>
                </a:solidFill>
              </a:rPr>
              <a:t>• E-Test </a:t>
            </a:r>
            <a:r>
              <a:rPr sz="1200" b="0" dirty="0" err="1">
                <a:solidFill>
                  <a:schemeClr val="tx1"/>
                </a:solidFill>
              </a:rPr>
              <a:t>파일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업로드</a:t>
            </a:r>
            <a:endParaRPr sz="1200" b="0" dirty="0">
              <a:solidFill>
                <a:schemeClr val="tx1"/>
              </a:solidFill>
            </a:endParaRPr>
          </a:p>
          <a:p>
            <a:pPr algn="l" latinLnBrk="0">
              <a:spcAft>
                <a:spcPts val="200"/>
              </a:spcAft>
            </a:pPr>
            <a:r>
              <a:rPr sz="1200" b="0" dirty="0">
                <a:solidFill>
                  <a:schemeClr val="tx1"/>
                </a:solidFill>
              </a:rPr>
              <a:t>• </a:t>
            </a:r>
            <a:r>
              <a:rPr sz="1200" b="0" dirty="0" err="1">
                <a:solidFill>
                  <a:schemeClr val="tx1"/>
                </a:solidFill>
              </a:rPr>
              <a:t>Spec으로</a:t>
            </a:r>
            <a:r>
              <a:rPr sz="1200" b="0" dirty="0">
                <a:solidFill>
                  <a:schemeClr val="tx1"/>
                </a:solidFill>
              </a:rPr>
              <a:t> Fail Die,</a:t>
            </a:r>
            <a:r>
              <a:rPr dirty="0"/>
              <a:t/>
            </a:r>
            <a:br>
              <a:rPr dirty="0"/>
            </a:br>
            <a:r>
              <a:rPr sz="1200" b="0" dirty="0">
                <a:solidFill>
                  <a:schemeClr val="tx1"/>
                </a:solidFill>
              </a:rPr>
              <a:t>Fail Chain </a:t>
            </a:r>
            <a:r>
              <a:rPr sz="1200" b="0" dirty="0" err="1" smtClean="0">
                <a:solidFill>
                  <a:schemeClr val="tx1"/>
                </a:solidFill>
              </a:rPr>
              <a:t>표시</a:t>
            </a:r>
            <a:endParaRPr sz="1200" b="0" dirty="0">
              <a:solidFill>
                <a:schemeClr val="tx1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541600" y="2185200"/>
            <a:ext cx="144000" cy="216000"/>
          </a:xfrm>
          <a:prstGeom prst="chevron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31600" y="1519200"/>
            <a:ext cx="503999" cy="5039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latinLnBrk="0">
              <a:spcAft>
                <a:spcPts val="200"/>
              </a:spcAft>
            </a:pPr>
            <a:r>
              <a:rPr sz="1600" b="1">
                <a:solidFill>
                  <a:schemeClr val="accent3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1600" y="2113199"/>
            <a:ext cx="2124000" cy="36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같은 Die의 Defect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1600" y="2527200"/>
            <a:ext cx="2124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t"/>
          <a:lstStyle/>
          <a:p>
            <a:pPr algn="l" latinLnBrk="0">
              <a:spcAft>
                <a:spcPts val="200"/>
              </a:spcAft>
            </a:pPr>
            <a:r>
              <a:rPr sz="1200" b="0" dirty="0">
                <a:solidFill>
                  <a:schemeClr val="tx1"/>
                </a:solidFill>
              </a:rPr>
              <a:t>• </a:t>
            </a:r>
            <a:r>
              <a:rPr sz="1200" b="0" dirty="0" err="1">
                <a:solidFill>
                  <a:schemeClr val="tx1"/>
                </a:solidFill>
              </a:rPr>
              <a:t>같은</a:t>
            </a:r>
            <a:r>
              <a:rPr sz="1200" b="0" dirty="0">
                <a:solidFill>
                  <a:schemeClr val="tx1"/>
                </a:solidFill>
              </a:rPr>
              <a:t> Wafer, </a:t>
            </a:r>
            <a:r>
              <a:rPr sz="1200" b="0" dirty="0" err="1">
                <a:solidFill>
                  <a:schemeClr val="tx1"/>
                </a:solidFill>
              </a:rPr>
              <a:t>같은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Die의</a:t>
            </a:r>
            <a:r>
              <a:rPr dirty="0"/>
              <a:t/>
            </a:r>
            <a:br>
              <a:rPr dirty="0"/>
            </a:br>
            <a:r>
              <a:rPr sz="1200" b="0" dirty="0">
                <a:solidFill>
                  <a:schemeClr val="tx1"/>
                </a:solidFill>
              </a:rPr>
              <a:t>KLARF Defect </a:t>
            </a:r>
            <a:r>
              <a:rPr sz="1200" b="0" dirty="0" err="1">
                <a:solidFill>
                  <a:schemeClr val="tx1"/>
                </a:solidFill>
              </a:rPr>
              <a:t>조회</a:t>
            </a:r>
            <a:endParaRPr sz="1200" b="0" dirty="0">
              <a:solidFill>
                <a:schemeClr val="tx1"/>
              </a:solidFill>
            </a:endParaRPr>
          </a:p>
          <a:p>
            <a:pPr algn="l" latinLnBrk="0">
              <a:spcAft>
                <a:spcPts val="200"/>
              </a:spcAft>
            </a:pPr>
            <a:r>
              <a:rPr sz="1200" b="0" dirty="0">
                <a:solidFill>
                  <a:schemeClr val="tx1"/>
                </a:solidFill>
              </a:rPr>
              <a:t>• Wafer </a:t>
            </a:r>
            <a:r>
              <a:rPr sz="1200" b="0" dirty="0" err="1">
                <a:solidFill>
                  <a:schemeClr val="tx1"/>
                </a:solidFill>
              </a:rPr>
              <a:t>Map에서</a:t>
            </a:r>
            <a:r>
              <a:rPr dirty="0"/>
              <a:t/>
            </a:r>
            <a:br>
              <a:rPr dirty="0"/>
            </a:br>
            <a:r>
              <a:rPr sz="1200" b="0" dirty="0">
                <a:solidFill>
                  <a:schemeClr val="tx1"/>
                </a:solidFill>
              </a:rPr>
              <a:t>Chain </a:t>
            </a:r>
            <a:r>
              <a:rPr sz="1200" b="0" dirty="0" err="1">
                <a:solidFill>
                  <a:schemeClr val="tx1"/>
                </a:solidFill>
              </a:rPr>
              <a:t>영역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Defect가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많은</a:t>
            </a:r>
            <a:r>
              <a:rPr dirty="0"/>
              <a:t/>
            </a:r>
            <a:br>
              <a:rPr dirty="0"/>
            </a:br>
            <a:r>
              <a:rPr sz="1200" b="0" dirty="0" err="1">
                <a:solidFill>
                  <a:schemeClr val="tx1"/>
                </a:solidFill>
              </a:rPr>
              <a:t>Die는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색으로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구분</a:t>
            </a:r>
            <a:endParaRPr sz="1200" b="0" dirty="0">
              <a:solidFill>
                <a:schemeClr val="tx1"/>
              </a:solidFill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4881600" y="2185200"/>
            <a:ext cx="144000" cy="216000"/>
          </a:xfrm>
          <a:prstGeom prst="chevron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71600" y="1519200"/>
            <a:ext cx="503999" cy="5039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latinLnBrk="0">
              <a:spcAft>
                <a:spcPts val="200"/>
              </a:spcAft>
            </a:pPr>
            <a:r>
              <a:rPr sz="1600" b="1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1600" y="2113199"/>
            <a:ext cx="2124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도면에 겹쳐 보기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61600" y="2527200"/>
            <a:ext cx="2124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t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Defect 위치를</a:t>
            </a:r>
            <a:r>
              <a:t/>
            </a:r>
            <a:br/>
            <a:r>
              <a:rPr sz="1200" b="0">
                <a:solidFill>
                  <a:schemeClr val="tx1"/>
                </a:solidFill>
              </a:rPr>
              <a:t>칩 도면(BS)에 올림</a:t>
            </a:r>
          </a:p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Fail Chain 영역 안에</a:t>
            </a:r>
            <a:r>
              <a:t/>
            </a:r>
            <a:br/>
            <a:r>
              <a:rPr sz="1200" b="0">
                <a:solidFill>
                  <a:schemeClr val="tx1"/>
                </a:solidFill>
              </a:rPr>
              <a:t>있는지 허용오차를</a:t>
            </a:r>
            <a:r>
              <a:t/>
            </a:r>
            <a:br/>
            <a:r>
              <a:rPr sz="1200" b="0">
                <a:solidFill>
                  <a:schemeClr val="tx1"/>
                </a:solidFill>
              </a:rPr>
              <a:t>두고 확인</a:t>
            </a:r>
          </a:p>
        </p:txBody>
      </p:sp>
      <p:sp>
        <p:nvSpPr>
          <p:cNvPr id="18" name="Chevron 17"/>
          <p:cNvSpPr/>
          <p:nvPr/>
        </p:nvSpPr>
        <p:spPr>
          <a:xfrm>
            <a:off x="7221600" y="2185200"/>
            <a:ext cx="144000" cy="216000"/>
          </a:xfrm>
          <a:prstGeom prst="chevron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11600" y="1519200"/>
            <a:ext cx="503999" cy="5039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latinLnBrk="0">
              <a:spcAft>
                <a:spcPts val="200"/>
              </a:spcAft>
            </a:pPr>
            <a:r>
              <a:rPr sz="1600" b="1">
                <a:solidFill>
                  <a:schemeClr val="accent4"/>
                </a:solidFill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1600" y="2113199"/>
            <a:ext cx="2124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엔지니어 판단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1600" y="2527200"/>
            <a:ext cx="2124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t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Defect 이미지와 분류</a:t>
            </a:r>
            <a:r>
              <a:t/>
            </a:r>
            <a:br/>
            <a:r>
              <a:rPr sz="1200" b="0">
                <a:solidFill>
                  <a:schemeClr val="tx1"/>
                </a:solidFill>
              </a:rPr>
              <a:t>(Short, Open 등) 확인</a:t>
            </a:r>
          </a:p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연관 있음, 없음 판단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600" y="4093200"/>
            <a:ext cx="914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400" b="1">
                <a:solidFill>
                  <a:schemeClr val="tx1"/>
                </a:solidFill>
              </a:rPr>
              <a:t>04 판단 결과에 따른 후속 조치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600" y="4381200"/>
            <a:ext cx="44352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Chain 영역 안에 Defect 있음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1600" y="4777200"/>
            <a:ext cx="4435200" cy="99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/>
          <a:lstStyle/>
          <a:p>
            <a:pPr algn="l" latinLnBrk="0">
              <a:spcAft>
                <a:spcPts val="200"/>
              </a:spcAft>
            </a:pPr>
            <a:r>
              <a:rPr sz="1200" b="0" dirty="0">
                <a:solidFill>
                  <a:schemeClr val="tx1"/>
                </a:solidFill>
              </a:rPr>
              <a:t>• </a:t>
            </a:r>
            <a:r>
              <a:rPr sz="1200" b="0" dirty="0" err="1">
                <a:solidFill>
                  <a:schemeClr val="tx1"/>
                </a:solidFill>
              </a:rPr>
              <a:t>해당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Defect를</a:t>
            </a:r>
            <a:r>
              <a:rPr sz="1200" b="0" dirty="0">
                <a:solidFill>
                  <a:schemeClr val="tx1"/>
                </a:solidFill>
              </a:rPr>
              <a:t> Fail </a:t>
            </a:r>
            <a:r>
              <a:rPr sz="1200" b="0" dirty="0" err="1">
                <a:solidFill>
                  <a:schemeClr val="tx1"/>
                </a:solidFill>
              </a:rPr>
              <a:t>원인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후보로</a:t>
            </a:r>
            <a:r>
              <a:rPr sz="1200" b="0" dirty="0">
                <a:solidFill>
                  <a:schemeClr val="tx1"/>
                </a:solidFill>
              </a:rPr>
              <a:t> 봄</a:t>
            </a:r>
          </a:p>
          <a:p>
            <a:pPr algn="l" latinLnBrk="0">
              <a:spcAft>
                <a:spcPts val="200"/>
              </a:spcAft>
            </a:pPr>
            <a:r>
              <a:rPr sz="1200" b="0" dirty="0">
                <a:solidFill>
                  <a:schemeClr val="tx1"/>
                </a:solidFill>
              </a:rPr>
              <a:t>• </a:t>
            </a:r>
            <a:r>
              <a:rPr sz="1200" b="0" dirty="0" err="1">
                <a:solidFill>
                  <a:schemeClr val="tx1"/>
                </a:solidFill>
              </a:rPr>
              <a:t>이미지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리뷰로</a:t>
            </a:r>
            <a:r>
              <a:rPr sz="1200" b="0" dirty="0">
                <a:solidFill>
                  <a:schemeClr val="tx1"/>
                </a:solidFill>
              </a:rPr>
              <a:t> Short, Open </a:t>
            </a:r>
            <a:r>
              <a:rPr sz="1200" b="0" dirty="0" err="1">
                <a:solidFill>
                  <a:schemeClr val="tx1"/>
                </a:solidFill>
              </a:rPr>
              <a:t>여부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확인</a:t>
            </a:r>
            <a:endParaRPr sz="1200" b="0" dirty="0">
              <a:solidFill>
                <a:schemeClr val="tx1"/>
              </a:solidFill>
            </a:endParaRPr>
          </a:p>
          <a:p>
            <a:pPr algn="l" latinLnBrk="0">
              <a:spcAft>
                <a:spcPts val="200"/>
              </a:spcAft>
            </a:pPr>
            <a:r>
              <a:rPr sz="1200" b="0" dirty="0">
                <a:solidFill>
                  <a:schemeClr val="tx1"/>
                </a:solidFill>
              </a:rPr>
              <a:t>• </a:t>
            </a:r>
            <a:r>
              <a:rPr sz="1200" b="0" dirty="0" err="1">
                <a:solidFill>
                  <a:schemeClr val="tx1"/>
                </a:solidFill>
              </a:rPr>
              <a:t>같은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위치에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반복되는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Defect는</a:t>
            </a:r>
            <a:r>
              <a:rPr sz="1200" b="0" dirty="0">
                <a:solidFill>
                  <a:schemeClr val="tx1"/>
                </a:solidFill>
              </a:rPr>
              <a:t> Wafer </a:t>
            </a:r>
            <a:r>
              <a:rPr sz="1200" b="0" dirty="0" err="1">
                <a:solidFill>
                  <a:schemeClr val="tx1"/>
                </a:solidFill>
              </a:rPr>
              <a:t>합산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보기로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0" dirty="0" err="1">
                <a:solidFill>
                  <a:schemeClr val="tx1"/>
                </a:solidFill>
              </a:rPr>
              <a:t>확인</a:t>
            </a:r>
            <a:endParaRPr sz="1200" b="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90400" y="4381200"/>
            <a:ext cx="44352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Chain 영역 안에 Defect 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90400" y="4777200"/>
            <a:ext cx="4435200" cy="99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AOI 미검출 또는 다른 원인 가능</a:t>
            </a:r>
          </a:p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파괴 분석 대상 목록으로 분리</a:t>
            </a:r>
          </a:p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Chain 영역 밖 Defect는 별도 목록으로 확인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2C52DB-E9E3-46CD-811C-803D077AD9CA}">
  <ds:schemaRefs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27963</TotalTime>
  <Words>423</Words>
  <Application>Microsoft Office PowerPoint</Application>
  <PresentationFormat>A4 용지(210x297mm)</PresentationFormat>
  <Paragraphs>62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Segoe UI</vt:lpstr>
      <vt:lpstr>문서템플릿</vt:lpstr>
      <vt:lpstr>PowerPoint 프레젠테이션</vt:lpstr>
      <vt:lpstr>데이터는 Wafer, Die, Chain 기준으로 연결</vt:lpstr>
      <vt:lpstr>Fail Chain에서 시작해 Defect 후보까지 좁혀 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GDS, KLARF, E-Test 연관 분석 방법</dc:title>
  <dc:creator>BJ</dc:creator>
  <cp:lastModifiedBy>BJ</cp:lastModifiedBy>
  <cp:revision>6</cp:revision>
  <dcterms:created xsi:type="dcterms:W3CDTF">2013-11-13T01:08:07Z</dcterms:created>
  <dcterms:modified xsi:type="dcterms:W3CDTF">2026-10-13T08:13:24Z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</Properties>
</file>