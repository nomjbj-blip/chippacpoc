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12" r:id="rId4"/>
  </p:sldMasterIdLst>
  <p:notesMasterIdLst>
    <p:notesMasterId r:id="rId16"/>
  </p:notesMasterIdLst>
  <p:handoutMasterIdLst>
    <p:handoutMasterId r:id="rId17"/>
  </p:handoutMasterIdLst>
  <p:sldIdLst>
    <p:sldId id="257" r:id="rId5"/>
    <p:sldId id="259" r:id="rId6"/>
    <p:sldId id="261" r:id="rId7"/>
    <p:sldId id="262" r:id="rId8"/>
    <p:sldId id="278" r:id="rId9"/>
    <p:sldId id="280" r:id="rId10"/>
    <p:sldId id="279" r:id="rId11"/>
    <p:sldId id="277" r:id="rId12"/>
    <p:sldId id="270" r:id="rId13"/>
    <p:sldId id="271" r:id="rId14"/>
    <p:sldId id="276" r:id="rId15"/>
  </p:sldIdLst>
  <p:sldSz cx="9906000" cy="6858000" type="A4"/>
  <p:notesSz cx="6807200" cy="9939338"/>
  <p:defaultTextStyle>
    <a:defPPr>
      <a:defRPr lang="ko-KR"/>
    </a:defPPr>
    <a:lvl1pPr marL="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9" userDrawn="1">
          <p15:clr>
            <a:srgbClr val="A4A3A4"/>
          </p15:clr>
        </p15:guide>
        <p15:guide id="2" pos="2145" userDrawn="1">
          <p15:clr>
            <a:srgbClr val="A4A3A4"/>
          </p15:clr>
        </p15:guide>
        <p15:guide id="3" orient="horz" pos="3132" userDrawn="1">
          <p15:clr>
            <a:srgbClr val="A4A3A4"/>
          </p15:clr>
        </p15:guide>
        <p15:guide id="4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AB4"/>
    <a:srgbClr val="FF0066"/>
    <a:srgbClr val="33CCCC"/>
    <a:srgbClr val="144EA0"/>
    <a:srgbClr val="0050BE"/>
    <a:srgbClr val="2E75B6"/>
    <a:srgbClr val="466597"/>
    <a:srgbClr val="A9CCFF"/>
    <a:srgbClr val="00A7ED"/>
    <a:srgbClr val="E10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69" autoAdjust="0"/>
    <p:restoredTop sz="88365" autoAdjust="0"/>
  </p:normalViewPr>
  <p:slideViewPr>
    <p:cSldViewPr snapToGrid="0">
      <p:cViewPr varScale="1">
        <p:scale>
          <a:sx n="95" d="100"/>
          <a:sy n="95" d="100"/>
        </p:scale>
        <p:origin x="1936" y="64"/>
      </p:cViewPr>
      <p:guideLst/>
    </p:cSldViewPr>
  </p:slideViewPr>
  <p:outlineViewPr>
    <p:cViewPr>
      <p:scale>
        <a:sx n="33" d="100"/>
        <a:sy n="33" d="100"/>
      </p:scale>
      <p:origin x="0" y="-2017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1020"/>
    </p:cViewPr>
  </p:sorterViewPr>
  <p:notesViewPr>
    <p:cSldViewPr snapToGrid="0" showGuides="1">
      <p:cViewPr>
        <p:scale>
          <a:sx n="50" d="100"/>
          <a:sy n="50" d="100"/>
        </p:scale>
        <p:origin x="9198" y="2094"/>
      </p:cViewPr>
      <p:guideLst>
        <p:guide orient="horz" pos="3129"/>
        <p:guide pos="2145"/>
        <p:guide orient="horz" pos="3132"/>
        <p:guide pos="214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BBE509C9-7006-4EEF-AE0A-F60A68CFABC4}" type="datetimeFigureOut">
              <a:rPr lang="ko-KR" altLang="en-US" smtClean="0"/>
              <a:pPr/>
              <a:t>2026-10-28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FB5D320A-A8AF-4B3E-BD67-EE5ADA87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8642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10D8B3E8-78D5-42AF-92B2-138AC5B36093}" type="datetimeFigureOut">
              <a:rPr lang="ko-KR" altLang="en-US" smtClean="0"/>
              <a:pPr/>
              <a:t>2026-10-28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8480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15" tIns="45908" rIns="91815" bIns="4590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082" y="4721186"/>
            <a:ext cx="5447036" cy="4472702"/>
          </a:xfrm>
          <a:prstGeom prst="rect">
            <a:avLst/>
          </a:prstGeom>
        </p:spPr>
        <p:txBody>
          <a:bodyPr vert="horz" lIns="91815" tIns="45908" rIns="91815" bIns="45908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EFB921B9-838A-44D3-89D5-5DB0505CE7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0527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dirty="0">
                <a:latin typeface="맑은 고딕"/>
              </a:rPr>
              <a:t>안녕하십니까, </a:t>
            </a:r>
            <a:r>
              <a:rPr lang="ko-KR" dirty="0" err="1">
                <a:latin typeface="맑은 고딕"/>
              </a:rPr>
              <a:t>미라콤</a:t>
            </a:r>
            <a:r>
              <a:rPr lang="ko-KR" dirty="0">
                <a:latin typeface="맑은 고딕"/>
              </a:rPr>
              <a:t> </a:t>
            </a:r>
            <a:r>
              <a:rPr lang="ko-KR" dirty="0" err="1">
                <a:latin typeface="맑은 고딕"/>
              </a:rPr>
              <a:t>정병주입니다</a:t>
            </a:r>
            <a:r>
              <a:rPr lang="ko-KR" dirty="0">
                <a:latin typeface="맑은 고딕"/>
              </a:rPr>
              <a:t>.</a:t>
            </a:r>
          </a:p>
          <a:p>
            <a:r>
              <a:rPr lang="ko-KR" dirty="0">
                <a:latin typeface="맑은 고딕"/>
              </a:rPr>
              <a:t>지금부터 </a:t>
            </a:r>
            <a:r>
              <a:rPr lang="ko-KR" dirty="0" err="1" smtClean="0">
                <a:latin typeface="맑은 고딕"/>
              </a:rPr>
              <a:t>스태츠칩팩Defect</a:t>
            </a:r>
            <a:r>
              <a:rPr lang="ko-KR" dirty="0" smtClean="0">
                <a:latin typeface="맑은 고딕"/>
              </a:rPr>
              <a:t> </a:t>
            </a:r>
            <a:r>
              <a:rPr lang="ko-KR" dirty="0">
                <a:latin typeface="맑은 고딕"/>
              </a:rPr>
              <a:t>/ </a:t>
            </a:r>
            <a:r>
              <a:rPr lang="ko-KR" dirty="0" err="1">
                <a:latin typeface="맑은 고딕"/>
              </a:rPr>
              <a:t>E-Test</a:t>
            </a:r>
            <a:r>
              <a:rPr lang="ko-KR" dirty="0">
                <a:latin typeface="맑은 고딕"/>
              </a:rPr>
              <a:t> 연관 분석 시스템 구축 POC 완료 보고를 시작하겠습니다</a:t>
            </a:r>
            <a:r>
              <a:rPr lang="ko-KR" dirty="0" smtClean="0">
                <a:latin typeface="맑은 고딕"/>
              </a:rPr>
              <a:t>.</a:t>
            </a:r>
            <a:endParaRPr lang="ko-KR" dirty="0">
              <a:latin typeface="맑은 고딕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938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>
                <a:latin typeface="맑은 고딕"/>
              </a:rPr>
              <a:t>보고는 POC 개요, 주요 POC 기능 및 결과, 종료 후 운영 방안 순서로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 smtClean="0"/>
              <a:t>POC 배경 및 목표 입니다</a:t>
            </a:r>
            <a:r>
              <a:rPr lang="en-US" altLang="ko-KR" dirty="0" smtClean="0"/>
              <a:t>. </a:t>
            </a:r>
            <a:endParaRPr lang="en-US" altLang="ko-KR" dirty="0" smtClean="0">
              <a:latin typeface="맑은 고딕"/>
            </a:endParaRPr>
          </a:p>
          <a:p>
            <a:r>
              <a:rPr lang="ko-KR" altLang="en-US" dirty="0" smtClean="0">
                <a:latin typeface="맑은 고딕"/>
              </a:rPr>
              <a:t>왼쪽과 같이 </a:t>
            </a:r>
            <a:r>
              <a:rPr lang="en-US" altLang="ko-KR" dirty="0" smtClean="0">
                <a:latin typeface="맑은 고딕"/>
              </a:rPr>
              <a:t>Packaging </a:t>
            </a:r>
            <a:r>
              <a:rPr lang="ko-KR" altLang="en-US" dirty="0" smtClean="0">
                <a:latin typeface="맑은 고딕"/>
              </a:rPr>
              <a:t>공정 후 </a:t>
            </a:r>
            <a:r>
              <a:rPr lang="en-US" altLang="ko-KR" dirty="0" smtClean="0">
                <a:latin typeface="맑은 고딕"/>
              </a:rPr>
              <a:t>AOI, E-Test</a:t>
            </a:r>
            <a:r>
              <a:rPr lang="en-US" altLang="ko-KR" baseline="0" dirty="0" smtClean="0">
                <a:latin typeface="맑은 고딕"/>
              </a:rPr>
              <a:t> </a:t>
            </a:r>
            <a:r>
              <a:rPr lang="ko-KR" altLang="en-US" baseline="0" dirty="0" smtClean="0">
                <a:latin typeface="맑은 고딕"/>
              </a:rPr>
              <a:t>검사를 진행하는데요</a:t>
            </a:r>
            <a:r>
              <a:rPr lang="en-US" altLang="ko-KR" baseline="0" dirty="0" smtClean="0">
                <a:latin typeface="맑은 고딕"/>
              </a:rPr>
              <a:t>.</a:t>
            </a:r>
          </a:p>
          <a:p>
            <a:r>
              <a:rPr lang="ko-KR" altLang="en-US" baseline="0" dirty="0" smtClean="0">
                <a:latin typeface="맑은 고딕"/>
              </a:rPr>
              <a:t>각 공정에서 생성되는 불량 </a:t>
            </a:r>
            <a:r>
              <a:rPr lang="en-US" altLang="ko-KR" baseline="0" dirty="0" smtClean="0">
                <a:latin typeface="맑은 고딕"/>
              </a:rPr>
              <a:t>Data </a:t>
            </a:r>
            <a:r>
              <a:rPr lang="ko-KR" altLang="en-US" baseline="0" dirty="0" smtClean="0">
                <a:latin typeface="맑은 고딕"/>
              </a:rPr>
              <a:t>기반으로 외관 불량이 전기 불량에 영향이 있는지에 대한 근거를 시스템이 제시해 </a:t>
            </a:r>
            <a:r>
              <a:rPr lang="ko-KR" altLang="en-US" baseline="0" dirty="0" err="1" smtClean="0">
                <a:latin typeface="맑은 고딕"/>
              </a:rPr>
              <a:t>주는것이</a:t>
            </a:r>
            <a:endParaRPr lang="en-US" altLang="ko-KR" baseline="0" dirty="0" smtClean="0">
              <a:latin typeface="맑은 고딕"/>
            </a:endParaRPr>
          </a:p>
          <a:p>
            <a:r>
              <a:rPr lang="ko-KR" altLang="en-US" baseline="0" dirty="0" smtClean="0">
                <a:latin typeface="맑은 고딕"/>
              </a:rPr>
              <a:t>이번 </a:t>
            </a:r>
            <a:r>
              <a:rPr lang="en-US" altLang="ko-KR" baseline="0" dirty="0" smtClean="0">
                <a:latin typeface="맑은 고딕"/>
              </a:rPr>
              <a:t>POC</a:t>
            </a:r>
            <a:r>
              <a:rPr lang="ko-KR" altLang="en-US" baseline="0" dirty="0" smtClean="0">
                <a:latin typeface="맑은 고딕"/>
              </a:rPr>
              <a:t>의 목표 입니다</a:t>
            </a:r>
            <a:r>
              <a:rPr lang="en-US" altLang="ko-KR" baseline="0" dirty="0" smtClean="0">
                <a:latin typeface="맑은 고딕"/>
              </a:rPr>
              <a:t>.</a:t>
            </a:r>
          </a:p>
          <a:p>
            <a:endParaRPr lang="en-US" altLang="ko-KR" dirty="0" smtClean="0">
              <a:latin typeface="맑은 고딕"/>
            </a:endParaRPr>
          </a:p>
          <a:p>
            <a:r>
              <a:rPr lang="ko-KR" dirty="0">
                <a:latin typeface="맑은 고딕"/>
              </a:rPr>
              <a:t>아래 현황처럼 지금은 세 데이터가 따로 </a:t>
            </a:r>
            <a:r>
              <a:rPr lang="ko-KR" dirty="0" smtClean="0">
                <a:latin typeface="맑은 고딕"/>
              </a:rPr>
              <a:t>있</a:t>
            </a:r>
            <a:r>
              <a:rPr lang="ko-KR" altLang="en-US" dirty="0" smtClean="0">
                <a:latin typeface="맑은 고딕"/>
              </a:rPr>
              <a:t>고 엔지니어가 수동을 일일이 확인하는데 </a:t>
            </a:r>
            <a:r>
              <a:rPr lang="ko-KR" dirty="0" smtClean="0">
                <a:latin typeface="맑은 고딕"/>
              </a:rPr>
              <a:t>어렵</a:t>
            </a:r>
            <a:r>
              <a:rPr lang="ko-KR" altLang="en-US" dirty="0" smtClean="0">
                <a:latin typeface="맑은 고딕"/>
              </a:rPr>
              <a:t>기때문에 이번 </a:t>
            </a:r>
            <a:r>
              <a:rPr lang="en-US" altLang="ko-KR" dirty="0" smtClean="0">
                <a:latin typeface="맑은 고딕"/>
              </a:rPr>
              <a:t>POC </a:t>
            </a:r>
            <a:r>
              <a:rPr lang="ko-KR" altLang="en-US" dirty="0" smtClean="0">
                <a:latin typeface="맑은 고딕"/>
              </a:rPr>
              <a:t>에서는 각</a:t>
            </a:r>
            <a:r>
              <a:rPr lang="en-US" altLang="ko-KR" baseline="0" dirty="0" smtClean="0">
                <a:latin typeface="맑은 고딕"/>
              </a:rPr>
              <a:t> </a:t>
            </a:r>
            <a:r>
              <a:rPr lang="ko-KR" altLang="en-US" baseline="0" dirty="0" smtClean="0">
                <a:latin typeface="맑은 고딕"/>
              </a:rPr>
              <a:t>데이터를 </a:t>
            </a:r>
            <a:r>
              <a:rPr lang="ko-KR" altLang="en-US" baseline="0" dirty="0" err="1" smtClean="0">
                <a:latin typeface="맑은 고딕"/>
              </a:rPr>
              <a:t>한화면에</a:t>
            </a:r>
            <a:endParaRPr lang="en-US" altLang="ko-KR" baseline="0" dirty="0" smtClean="0">
              <a:latin typeface="맑은 고딕"/>
            </a:endParaRPr>
          </a:p>
          <a:p>
            <a:r>
              <a:rPr lang="ko-KR" altLang="en-US" baseline="0" dirty="0" smtClean="0">
                <a:latin typeface="맑은 고딕"/>
              </a:rPr>
              <a:t>연결하여 불량에 대한 근거를 시스템에서 제공하는데 있습니다</a:t>
            </a:r>
            <a:r>
              <a:rPr lang="en-US" altLang="ko-KR" baseline="0" dirty="0" smtClean="0">
                <a:latin typeface="맑은 고딕"/>
              </a:rPr>
              <a:t>. </a:t>
            </a:r>
            <a:endParaRPr lang="en-US" altLang="ko-KR" dirty="0" smtClean="0">
              <a:latin typeface="맑은 고딕"/>
            </a:endParaRPr>
          </a:p>
          <a:p>
            <a:endParaRPr lang="en-US" altLang="ko-KR" dirty="0" smtClean="0">
              <a:latin typeface="맑은 고딕"/>
            </a:endParaRPr>
          </a:p>
          <a:p>
            <a:r>
              <a:rPr lang="ko-KR" dirty="0" smtClean="0">
                <a:latin typeface="맑은 고딕"/>
              </a:rPr>
              <a:t>이번 </a:t>
            </a:r>
            <a:r>
              <a:rPr lang="ko-KR" dirty="0" err="1">
                <a:latin typeface="맑은 고딕"/>
              </a:rPr>
              <a:t>POC는</a:t>
            </a:r>
            <a:r>
              <a:rPr lang="ko-KR" dirty="0">
                <a:latin typeface="맑은 고딕"/>
              </a:rPr>
              <a:t> </a:t>
            </a:r>
            <a:r>
              <a:rPr lang="ko-KR" dirty="0" smtClean="0">
                <a:latin typeface="맑은 고딕"/>
              </a:rPr>
              <a:t>U9</a:t>
            </a:r>
            <a:r>
              <a:rPr lang="en-US" altLang="ko-KR" dirty="0" smtClean="0">
                <a:latin typeface="맑은 고딕"/>
              </a:rPr>
              <a:t>,</a:t>
            </a:r>
            <a:r>
              <a:rPr lang="ko-KR" dirty="0" smtClean="0">
                <a:latin typeface="맑은 고딕"/>
              </a:rPr>
              <a:t>U8</a:t>
            </a:r>
            <a:r>
              <a:rPr lang="en-US" altLang="ko-KR" dirty="0" smtClean="0">
                <a:latin typeface="맑은 고딕"/>
              </a:rPr>
              <a:t> </a:t>
            </a:r>
            <a:r>
              <a:rPr lang="ko-KR" altLang="en-US" dirty="0" smtClean="0">
                <a:latin typeface="맑은 고딕"/>
              </a:rPr>
              <a:t>디바이스 대상으로 진행 </a:t>
            </a:r>
            <a:r>
              <a:rPr lang="ko-KR" dirty="0" smtClean="0">
                <a:latin typeface="맑은 고딕"/>
              </a:rPr>
              <a:t>확인했습니다</a:t>
            </a:r>
            <a:r>
              <a:rPr lang="ko-KR" dirty="0">
                <a:latin typeface="맑은 고딕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dirty="0">
                <a:latin typeface="맑은 고딕"/>
              </a:rPr>
              <a:t>처음 </a:t>
            </a:r>
            <a:r>
              <a:rPr lang="ko-KR" dirty="0" err="1">
                <a:latin typeface="맑은 고딕"/>
              </a:rPr>
              <a:t>제안드린</a:t>
            </a:r>
            <a:r>
              <a:rPr lang="ko-KR" dirty="0">
                <a:latin typeface="맑은 고딕"/>
              </a:rPr>
              <a:t> POC 기능 25개는 모두 화면으로 구현했습니다.</a:t>
            </a:r>
          </a:p>
          <a:p>
            <a:r>
              <a:rPr lang="ko-KR" dirty="0">
                <a:latin typeface="맑은 고딕"/>
              </a:rPr>
              <a:t>기존 솔루션 기능은 그대로 쓰고, 신규 개발은 GDS, </a:t>
            </a:r>
            <a:r>
              <a:rPr lang="ko-KR" dirty="0" err="1">
                <a:latin typeface="맑은 고딕"/>
              </a:rPr>
              <a:t>Chain</a:t>
            </a:r>
            <a:r>
              <a:rPr lang="ko-KR" dirty="0">
                <a:latin typeface="맑은 고딕"/>
              </a:rPr>
              <a:t>, 연관 분석, 파일 업로드에 집중했습니다.</a:t>
            </a:r>
          </a:p>
          <a:p>
            <a:r>
              <a:rPr lang="ko-KR" dirty="0">
                <a:latin typeface="맑은 고딕"/>
              </a:rPr>
              <a:t>아래는 역할 분담입니다. </a:t>
            </a:r>
            <a:r>
              <a:rPr lang="ko-KR" dirty="0" err="1">
                <a:latin typeface="맑은 고딕"/>
              </a:rPr>
              <a:t>미라콤은</a:t>
            </a:r>
            <a:r>
              <a:rPr lang="ko-KR" dirty="0">
                <a:latin typeface="맑은 고딕"/>
              </a:rPr>
              <a:t> 설계, 개발, 검증과 인계를 맡았습니다.</a:t>
            </a:r>
          </a:p>
          <a:p>
            <a:r>
              <a:rPr lang="ko-KR" dirty="0">
                <a:latin typeface="맑은 고딕"/>
              </a:rPr>
              <a:t>연구소는 요건과 샘플 데이터 제공, 결과 검증을 맡아 주셨고, </a:t>
            </a:r>
            <a:r>
              <a:rPr lang="ko-KR" dirty="0" err="1">
                <a:latin typeface="맑은 고딕"/>
              </a:rPr>
              <a:t>IT팀은</a:t>
            </a:r>
            <a:r>
              <a:rPr lang="ko-KR" dirty="0">
                <a:latin typeface="맑은 고딕"/>
              </a:rPr>
              <a:t> 서버와 </a:t>
            </a:r>
            <a:r>
              <a:rPr lang="ko-KR" dirty="0" err="1">
                <a:latin typeface="맑은 고딕"/>
              </a:rPr>
              <a:t>DB를</a:t>
            </a:r>
            <a:r>
              <a:rPr lang="ko-KR" dirty="0">
                <a:latin typeface="맑은 고딕"/>
              </a:rPr>
              <a:t> 지원해 주셨습니다.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dirty="0">
                <a:latin typeface="맑은 고딕"/>
              </a:rPr>
              <a:t>이번 </a:t>
            </a:r>
            <a:r>
              <a:rPr lang="ko-KR" dirty="0" err="1">
                <a:latin typeface="맑은 고딕"/>
              </a:rPr>
              <a:t>POC는</a:t>
            </a:r>
            <a:r>
              <a:rPr lang="ko-KR" dirty="0">
                <a:latin typeface="맑은 고딕"/>
              </a:rPr>
              <a:t> 처음부터 새로 만든 것이 아니라 </a:t>
            </a:r>
            <a:r>
              <a:rPr lang="ko-KR" dirty="0" err="1">
                <a:latin typeface="맑은 고딕"/>
              </a:rPr>
              <a:t>미라콤의</a:t>
            </a:r>
            <a:r>
              <a:rPr lang="ko-KR" dirty="0">
                <a:latin typeface="맑은 고딕"/>
              </a:rPr>
              <a:t> 기존 솔루션을 활용했습니다.</a:t>
            </a:r>
          </a:p>
          <a:p>
            <a:r>
              <a:rPr lang="ko-KR" dirty="0">
                <a:latin typeface="맑은 고딕"/>
              </a:rPr>
              <a:t>왼쪽 </a:t>
            </a:r>
            <a:r>
              <a:rPr lang="ko-KR" dirty="0" err="1">
                <a:latin typeface="맑은 고딕"/>
              </a:rPr>
              <a:t>DMS는</a:t>
            </a:r>
            <a:r>
              <a:rPr lang="ko-KR" dirty="0">
                <a:latin typeface="맑은 고딕"/>
              </a:rPr>
              <a:t> 외관 불량 데이터, 가운데 </a:t>
            </a:r>
            <a:r>
              <a:rPr lang="ko-KR" dirty="0" err="1">
                <a:latin typeface="맑은 고딕"/>
              </a:rPr>
              <a:t>YMS는</a:t>
            </a:r>
            <a:r>
              <a:rPr lang="ko-KR" dirty="0">
                <a:latin typeface="맑은 고딕"/>
              </a:rPr>
              <a:t> 전기 검사 데이터를 분석하는 기존 기능입니다.</a:t>
            </a:r>
          </a:p>
          <a:p>
            <a:r>
              <a:rPr lang="ko-KR" dirty="0">
                <a:latin typeface="맑은 고딕"/>
              </a:rPr>
              <a:t>오른쪽 GDS, </a:t>
            </a:r>
            <a:r>
              <a:rPr lang="ko-KR" dirty="0" err="1">
                <a:latin typeface="맑은 고딕"/>
              </a:rPr>
              <a:t>Chain만</a:t>
            </a:r>
            <a:r>
              <a:rPr lang="ko-KR" dirty="0">
                <a:latin typeface="맑은 고딕"/>
              </a:rPr>
              <a:t> 새로 개발해 세 데이터를 연결했습니다</a:t>
            </a:r>
            <a:r>
              <a:rPr lang="ko-KR" dirty="0" smtClean="0">
                <a:latin typeface="맑은 고딕"/>
              </a:rPr>
              <a:t>.</a:t>
            </a:r>
            <a:endParaRPr lang="ko-KR" dirty="0">
              <a:latin typeface="맑은 고딕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dirty="0">
                <a:latin typeface="맑은 고딕"/>
              </a:rPr>
              <a:t>다음은 </a:t>
            </a:r>
            <a:r>
              <a:rPr lang="ko-KR" dirty="0" err="1">
                <a:latin typeface="맑은 고딕"/>
              </a:rPr>
              <a:t>Setup</a:t>
            </a:r>
            <a:r>
              <a:rPr lang="ko-KR" dirty="0">
                <a:latin typeface="맑은 고딕"/>
              </a:rPr>
              <a:t> 편의성입니다.</a:t>
            </a:r>
          </a:p>
          <a:p>
            <a:r>
              <a:rPr lang="ko-KR" dirty="0">
                <a:latin typeface="맑은 고딕"/>
              </a:rPr>
              <a:t>왼쪽 GDS </a:t>
            </a:r>
            <a:r>
              <a:rPr lang="ko-KR" dirty="0" err="1">
                <a:latin typeface="맑은 고딕"/>
              </a:rPr>
              <a:t>Chain은</a:t>
            </a:r>
            <a:r>
              <a:rPr lang="ko-KR" dirty="0">
                <a:latin typeface="맑은 고딕"/>
              </a:rPr>
              <a:t> 시작 도형 하나만 찍으면 이어진 배선을 시스템이 자동으로 찾아 </a:t>
            </a:r>
            <a:r>
              <a:rPr lang="ko-KR" dirty="0" err="1">
                <a:latin typeface="맑은 고딕"/>
              </a:rPr>
              <a:t>Chain을</a:t>
            </a:r>
            <a:r>
              <a:rPr lang="ko-KR" dirty="0">
                <a:latin typeface="맑은 고딕"/>
              </a:rPr>
              <a:t> 만들고, 근처 </a:t>
            </a:r>
            <a:r>
              <a:rPr lang="ko-KR" dirty="0" err="1">
                <a:latin typeface="맑은 고딕"/>
              </a:rPr>
              <a:t>Label로</a:t>
            </a:r>
            <a:r>
              <a:rPr lang="ko-KR" dirty="0">
                <a:latin typeface="맑은 고딕"/>
              </a:rPr>
              <a:t> 이름까지 붙여 줍니다.</a:t>
            </a:r>
          </a:p>
          <a:p>
            <a:r>
              <a:rPr lang="ko-KR" dirty="0">
                <a:latin typeface="맑은 고딕"/>
              </a:rPr>
              <a:t>U9은 이렇게 </a:t>
            </a:r>
            <a:r>
              <a:rPr lang="ko-KR" dirty="0" err="1">
                <a:latin typeface="맑은 고딕"/>
              </a:rPr>
              <a:t>Chain</a:t>
            </a:r>
            <a:r>
              <a:rPr lang="ko-KR" dirty="0">
                <a:latin typeface="맑은 고딕"/>
              </a:rPr>
              <a:t> 19개를 등록했습니다.</a:t>
            </a:r>
          </a:p>
          <a:p>
            <a:r>
              <a:rPr lang="ko-KR" dirty="0">
                <a:latin typeface="맑은 고딕"/>
              </a:rPr>
              <a:t>오른쪽 </a:t>
            </a:r>
            <a:r>
              <a:rPr lang="ko-KR" dirty="0" err="1">
                <a:latin typeface="맑은 고딕"/>
              </a:rPr>
              <a:t>Wafer</a:t>
            </a:r>
            <a:r>
              <a:rPr lang="ko-KR" dirty="0">
                <a:latin typeface="맑은 고딕"/>
              </a:rPr>
              <a:t> </a:t>
            </a:r>
            <a:r>
              <a:rPr lang="ko-KR" dirty="0" err="1">
                <a:latin typeface="맑은 고딕"/>
              </a:rPr>
              <a:t>Map과</a:t>
            </a:r>
            <a:r>
              <a:rPr lang="ko-KR" dirty="0">
                <a:latin typeface="맑은 고딕"/>
              </a:rPr>
              <a:t> </a:t>
            </a:r>
            <a:r>
              <a:rPr lang="ko-KR" dirty="0" err="1">
                <a:latin typeface="맑은 고딕"/>
              </a:rPr>
              <a:t>E-Test</a:t>
            </a:r>
            <a:r>
              <a:rPr lang="ko-KR" dirty="0">
                <a:latin typeface="맑은 고딕"/>
              </a:rPr>
              <a:t> </a:t>
            </a:r>
            <a:r>
              <a:rPr lang="ko-KR" dirty="0" err="1">
                <a:latin typeface="맑은 고딕"/>
              </a:rPr>
              <a:t>Parameter는</a:t>
            </a:r>
            <a:r>
              <a:rPr lang="ko-KR" dirty="0">
                <a:latin typeface="맑은 고딕"/>
              </a:rPr>
              <a:t> 파일을 읽어 바로 등록합니다. KLARF 파일로 </a:t>
            </a:r>
            <a:r>
              <a:rPr lang="ko-KR" dirty="0" err="1">
                <a:latin typeface="맑은 고딕"/>
              </a:rPr>
              <a:t>Wafer</a:t>
            </a:r>
            <a:r>
              <a:rPr lang="ko-KR" dirty="0">
                <a:latin typeface="맑은 고딕"/>
              </a:rPr>
              <a:t> </a:t>
            </a:r>
            <a:r>
              <a:rPr lang="ko-KR" dirty="0" err="1">
                <a:latin typeface="맑은 고딕"/>
              </a:rPr>
              <a:t>Map을</a:t>
            </a:r>
            <a:r>
              <a:rPr lang="ko-KR" dirty="0">
                <a:latin typeface="맑은 고딕"/>
              </a:rPr>
              <a:t> 만들고, </a:t>
            </a:r>
            <a:r>
              <a:rPr lang="ko-KR" dirty="0" err="1">
                <a:latin typeface="맑은 고딕"/>
              </a:rPr>
              <a:t>E-Test</a:t>
            </a:r>
            <a:r>
              <a:rPr lang="ko-KR" dirty="0">
                <a:latin typeface="맑은 고딕"/>
              </a:rPr>
              <a:t> 결과 파일 헤더 2,755개를 한 번에 </a:t>
            </a:r>
            <a:r>
              <a:rPr lang="ko-KR" dirty="0" err="1">
                <a:latin typeface="맑은 고딕"/>
              </a:rPr>
              <a:t>Parameter로</a:t>
            </a:r>
            <a:r>
              <a:rPr lang="ko-KR" dirty="0">
                <a:latin typeface="맑은 고딕"/>
              </a:rPr>
              <a:t> 등록했습니다.</a:t>
            </a:r>
          </a:p>
          <a:p>
            <a:r>
              <a:rPr lang="ko-KR" dirty="0">
                <a:latin typeface="맑은 고딕"/>
              </a:rPr>
              <a:t>그래서 새 </a:t>
            </a:r>
            <a:r>
              <a:rPr lang="ko-KR" dirty="0" err="1">
                <a:latin typeface="맑은 고딕"/>
              </a:rPr>
              <a:t>Device가</a:t>
            </a:r>
            <a:r>
              <a:rPr lang="ko-KR" dirty="0">
                <a:latin typeface="맑은 고딕"/>
              </a:rPr>
              <a:t> 들어와도 연구소에서 직접 </a:t>
            </a:r>
            <a:r>
              <a:rPr lang="ko-KR" dirty="0" err="1">
                <a:latin typeface="맑은 고딕"/>
              </a:rPr>
              <a:t>기준정보를</a:t>
            </a:r>
            <a:r>
              <a:rPr lang="ko-KR" dirty="0">
                <a:latin typeface="맑은 고딕"/>
              </a:rPr>
              <a:t> 설정하실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dirty="0" smtClean="0">
                <a:latin typeface="맑은 고딕"/>
              </a:rPr>
              <a:t>데이터는</a:t>
            </a:r>
            <a:r>
              <a:rPr lang="en-US" altLang="ko-KR" dirty="0" smtClean="0">
                <a:latin typeface="맑은 고딕"/>
              </a:rPr>
              <a:t> </a:t>
            </a:r>
            <a:r>
              <a:rPr lang="ko-KR" altLang="en-US" dirty="0" err="1" smtClean="0">
                <a:latin typeface="맑은 고딕"/>
              </a:rPr>
              <a:t>칩팩에서</a:t>
            </a:r>
            <a:r>
              <a:rPr lang="ko-KR" altLang="en-US" dirty="0" smtClean="0">
                <a:latin typeface="맑은 고딕"/>
              </a:rPr>
              <a:t> 사용중인</a:t>
            </a:r>
            <a:r>
              <a:rPr lang="ko-KR" dirty="0" smtClean="0">
                <a:latin typeface="맑은 고딕"/>
              </a:rPr>
              <a:t> </a:t>
            </a:r>
            <a:r>
              <a:rPr lang="ko-KR" dirty="0" err="1">
                <a:latin typeface="맑은 고딕"/>
              </a:rPr>
              <a:t>MES나</a:t>
            </a:r>
            <a:r>
              <a:rPr lang="ko-KR" dirty="0">
                <a:latin typeface="맑은 고딕"/>
              </a:rPr>
              <a:t> </a:t>
            </a:r>
            <a:r>
              <a:rPr lang="ko-KR" dirty="0" err="1">
                <a:latin typeface="맑은 고딕"/>
              </a:rPr>
              <a:t>QMS와</a:t>
            </a:r>
            <a:r>
              <a:rPr lang="ko-KR" dirty="0">
                <a:latin typeface="맑은 고딕"/>
              </a:rPr>
              <a:t> 연동하지 않고, KLARF 파일과 </a:t>
            </a:r>
            <a:r>
              <a:rPr lang="ko-KR" dirty="0" err="1">
                <a:latin typeface="맑은 고딕"/>
              </a:rPr>
              <a:t>E-Test</a:t>
            </a:r>
            <a:r>
              <a:rPr lang="ko-KR" dirty="0">
                <a:latin typeface="맑은 고딕"/>
              </a:rPr>
              <a:t> 결과 파일을 직접 올리는 방식입니다.</a:t>
            </a:r>
          </a:p>
          <a:p>
            <a:r>
              <a:rPr lang="ko-KR" dirty="0">
                <a:latin typeface="맑은 고딕"/>
              </a:rPr>
              <a:t>파일 안에 있는 </a:t>
            </a:r>
            <a:r>
              <a:rPr lang="ko-KR" dirty="0" err="1">
                <a:latin typeface="맑은 고딕"/>
              </a:rPr>
              <a:t>Lot</a:t>
            </a:r>
            <a:r>
              <a:rPr lang="ko-KR" dirty="0">
                <a:latin typeface="맑은 고딕"/>
              </a:rPr>
              <a:t>, </a:t>
            </a:r>
            <a:r>
              <a:rPr lang="ko-KR" dirty="0" err="1">
                <a:latin typeface="맑은 고딕"/>
              </a:rPr>
              <a:t>Wafer</a:t>
            </a:r>
            <a:r>
              <a:rPr lang="ko-KR" dirty="0">
                <a:latin typeface="맑은 고딕"/>
              </a:rPr>
              <a:t>, </a:t>
            </a:r>
            <a:r>
              <a:rPr lang="ko-KR" dirty="0" err="1">
                <a:latin typeface="맑은 고딕"/>
              </a:rPr>
              <a:t>Device</a:t>
            </a:r>
            <a:r>
              <a:rPr lang="ko-KR" dirty="0">
                <a:latin typeface="맑은 고딕"/>
              </a:rPr>
              <a:t> 정보로 </a:t>
            </a:r>
            <a:r>
              <a:rPr lang="ko-KR" dirty="0" err="1">
                <a:latin typeface="맑은 고딕"/>
              </a:rPr>
              <a:t>기준정보를</a:t>
            </a:r>
            <a:r>
              <a:rPr lang="ko-KR" dirty="0">
                <a:latin typeface="맑은 고딕"/>
              </a:rPr>
              <a:t> 만들고, </a:t>
            </a:r>
            <a:r>
              <a:rPr lang="ko-KR" dirty="0" err="1">
                <a:latin typeface="맑은 고딕"/>
              </a:rPr>
              <a:t>Die</a:t>
            </a:r>
            <a:r>
              <a:rPr lang="ko-KR" dirty="0">
                <a:latin typeface="맑은 고딕"/>
              </a:rPr>
              <a:t> 좌표와 </a:t>
            </a:r>
            <a:r>
              <a:rPr lang="ko-KR" dirty="0" err="1">
                <a:latin typeface="맑은 고딕"/>
              </a:rPr>
              <a:t>Chain</a:t>
            </a:r>
            <a:r>
              <a:rPr lang="ko-KR" dirty="0">
                <a:latin typeface="맑은 고딕"/>
              </a:rPr>
              <a:t> 이름으로 서로 연결합니다.</a:t>
            </a:r>
          </a:p>
          <a:p>
            <a:r>
              <a:rPr lang="ko-KR" dirty="0">
                <a:latin typeface="맑은 고딕"/>
              </a:rPr>
              <a:t>자동 수집과 MES 연동은 </a:t>
            </a:r>
            <a:r>
              <a:rPr lang="ko-KR" dirty="0" err="1">
                <a:latin typeface="맑은 고딕"/>
              </a:rPr>
              <a:t>본사업에서</a:t>
            </a:r>
            <a:r>
              <a:rPr lang="ko-KR" dirty="0">
                <a:latin typeface="맑은 고딕"/>
              </a:rPr>
              <a:t> 추진할 범위입니다.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sz="1000" dirty="0">
                <a:latin typeface="맑은 고딕"/>
              </a:rPr>
              <a:t>이 화면이 이번 </a:t>
            </a:r>
            <a:r>
              <a:rPr lang="ko-KR" sz="1000" dirty="0" err="1">
                <a:latin typeface="맑은 고딕"/>
              </a:rPr>
              <a:t>POC의</a:t>
            </a:r>
            <a:r>
              <a:rPr lang="ko-KR" sz="1000" dirty="0">
                <a:latin typeface="맑은 고딕"/>
              </a:rPr>
              <a:t> 최종 결과 화면입니다.</a:t>
            </a:r>
          </a:p>
          <a:p>
            <a:r>
              <a:rPr lang="ko-KR" sz="1000" dirty="0">
                <a:latin typeface="맑은 고딕"/>
              </a:rPr>
              <a:t>1번은 선택한 </a:t>
            </a:r>
            <a:r>
              <a:rPr lang="ko-KR" sz="1000" dirty="0" err="1">
                <a:latin typeface="맑은 고딕"/>
              </a:rPr>
              <a:t>Die의</a:t>
            </a:r>
            <a:r>
              <a:rPr lang="ko-KR" sz="1000" dirty="0">
                <a:latin typeface="맑은 고딕"/>
              </a:rPr>
              <a:t> 불량과 </a:t>
            </a:r>
            <a:r>
              <a:rPr lang="ko-KR" sz="1000" dirty="0" err="1">
                <a:latin typeface="맑은 고딕"/>
              </a:rPr>
              <a:t>Fail</a:t>
            </a:r>
            <a:r>
              <a:rPr lang="ko-KR" sz="1000" dirty="0">
                <a:latin typeface="맑은 고딕"/>
              </a:rPr>
              <a:t> </a:t>
            </a:r>
            <a:r>
              <a:rPr lang="ko-KR" sz="1000" dirty="0" err="1">
                <a:latin typeface="맑은 고딕"/>
              </a:rPr>
              <a:t>Chain</a:t>
            </a:r>
            <a:r>
              <a:rPr lang="ko-KR" sz="1000" dirty="0">
                <a:latin typeface="맑은 고딕"/>
              </a:rPr>
              <a:t> 요약이고, 2번은 도면 위에 외관 불량 위치를 겹쳐 보여 주는 </a:t>
            </a:r>
            <a:r>
              <a:rPr lang="ko-KR" sz="1000" dirty="0" err="1">
                <a:latin typeface="맑은 고딕"/>
              </a:rPr>
              <a:t>Map입니다</a:t>
            </a:r>
            <a:r>
              <a:rPr lang="ko-KR" sz="1000" dirty="0">
                <a:latin typeface="맑은 고딕"/>
              </a:rPr>
              <a:t>.</a:t>
            </a:r>
          </a:p>
          <a:p>
            <a:r>
              <a:rPr lang="ko-KR" sz="1000" dirty="0">
                <a:latin typeface="맑은 고딕"/>
              </a:rPr>
              <a:t>3번에서는 </a:t>
            </a:r>
            <a:r>
              <a:rPr lang="ko-KR" sz="1000" dirty="0" err="1">
                <a:latin typeface="맑은 고딕"/>
              </a:rPr>
              <a:t>Chain별로</a:t>
            </a:r>
            <a:r>
              <a:rPr lang="ko-KR" sz="1000" dirty="0">
                <a:latin typeface="맑은 고딕"/>
              </a:rPr>
              <a:t> 불량이 </a:t>
            </a:r>
            <a:r>
              <a:rPr lang="ko-KR" sz="1100" dirty="0">
                <a:latin typeface="맑은 고딕"/>
              </a:rPr>
              <a:t>배선 안에 있는지 밖에 있는지 확인합니다.</a:t>
            </a:r>
          </a:p>
          <a:p>
            <a:r>
              <a:rPr lang="ko-KR" sz="1100" dirty="0">
                <a:latin typeface="맑은 고딕"/>
              </a:rPr>
              <a:t>4번에서는 그 </a:t>
            </a:r>
            <a:r>
              <a:rPr lang="ko-KR" sz="1100" dirty="0" err="1">
                <a:latin typeface="맑은 고딕"/>
              </a:rPr>
              <a:t>Chain의</a:t>
            </a:r>
            <a:r>
              <a:rPr lang="ko-KR" sz="1100" dirty="0">
                <a:latin typeface="맑은 고딕"/>
              </a:rPr>
              <a:t> 전기 검사 값과 </a:t>
            </a:r>
            <a:r>
              <a:rPr lang="ko-KR" sz="1100" dirty="0" err="1">
                <a:latin typeface="맑은 고딕"/>
              </a:rPr>
              <a:t>Spec을</a:t>
            </a:r>
            <a:r>
              <a:rPr lang="ko-KR" sz="1100" dirty="0">
                <a:latin typeface="맑은 고딕"/>
              </a:rPr>
              <a:t> 함께 봅니다.</a:t>
            </a:r>
          </a:p>
          <a:p>
            <a:r>
              <a:rPr lang="ko-KR" sz="1100" dirty="0">
                <a:latin typeface="맑은 고딕"/>
              </a:rPr>
              <a:t>불량 위치와 전기 불량을 한 화면에서 비교해 엔지니어가 판단할 근거를 드리는 것이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dirty="0">
                <a:latin typeface="맑은 고딕"/>
              </a:rPr>
              <a:t>결론부터 말씀드리면, 도면을 기준으로 불량 연관 분석이 가능하다는 것을 확인했습니다.</a:t>
            </a:r>
          </a:p>
          <a:p>
            <a:r>
              <a:rPr lang="ko-KR" dirty="0">
                <a:latin typeface="맑은 고딕"/>
              </a:rPr>
              <a:t>세 데이터를 한 화면에 연결했고, </a:t>
            </a:r>
            <a:r>
              <a:rPr lang="ko-KR" dirty="0" err="1">
                <a:latin typeface="맑은 고딕"/>
              </a:rPr>
              <a:t>Chain</a:t>
            </a:r>
            <a:r>
              <a:rPr lang="ko-KR" dirty="0">
                <a:latin typeface="맑은 고딕"/>
              </a:rPr>
              <a:t> 자동 생성과 </a:t>
            </a:r>
            <a:r>
              <a:rPr lang="ko-KR" dirty="0" err="1">
                <a:latin typeface="맑은 고딕"/>
              </a:rPr>
              <a:t>Naming</a:t>
            </a:r>
            <a:r>
              <a:rPr lang="ko-KR" dirty="0">
                <a:latin typeface="맑은 고딕"/>
              </a:rPr>
              <a:t> </a:t>
            </a:r>
            <a:r>
              <a:rPr lang="ko-KR" dirty="0" err="1">
                <a:latin typeface="맑은 고딕"/>
              </a:rPr>
              <a:t>Rule</a:t>
            </a:r>
            <a:r>
              <a:rPr lang="ko-KR" dirty="0">
                <a:latin typeface="맑은 고딕"/>
              </a:rPr>
              <a:t> 연결 방식이라 다른 </a:t>
            </a:r>
            <a:r>
              <a:rPr lang="ko-KR" dirty="0" err="1">
                <a:latin typeface="맑은 고딕"/>
              </a:rPr>
              <a:t>Device로도</a:t>
            </a:r>
            <a:r>
              <a:rPr lang="ko-KR" dirty="0">
                <a:latin typeface="맑은 고딕"/>
              </a:rPr>
              <a:t> 확장할 수 있습니다.</a:t>
            </a:r>
          </a:p>
          <a:p>
            <a:r>
              <a:rPr lang="ko-KR" dirty="0">
                <a:latin typeface="맑은 고딕"/>
              </a:rPr>
              <a:t>남은 과제는 두 가지입니다. </a:t>
            </a:r>
            <a:r>
              <a:rPr lang="ko-KR" dirty="0" err="1">
                <a:latin typeface="맑은 고딕"/>
              </a:rPr>
              <a:t>Wafer</a:t>
            </a:r>
            <a:r>
              <a:rPr lang="ko-KR" dirty="0">
                <a:latin typeface="맑은 고딕"/>
              </a:rPr>
              <a:t> 이름, 좌표 원점 같은 데이터 기준과 파일, </a:t>
            </a:r>
            <a:r>
              <a:rPr lang="ko-KR" dirty="0" err="1">
                <a:latin typeface="맑은 고딕"/>
              </a:rPr>
              <a:t>Chain의</a:t>
            </a:r>
            <a:r>
              <a:rPr lang="ko-KR" dirty="0">
                <a:latin typeface="맑은 고딕"/>
              </a:rPr>
              <a:t> </a:t>
            </a:r>
            <a:r>
              <a:rPr lang="ko-KR" dirty="0" err="1">
                <a:latin typeface="맑은 고딕"/>
              </a:rPr>
              <a:t>Naming</a:t>
            </a:r>
            <a:r>
              <a:rPr lang="ko-KR" dirty="0">
                <a:latin typeface="맑은 고딕"/>
              </a:rPr>
              <a:t> </a:t>
            </a:r>
            <a:r>
              <a:rPr lang="ko-KR" dirty="0" err="1">
                <a:latin typeface="맑은 고딕"/>
              </a:rPr>
              <a:t>Rule을</a:t>
            </a:r>
            <a:r>
              <a:rPr lang="ko-KR" dirty="0">
                <a:latin typeface="맑은 고딕"/>
              </a:rPr>
              <a:t> 연구소와 함께 확정해야 합니다.</a:t>
            </a:r>
          </a:p>
          <a:p>
            <a:r>
              <a:rPr lang="ko-KR" dirty="0">
                <a:latin typeface="맑은 고딕"/>
              </a:rPr>
              <a:t>아래는 </a:t>
            </a:r>
            <a:r>
              <a:rPr lang="ko-KR" dirty="0" err="1">
                <a:latin typeface="맑은 고딕"/>
              </a:rPr>
              <a:t>본사업에서</a:t>
            </a:r>
            <a:r>
              <a:rPr lang="ko-KR" dirty="0">
                <a:latin typeface="맑은 고딕"/>
              </a:rPr>
              <a:t> 추진할 기능입니다.</a:t>
            </a:r>
          </a:p>
          <a:p>
            <a:r>
              <a:rPr lang="ko-KR" dirty="0">
                <a:latin typeface="맑은 고딕"/>
              </a:rPr>
              <a:t>파일 자동 수집과 MES 연동으로 수동 업로드를 없애고, 불량 </a:t>
            </a:r>
            <a:r>
              <a:rPr lang="ko-KR" dirty="0" err="1">
                <a:latin typeface="맑은 고딕"/>
              </a:rPr>
              <a:t>Spec을</a:t>
            </a:r>
            <a:r>
              <a:rPr lang="ko-KR" dirty="0">
                <a:latin typeface="맑은 고딕"/>
              </a:rPr>
              <a:t> 관리해 기준을 넘으면 설비를 </a:t>
            </a:r>
            <a:r>
              <a:rPr lang="ko-KR" dirty="0" err="1">
                <a:latin typeface="맑은 고딕"/>
              </a:rPr>
              <a:t>Hold하거나</a:t>
            </a:r>
            <a:r>
              <a:rPr lang="ko-KR" dirty="0">
                <a:latin typeface="맑은 고딕"/>
              </a:rPr>
              <a:t> 메일로 알려 품질 사고를 미리 막습니다.</a:t>
            </a:r>
          </a:p>
          <a:p>
            <a:r>
              <a:rPr lang="ko-KR" dirty="0">
                <a:latin typeface="맑은 고딕"/>
              </a:rPr>
              <a:t>또 차수와 작업 방법에 따라 BS / FS 기준을 </a:t>
            </a:r>
            <a:r>
              <a:rPr lang="ko-KR" dirty="0" err="1">
                <a:latin typeface="맑은 고딕"/>
              </a:rPr>
              <a:t>정보화하고</a:t>
            </a:r>
            <a:r>
              <a:rPr lang="ko-KR" dirty="0">
                <a:latin typeface="맑은 고딕"/>
              </a:rPr>
              <a:t>, 새로운 GDS </a:t>
            </a:r>
            <a:r>
              <a:rPr lang="ko-KR" dirty="0" err="1">
                <a:latin typeface="맑은 고딕"/>
              </a:rPr>
              <a:t>Format에도</a:t>
            </a:r>
            <a:r>
              <a:rPr lang="ko-KR" dirty="0">
                <a:latin typeface="맑은 고딕"/>
              </a:rPr>
              <a:t> </a:t>
            </a:r>
            <a:r>
              <a:rPr lang="ko-KR" dirty="0" err="1">
                <a:latin typeface="맑은 고딕"/>
              </a:rPr>
              <a:t>Chain</a:t>
            </a:r>
            <a:r>
              <a:rPr lang="ko-KR" dirty="0">
                <a:latin typeface="맑은 고딕"/>
              </a:rPr>
              <a:t> 자동 생성이 되도록 확장합니다.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dirty="0" err="1">
                <a:latin typeface="맑은 고딕"/>
              </a:rPr>
              <a:t>미라콤이</a:t>
            </a:r>
            <a:r>
              <a:rPr lang="ko-KR" dirty="0">
                <a:latin typeface="맑은 고딕"/>
              </a:rPr>
              <a:t> 철수한 뒤에도 연구소에서 내년 1월 31일까지 POC 시스템을 직접 쓰실 수 있습니다.</a:t>
            </a:r>
          </a:p>
          <a:p>
            <a:r>
              <a:rPr lang="ko-KR" dirty="0">
                <a:latin typeface="맑은 고딕"/>
              </a:rPr>
              <a:t>그 이후에는 조회만 가능하고, 등록한 데이터는 그대로 남습니다.</a:t>
            </a:r>
          </a:p>
          <a:p>
            <a:r>
              <a:rPr lang="ko-KR" dirty="0">
                <a:latin typeface="맑은 고딕"/>
              </a:rPr>
              <a:t>운영은 연구소가 업로드와 분석을, </a:t>
            </a:r>
            <a:r>
              <a:rPr lang="ko-KR" dirty="0" err="1">
                <a:latin typeface="맑은 고딕"/>
              </a:rPr>
              <a:t>IT팀이</a:t>
            </a:r>
            <a:r>
              <a:rPr lang="ko-KR" dirty="0">
                <a:latin typeface="맑은 고딕"/>
              </a:rPr>
              <a:t> 서비스 관리와 업데이트를 맡습니다.</a:t>
            </a:r>
          </a:p>
          <a:p>
            <a:r>
              <a:rPr lang="ko-KR" dirty="0">
                <a:latin typeface="맑은 고딕"/>
              </a:rPr>
              <a:t>문제가 생기면 </a:t>
            </a:r>
            <a:r>
              <a:rPr lang="ko-KR" dirty="0" err="1">
                <a:latin typeface="맑은 고딕"/>
              </a:rPr>
              <a:t>미라콤이</a:t>
            </a:r>
            <a:r>
              <a:rPr lang="ko-KR" dirty="0">
                <a:latin typeface="맑은 고딕"/>
              </a:rPr>
              <a:t> 업데이트 파일을 제공하겠습니다.</a:t>
            </a:r>
          </a:p>
          <a:p>
            <a:r>
              <a:rPr lang="ko-KR" dirty="0">
                <a:latin typeface="맑은 고딕"/>
              </a:rPr>
              <a:t>인계 자료로 IT 유지보수 가이드와 사용자 매뉴얼을 드리고, 새 Device를 쓰실 때는 GDS Map, Wafer Map 설정을 먼저 해 주셔야 합니다.</a:t>
            </a:r>
          </a:p>
          <a:p>
            <a:r>
              <a:rPr lang="ko-KR" dirty="0">
                <a:latin typeface="맑은 고딕"/>
              </a:rPr>
              <a:t>사용 결과를 보시고 </a:t>
            </a:r>
            <a:r>
              <a:rPr lang="ko-KR" dirty="0" err="1">
                <a:latin typeface="맑은 고딕"/>
              </a:rPr>
              <a:t>본사업</a:t>
            </a:r>
            <a:r>
              <a:rPr lang="ko-KR" dirty="0">
                <a:latin typeface="맑은 고딕"/>
              </a:rPr>
              <a:t> 확장 여부를 판단해 주시면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>
                <a:latin typeface="맑은 고딕"/>
              </a:rPr>
              <a:t>이상으로 POC 완료 보고를 마치겠습니다. 감사합니다.</a:t>
            </a:r>
          </a:p>
          <a:p>
            <a:r>
              <a:rPr lang="ko-KR">
                <a:latin typeface="맑은 고딕"/>
              </a:rPr>
              <a:t>궁금하신 점 있으시면 말씀해 주십시오.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밝은배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19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584" y="321809"/>
            <a:ext cx="1794274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Create your value 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solidFill>
                  <a:schemeClr val="tx1"/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49" name="그룹 4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50" name="그룹 4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57" name="직사각형 5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8" name="직사각형 5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51" name="그룹 5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52" name="직사각형 5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53" name="그룹 5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55" name="직사각형 5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56" name="직사각형 5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54" name="직사각형 5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21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35119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30" name="그룹 29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rgbClr val="005AB4"/>
          </a:solidFill>
        </p:grpSpPr>
        <p:sp>
          <p:nvSpPr>
            <p:cNvPr id="31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660660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 userDrawn="1">
          <p15:clr>
            <a:srgbClr val="FBAE40"/>
          </p15:clr>
        </p15:guide>
        <p15:guide id="2" pos="60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업_배경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524000" y="-1523998"/>
            <a:ext cx="6858000" cy="9906000"/>
          </a:xfrm>
          <a:prstGeom prst="rect">
            <a:avLst/>
          </a:prstGeom>
        </p:spPr>
      </p:pic>
      <p:sp>
        <p:nvSpPr>
          <p:cNvPr id="33" name="TextBox 32"/>
          <p:cNvSpPr txBox="1"/>
          <p:nvPr userDrawn="1"/>
        </p:nvSpPr>
        <p:spPr>
          <a:xfrm>
            <a:off x="334584" y="321809"/>
            <a:ext cx="1794274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/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Create your value 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각 삼각형 3"/>
          <p:cNvSpPr/>
          <p:nvPr userDrawn="1"/>
        </p:nvSpPr>
        <p:spPr>
          <a:xfrm flipH="1">
            <a:off x="3833446" y="785449"/>
            <a:ext cx="6072552" cy="6072552"/>
          </a:xfrm>
          <a:prstGeom prst="rtTriangle">
            <a:avLst/>
          </a:prstGeom>
          <a:gradFill flip="none" rotWithShape="1">
            <a:gsLst>
              <a:gs pos="5100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tx1">
                  <a:alpha val="37000"/>
                </a:schemeClr>
              </a:gs>
            </a:gsLst>
            <a:lin ang="7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25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35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39" name="그룹 3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40" name="그룹 3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47" name="직사각형 4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8" name="직사각형 4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41" name="그룹 4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42" name="직사각형 4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43" name="그룹 4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45" name="직사각형 4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46" name="직사각형 4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44" name="직사각형 4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49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44084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23" name="그룹 22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chemeClr val="bg1"/>
          </a:solidFill>
        </p:grpSpPr>
        <p:sp>
          <p:nvSpPr>
            <p:cNvPr id="2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6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7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8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9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6416832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>
          <p15:clr>
            <a:srgbClr val="FBAE40"/>
          </p15:clr>
        </p15:guide>
        <p15:guide id="2" pos="602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656856" y="1016733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en-US" altLang="ko-KR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lvl="0"/>
            <a:r>
              <a:rPr lang="ko-KR" altLang="en-US" dirty="0" smtClean="0"/>
              <a:t>별첨자료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884548" y="908722"/>
            <a:ext cx="1944217" cy="1944215"/>
            <a:chOff x="884548" y="908722"/>
            <a:chExt cx="1944217" cy="1944215"/>
          </a:xfrm>
        </p:grpSpPr>
        <p:sp>
          <p:nvSpPr>
            <p:cNvPr id="11" name="직사각형 10"/>
            <p:cNvSpPr/>
            <p:nvPr/>
          </p:nvSpPr>
          <p:spPr>
            <a:xfrm rot="16200000">
              <a:off x="1802651" y="-9381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/>
            <p:cNvSpPr/>
            <p:nvPr/>
          </p:nvSpPr>
          <p:spPr>
            <a:xfrm rot="5400000">
              <a:off x="1802651" y="1826822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1021813" y="1618816"/>
            <a:ext cx="1669688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Agenda</a:t>
            </a: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884549" y="908721"/>
            <a:ext cx="1944217" cy="1944216"/>
            <a:chOff x="884549" y="908721"/>
            <a:chExt cx="1944217" cy="1944216"/>
          </a:xfrm>
          <a:solidFill>
            <a:schemeClr val="accent1"/>
          </a:solidFill>
        </p:grpSpPr>
        <p:grpSp>
          <p:nvGrpSpPr>
            <p:cNvPr id="10" name="그룹 9"/>
            <p:cNvGrpSpPr/>
            <p:nvPr/>
          </p:nvGrpSpPr>
          <p:grpSpPr>
            <a:xfrm>
              <a:off x="884549" y="908721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8" name="직사각형 17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2" name="그룹 11"/>
            <p:cNvGrpSpPr/>
            <p:nvPr/>
          </p:nvGrpSpPr>
          <p:grpSpPr>
            <a:xfrm rot="10800000">
              <a:off x="884549" y="2636913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5" name="직사각형 14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9761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3">
    <p:bg>
      <p:bgPr>
        <a:solidFill>
          <a:schemeClr val="tx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2751826" y="908721"/>
            <a:ext cx="6487065" cy="546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115038" y="1124745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ko-KR" altLang="en-US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별첨자료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1037" y="1019970"/>
            <a:ext cx="1669688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Agenda</a:t>
            </a:r>
          </a:p>
        </p:txBody>
      </p:sp>
      <p:cxnSp>
        <p:nvCxnSpPr>
          <p:cNvPr id="6" name="직선 연결선 5"/>
          <p:cNvCxnSpPr/>
          <p:nvPr userDrawn="1"/>
        </p:nvCxnSpPr>
        <p:spPr>
          <a:xfrm flipV="1">
            <a:off x="819509" y="1645444"/>
            <a:ext cx="1506972" cy="952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6283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0999" y="427042"/>
            <a:ext cx="914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kumimoji="1" lang="en-US" sz="2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defTabSz="457200" fontAlgn="t" latinLnBrk="0"/>
            <a:r>
              <a:rPr lang="ko-KR" altLang="en-US" dirty="0" smtClean="0"/>
              <a:t>페이지 제목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Bold 26pt)</a:t>
            </a:r>
            <a:endParaRPr lang="en-US" dirty="0"/>
          </a:p>
        </p:txBody>
      </p:sp>
      <p:cxnSp>
        <p:nvCxnSpPr>
          <p:cNvPr id="31" name="직선 연결선 30"/>
          <p:cNvCxnSpPr/>
          <p:nvPr userDrawn="1"/>
        </p:nvCxnSpPr>
        <p:spPr>
          <a:xfrm>
            <a:off x="380999" y="286985"/>
            <a:ext cx="7418295" cy="0"/>
          </a:xfrm>
          <a:prstGeom prst="line">
            <a:avLst/>
          </a:prstGeom>
          <a:ln w="12700">
            <a:gradFill>
              <a:gsLst>
                <a:gs pos="2400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슬라이드 번호 개체 틀 5"/>
          <p:cNvSpPr txBox="1">
            <a:spLocks/>
          </p:cNvSpPr>
          <p:nvPr userDrawn="1"/>
        </p:nvSpPr>
        <p:spPr>
          <a:xfrm>
            <a:off x="3838575" y="646061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84941F0-AFF0-444F-9320-08D07B73C7AD}" type="slidenum">
              <a:rPr lang="ko-KR" altLang="en-US" smtClean="0"/>
              <a:pPr lvl="0"/>
              <a:t>‹#›</a:t>
            </a:fld>
            <a:r>
              <a:rPr lang="en-US" altLang="ko-KR" dirty="0" smtClean="0"/>
              <a:t>/9</a:t>
            </a:r>
            <a:endParaRPr lang="ko-KR" altLang="en-US" dirty="0"/>
          </a:p>
        </p:txBody>
      </p:sp>
      <p:sp>
        <p:nvSpPr>
          <p:cNvPr id="30" name="텍스트 개체 틀 2"/>
          <p:cNvSpPr>
            <a:spLocks noGrp="1"/>
          </p:cNvSpPr>
          <p:nvPr userDrawn="1">
            <p:ph type="body" idx="10" hasCustomPrompt="1"/>
          </p:nvPr>
        </p:nvSpPr>
        <p:spPr>
          <a:xfrm>
            <a:off x="7938019" y="142944"/>
            <a:ext cx="1586981" cy="288082"/>
          </a:xfrm>
        </p:spPr>
        <p:txBody>
          <a:bodyPr wrap="square" lIns="0" tIns="0" rIns="0" bIns="0" anchor="ctr">
            <a:spAutoFit/>
          </a:bodyPr>
          <a:lstStyle>
            <a:lvl1pPr marL="0" indent="0" algn="r">
              <a:buNone/>
              <a:defRPr lang="ko-KR" altLang="en-US" sz="800" b="0" kern="1200" spc="-50" baseline="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 smtClean="0"/>
              <a:t>1. </a:t>
            </a:r>
            <a:r>
              <a:rPr lang="ko-KR" altLang="en-US" dirty="0" smtClean="0"/>
              <a:t>마스터 텍스트 스타일 편집</a:t>
            </a:r>
          </a:p>
        </p:txBody>
      </p:sp>
      <p:sp>
        <p:nvSpPr>
          <p:cNvPr id="6" name="텍스트 개체 틀 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1000" y="899269"/>
            <a:ext cx="9144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 smtClean="0"/>
              <a:t>페이지 설명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16pt)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6922602" y="6587034"/>
            <a:ext cx="2602398" cy="126449"/>
            <a:chOff x="6922602" y="6587034"/>
            <a:chExt cx="2602398" cy="126449"/>
          </a:xfrm>
        </p:grpSpPr>
        <p:sp>
          <p:nvSpPr>
            <p:cNvPr id="29" name="Text Box 9"/>
            <p:cNvSpPr txBox="1">
              <a:spLocks noChangeArrowheads="1"/>
            </p:cNvSpPr>
            <p:nvPr userDrawn="1"/>
          </p:nvSpPr>
          <p:spPr bwMode="auto">
            <a:xfrm>
              <a:off x="6922602" y="6605761"/>
              <a:ext cx="1899751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r" defTabSz="95747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</a:t>
              </a:r>
              <a:r>
                <a:rPr kumimoji="1" lang="en-US" altLang="ko-KR" sz="7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Miracom,Inc</a:t>
              </a: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. All rights reserved.</a:t>
              </a:r>
            </a:p>
          </p:txBody>
        </p:sp>
        <p:grpSp>
          <p:nvGrpSpPr>
            <p:cNvPr id="50" name="그룹 49"/>
            <p:cNvGrpSpPr/>
            <p:nvPr userDrawn="1"/>
          </p:nvGrpSpPr>
          <p:grpSpPr>
            <a:xfrm>
              <a:off x="8842727" y="6587034"/>
              <a:ext cx="682273" cy="112290"/>
              <a:chOff x="7132078" y="2394682"/>
              <a:chExt cx="2286000" cy="376237"/>
            </a:xfrm>
            <a:solidFill>
              <a:srgbClr val="005AB4"/>
            </a:solidFill>
          </p:grpSpPr>
          <p:sp>
            <p:nvSpPr>
              <p:cNvPr id="51" name="Freeform 5"/>
              <p:cNvSpPr>
                <a:spLocks/>
              </p:cNvSpPr>
              <p:nvPr userDrawn="1"/>
            </p:nvSpPr>
            <p:spPr bwMode="auto">
              <a:xfrm>
                <a:off x="9046603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4 w 234"/>
                  <a:gd name="T9" fmla="*/ 237 h 237"/>
                  <a:gd name="T10" fmla="*/ 44 w 234"/>
                  <a:gd name="T11" fmla="*/ 96 h 237"/>
                  <a:gd name="T12" fmla="*/ 102 w 234"/>
                  <a:gd name="T13" fmla="*/ 237 h 237"/>
                  <a:gd name="T14" fmla="*/ 131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1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4" y="237"/>
                    </a:lnTo>
                    <a:lnTo>
                      <a:pt x="44" y="96"/>
                    </a:lnTo>
                    <a:lnTo>
                      <a:pt x="102" y="237"/>
                    </a:lnTo>
                    <a:lnTo>
                      <a:pt x="131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1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6"/>
              <p:cNvSpPr>
                <a:spLocks/>
              </p:cNvSpPr>
              <p:nvPr userDrawn="1"/>
            </p:nvSpPr>
            <p:spPr bwMode="auto">
              <a:xfrm>
                <a:off x="7132078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5 w 234"/>
                  <a:gd name="T9" fmla="*/ 237 h 237"/>
                  <a:gd name="T10" fmla="*/ 45 w 234"/>
                  <a:gd name="T11" fmla="*/ 96 h 237"/>
                  <a:gd name="T12" fmla="*/ 103 w 234"/>
                  <a:gd name="T13" fmla="*/ 237 h 237"/>
                  <a:gd name="T14" fmla="*/ 132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2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5" y="237"/>
                    </a:lnTo>
                    <a:lnTo>
                      <a:pt x="45" y="96"/>
                    </a:lnTo>
                    <a:lnTo>
                      <a:pt x="103" y="237"/>
                    </a:lnTo>
                    <a:lnTo>
                      <a:pt x="132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2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 userDrawn="1"/>
            </p:nvSpPr>
            <p:spPr bwMode="auto">
              <a:xfrm>
                <a:off x="7571815" y="2394682"/>
                <a:ext cx="73025" cy="3762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8"/>
              <p:cNvSpPr>
                <a:spLocks noEditPoints="1"/>
              </p:cNvSpPr>
              <p:nvPr userDrawn="1"/>
            </p:nvSpPr>
            <p:spPr bwMode="auto">
              <a:xfrm>
                <a:off x="8629090" y="2394682"/>
                <a:ext cx="369887" cy="376237"/>
              </a:xfrm>
              <a:custGeom>
                <a:avLst/>
                <a:gdLst>
                  <a:gd name="T0" fmla="*/ 163 w 169"/>
                  <a:gd name="T1" fmla="*/ 51 h 170"/>
                  <a:gd name="T2" fmla="*/ 145 w 169"/>
                  <a:gd name="T3" fmla="*/ 24 h 170"/>
                  <a:gd name="T4" fmla="*/ 119 w 169"/>
                  <a:gd name="T5" fmla="*/ 6 h 170"/>
                  <a:gd name="T6" fmla="*/ 85 w 169"/>
                  <a:gd name="T7" fmla="*/ 0 h 170"/>
                  <a:gd name="T8" fmla="*/ 51 w 169"/>
                  <a:gd name="T9" fmla="*/ 6 h 170"/>
                  <a:gd name="T10" fmla="*/ 24 w 169"/>
                  <a:gd name="T11" fmla="*/ 24 h 170"/>
                  <a:gd name="T12" fmla="*/ 6 w 169"/>
                  <a:gd name="T13" fmla="*/ 51 h 170"/>
                  <a:gd name="T14" fmla="*/ 0 w 169"/>
                  <a:gd name="T15" fmla="*/ 85 h 170"/>
                  <a:gd name="T16" fmla="*/ 6 w 169"/>
                  <a:gd name="T17" fmla="*/ 118 h 170"/>
                  <a:gd name="T18" fmla="*/ 24 w 169"/>
                  <a:gd name="T19" fmla="*/ 146 h 170"/>
                  <a:gd name="T20" fmla="*/ 51 w 169"/>
                  <a:gd name="T21" fmla="*/ 163 h 170"/>
                  <a:gd name="T22" fmla="*/ 85 w 169"/>
                  <a:gd name="T23" fmla="*/ 170 h 170"/>
                  <a:gd name="T24" fmla="*/ 119 w 169"/>
                  <a:gd name="T25" fmla="*/ 163 h 170"/>
                  <a:gd name="T26" fmla="*/ 145 w 169"/>
                  <a:gd name="T27" fmla="*/ 146 h 170"/>
                  <a:gd name="T28" fmla="*/ 163 w 169"/>
                  <a:gd name="T29" fmla="*/ 118 h 170"/>
                  <a:gd name="T30" fmla="*/ 169 w 169"/>
                  <a:gd name="T31" fmla="*/ 85 h 170"/>
                  <a:gd name="T32" fmla="*/ 163 w 169"/>
                  <a:gd name="T33" fmla="*/ 51 h 170"/>
                  <a:gd name="T34" fmla="*/ 132 w 169"/>
                  <a:gd name="T35" fmla="*/ 106 h 170"/>
                  <a:gd name="T36" fmla="*/ 121 w 169"/>
                  <a:gd name="T37" fmla="*/ 123 h 170"/>
                  <a:gd name="T38" fmla="*/ 105 w 169"/>
                  <a:gd name="T39" fmla="*/ 134 h 170"/>
                  <a:gd name="T40" fmla="*/ 64 w 169"/>
                  <a:gd name="T41" fmla="*/ 134 h 170"/>
                  <a:gd name="T42" fmla="*/ 48 w 169"/>
                  <a:gd name="T43" fmla="*/ 123 h 170"/>
                  <a:gd name="T44" fmla="*/ 38 w 169"/>
                  <a:gd name="T45" fmla="*/ 106 h 170"/>
                  <a:gd name="T46" fmla="*/ 34 w 169"/>
                  <a:gd name="T47" fmla="*/ 85 h 170"/>
                  <a:gd name="T48" fmla="*/ 38 w 169"/>
                  <a:gd name="T49" fmla="*/ 64 h 170"/>
                  <a:gd name="T50" fmla="*/ 48 w 169"/>
                  <a:gd name="T51" fmla="*/ 46 h 170"/>
                  <a:gd name="T52" fmla="*/ 64 w 169"/>
                  <a:gd name="T53" fmla="*/ 35 h 170"/>
                  <a:gd name="T54" fmla="*/ 85 w 169"/>
                  <a:gd name="T55" fmla="*/ 31 h 170"/>
                  <a:gd name="T56" fmla="*/ 105 w 169"/>
                  <a:gd name="T57" fmla="*/ 35 h 170"/>
                  <a:gd name="T58" fmla="*/ 121 w 169"/>
                  <a:gd name="T59" fmla="*/ 46 h 170"/>
                  <a:gd name="T60" fmla="*/ 132 w 169"/>
                  <a:gd name="T61" fmla="*/ 64 h 170"/>
                  <a:gd name="T62" fmla="*/ 136 w 169"/>
                  <a:gd name="T63" fmla="*/ 85 h 170"/>
                  <a:gd name="T64" fmla="*/ 132 w 169"/>
                  <a:gd name="T65" fmla="*/ 106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9" h="170">
                    <a:moveTo>
                      <a:pt x="163" y="51"/>
                    </a:moveTo>
                    <a:cubicBezTo>
                      <a:pt x="159" y="41"/>
                      <a:pt x="153" y="31"/>
                      <a:pt x="145" y="24"/>
                    </a:cubicBezTo>
                    <a:cubicBezTo>
                      <a:pt x="138" y="16"/>
                      <a:pt x="129" y="10"/>
                      <a:pt x="119" y="6"/>
                    </a:cubicBezTo>
                    <a:cubicBezTo>
                      <a:pt x="108" y="2"/>
                      <a:pt x="97" y="0"/>
                      <a:pt x="85" y="0"/>
                    </a:cubicBezTo>
                    <a:cubicBezTo>
                      <a:pt x="73" y="0"/>
                      <a:pt x="61" y="2"/>
                      <a:pt x="51" y="6"/>
                    </a:cubicBezTo>
                    <a:cubicBezTo>
                      <a:pt x="41" y="10"/>
                      <a:pt x="32" y="16"/>
                      <a:pt x="24" y="24"/>
                    </a:cubicBezTo>
                    <a:cubicBezTo>
                      <a:pt x="17" y="31"/>
                      <a:pt x="11" y="41"/>
                      <a:pt x="6" y="51"/>
                    </a:cubicBezTo>
                    <a:cubicBezTo>
                      <a:pt x="2" y="61"/>
                      <a:pt x="0" y="73"/>
                      <a:pt x="0" y="85"/>
                    </a:cubicBezTo>
                    <a:cubicBezTo>
                      <a:pt x="0" y="97"/>
                      <a:pt x="2" y="108"/>
                      <a:pt x="6" y="118"/>
                    </a:cubicBezTo>
                    <a:cubicBezTo>
                      <a:pt x="11" y="129"/>
                      <a:pt x="17" y="138"/>
                      <a:pt x="24" y="146"/>
                    </a:cubicBezTo>
                    <a:cubicBezTo>
                      <a:pt x="32" y="153"/>
                      <a:pt x="41" y="159"/>
                      <a:pt x="51" y="163"/>
                    </a:cubicBezTo>
                    <a:cubicBezTo>
                      <a:pt x="61" y="168"/>
                      <a:pt x="73" y="170"/>
                      <a:pt x="85" y="170"/>
                    </a:cubicBezTo>
                    <a:cubicBezTo>
                      <a:pt x="97" y="170"/>
                      <a:pt x="108" y="168"/>
                      <a:pt x="119" y="163"/>
                    </a:cubicBezTo>
                    <a:cubicBezTo>
                      <a:pt x="129" y="159"/>
                      <a:pt x="138" y="153"/>
                      <a:pt x="145" y="146"/>
                    </a:cubicBezTo>
                    <a:cubicBezTo>
                      <a:pt x="153" y="138"/>
                      <a:pt x="159" y="129"/>
                      <a:pt x="163" y="118"/>
                    </a:cubicBezTo>
                    <a:cubicBezTo>
                      <a:pt x="167" y="108"/>
                      <a:pt x="169" y="97"/>
                      <a:pt x="169" y="85"/>
                    </a:cubicBezTo>
                    <a:cubicBezTo>
                      <a:pt x="169" y="73"/>
                      <a:pt x="167" y="61"/>
                      <a:pt x="163" y="51"/>
                    </a:cubicBezTo>
                    <a:close/>
                    <a:moveTo>
                      <a:pt x="132" y="106"/>
                    </a:moveTo>
                    <a:cubicBezTo>
                      <a:pt x="129" y="112"/>
                      <a:pt x="126" y="118"/>
                      <a:pt x="121" y="123"/>
                    </a:cubicBezTo>
                    <a:cubicBezTo>
                      <a:pt x="117" y="128"/>
                      <a:pt x="112" y="132"/>
                      <a:pt x="105" y="134"/>
                    </a:cubicBezTo>
                    <a:cubicBezTo>
                      <a:pt x="93" y="140"/>
                      <a:pt x="76" y="140"/>
                      <a:pt x="64" y="134"/>
                    </a:cubicBezTo>
                    <a:cubicBezTo>
                      <a:pt x="58" y="132"/>
                      <a:pt x="52" y="128"/>
                      <a:pt x="48" y="123"/>
                    </a:cubicBezTo>
                    <a:cubicBezTo>
                      <a:pt x="44" y="118"/>
                      <a:pt x="40" y="112"/>
                      <a:pt x="38" y="106"/>
                    </a:cubicBezTo>
                    <a:cubicBezTo>
                      <a:pt x="35" y="99"/>
                      <a:pt x="34" y="92"/>
                      <a:pt x="34" y="85"/>
                    </a:cubicBezTo>
                    <a:cubicBezTo>
                      <a:pt x="34" y="77"/>
                      <a:pt x="35" y="70"/>
                      <a:pt x="38" y="64"/>
                    </a:cubicBezTo>
                    <a:cubicBezTo>
                      <a:pt x="40" y="57"/>
                      <a:pt x="44" y="51"/>
                      <a:pt x="48" y="46"/>
                    </a:cubicBezTo>
                    <a:cubicBezTo>
                      <a:pt x="52" y="42"/>
                      <a:pt x="58" y="38"/>
                      <a:pt x="64" y="35"/>
                    </a:cubicBezTo>
                    <a:cubicBezTo>
                      <a:pt x="70" y="32"/>
                      <a:pt x="77" y="31"/>
                      <a:pt x="85" y="31"/>
                    </a:cubicBezTo>
                    <a:cubicBezTo>
                      <a:pt x="92" y="31"/>
                      <a:pt x="99" y="32"/>
                      <a:pt x="105" y="35"/>
                    </a:cubicBezTo>
                    <a:cubicBezTo>
                      <a:pt x="112" y="38"/>
                      <a:pt x="117" y="42"/>
                      <a:pt x="121" y="46"/>
                    </a:cubicBezTo>
                    <a:cubicBezTo>
                      <a:pt x="126" y="51"/>
                      <a:pt x="129" y="57"/>
                      <a:pt x="132" y="64"/>
                    </a:cubicBezTo>
                    <a:cubicBezTo>
                      <a:pt x="134" y="70"/>
                      <a:pt x="136" y="77"/>
                      <a:pt x="136" y="85"/>
                    </a:cubicBezTo>
                    <a:cubicBezTo>
                      <a:pt x="136" y="92"/>
                      <a:pt x="134" y="99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 noEditPoints="1"/>
              </p:cNvSpPr>
              <p:nvPr userDrawn="1"/>
            </p:nvSpPr>
            <p:spPr bwMode="auto">
              <a:xfrm>
                <a:off x="7711515" y="2394682"/>
                <a:ext cx="282575" cy="376237"/>
              </a:xfrm>
              <a:custGeom>
                <a:avLst/>
                <a:gdLst>
                  <a:gd name="T0" fmla="*/ 82 w 129"/>
                  <a:gd name="T1" fmla="*/ 96 h 170"/>
                  <a:gd name="T2" fmla="*/ 104 w 129"/>
                  <a:gd name="T3" fmla="*/ 83 h 170"/>
                  <a:gd name="T4" fmla="*/ 117 w 129"/>
                  <a:gd name="T5" fmla="*/ 50 h 170"/>
                  <a:gd name="T6" fmla="*/ 110 w 129"/>
                  <a:gd name="T7" fmla="*/ 23 h 170"/>
                  <a:gd name="T8" fmla="*/ 93 w 129"/>
                  <a:gd name="T9" fmla="*/ 8 h 170"/>
                  <a:gd name="T10" fmla="*/ 70 w 129"/>
                  <a:gd name="T11" fmla="*/ 1 h 170"/>
                  <a:gd name="T12" fmla="*/ 47 w 129"/>
                  <a:gd name="T13" fmla="*/ 0 h 170"/>
                  <a:gd name="T14" fmla="*/ 0 w 129"/>
                  <a:gd name="T15" fmla="*/ 0 h 170"/>
                  <a:gd name="T16" fmla="*/ 0 w 129"/>
                  <a:gd name="T17" fmla="*/ 170 h 170"/>
                  <a:gd name="T18" fmla="*/ 34 w 129"/>
                  <a:gd name="T19" fmla="*/ 170 h 170"/>
                  <a:gd name="T20" fmla="*/ 34 w 129"/>
                  <a:gd name="T21" fmla="*/ 101 h 170"/>
                  <a:gd name="T22" fmla="*/ 45 w 129"/>
                  <a:gd name="T23" fmla="*/ 101 h 170"/>
                  <a:gd name="T24" fmla="*/ 87 w 129"/>
                  <a:gd name="T25" fmla="*/ 170 h 170"/>
                  <a:gd name="T26" fmla="*/ 116 w 129"/>
                  <a:gd name="T27" fmla="*/ 170 h 170"/>
                  <a:gd name="T28" fmla="*/ 129 w 129"/>
                  <a:gd name="T29" fmla="*/ 170 h 170"/>
                  <a:gd name="T30" fmla="*/ 129 w 129"/>
                  <a:gd name="T31" fmla="*/ 170 h 170"/>
                  <a:gd name="T32" fmla="*/ 82 w 129"/>
                  <a:gd name="T33" fmla="*/ 96 h 170"/>
                  <a:gd name="T34" fmla="*/ 79 w 129"/>
                  <a:gd name="T35" fmla="*/ 60 h 170"/>
                  <a:gd name="T36" fmla="*/ 71 w 129"/>
                  <a:gd name="T37" fmla="*/ 65 h 170"/>
                  <a:gd name="T38" fmla="*/ 58 w 129"/>
                  <a:gd name="T39" fmla="*/ 68 h 170"/>
                  <a:gd name="T40" fmla="*/ 42 w 129"/>
                  <a:gd name="T41" fmla="*/ 68 h 170"/>
                  <a:gd name="T42" fmla="*/ 34 w 129"/>
                  <a:gd name="T43" fmla="*/ 68 h 170"/>
                  <a:gd name="T44" fmla="*/ 34 w 129"/>
                  <a:gd name="T45" fmla="*/ 32 h 170"/>
                  <a:gd name="T46" fmla="*/ 52 w 129"/>
                  <a:gd name="T47" fmla="*/ 32 h 170"/>
                  <a:gd name="T48" fmla="*/ 64 w 129"/>
                  <a:gd name="T49" fmla="*/ 33 h 170"/>
                  <a:gd name="T50" fmla="*/ 74 w 129"/>
                  <a:gd name="T51" fmla="*/ 36 h 170"/>
                  <a:gd name="T52" fmla="*/ 79 w 129"/>
                  <a:gd name="T53" fmla="*/ 41 h 170"/>
                  <a:gd name="T54" fmla="*/ 81 w 129"/>
                  <a:gd name="T55" fmla="*/ 50 h 170"/>
                  <a:gd name="T56" fmla="*/ 79 w 129"/>
                  <a:gd name="T57" fmla="*/ 6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9" h="170">
                    <a:moveTo>
                      <a:pt x="82" y="96"/>
                    </a:moveTo>
                    <a:cubicBezTo>
                      <a:pt x="91" y="94"/>
                      <a:pt x="98" y="89"/>
                      <a:pt x="104" y="83"/>
                    </a:cubicBezTo>
                    <a:cubicBezTo>
                      <a:pt x="112" y="75"/>
                      <a:pt x="117" y="63"/>
                      <a:pt x="117" y="50"/>
                    </a:cubicBezTo>
                    <a:cubicBezTo>
                      <a:pt x="117" y="39"/>
                      <a:pt x="114" y="30"/>
                      <a:pt x="110" y="23"/>
                    </a:cubicBezTo>
                    <a:cubicBezTo>
                      <a:pt x="106" y="16"/>
                      <a:pt x="100" y="11"/>
                      <a:pt x="93" y="8"/>
                    </a:cubicBezTo>
                    <a:cubicBezTo>
                      <a:pt x="86" y="4"/>
                      <a:pt x="78" y="2"/>
                      <a:pt x="70" y="1"/>
                    </a:cubicBezTo>
                    <a:cubicBezTo>
                      <a:pt x="63" y="0"/>
                      <a:pt x="55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34" y="170"/>
                      <a:pt x="34" y="170"/>
                      <a:pt x="34" y="17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lnTo>
                      <a:pt x="82" y="96"/>
                    </a:lnTo>
                    <a:close/>
                    <a:moveTo>
                      <a:pt x="79" y="60"/>
                    </a:moveTo>
                    <a:cubicBezTo>
                      <a:pt x="77" y="62"/>
                      <a:pt x="74" y="64"/>
                      <a:pt x="71" y="65"/>
                    </a:cubicBezTo>
                    <a:cubicBezTo>
                      <a:pt x="67" y="67"/>
                      <a:pt x="62" y="67"/>
                      <a:pt x="58" y="68"/>
                    </a:cubicBezTo>
                    <a:cubicBezTo>
                      <a:pt x="52" y="68"/>
                      <a:pt x="47" y="68"/>
                      <a:pt x="4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6" y="32"/>
                      <a:pt x="60" y="33"/>
                      <a:pt x="64" y="33"/>
                    </a:cubicBezTo>
                    <a:cubicBezTo>
                      <a:pt x="68" y="34"/>
                      <a:pt x="71" y="35"/>
                      <a:pt x="74" y="36"/>
                    </a:cubicBezTo>
                    <a:cubicBezTo>
                      <a:pt x="76" y="37"/>
                      <a:pt x="78" y="39"/>
                      <a:pt x="79" y="41"/>
                    </a:cubicBezTo>
                    <a:cubicBezTo>
                      <a:pt x="81" y="43"/>
                      <a:pt x="81" y="46"/>
                      <a:pt x="81" y="50"/>
                    </a:cubicBezTo>
                    <a:cubicBezTo>
                      <a:pt x="81" y="55"/>
                      <a:pt x="81" y="58"/>
                      <a:pt x="7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10"/>
              <p:cNvSpPr>
                <a:spLocks noEditPoints="1"/>
              </p:cNvSpPr>
              <p:nvPr userDrawn="1"/>
            </p:nvSpPr>
            <p:spPr bwMode="auto">
              <a:xfrm>
                <a:off x="8003615" y="2394682"/>
                <a:ext cx="347662" cy="376237"/>
              </a:xfrm>
              <a:custGeom>
                <a:avLst/>
                <a:gdLst>
                  <a:gd name="T0" fmla="*/ 119 w 219"/>
                  <a:gd name="T1" fmla="*/ 0 h 237"/>
                  <a:gd name="T2" fmla="*/ 81 w 219"/>
                  <a:gd name="T3" fmla="*/ 0 h 237"/>
                  <a:gd name="T4" fmla="*/ 0 w 219"/>
                  <a:gd name="T5" fmla="*/ 188 h 237"/>
                  <a:gd name="T6" fmla="*/ 30 w 219"/>
                  <a:gd name="T7" fmla="*/ 237 h 237"/>
                  <a:gd name="T8" fmla="*/ 52 w 219"/>
                  <a:gd name="T9" fmla="*/ 184 h 237"/>
                  <a:gd name="T10" fmla="*/ 144 w 219"/>
                  <a:gd name="T11" fmla="*/ 184 h 237"/>
                  <a:gd name="T12" fmla="*/ 166 w 219"/>
                  <a:gd name="T13" fmla="*/ 237 h 237"/>
                  <a:gd name="T14" fmla="*/ 219 w 219"/>
                  <a:gd name="T15" fmla="*/ 237 h 237"/>
                  <a:gd name="T16" fmla="*/ 119 w 219"/>
                  <a:gd name="T17" fmla="*/ 0 h 237"/>
                  <a:gd name="T18" fmla="*/ 70 w 219"/>
                  <a:gd name="T19" fmla="*/ 141 h 237"/>
                  <a:gd name="T20" fmla="*/ 99 w 219"/>
                  <a:gd name="T21" fmla="*/ 71 h 237"/>
                  <a:gd name="T22" fmla="*/ 128 w 219"/>
                  <a:gd name="T23" fmla="*/ 141 h 237"/>
                  <a:gd name="T24" fmla="*/ 70 w 219"/>
                  <a:gd name="T25" fmla="*/ 14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9" h="237">
                    <a:moveTo>
                      <a:pt x="119" y="0"/>
                    </a:moveTo>
                    <a:lnTo>
                      <a:pt x="81" y="0"/>
                    </a:lnTo>
                    <a:lnTo>
                      <a:pt x="0" y="188"/>
                    </a:lnTo>
                    <a:lnTo>
                      <a:pt x="30" y="237"/>
                    </a:lnTo>
                    <a:lnTo>
                      <a:pt x="52" y="184"/>
                    </a:lnTo>
                    <a:lnTo>
                      <a:pt x="144" y="184"/>
                    </a:lnTo>
                    <a:lnTo>
                      <a:pt x="166" y="237"/>
                    </a:lnTo>
                    <a:lnTo>
                      <a:pt x="219" y="237"/>
                    </a:lnTo>
                    <a:lnTo>
                      <a:pt x="119" y="0"/>
                    </a:lnTo>
                    <a:close/>
                    <a:moveTo>
                      <a:pt x="70" y="141"/>
                    </a:moveTo>
                    <a:lnTo>
                      <a:pt x="99" y="71"/>
                    </a:lnTo>
                    <a:lnTo>
                      <a:pt x="128" y="141"/>
                    </a:lnTo>
                    <a:lnTo>
                      <a:pt x="70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1"/>
              <p:cNvSpPr>
                <a:spLocks/>
              </p:cNvSpPr>
              <p:nvPr userDrawn="1"/>
            </p:nvSpPr>
            <p:spPr bwMode="auto">
              <a:xfrm>
                <a:off x="8340165" y="2394682"/>
                <a:ext cx="295275" cy="376237"/>
              </a:xfrm>
              <a:custGeom>
                <a:avLst/>
                <a:gdLst>
                  <a:gd name="T0" fmla="*/ 118 w 135"/>
                  <a:gd name="T1" fmla="*/ 129 h 170"/>
                  <a:gd name="T2" fmla="*/ 118 w 135"/>
                  <a:gd name="T3" fmla="*/ 127 h 170"/>
                  <a:gd name="T4" fmla="*/ 116 w 135"/>
                  <a:gd name="T5" fmla="*/ 129 h 170"/>
                  <a:gd name="T6" fmla="*/ 115 w 135"/>
                  <a:gd name="T7" fmla="*/ 129 h 170"/>
                  <a:gd name="T8" fmla="*/ 106 w 135"/>
                  <a:gd name="T9" fmla="*/ 134 h 170"/>
                  <a:gd name="T10" fmla="*/ 87 w 135"/>
                  <a:gd name="T11" fmla="*/ 138 h 170"/>
                  <a:gd name="T12" fmla="*/ 50 w 135"/>
                  <a:gd name="T13" fmla="*/ 123 h 170"/>
                  <a:gd name="T14" fmla="*/ 34 w 135"/>
                  <a:gd name="T15" fmla="*/ 85 h 170"/>
                  <a:gd name="T16" fmla="*/ 50 w 135"/>
                  <a:gd name="T17" fmla="*/ 47 h 170"/>
                  <a:gd name="T18" fmla="*/ 87 w 135"/>
                  <a:gd name="T19" fmla="*/ 32 h 170"/>
                  <a:gd name="T20" fmla="*/ 116 w 135"/>
                  <a:gd name="T21" fmla="*/ 41 h 170"/>
                  <a:gd name="T22" fmla="*/ 117 w 135"/>
                  <a:gd name="T23" fmla="*/ 42 h 170"/>
                  <a:gd name="T24" fmla="*/ 134 w 135"/>
                  <a:gd name="T25" fmla="*/ 15 h 170"/>
                  <a:gd name="T26" fmla="*/ 135 w 135"/>
                  <a:gd name="T27" fmla="*/ 13 h 170"/>
                  <a:gd name="T28" fmla="*/ 132 w 135"/>
                  <a:gd name="T29" fmla="*/ 12 h 170"/>
                  <a:gd name="T30" fmla="*/ 88 w 135"/>
                  <a:gd name="T31" fmla="*/ 0 h 170"/>
                  <a:gd name="T32" fmla="*/ 21 w 135"/>
                  <a:gd name="T33" fmla="*/ 30 h 170"/>
                  <a:gd name="T34" fmla="*/ 0 w 135"/>
                  <a:gd name="T35" fmla="*/ 86 h 170"/>
                  <a:gd name="T36" fmla="*/ 25 w 135"/>
                  <a:gd name="T37" fmla="*/ 145 h 170"/>
                  <a:gd name="T38" fmla="*/ 86 w 135"/>
                  <a:gd name="T39" fmla="*/ 170 h 170"/>
                  <a:gd name="T40" fmla="*/ 132 w 135"/>
                  <a:gd name="T41" fmla="*/ 158 h 170"/>
                  <a:gd name="T42" fmla="*/ 135 w 135"/>
                  <a:gd name="T43" fmla="*/ 156 h 170"/>
                  <a:gd name="T44" fmla="*/ 118 w 135"/>
                  <a:gd name="T45" fmla="*/ 12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5" h="170">
                    <a:moveTo>
                      <a:pt x="118" y="129"/>
                    </a:moveTo>
                    <a:cubicBezTo>
                      <a:pt x="118" y="127"/>
                      <a:pt x="118" y="127"/>
                      <a:pt x="118" y="127"/>
                    </a:cubicBezTo>
                    <a:cubicBezTo>
                      <a:pt x="116" y="129"/>
                      <a:pt x="116" y="129"/>
                      <a:pt x="116" y="129"/>
                    </a:cubicBezTo>
                    <a:cubicBezTo>
                      <a:pt x="115" y="129"/>
                      <a:pt x="115" y="129"/>
                      <a:pt x="115" y="129"/>
                    </a:cubicBezTo>
                    <a:cubicBezTo>
                      <a:pt x="112" y="131"/>
                      <a:pt x="109" y="133"/>
                      <a:pt x="106" y="134"/>
                    </a:cubicBezTo>
                    <a:cubicBezTo>
                      <a:pt x="101" y="137"/>
                      <a:pt x="94" y="138"/>
                      <a:pt x="87" y="138"/>
                    </a:cubicBezTo>
                    <a:cubicBezTo>
                      <a:pt x="72" y="138"/>
                      <a:pt x="60" y="133"/>
                      <a:pt x="50" y="123"/>
                    </a:cubicBezTo>
                    <a:cubicBezTo>
                      <a:pt x="39" y="112"/>
                      <a:pt x="34" y="100"/>
                      <a:pt x="34" y="85"/>
                    </a:cubicBezTo>
                    <a:cubicBezTo>
                      <a:pt x="34" y="70"/>
                      <a:pt x="39" y="58"/>
                      <a:pt x="50" y="47"/>
                    </a:cubicBezTo>
                    <a:cubicBezTo>
                      <a:pt x="60" y="37"/>
                      <a:pt x="72" y="32"/>
                      <a:pt x="87" y="32"/>
                    </a:cubicBezTo>
                    <a:cubicBezTo>
                      <a:pt x="96" y="32"/>
                      <a:pt x="106" y="35"/>
                      <a:pt x="116" y="41"/>
                    </a:cubicBezTo>
                    <a:cubicBezTo>
                      <a:pt x="117" y="42"/>
                      <a:pt x="117" y="42"/>
                      <a:pt x="117" y="42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2" y="12"/>
                      <a:pt x="132" y="12"/>
                      <a:pt x="132" y="12"/>
                    </a:cubicBezTo>
                    <a:cubicBezTo>
                      <a:pt x="118" y="4"/>
                      <a:pt x="103" y="0"/>
                      <a:pt x="88" y="0"/>
                    </a:cubicBezTo>
                    <a:cubicBezTo>
                      <a:pt x="61" y="0"/>
                      <a:pt x="38" y="10"/>
                      <a:pt x="21" y="30"/>
                    </a:cubicBezTo>
                    <a:cubicBezTo>
                      <a:pt x="7" y="46"/>
                      <a:pt x="0" y="65"/>
                      <a:pt x="0" y="86"/>
                    </a:cubicBezTo>
                    <a:cubicBezTo>
                      <a:pt x="0" y="109"/>
                      <a:pt x="9" y="129"/>
                      <a:pt x="25" y="145"/>
                    </a:cubicBezTo>
                    <a:cubicBezTo>
                      <a:pt x="42" y="161"/>
                      <a:pt x="63" y="170"/>
                      <a:pt x="86" y="170"/>
                    </a:cubicBezTo>
                    <a:cubicBezTo>
                      <a:pt x="102" y="170"/>
                      <a:pt x="117" y="166"/>
                      <a:pt x="132" y="158"/>
                    </a:cubicBezTo>
                    <a:cubicBezTo>
                      <a:pt x="135" y="156"/>
                      <a:pt x="135" y="156"/>
                      <a:pt x="135" y="156"/>
                    </a:cubicBezTo>
                    <a:lnTo>
                      <a:pt x="118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805040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  <p15:guide id="2" orient="horz" pos="4088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pos="600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오브젝트"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0999" y="427042"/>
            <a:ext cx="914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kumimoji="1" lang="en-US" sz="2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defTabSz="457200" fontAlgn="t" latinLnBrk="0"/>
            <a:r>
              <a:rPr lang="ko-KR" altLang="en-US" dirty="0" smtClean="0"/>
              <a:t>페이지 제목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Bold 26pt)</a:t>
            </a:r>
            <a:endParaRPr lang="en-US" dirty="0"/>
          </a:p>
        </p:txBody>
      </p:sp>
      <p:cxnSp>
        <p:nvCxnSpPr>
          <p:cNvPr id="31" name="직선 연결선 30"/>
          <p:cNvCxnSpPr/>
          <p:nvPr userDrawn="1"/>
        </p:nvCxnSpPr>
        <p:spPr>
          <a:xfrm>
            <a:off x="380999" y="286985"/>
            <a:ext cx="7418295" cy="0"/>
          </a:xfrm>
          <a:prstGeom prst="line">
            <a:avLst/>
          </a:prstGeom>
          <a:ln w="12700">
            <a:gradFill>
              <a:gsLst>
                <a:gs pos="24000">
                  <a:schemeClr val="accent1"/>
                </a:gs>
                <a:gs pos="100000">
                  <a:schemeClr val="bg1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슬라이드 번호 개체 틀 5"/>
          <p:cNvSpPr txBox="1">
            <a:spLocks/>
          </p:cNvSpPr>
          <p:nvPr userDrawn="1"/>
        </p:nvSpPr>
        <p:spPr>
          <a:xfrm>
            <a:off x="3838575" y="646061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84941F0-AFF0-444F-9320-08D07B73C7AD}" type="slidenum">
              <a:rPr lang="ko-KR" altLang="en-US" smtClean="0"/>
              <a:pPr lvl="0"/>
              <a:t>‹#›</a:t>
            </a:fld>
            <a:r>
              <a:rPr lang="en-US" altLang="ko-KR" dirty="0" smtClean="0"/>
              <a:t>/</a:t>
            </a:r>
            <a:r>
              <a:rPr lang="ko-KR" altLang="en-US" dirty="0" smtClean="0"/>
              <a:t>9</a:t>
            </a:r>
            <a:endParaRPr lang="ko-KR" altLang="en-US" dirty="0"/>
          </a:p>
        </p:txBody>
      </p:sp>
      <p:sp>
        <p:nvSpPr>
          <p:cNvPr id="30" name="텍스트 개체 틀 2"/>
          <p:cNvSpPr>
            <a:spLocks noGrp="1"/>
          </p:cNvSpPr>
          <p:nvPr userDrawn="1">
            <p:ph type="body" idx="10" hasCustomPrompt="1"/>
          </p:nvPr>
        </p:nvSpPr>
        <p:spPr>
          <a:xfrm>
            <a:off x="7938019" y="142944"/>
            <a:ext cx="1586981" cy="288082"/>
          </a:xfrm>
        </p:spPr>
        <p:txBody>
          <a:bodyPr wrap="square" lIns="0" tIns="0" rIns="0" bIns="0" anchor="ctr">
            <a:spAutoFit/>
          </a:bodyPr>
          <a:lstStyle>
            <a:lvl1pPr marL="0" indent="0" algn="r">
              <a:buNone/>
              <a:defRPr lang="ko-KR" altLang="en-US" sz="800" b="0" kern="1200" spc="-50" baseline="0" dirty="0" smtClean="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 smtClean="0"/>
              <a:t>1. </a:t>
            </a:r>
            <a:r>
              <a:rPr lang="ko-KR" altLang="en-US" dirty="0" smtClean="0"/>
              <a:t>마스터 텍스트 스타일 편집</a:t>
            </a:r>
          </a:p>
        </p:txBody>
      </p:sp>
      <p:sp>
        <p:nvSpPr>
          <p:cNvPr id="6" name="텍스트 개체 틀 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1000" y="899269"/>
            <a:ext cx="9144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 smtClean="0"/>
              <a:t>페이지 설명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16pt)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6922602" y="6587034"/>
            <a:ext cx="2602398" cy="126449"/>
            <a:chOff x="6922602" y="6587034"/>
            <a:chExt cx="2602398" cy="126449"/>
          </a:xfrm>
        </p:grpSpPr>
        <p:sp>
          <p:nvSpPr>
            <p:cNvPr id="29" name="Text Box 9"/>
            <p:cNvSpPr txBox="1">
              <a:spLocks noChangeArrowheads="1"/>
            </p:cNvSpPr>
            <p:nvPr userDrawn="1"/>
          </p:nvSpPr>
          <p:spPr bwMode="auto">
            <a:xfrm>
              <a:off x="6922602" y="6605761"/>
              <a:ext cx="1899751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r" defTabSz="95747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</a:t>
              </a:r>
              <a:r>
                <a:rPr kumimoji="1" lang="en-US" altLang="ko-KR" sz="7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Miracom,Inc</a:t>
              </a: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. All rights reserved.</a:t>
              </a:r>
            </a:p>
          </p:txBody>
        </p:sp>
        <p:grpSp>
          <p:nvGrpSpPr>
            <p:cNvPr id="50" name="그룹 49"/>
            <p:cNvGrpSpPr/>
            <p:nvPr userDrawn="1"/>
          </p:nvGrpSpPr>
          <p:grpSpPr>
            <a:xfrm>
              <a:off x="8842727" y="6587034"/>
              <a:ext cx="682273" cy="112290"/>
              <a:chOff x="7132078" y="2394682"/>
              <a:chExt cx="2286000" cy="376237"/>
            </a:xfrm>
            <a:solidFill>
              <a:srgbClr val="005AB4"/>
            </a:solidFill>
          </p:grpSpPr>
          <p:sp>
            <p:nvSpPr>
              <p:cNvPr id="51" name="Freeform 5"/>
              <p:cNvSpPr>
                <a:spLocks/>
              </p:cNvSpPr>
              <p:nvPr userDrawn="1"/>
            </p:nvSpPr>
            <p:spPr bwMode="auto">
              <a:xfrm>
                <a:off x="9046603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4 w 234"/>
                  <a:gd name="T9" fmla="*/ 237 h 237"/>
                  <a:gd name="T10" fmla="*/ 44 w 234"/>
                  <a:gd name="T11" fmla="*/ 96 h 237"/>
                  <a:gd name="T12" fmla="*/ 102 w 234"/>
                  <a:gd name="T13" fmla="*/ 237 h 237"/>
                  <a:gd name="T14" fmla="*/ 131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1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4" y="237"/>
                    </a:lnTo>
                    <a:lnTo>
                      <a:pt x="44" y="96"/>
                    </a:lnTo>
                    <a:lnTo>
                      <a:pt x="102" y="237"/>
                    </a:lnTo>
                    <a:lnTo>
                      <a:pt x="131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1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6"/>
              <p:cNvSpPr>
                <a:spLocks/>
              </p:cNvSpPr>
              <p:nvPr userDrawn="1"/>
            </p:nvSpPr>
            <p:spPr bwMode="auto">
              <a:xfrm>
                <a:off x="7132078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5 w 234"/>
                  <a:gd name="T9" fmla="*/ 237 h 237"/>
                  <a:gd name="T10" fmla="*/ 45 w 234"/>
                  <a:gd name="T11" fmla="*/ 96 h 237"/>
                  <a:gd name="T12" fmla="*/ 103 w 234"/>
                  <a:gd name="T13" fmla="*/ 237 h 237"/>
                  <a:gd name="T14" fmla="*/ 132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2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5" y="237"/>
                    </a:lnTo>
                    <a:lnTo>
                      <a:pt x="45" y="96"/>
                    </a:lnTo>
                    <a:lnTo>
                      <a:pt x="103" y="237"/>
                    </a:lnTo>
                    <a:lnTo>
                      <a:pt x="132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2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 userDrawn="1"/>
            </p:nvSpPr>
            <p:spPr bwMode="auto">
              <a:xfrm>
                <a:off x="7571815" y="2394682"/>
                <a:ext cx="73025" cy="3762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8"/>
              <p:cNvSpPr>
                <a:spLocks noEditPoints="1"/>
              </p:cNvSpPr>
              <p:nvPr userDrawn="1"/>
            </p:nvSpPr>
            <p:spPr bwMode="auto">
              <a:xfrm>
                <a:off x="8629090" y="2394682"/>
                <a:ext cx="369887" cy="376237"/>
              </a:xfrm>
              <a:custGeom>
                <a:avLst/>
                <a:gdLst>
                  <a:gd name="T0" fmla="*/ 163 w 169"/>
                  <a:gd name="T1" fmla="*/ 51 h 170"/>
                  <a:gd name="T2" fmla="*/ 145 w 169"/>
                  <a:gd name="T3" fmla="*/ 24 h 170"/>
                  <a:gd name="T4" fmla="*/ 119 w 169"/>
                  <a:gd name="T5" fmla="*/ 6 h 170"/>
                  <a:gd name="T6" fmla="*/ 85 w 169"/>
                  <a:gd name="T7" fmla="*/ 0 h 170"/>
                  <a:gd name="T8" fmla="*/ 51 w 169"/>
                  <a:gd name="T9" fmla="*/ 6 h 170"/>
                  <a:gd name="T10" fmla="*/ 24 w 169"/>
                  <a:gd name="T11" fmla="*/ 24 h 170"/>
                  <a:gd name="T12" fmla="*/ 6 w 169"/>
                  <a:gd name="T13" fmla="*/ 51 h 170"/>
                  <a:gd name="T14" fmla="*/ 0 w 169"/>
                  <a:gd name="T15" fmla="*/ 85 h 170"/>
                  <a:gd name="T16" fmla="*/ 6 w 169"/>
                  <a:gd name="T17" fmla="*/ 118 h 170"/>
                  <a:gd name="T18" fmla="*/ 24 w 169"/>
                  <a:gd name="T19" fmla="*/ 146 h 170"/>
                  <a:gd name="T20" fmla="*/ 51 w 169"/>
                  <a:gd name="T21" fmla="*/ 163 h 170"/>
                  <a:gd name="T22" fmla="*/ 85 w 169"/>
                  <a:gd name="T23" fmla="*/ 170 h 170"/>
                  <a:gd name="T24" fmla="*/ 119 w 169"/>
                  <a:gd name="T25" fmla="*/ 163 h 170"/>
                  <a:gd name="T26" fmla="*/ 145 w 169"/>
                  <a:gd name="T27" fmla="*/ 146 h 170"/>
                  <a:gd name="T28" fmla="*/ 163 w 169"/>
                  <a:gd name="T29" fmla="*/ 118 h 170"/>
                  <a:gd name="T30" fmla="*/ 169 w 169"/>
                  <a:gd name="T31" fmla="*/ 85 h 170"/>
                  <a:gd name="T32" fmla="*/ 163 w 169"/>
                  <a:gd name="T33" fmla="*/ 51 h 170"/>
                  <a:gd name="T34" fmla="*/ 132 w 169"/>
                  <a:gd name="T35" fmla="*/ 106 h 170"/>
                  <a:gd name="T36" fmla="*/ 121 w 169"/>
                  <a:gd name="T37" fmla="*/ 123 h 170"/>
                  <a:gd name="T38" fmla="*/ 105 w 169"/>
                  <a:gd name="T39" fmla="*/ 134 h 170"/>
                  <a:gd name="T40" fmla="*/ 64 w 169"/>
                  <a:gd name="T41" fmla="*/ 134 h 170"/>
                  <a:gd name="T42" fmla="*/ 48 w 169"/>
                  <a:gd name="T43" fmla="*/ 123 h 170"/>
                  <a:gd name="T44" fmla="*/ 38 w 169"/>
                  <a:gd name="T45" fmla="*/ 106 h 170"/>
                  <a:gd name="T46" fmla="*/ 34 w 169"/>
                  <a:gd name="T47" fmla="*/ 85 h 170"/>
                  <a:gd name="T48" fmla="*/ 38 w 169"/>
                  <a:gd name="T49" fmla="*/ 64 h 170"/>
                  <a:gd name="T50" fmla="*/ 48 w 169"/>
                  <a:gd name="T51" fmla="*/ 46 h 170"/>
                  <a:gd name="T52" fmla="*/ 64 w 169"/>
                  <a:gd name="T53" fmla="*/ 35 h 170"/>
                  <a:gd name="T54" fmla="*/ 85 w 169"/>
                  <a:gd name="T55" fmla="*/ 31 h 170"/>
                  <a:gd name="T56" fmla="*/ 105 w 169"/>
                  <a:gd name="T57" fmla="*/ 35 h 170"/>
                  <a:gd name="T58" fmla="*/ 121 w 169"/>
                  <a:gd name="T59" fmla="*/ 46 h 170"/>
                  <a:gd name="T60" fmla="*/ 132 w 169"/>
                  <a:gd name="T61" fmla="*/ 64 h 170"/>
                  <a:gd name="T62" fmla="*/ 136 w 169"/>
                  <a:gd name="T63" fmla="*/ 85 h 170"/>
                  <a:gd name="T64" fmla="*/ 132 w 169"/>
                  <a:gd name="T65" fmla="*/ 106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9" h="170">
                    <a:moveTo>
                      <a:pt x="163" y="51"/>
                    </a:moveTo>
                    <a:cubicBezTo>
                      <a:pt x="159" y="41"/>
                      <a:pt x="153" y="31"/>
                      <a:pt x="145" y="24"/>
                    </a:cubicBezTo>
                    <a:cubicBezTo>
                      <a:pt x="138" y="16"/>
                      <a:pt x="129" y="10"/>
                      <a:pt x="119" y="6"/>
                    </a:cubicBezTo>
                    <a:cubicBezTo>
                      <a:pt x="108" y="2"/>
                      <a:pt x="97" y="0"/>
                      <a:pt x="85" y="0"/>
                    </a:cubicBezTo>
                    <a:cubicBezTo>
                      <a:pt x="73" y="0"/>
                      <a:pt x="61" y="2"/>
                      <a:pt x="51" y="6"/>
                    </a:cubicBezTo>
                    <a:cubicBezTo>
                      <a:pt x="41" y="10"/>
                      <a:pt x="32" y="16"/>
                      <a:pt x="24" y="24"/>
                    </a:cubicBezTo>
                    <a:cubicBezTo>
                      <a:pt x="17" y="31"/>
                      <a:pt x="11" y="41"/>
                      <a:pt x="6" y="51"/>
                    </a:cubicBezTo>
                    <a:cubicBezTo>
                      <a:pt x="2" y="61"/>
                      <a:pt x="0" y="73"/>
                      <a:pt x="0" y="85"/>
                    </a:cubicBezTo>
                    <a:cubicBezTo>
                      <a:pt x="0" y="97"/>
                      <a:pt x="2" y="108"/>
                      <a:pt x="6" y="118"/>
                    </a:cubicBezTo>
                    <a:cubicBezTo>
                      <a:pt x="11" y="129"/>
                      <a:pt x="17" y="138"/>
                      <a:pt x="24" y="146"/>
                    </a:cubicBezTo>
                    <a:cubicBezTo>
                      <a:pt x="32" y="153"/>
                      <a:pt x="41" y="159"/>
                      <a:pt x="51" y="163"/>
                    </a:cubicBezTo>
                    <a:cubicBezTo>
                      <a:pt x="61" y="168"/>
                      <a:pt x="73" y="170"/>
                      <a:pt x="85" y="170"/>
                    </a:cubicBezTo>
                    <a:cubicBezTo>
                      <a:pt x="97" y="170"/>
                      <a:pt x="108" y="168"/>
                      <a:pt x="119" y="163"/>
                    </a:cubicBezTo>
                    <a:cubicBezTo>
                      <a:pt x="129" y="159"/>
                      <a:pt x="138" y="153"/>
                      <a:pt x="145" y="146"/>
                    </a:cubicBezTo>
                    <a:cubicBezTo>
                      <a:pt x="153" y="138"/>
                      <a:pt x="159" y="129"/>
                      <a:pt x="163" y="118"/>
                    </a:cubicBezTo>
                    <a:cubicBezTo>
                      <a:pt x="167" y="108"/>
                      <a:pt x="169" y="97"/>
                      <a:pt x="169" y="85"/>
                    </a:cubicBezTo>
                    <a:cubicBezTo>
                      <a:pt x="169" y="73"/>
                      <a:pt x="167" y="61"/>
                      <a:pt x="163" y="51"/>
                    </a:cubicBezTo>
                    <a:close/>
                    <a:moveTo>
                      <a:pt x="132" y="106"/>
                    </a:moveTo>
                    <a:cubicBezTo>
                      <a:pt x="129" y="112"/>
                      <a:pt x="126" y="118"/>
                      <a:pt x="121" y="123"/>
                    </a:cubicBezTo>
                    <a:cubicBezTo>
                      <a:pt x="117" y="128"/>
                      <a:pt x="112" y="132"/>
                      <a:pt x="105" y="134"/>
                    </a:cubicBezTo>
                    <a:cubicBezTo>
                      <a:pt x="93" y="140"/>
                      <a:pt x="76" y="140"/>
                      <a:pt x="64" y="134"/>
                    </a:cubicBezTo>
                    <a:cubicBezTo>
                      <a:pt x="58" y="132"/>
                      <a:pt x="52" y="128"/>
                      <a:pt x="48" y="123"/>
                    </a:cubicBezTo>
                    <a:cubicBezTo>
                      <a:pt x="44" y="118"/>
                      <a:pt x="40" y="112"/>
                      <a:pt x="38" y="106"/>
                    </a:cubicBezTo>
                    <a:cubicBezTo>
                      <a:pt x="35" y="99"/>
                      <a:pt x="34" y="92"/>
                      <a:pt x="34" y="85"/>
                    </a:cubicBezTo>
                    <a:cubicBezTo>
                      <a:pt x="34" y="77"/>
                      <a:pt x="35" y="70"/>
                      <a:pt x="38" y="64"/>
                    </a:cubicBezTo>
                    <a:cubicBezTo>
                      <a:pt x="40" y="57"/>
                      <a:pt x="44" y="51"/>
                      <a:pt x="48" y="46"/>
                    </a:cubicBezTo>
                    <a:cubicBezTo>
                      <a:pt x="52" y="42"/>
                      <a:pt x="58" y="38"/>
                      <a:pt x="64" y="35"/>
                    </a:cubicBezTo>
                    <a:cubicBezTo>
                      <a:pt x="70" y="32"/>
                      <a:pt x="77" y="31"/>
                      <a:pt x="85" y="31"/>
                    </a:cubicBezTo>
                    <a:cubicBezTo>
                      <a:pt x="92" y="31"/>
                      <a:pt x="99" y="32"/>
                      <a:pt x="105" y="35"/>
                    </a:cubicBezTo>
                    <a:cubicBezTo>
                      <a:pt x="112" y="38"/>
                      <a:pt x="117" y="42"/>
                      <a:pt x="121" y="46"/>
                    </a:cubicBezTo>
                    <a:cubicBezTo>
                      <a:pt x="126" y="51"/>
                      <a:pt x="129" y="57"/>
                      <a:pt x="132" y="64"/>
                    </a:cubicBezTo>
                    <a:cubicBezTo>
                      <a:pt x="134" y="70"/>
                      <a:pt x="136" y="77"/>
                      <a:pt x="136" y="85"/>
                    </a:cubicBezTo>
                    <a:cubicBezTo>
                      <a:pt x="136" y="92"/>
                      <a:pt x="134" y="99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 noEditPoints="1"/>
              </p:cNvSpPr>
              <p:nvPr userDrawn="1"/>
            </p:nvSpPr>
            <p:spPr bwMode="auto">
              <a:xfrm>
                <a:off x="7711515" y="2394682"/>
                <a:ext cx="282575" cy="376237"/>
              </a:xfrm>
              <a:custGeom>
                <a:avLst/>
                <a:gdLst>
                  <a:gd name="T0" fmla="*/ 82 w 129"/>
                  <a:gd name="T1" fmla="*/ 96 h 170"/>
                  <a:gd name="T2" fmla="*/ 104 w 129"/>
                  <a:gd name="T3" fmla="*/ 83 h 170"/>
                  <a:gd name="T4" fmla="*/ 117 w 129"/>
                  <a:gd name="T5" fmla="*/ 50 h 170"/>
                  <a:gd name="T6" fmla="*/ 110 w 129"/>
                  <a:gd name="T7" fmla="*/ 23 h 170"/>
                  <a:gd name="T8" fmla="*/ 93 w 129"/>
                  <a:gd name="T9" fmla="*/ 8 h 170"/>
                  <a:gd name="T10" fmla="*/ 70 w 129"/>
                  <a:gd name="T11" fmla="*/ 1 h 170"/>
                  <a:gd name="T12" fmla="*/ 47 w 129"/>
                  <a:gd name="T13" fmla="*/ 0 h 170"/>
                  <a:gd name="T14" fmla="*/ 0 w 129"/>
                  <a:gd name="T15" fmla="*/ 0 h 170"/>
                  <a:gd name="T16" fmla="*/ 0 w 129"/>
                  <a:gd name="T17" fmla="*/ 170 h 170"/>
                  <a:gd name="T18" fmla="*/ 34 w 129"/>
                  <a:gd name="T19" fmla="*/ 170 h 170"/>
                  <a:gd name="T20" fmla="*/ 34 w 129"/>
                  <a:gd name="T21" fmla="*/ 101 h 170"/>
                  <a:gd name="T22" fmla="*/ 45 w 129"/>
                  <a:gd name="T23" fmla="*/ 101 h 170"/>
                  <a:gd name="T24" fmla="*/ 87 w 129"/>
                  <a:gd name="T25" fmla="*/ 170 h 170"/>
                  <a:gd name="T26" fmla="*/ 116 w 129"/>
                  <a:gd name="T27" fmla="*/ 170 h 170"/>
                  <a:gd name="T28" fmla="*/ 129 w 129"/>
                  <a:gd name="T29" fmla="*/ 170 h 170"/>
                  <a:gd name="T30" fmla="*/ 129 w 129"/>
                  <a:gd name="T31" fmla="*/ 170 h 170"/>
                  <a:gd name="T32" fmla="*/ 82 w 129"/>
                  <a:gd name="T33" fmla="*/ 96 h 170"/>
                  <a:gd name="T34" fmla="*/ 79 w 129"/>
                  <a:gd name="T35" fmla="*/ 60 h 170"/>
                  <a:gd name="T36" fmla="*/ 71 w 129"/>
                  <a:gd name="T37" fmla="*/ 65 h 170"/>
                  <a:gd name="T38" fmla="*/ 58 w 129"/>
                  <a:gd name="T39" fmla="*/ 68 h 170"/>
                  <a:gd name="T40" fmla="*/ 42 w 129"/>
                  <a:gd name="T41" fmla="*/ 68 h 170"/>
                  <a:gd name="T42" fmla="*/ 34 w 129"/>
                  <a:gd name="T43" fmla="*/ 68 h 170"/>
                  <a:gd name="T44" fmla="*/ 34 w 129"/>
                  <a:gd name="T45" fmla="*/ 32 h 170"/>
                  <a:gd name="T46" fmla="*/ 52 w 129"/>
                  <a:gd name="T47" fmla="*/ 32 h 170"/>
                  <a:gd name="T48" fmla="*/ 64 w 129"/>
                  <a:gd name="T49" fmla="*/ 33 h 170"/>
                  <a:gd name="T50" fmla="*/ 74 w 129"/>
                  <a:gd name="T51" fmla="*/ 36 h 170"/>
                  <a:gd name="T52" fmla="*/ 79 w 129"/>
                  <a:gd name="T53" fmla="*/ 41 h 170"/>
                  <a:gd name="T54" fmla="*/ 81 w 129"/>
                  <a:gd name="T55" fmla="*/ 50 h 170"/>
                  <a:gd name="T56" fmla="*/ 79 w 129"/>
                  <a:gd name="T57" fmla="*/ 6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9" h="170">
                    <a:moveTo>
                      <a:pt x="82" y="96"/>
                    </a:moveTo>
                    <a:cubicBezTo>
                      <a:pt x="91" y="94"/>
                      <a:pt x="98" y="89"/>
                      <a:pt x="104" y="83"/>
                    </a:cubicBezTo>
                    <a:cubicBezTo>
                      <a:pt x="112" y="75"/>
                      <a:pt x="117" y="63"/>
                      <a:pt x="117" y="50"/>
                    </a:cubicBezTo>
                    <a:cubicBezTo>
                      <a:pt x="117" y="39"/>
                      <a:pt x="114" y="30"/>
                      <a:pt x="110" y="23"/>
                    </a:cubicBezTo>
                    <a:cubicBezTo>
                      <a:pt x="106" y="16"/>
                      <a:pt x="100" y="11"/>
                      <a:pt x="93" y="8"/>
                    </a:cubicBezTo>
                    <a:cubicBezTo>
                      <a:pt x="86" y="4"/>
                      <a:pt x="78" y="2"/>
                      <a:pt x="70" y="1"/>
                    </a:cubicBezTo>
                    <a:cubicBezTo>
                      <a:pt x="63" y="0"/>
                      <a:pt x="55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34" y="170"/>
                      <a:pt x="34" y="170"/>
                      <a:pt x="34" y="17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lnTo>
                      <a:pt x="82" y="96"/>
                    </a:lnTo>
                    <a:close/>
                    <a:moveTo>
                      <a:pt x="79" y="60"/>
                    </a:moveTo>
                    <a:cubicBezTo>
                      <a:pt x="77" y="62"/>
                      <a:pt x="74" y="64"/>
                      <a:pt x="71" y="65"/>
                    </a:cubicBezTo>
                    <a:cubicBezTo>
                      <a:pt x="67" y="67"/>
                      <a:pt x="62" y="67"/>
                      <a:pt x="58" y="68"/>
                    </a:cubicBezTo>
                    <a:cubicBezTo>
                      <a:pt x="52" y="68"/>
                      <a:pt x="47" y="68"/>
                      <a:pt x="4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6" y="32"/>
                      <a:pt x="60" y="33"/>
                      <a:pt x="64" y="33"/>
                    </a:cubicBezTo>
                    <a:cubicBezTo>
                      <a:pt x="68" y="34"/>
                      <a:pt x="71" y="35"/>
                      <a:pt x="74" y="36"/>
                    </a:cubicBezTo>
                    <a:cubicBezTo>
                      <a:pt x="76" y="37"/>
                      <a:pt x="78" y="39"/>
                      <a:pt x="79" y="41"/>
                    </a:cubicBezTo>
                    <a:cubicBezTo>
                      <a:pt x="81" y="43"/>
                      <a:pt x="81" y="46"/>
                      <a:pt x="81" y="50"/>
                    </a:cubicBezTo>
                    <a:cubicBezTo>
                      <a:pt x="81" y="55"/>
                      <a:pt x="81" y="58"/>
                      <a:pt x="7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10"/>
              <p:cNvSpPr>
                <a:spLocks noEditPoints="1"/>
              </p:cNvSpPr>
              <p:nvPr userDrawn="1"/>
            </p:nvSpPr>
            <p:spPr bwMode="auto">
              <a:xfrm>
                <a:off x="8003615" y="2394682"/>
                <a:ext cx="347662" cy="376237"/>
              </a:xfrm>
              <a:custGeom>
                <a:avLst/>
                <a:gdLst>
                  <a:gd name="T0" fmla="*/ 119 w 219"/>
                  <a:gd name="T1" fmla="*/ 0 h 237"/>
                  <a:gd name="T2" fmla="*/ 81 w 219"/>
                  <a:gd name="T3" fmla="*/ 0 h 237"/>
                  <a:gd name="T4" fmla="*/ 0 w 219"/>
                  <a:gd name="T5" fmla="*/ 188 h 237"/>
                  <a:gd name="T6" fmla="*/ 30 w 219"/>
                  <a:gd name="T7" fmla="*/ 237 h 237"/>
                  <a:gd name="T8" fmla="*/ 52 w 219"/>
                  <a:gd name="T9" fmla="*/ 184 h 237"/>
                  <a:gd name="T10" fmla="*/ 144 w 219"/>
                  <a:gd name="T11" fmla="*/ 184 h 237"/>
                  <a:gd name="T12" fmla="*/ 166 w 219"/>
                  <a:gd name="T13" fmla="*/ 237 h 237"/>
                  <a:gd name="T14" fmla="*/ 219 w 219"/>
                  <a:gd name="T15" fmla="*/ 237 h 237"/>
                  <a:gd name="T16" fmla="*/ 119 w 219"/>
                  <a:gd name="T17" fmla="*/ 0 h 237"/>
                  <a:gd name="T18" fmla="*/ 70 w 219"/>
                  <a:gd name="T19" fmla="*/ 141 h 237"/>
                  <a:gd name="T20" fmla="*/ 99 w 219"/>
                  <a:gd name="T21" fmla="*/ 71 h 237"/>
                  <a:gd name="T22" fmla="*/ 128 w 219"/>
                  <a:gd name="T23" fmla="*/ 141 h 237"/>
                  <a:gd name="T24" fmla="*/ 70 w 219"/>
                  <a:gd name="T25" fmla="*/ 14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9" h="237">
                    <a:moveTo>
                      <a:pt x="119" y="0"/>
                    </a:moveTo>
                    <a:lnTo>
                      <a:pt x="81" y="0"/>
                    </a:lnTo>
                    <a:lnTo>
                      <a:pt x="0" y="188"/>
                    </a:lnTo>
                    <a:lnTo>
                      <a:pt x="30" y="237"/>
                    </a:lnTo>
                    <a:lnTo>
                      <a:pt x="52" y="184"/>
                    </a:lnTo>
                    <a:lnTo>
                      <a:pt x="144" y="184"/>
                    </a:lnTo>
                    <a:lnTo>
                      <a:pt x="166" y="237"/>
                    </a:lnTo>
                    <a:lnTo>
                      <a:pt x="219" y="237"/>
                    </a:lnTo>
                    <a:lnTo>
                      <a:pt x="119" y="0"/>
                    </a:lnTo>
                    <a:close/>
                    <a:moveTo>
                      <a:pt x="70" y="141"/>
                    </a:moveTo>
                    <a:lnTo>
                      <a:pt x="99" y="71"/>
                    </a:lnTo>
                    <a:lnTo>
                      <a:pt x="128" y="141"/>
                    </a:lnTo>
                    <a:lnTo>
                      <a:pt x="70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1"/>
              <p:cNvSpPr>
                <a:spLocks/>
              </p:cNvSpPr>
              <p:nvPr userDrawn="1"/>
            </p:nvSpPr>
            <p:spPr bwMode="auto">
              <a:xfrm>
                <a:off x="8340165" y="2394682"/>
                <a:ext cx="295275" cy="376237"/>
              </a:xfrm>
              <a:custGeom>
                <a:avLst/>
                <a:gdLst>
                  <a:gd name="T0" fmla="*/ 118 w 135"/>
                  <a:gd name="T1" fmla="*/ 129 h 170"/>
                  <a:gd name="T2" fmla="*/ 118 w 135"/>
                  <a:gd name="T3" fmla="*/ 127 h 170"/>
                  <a:gd name="T4" fmla="*/ 116 w 135"/>
                  <a:gd name="T5" fmla="*/ 129 h 170"/>
                  <a:gd name="T6" fmla="*/ 115 w 135"/>
                  <a:gd name="T7" fmla="*/ 129 h 170"/>
                  <a:gd name="T8" fmla="*/ 106 w 135"/>
                  <a:gd name="T9" fmla="*/ 134 h 170"/>
                  <a:gd name="T10" fmla="*/ 87 w 135"/>
                  <a:gd name="T11" fmla="*/ 138 h 170"/>
                  <a:gd name="T12" fmla="*/ 50 w 135"/>
                  <a:gd name="T13" fmla="*/ 123 h 170"/>
                  <a:gd name="T14" fmla="*/ 34 w 135"/>
                  <a:gd name="T15" fmla="*/ 85 h 170"/>
                  <a:gd name="T16" fmla="*/ 50 w 135"/>
                  <a:gd name="T17" fmla="*/ 47 h 170"/>
                  <a:gd name="T18" fmla="*/ 87 w 135"/>
                  <a:gd name="T19" fmla="*/ 32 h 170"/>
                  <a:gd name="T20" fmla="*/ 116 w 135"/>
                  <a:gd name="T21" fmla="*/ 41 h 170"/>
                  <a:gd name="T22" fmla="*/ 117 w 135"/>
                  <a:gd name="T23" fmla="*/ 42 h 170"/>
                  <a:gd name="T24" fmla="*/ 134 w 135"/>
                  <a:gd name="T25" fmla="*/ 15 h 170"/>
                  <a:gd name="T26" fmla="*/ 135 w 135"/>
                  <a:gd name="T27" fmla="*/ 13 h 170"/>
                  <a:gd name="T28" fmla="*/ 132 w 135"/>
                  <a:gd name="T29" fmla="*/ 12 h 170"/>
                  <a:gd name="T30" fmla="*/ 88 w 135"/>
                  <a:gd name="T31" fmla="*/ 0 h 170"/>
                  <a:gd name="T32" fmla="*/ 21 w 135"/>
                  <a:gd name="T33" fmla="*/ 30 h 170"/>
                  <a:gd name="T34" fmla="*/ 0 w 135"/>
                  <a:gd name="T35" fmla="*/ 86 h 170"/>
                  <a:gd name="T36" fmla="*/ 25 w 135"/>
                  <a:gd name="T37" fmla="*/ 145 h 170"/>
                  <a:gd name="T38" fmla="*/ 86 w 135"/>
                  <a:gd name="T39" fmla="*/ 170 h 170"/>
                  <a:gd name="T40" fmla="*/ 132 w 135"/>
                  <a:gd name="T41" fmla="*/ 158 h 170"/>
                  <a:gd name="T42" fmla="*/ 135 w 135"/>
                  <a:gd name="T43" fmla="*/ 156 h 170"/>
                  <a:gd name="T44" fmla="*/ 118 w 135"/>
                  <a:gd name="T45" fmla="*/ 12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5" h="170">
                    <a:moveTo>
                      <a:pt x="118" y="129"/>
                    </a:moveTo>
                    <a:cubicBezTo>
                      <a:pt x="118" y="127"/>
                      <a:pt x="118" y="127"/>
                      <a:pt x="118" y="127"/>
                    </a:cubicBezTo>
                    <a:cubicBezTo>
                      <a:pt x="116" y="129"/>
                      <a:pt x="116" y="129"/>
                      <a:pt x="116" y="129"/>
                    </a:cubicBezTo>
                    <a:cubicBezTo>
                      <a:pt x="115" y="129"/>
                      <a:pt x="115" y="129"/>
                      <a:pt x="115" y="129"/>
                    </a:cubicBezTo>
                    <a:cubicBezTo>
                      <a:pt x="112" y="131"/>
                      <a:pt x="109" y="133"/>
                      <a:pt x="106" y="134"/>
                    </a:cubicBezTo>
                    <a:cubicBezTo>
                      <a:pt x="101" y="137"/>
                      <a:pt x="94" y="138"/>
                      <a:pt x="87" y="138"/>
                    </a:cubicBezTo>
                    <a:cubicBezTo>
                      <a:pt x="72" y="138"/>
                      <a:pt x="60" y="133"/>
                      <a:pt x="50" y="123"/>
                    </a:cubicBezTo>
                    <a:cubicBezTo>
                      <a:pt x="39" y="112"/>
                      <a:pt x="34" y="100"/>
                      <a:pt x="34" y="85"/>
                    </a:cubicBezTo>
                    <a:cubicBezTo>
                      <a:pt x="34" y="70"/>
                      <a:pt x="39" y="58"/>
                      <a:pt x="50" y="47"/>
                    </a:cubicBezTo>
                    <a:cubicBezTo>
                      <a:pt x="60" y="37"/>
                      <a:pt x="72" y="32"/>
                      <a:pt x="87" y="32"/>
                    </a:cubicBezTo>
                    <a:cubicBezTo>
                      <a:pt x="96" y="32"/>
                      <a:pt x="106" y="35"/>
                      <a:pt x="116" y="41"/>
                    </a:cubicBezTo>
                    <a:cubicBezTo>
                      <a:pt x="117" y="42"/>
                      <a:pt x="117" y="42"/>
                      <a:pt x="117" y="42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2" y="12"/>
                      <a:pt x="132" y="12"/>
                      <a:pt x="132" y="12"/>
                    </a:cubicBezTo>
                    <a:cubicBezTo>
                      <a:pt x="118" y="4"/>
                      <a:pt x="103" y="0"/>
                      <a:pt x="88" y="0"/>
                    </a:cubicBezTo>
                    <a:cubicBezTo>
                      <a:pt x="61" y="0"/>
                      <a:pt x="38" y="10"/>
                      <a:pt x="21" y="30"/>
                    </a:cubicBezTo>
                    <a:cubicBezTo>
                      <a:pt x="7" y="46"/>
                      <a:pt x="0" y="65"/>
                      <a:pt x="0" y="86"/>
                    </a:cubicBezTo>
                    <a:cubicBezTo>
                      <a:pt x="0" y="109"/>
                      <a:pt x="9" y="129"/>
                      <a:pt x="25" y="145"/>
                    </a:cubicBezTo>
                    <a:cubicBezTo>
                      <a:pt x="42" y="161"/>
                      <a:pt x="63" y="170"/>
                      <a:pt x="86" y="170"/>
                    </a:cubicBezTo>
                    <a:cubicBezTo>
                      <a:pt x="102" y="170"/>
                      <a:pt x="117" y="166"/>
                      <a:pt x="132" y="158"/>
                    </a:cubicBezTo>
                    <a:cubicBezTo>
                      <a:pt x="135" y="156"/>
                      <a:pt x="135" y="156"/>
                      <a:pt x="135" y="156"/>
                    </a:cubicBezTo>
                    <a:lnTo>
                      <a:pt x="118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graphicFrame>
        <p:nvGraphicFramePr>
          <p:cNvPr id="19" name="표 2">
            <a:extLst>
              <a:ext uri="{FF2B5EF4-FFF2-40B4-BE49-F238E27FC236}">
                <a16:creationId xmlns:a16="http://schemas.microsoft.com/office/drawing/2014/main" id="{F97B612E-35DE-560C-37CA-503D4EBDF32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98004078"/>
              </p:ext>
            </p:extLst>
          </p:nvPr>
        </p:nvGraphicFramePr>
        <p:xfrm>
          <a:off x="417515" y="1563113"/>
          <a:ext cx="9072880" cy="48842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3644">
                  <a:extLst>
                    <a:ext uri="{9D8B030D-6E8A-4147-A177-3AD203B41FA5}">
                      <a16:colId xmlns:a16="http://schemas.microsoft.com/office/drawing/2014/main" val="3973807300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200072876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401747750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192982872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48622524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032514863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19069717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03039018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713891701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05964802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198886670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46690651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95831483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868525859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682346307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151942863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1787990906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2265398982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3022057505"/>
                    </a:ext>
                  </a:extLst>
                </a:gridCol>
                <a:gridCol w="453644">
                  <a:extLst>
                    <a:ext uri="{9D8B030D-6E8A-4147-A177-3AD203B41FA5}">
                      <a16:colId xmlns:a16="http://schemas.microsoft.com/office/drawing/2014/main" val="3398815053"/>
                    </a:ext>
                  </a:extLst>
                </a:gridCol>
              </a:tblGrid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433756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857652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67125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5975704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0863577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800532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349172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4911529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108744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6410953"/>
                  </a:ext>
                </a:extLst>
              </a:tr>
              <a:tr h="444027"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700" dirty="0">
                        <a:latin typeface="+mj-ea"/>
                        <a:ea typeface="+mj-ea"/>
                      </a:endParaRPr>
                    </a:p>
                  </a:txBody>
                  <a:tcPr marL="84166" marR="84166" marT="42083" marB="42083"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5830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21500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958">
          <p15:clr>
            <a:srgbClr val="FBAE40"/>
          </p15:clr>
        </p15:guide>
        <p15:guide id="2" orient="horz" pos="4088">
          <p15:clr>
            <a:srgbClr val="FBAE40"/>
          </p15:clr>
        </p15:guide>
        <p15:guide id="3" pos="240">
          <p15:clr>
            <a:srgbClr val="FBAE40"/>
          </p15:clr>
        </p15:guide>
        <p15:guide id="4" pos="600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4090907" y="3432561"/>
            <a:ext cx="1722138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ctr"/>
            <a:r>
              <a:rPr lang="en-US" altLang="ko-KR" sz="1600" b="1" dirty="0" smtClean="0">
                <a:solidFill>
                  <a:schemeClr val="tx2">
                    <a:lumMod val="20000"/>
                    <a:lumOff val="8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Create your value</a:t>
            </a:r>
            <a:endParaRPr lang="ko-KR" altLang="en-US" sz="1600" b="1" dirty="0">
              <a:solidFill>
                <a:schemeClr val="tx2">
                  <a:lumMod val="20000"/>
                  <a:lumOff val="8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4151537" y="3103569"/>
            <a:ext cx="1600879" cy="263476"/>
            <a:chOff x="7132078" y="2394682"/>
            <a:chExt cx="2286000" cy="376237"/>
          </a:xfrm>
          <a:solidFill>
            <a:schemeClr val="bg1"/>
          </a:solidFill>
        </p:grpSpPr>
        <p:sp>
          <p:nvSpPr>
            <p:cNvPr id="1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6613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42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4027" r:id="rId2"/>
    <p:sldLayoutId id="2147483958" r:id="rId3"/>
    <p:sldLayoutId id="2147484030" r:id="rId4"/>
    <p:sldLayoutId id="2147484095" r:id="rId5"/>
    <p:sldLayoutId id="2147484097" r:id="rId6"/>
    <p:sldLayoutId id="2147484096" r:id="rId7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296" rtl="0" eaLnBrk="1" latinLnBrk="1" hangingPunct="1">
        <a:spcBef>
          <a:spcPct val="0"/>
        </a:spcBef>
        <a:buNone/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1" indent="-342861" algn="l" defTabSz="914296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6" indent="-285717" algn="l" defTabSz="914296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7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17" indent="-228574" algn="l" defTabSz="914296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66" indent="-228574" algn="l" defTabSz="914296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14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2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8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5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atinLnBrk="0"/>
            <a:r>
              <a:rPr lang="ko-KR" altLang="en-US" dirty="0" smtClean="0"/>
              <a:t>'26.10</a:t>
            </a:r>
            <a:r>
              <a:rPr lang="en-US" altLang="ko-KR" smtClean="0"/>
              <a:t>.29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4"/>
          </p:nvPr>
        </p:nvSpPr>
        <p:spPr>
          <a:prstGeom prst="rect">
            <a:avLst/>
          </a:prstGeom>
        </p:spPr>
        <p:txBody>
          <a:bodyPr/>
          <a:lstStyle/>
          <a:p>
            <a:pPr latinLnBrk="0"/>
            <a:r>
              <a:rPr lang="ko-KR" altLang="en-US" dirty="0" smtClean="0"/>
              <a:t>Defect / </a:t>
            </a:r>
            <a:r>
              <a:rPr lang="ko-KR" altLang="en-US" dirty="0" err="1" smtClean="0"/>
              <a:t>E-Test</a:t>
            </a:r>
            <a:r>
              <a:rPr lang="ko-KR" altLang="en-US" dirty="0" smtClean="0"/>
              <a:t> 연관 분석</a:t>
            </a:r>
            <a:endParaRPr lang="ko-KR" altLang="en-US" dirty="0"/>
          </a:p>
          <a:p>
            <a:pPr latinLnBrk="0"/>
            <a:r>
              <a:rPr lang="ko-KR" altLang="en-US" dirty="0" smtClean="0"/>
              <a:t>시스템 구축 POC 완료보고</a:t>
            </a:r>
            <a:endParaRPr lang="ko-KR" altLang="en-US" dirty="0"/>
          </a:p>
        </p:txBody>
      </p:sp>
      <p:pic>
        <p:nvPicPr>
          <p:cNvPr id="4" name="고객사 CI" descr="sck_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00" y="6214202"/>
            <a:ext cx="1375200" cy="290997"/>
          </a:xfrm>
          <a:prstGeom prst="rect">
            <a:avLst/>
          </a:prstGeom>
        </p:spPr>
      </p:pic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950338"/>
              </p:ext>
            </p:extLst>
          </p:nvPr>
        </p:nvGraphicFramePr>
        <p:xfrm>
          <a:off x="5829299" y="73959"/>
          <a:ext cx="3955142" cy="1165501"/>
        </p:xfrm>
        <a:graphic>
          <a:graphicData uri="http://schemas.openxmlformats.org/drawingml/2006/table">
            <a:tbl>
              <a:tblPr firstRow="1" firstCol="1" bandRow="1"/>
              <a:tblGrid>
                <a:gridCol w="12701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1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4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5665"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75"/>
                        </a:spcBef>
                        <a:spcAft>
                          <a:spcPts val="75"/>
                        </a:spcAft>
                      </a:pPr>
                      <a:r>
                        <a:rPr lang="en-US" sz="1000" dirty="0" smtClean="0">
                          <a:effectLst/>
                          <a:latin typeface="+mj-ea"/>
                          <a:ea typeface="+mj-ea"/>
                          <a:cs typeface="굴림" panose="020B0600000101010101" pitchFamily="50" charset="-127"/>
                        </a:rPr>
                        <a:t>Miracom</a:t>
                      </a:r>
                      <a:r>
                        <a:rPr lang="en-US" sz="1000" baseline="0" dirty="0" smtClean="0">
                          <a:effectLst/>
                          <a:latin typeface="+mj-ea"/>
                          <a:ea typeface="+mj-ea"/>
                          <a:cs typeface="굴림" panose="020B0600000101010101" pitchFamily="50" charset="-127"/>
                        </a:rPr>
                        <a:t> Inc.</a:t>
                      </a:r>
                      <a:r>
                        <a:rPr lang="en-US" sz="1000" dirty="0" smtClean="0">
                          <a:effectLst/>
                          <a:latin typeface="+mj-ea"/>
                          <a:ea typeface="+mj-ea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en-US" sz="1000" dirty="0">
                          <a:effectLst/>
                          <a:latin typeface="+mj-ea"/>
                          <a:ea typeface="+mj-ea"/>
                          <a:cs typeface="굴림" panose="020B0600000101010101" pitchFamily="50" charset="-127"/>
                        </a:rPr>
                        <a:t>/ </a:t>
                      </a:r>
                      <a:r>
                        <a:rPr lang="en-US" sz="1000" dirty="0" smtClean="0">
                          <a:effectLst/>
                          <a:latin typeface="+mj-ea"/>
                          <a:ea typeface="+mj-ea"/>
                          <a:cs typeface="굴림" panose="020B0600000101010101" pitchFamily="50" charset="-127"/>
                        </a:rPr>
                        <a:t>PM</a:t>
                      </a:r>
                      <a:endParaRPr lang="ko-KR" sz="1000" dirty="0">
                        <a:effectLst/>
                        <a:latin typeface="+mj-ea"/>
                        <a:ea typeface="+mj-ea"/>
                        <a:cs typeface="굴림" panose="020B0600000101010101" pitchFamily="50" charset="-127"/>
                      </a:endParaRPr>
                    </a:p>
                  </a:txBody>
                  <a:tcPr marL="26377" marR="26377" marT="28575" marB="2857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75"/>
                        </a:spcBef>
                        <a:spcAft>
                          <a:spcPts val="75"/>
                        </a:spcAft>
                      </a:pPr>
                      <a:r>
                        <a:rPr lang="en-US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STATSChipPAC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굴림" panose="020B0600000101010101" pitchFamily="50" charset="-127"/>
                        </a:rPr>
                        <a:t>/ 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굴림" panose="020B0600000101010101" pitchFamily="50" charset="-127"/>
                        </a:rPr>
                        <a:t>PM</a:t>
                      </a:r>
                      <a:endParaRPr lang="ko-KR" altLang="ko-KR" sz="1000" kern="120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26377" marR="26377" marT="28575" marB="2857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75"/>
                        </a:spcBef>
                        <a:spcAft>
                          <a:spcPts val="75"/>
                        </a:spcAft>
                      </a:pPr>
                      <a:r>
                        <a:rPr lang="en-US" altLang="ko-KR" sz="100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STATSChipPAC</a:t>
                      </a: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/ </a:t>
                      </a:r>
                      <a:r>
                        <a:rPr lang="ko-KR" altLang="en-US" sz="10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총괄</a:t>
                      </a:r>
                      <a:endParaRPr lang="ko-KR" altLang="ko-KR" sz="1000" kern="120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26377" marR="26377" marT="28575" marB="2857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1329">
                <a:tc>
                  <a:txBody>
                    <a:bodyPr/>
                    <a:lstStyle/>
                    <a:p>
                      <a:pPr>
                        <a:lnSpc>
                          <a:spcPct val="160000"/>
                        </a:lnSpc>
                        <a:spcBef>
                          <a:spcPts val="75"/>
                        </a:spcBef>
                        <a:spcAft>
                          <a:spcPts val="75"/>
                        </a:spcAft>
                      </a:pPr>
                      <a:r>
                        <a:rPr lang="en-US" sz="1000" dirty="0">
                          <a:effectLst/>
                          <a:latin typeface="+mj-ea"/>
                          <a:ea typeface="+mj-ea"/>
                          <a:cs typeface="굴림" panose="020B0600000101010101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+mj-ea"/>
                        <a:ea typeface="+mj-ea"/>
                        <a:cs typeface="굴림" panose="020B0600000101010101" pitchFamily="50" charset="-127"/>
                      </a:endParaRPr>
                    </a:p>
                  </a:txBody>
                  <a:tcPr marL="26377" marR="26377" marT="28575" marB="2857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60000"/>
                        </a:lnSpc>
                        <a:spcBef>
                          <a:spcPts val="75"/>
                        </a:spcBef>
                        <a:spcAft>
                          <a:spcPts val="75"/>
                        </a:spcAft>
                      </a:pPr>
                      <a:r>
                        <a:rPr lang="en-US" sz="1000" dirty="0">
                          <a:effectLst/>
                          <a:latin typeface="+mj-ea"/>
                          <a:ea typeface="+mj-ea"/>
                          <a:cs typeface="굴림" panose="020B0600000101010101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+mj-ea"/>
                        <a:ea typeface="+mj-ea"/>
                        <a:cs typeface="굴림" panose="020B0600000101010101" pitchFamily="50" charset="-127"/>
                      </a:endParaRPr>
                    </a:p>
                  </a:txBody>
                  <a:tcPr marL="26377" marR="26377" marT="28575" marB="2857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60000"/>
                        </a:lnSpc>
                        <a:spcBef>
                          <a:spcPts val="75"/>
                        </a:spcBef>
                        <a:spcAft>
                          <a:spcPts val="75"/>
                        </a:spcAft>
                      </a:pPr>
                      <a:r>
                        <a:rPr lang="en-US" sz="1000" dirty="0">
                          <a:effectLst/>
                          <a:latin typeface="+mj-ea"/>
                          <a:ea typeface="+mj-ea"/>
                          <a:cs typeface="굴림" panose="020B0600000101010101" pitchFamily="50" charset="-127"/>
                        </a:rPr>
                        <a:t> </a:t>
                      </a:r>
                      <a:endParaRPr lang="ko-KR" sz="1000" dirty="0">
                        <a:effectLst/>
                        <a:latin typeface="+mj-ea"/>
                        <a:ea typeface="+mj-ea"/>
                        <a:cs typeface="굴림" panose="020B0600000101010101" pitchFamily="50" charset="-127"/>
                      </a:endParaRPr>
                    </a:p>
                  </a:txBody>
                  <a:tcPr marL="26377" marR="26377" marT="28575" marB="2857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672"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75"/>
                        </a:spcBef>
                        <a:spcAft>
                          <a:spcPts val="75"/>
                        </a:spcAft>
                      </a:pPr>
                      <a:r>
                        <a:rPr lang="ko-KR" altLang="en-US" sz="1050" dirty="0" smtClean="0">
                          <a:effectLst/>
                          <a:latin typeface="+mj-ea"/>
                          <a:ea typeface="+mj-ea"/>
                          <a:cs typeface="굴림" panose="020B0600000101010101" pitchFamily="50" charset="-127"/>
                        </a:rPr>
                        <a:t>정병주 프로</a:t>
                      </a:r>
                      <a:r>
                        <a:rPr lang="en-US" sz="1050" dirty="0" smtClean="0">
                          <a:effectLst/>
                          <a:latin typeface="+mj-ea"/>
                          <a:ea typeface="+mj-ea"/>
                          <a:cs typeface="굴림" panose="020B0600000101010101" pitchFamily="50" charset="-127"/>
                        </a:rPr>
                        <a:t> </a:t>
                      </a:r>
                      <a:endParaRPr lang="ko-KR" sz="1050" dirty="0">
                        <a:effectLst/>
                        <a:latin typeface="+mj-ea"/>
                        <a:ea typeface="+mj-ea"/>
                        <a:cs typeface="굴림" panose="020B0600000101010101" pitchFamily="50" charset="-127"/>
                      </a:endParaRPr>
                    </a:p>
                  </a:txBody>
                  <a:tcPr marL="26377" marR="26377" marT="28575" marB="2857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75"/>
                        </a:spcBef>
                        <a:spcAft>
                          <a:spcPts val="75"/>
                        </a:spcAft>
                      </a:pPr>
                      <a:r>
                        <a:rPr lang="ko-KR" altLang="en-US" sz="1050" kern="1200" dirty="0" smtClean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굴림" panose="020B0600000101010101" pitchFamily="50" charset="-127"/>
                        </a:rPr>
                        <a:t>서승환 책임 </a:t>
                      </a:r>
                      <a:endParaRPr lang="ko-KR" altLang="ko-KR" sz="1050" kern="1200" dirty="0"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굴림" panose="020B0600000101010101" pitchFamily="50" charset="-127"/>
                      </a:endParaRPr>
                    </a:p>
                  </a:txBody>
                  <a:tcPr marL="26377" marR="26377" marT="28575" marB="2857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60000"/>
                        </a:lnSpc>
                        <a:spcBef>
                          <a:spcPts val="75"/>
                        </a:spcBef>
                        <a:spcAft>
                          <a:spcPts val="75"/>
                        </a:spcAft>
                      </a:pPr>
                      <a:r>
                        <a:rPr lang="ko-KR" altLang="en-US" sz="1050" dirty="0" err="1" smtClean="0">
                          <a:effectLst/>
                          <a:latin typeface="+mj-ea"/>
                          <a:ea typeface="+mj-ea"/>
                          <a:cs typeface="굴림" panose="020B0600000101010101" pitchFamily="50" charset="-127"/>
                        </a:rPr>
                        <a:t>구재훈</a:t>
                      </a:r>
                      <a:r>
                        <a:rPr lang="en-US" altLang="ko-KR" sz="1050" dirty="0" smtClean="0">
                          <a:effectLst/>
                          <a:latin typeface="+mj-ea"/>
                          <a:ea typeface="+mj-ea"/>
                          <a:cs typeface="굴림" panose="020B0600000101010101" pitchFamily="50" charset="-127"/>
                        </a:rPr>
                        <a:t> </a:t>
                      </a:r>
                      <a:r>
                        <a:rPr lang="ko-KR" altLang="en-US" sz="1050" dirty="0" smtClean="0">
                          <a:effectLst/>
                          <a:latin typeface="+mj-ea"/>
                          <a:ea typeface="+mj-ea"/>
                          <a:cs typeface="굴림" panose="020B0600000101010101" pitchFamily="50" charset="-127"/>
                        </a:rPr>
                        <a:t>상무</a:t>
                      </a:r>
                      <a:endParaRPr lang="ko-KR" sz="1050" dirty="0">
                        <a:effectLst/>
                        <a:latin typeface="+mj-ea"/>
                        <a:ea typeface="+mj-ea"/>
                        <a:cs typeface="굴림" panose="020B0600000101010101" pitchFamily="50" charset="-127"/>
                      </a:endParaRPr>
                    </a:p>
                  </a:txBody>
                  <a:tcPr marL="26377" marR="26377" marT="28575" marB="28575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228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 latinLnBrk="0"/>
            <a:r>
              <a:rPr lang="ko-KR" altLang="en-US"/>
              <a:t>POC 개요</a:t>
            </a:r>
            <a:endParaRPr lang="ko-KR" altLang="en-US" dirty="0"/>
          </a:p>
          <a:p>
            <a:pPr lvl="0" latinLnBrk="0"/>
            <a:r>
              <a:rPr lang="ko-KR" altLang="en-US"/>
              <a:t>주요 POC 기능 및 결과</a:t>
            </a:r>
            <a:endParaRPr lang="ko-KR" altLang="en-US" dirty="0"/>
          </a:p>
          <a:p>
            <a:pPr lvl="0" latinLnBrk="0"/>
            <a:r>
              <a:rPr lang="ko-KR" altLang="en-US"/>
              <a:t>종료 후 운영 방안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992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POC 배경 및 목표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959981"/>
            <a:ext cx="9144000" cy="246221"/>
          </a:xfrm>
        </p:spPr>
        <p:txBody>
          <a:bodyPr/>
          <a:lstStyle/>
          <a:p>
            <a:pPr latinLnBrk="0"/>
            <a:r>
              <a:rPr lang="ko-KR" altLang="en-US" dirty="0" smtClean="0"/>
              <a:t>도면 (GDS) &lt;-&gt; 외관 불량 (</a:t>
            </a:r>
            <a:r>
              <a:rPr lang="ko-KR" altLang="en-US" dirty="0" err="1" smtClean="0"/>
              <a:t>Klarf</a:t>
            </a:r>
            <a:r>
              <a:rPr lang="ko-KR" altLang="en-US" dirty="0" smtClean="0"/>
              <a:t>) &lt;-&gt; 전기적 특성 검사 (E-Test) 간의 관계 분석</a:t>
            </a:r>
            <a:endParaRPr lang="en-US" altLang="ko-KR" dirty="0" smtClean="0"/>
          </a:p>
        </p:txBody>
      </p:sp>
      <p:pic>
        <p:nvPicPr>
          <p:cNvPr id="12" name="고객사 CI" descr="sck_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 dirty="0" err="1"/>
              <a:t>I</a:t>
            </a:r>
            <a:r>
              <a:rPr lang="ko-KR" altLang="en-US" dirty="0"/>
              <a:t>. POC 개요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600" y="1582506"/>
            <a:ext cx="2664000" cy="28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300" b="1" dirty="0" err="1">
                <a:solidFill>
                  <a:schemeClr val="bg1"/>
                </a:solidFill>
              </a:rPr>
              <a:t>Packaging</a:t>
            </a:r>
            <a:r>
              <a:rPr lang="ko-KR" altLang="en-US" sz="1300" b="1" dirty="0">
                <a:solidFill>
                  <a:schemeClr val="bg1"/>
                </a:solidFill>
              </a:rPr>
              <a:t> </a:t>
            </a:r>
            <a:r>
              <a:rPr lang="ko-KR" altLang="en-US" sz="1300" b="1" dirty="0" smtClean="0">
                <a:solidFill>
                  <a:schemeClr val="bg1"/>
                </a:solidFill>
              </a:rPr>
              <a:t>공정 </a:t>
            </a:r>
            <a:r>
              <a:rPr lang="en-US" altLang="ko-KR" sz="1300" b="1" dirty="0" smtClean="0">
                <a:solidFill>
                  <a:schemeClr val="bg1"/>
                </a:solidFill>
              </a:rPr>
              <a:t>Flow</a:t>
            </a:r>
            <a:endParaRPr lang="ko-KR" altLang="en-US" sz="1300" b="1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81600" y="1870507"/>
            <a:ext cx="2664000" cy="273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25600" y="2050507"/>
            <a:ext cx="1152000" cy="503999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accent4"/>
                </a:solidFill>
              </a:rPr>
              <a:t>Package 공정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011600" y="2579707"/>
            <a:ext cx="180000" cy="251999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25600" y="2860507"/>
            <a:ext cx="1152000" cy="503999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accent4"/>
                </a:solidFill>
              </a:rPr>
              <a:t>AOI 검사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1011600" y="3389707"/>
            <a:ext cx="180000" cy="251999"/>
          </a:xfrm>
          <a:prstGeom prst="down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20" name="Right Arrow 19"/>
          <p:cNvSpPr/>
          <p:nvPr/>
        </p:nvSpPr>
        <p:spPr>
          <a:xfrm>
            <a:off x="1713600" y="3040507"/>
            <a:ext cx="162000" cy="144000"/>
          </a:xfrm>
          <a:prstGeom prst="rightArrow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93600" y="2896507"/>
            <a:ext cx="1062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000" b="1">
                <a:solidFill>
                  <a:schemeClr val="accent1"/>
                </a:solidFill>
              </a:rPr>
              <a:t>KLARF 파일</a:t>
            </a:r>
          </a:p>
          <a:p>
            <a:pPr algn="ctr" latinLnBrk="0"/>
            <a:r>
              <a:rPr lang="ko-KR" altLang="en-US" sz="1000" b="0">
                <a:solidFill>
                  <a:schemeClr val="accent1"/>
                </a:solidFill>
              </a:rPr>
              <a:t>Defect 좌표, 이미지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5600" y="3670507"/>
            <a:ext cx="1152000" cy="503999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accent4"/>
                </a:solidFill>
              </a:rPr>
              <a:t>전기 검사 (TEST)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713600" y="3850507"/>
            <a:ext cx="162000" cy="144000"/>
          </a:xfrm>
          <a:prstGeom prst="rightArrow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893600" y="3706507"/>
            <a:ext cx="1062000" cy="432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000" b="1">
                <a:solidFill>
                  <a:schemeClr val="accent1"/>
                </a:solidFill>
              </a:rPr>
              <a:t>E-Test 파일</a:t>
            </a:r>
          </a:p>
          <a:p>
            <a:pPr algn="ctr" latinLnBrk="0"/>
            <a:r>
              <a:rPr lang="ko-KR" altLang="en-US" sz="1000" b="0">
                <a:solidFill>
                  <a:schemeClr val="accent1"/>
                </a:solidFill>
              </a:rPr>
              <a:t>Chain별 측정값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096000" y="2806507"/>
            <a:ext cx="288000" cy="576000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438000" y="1582506"/>
            <a:ext cx="6087600" cy="28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300" b="1">
                <a:solidFill>
                  <a:schemeClr val="bg1"/>
                </a:solidFill>
              </a:rPr>
              <a:t>데이터 간 연관관계 분석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38000" y="1870507"/>
            <a:ext cx="6087600" cy="273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582000" y="1942507"/>
            <a:ext cx="1332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100" b="1">
                <a:solidFill>
                  <a:schemeClr val="accent1"/>
                </a:solidFill>
              </a:rPr>
              <a:t>GDS 도면 (배선)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71200" y="1942507"/>
            <a:ext cx="28212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100" b="1">
                <a:solidFill>
                  <a:schemeClr val="accent1"/>
                </a:solidFill>
              </a:rPr>
              <a:t>AOI Defect (KLARF Map, 이미지)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9600" y="1942507"/>
            <a:ext cx="1332000" cy="216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100" b="1">
                <a:solidFill>
                  <a:schemeClr val="accent1"/>
                </a:solidFill>
              </a:rPr>
              <a:t>E-Test (측정값)</a:t>
            </a:r>
          </a:p>
        </p:txBody>
      </p:sp>
      <p:pic>
        <p:nvPicPr>
          <p:cNvPr id="31" name="Picture 30" descr="crop_g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2000" y="2194507"/>
            <a:ext cx="1332000" cy="133200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3582000" y="2194507"/>
            <a:ext cx="1332000" cy="1332000"/>
          </a:xfrm>
          <a:prstGeom prst="rect">
            <a:avLst/>
          </a:prstGeom>
          <a:noFill/>
          <a:ln w="9525">
            <a:solidFill>
              <a:schemeClr val="tx1">
                <a:lumMod val="25000"/>
                <a:lumOff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1200" y="2196591"/>
            <a:ext cx="1332000" cy="132783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5071200" y="2196591"/>
            <a:ext cx="1332000" cy="1327830"/>
          </a:xfrm>
          <a:prstGeom prst="rect">
            <a:avLst/>
          </a:prstGeom>
          <a:noFill/>
          <a:ln w="9525">
            <a:solidFill>
              <a:schemeClr val="tx1">
                <a:lumMod val="25000"/>
                <a:lumOff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0400" y="2282376"/>
            <a:ext cx="1332000" cy="1156261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6560400" y="2282376"/>
            <a:ext cx="1332000" cy="1156261"/>
          </a:xfrm>
          <a:prstGeom prst="rect">
            <a:avLst/>
          </a:prstGeom>
          <a:noFill/>
          <a:ln w="9525">
            <a:solidFill>
              <a:schemeClr val="tx1">
                <a:lumMod val="25000"/>
                <a:lumOff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pic>
        <p:nvPicPr>
          <p:cNvPr id="35" name="Picture 34" descr="crop_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9600" y="2194507"/>
            <a:ext cx="1332000" cy="133200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8049600" y="2194507"/>
            <a:ext cx="1332000" cy="1332000"/>
          </a:xfrm>
          <a:prstGeom prst="rect">
            <a:avLst/>
          </a:prstGeom>
          <a:noFill/>
          <a:ln w="9525">
            <a:solidFill>
              <a:schemeClr val="tx1">
                <a:lumMod val="25000"/>
                <a:lumOff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914000" y="2716507"/>
            <a:ext cx="157199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/>
          <a:lstStyle/>
          <a:p>
            <a:pPr algn="ctr" latinLnBrk="0"/>
            <a:r>
              <a:rPr lang="ko-KR" altLang="en-US" sz="1600" b="1">
                <a:solidFill>
                  <a:schemeClr val="accent1"/>
                </a:solidFill>
              </a:rPr>
              <a:t>+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92400" y="2716507"/>
            <a:ext cx="157199" cy="28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/>
          <a:lstStyle/>
          <a:p>
            <a:pPr algn="ctr" latinLnBrk="0"/>
            <a:r>
              <a:rPr lang="ko-KR" altLang="en-US" sz="1600" b="1">
                <a:solidFill>
                  <a:schemeClr val="accent1"/>
                </a:solidFill>
              </a:rPr>
              <a:t>+</a:t>
            </a:r>
          </a:p>
        </p:txBody>
      </p:sp>
      <p:sp>
        <p:nvSpPr>
          <p:cNvPr id="39" name="Down Arrow 38"/>
          <p:cNvSpPr/>
          <p:nvPr/>
        </p:nvSpPr>
        <p:spPr>
          <a:xfrm>
            <a:off x="6355800" y="3580507"/>
            <a:ext cx="251999" cy="180000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582000" y="3814507"/>
            <a:ext cx="5799600" cy="684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200" b="1" dirty="0">
                <a:solidFill>
                  <a:schemeClr val="tx1"/>
                </a:solidFill>
              </a:rPr>
              <a:t>세 데이터를 </a:t>
            </a:r>
            <a:r>
              <a:rPr lang="ko-KR" altLang="en-US" sz="1200" b="1" dirty="0" err="1">
                <a:solidFill>
                  <a:schemeClr val="tx1"/>
                </a:solidFill>
              </a:rPr>
              <a:t>Die</a:t>
            </a:r>
            <a:r>
              <a:rPr lang="ko-KR" altLang="en-US" sz="1200" b="1" dirty="0">
                <a:solidFill>
                  <a:schemeClr val="tx1"/>
                </a:solidFill>
              </a:rPr>
              <a:t>, </a:t>
            </a:r>
            <a:r>
              <a:rPr lang="ko-KR" altLang="en-US" sz="1200" b="1" dirty="0" err="1">
                <a:solidFill>
                  <a:schemeClr val="tx1"/>
                </a:solidFill>
              </a:rPr>
              <a:t>Chain</a:t>
            </a:r>
            <a:r>
              <a:rPr lang="ko-KR" altLang="en-US" sz="1200" b="1" dirty="0">
                <a:solidFill>
                  <a:schemeClr val="tx1"/>
                </a:solidFill>
              </a:rPr>
              <a:t> 단위로 겹쳐 비교</a:t>
            </a:r>
          </a:p>
          <a:p>
            <a:pPr algn="ctr" latinLnBrk="0"/>
            <a:r>
              <a:rPr lang="ko-KR" altLang="en-US" sz="1200" b="0" dirty="0" smtClean="0">
                <a:solidFill>
                  <a:schemeClr val="tx1"/>
                </a:solidFill>
              </a:rPr>
              <a:t>전기적 특성 </a:t>
            </a:r>
            <a:r>
              <a:rPr lang="en-US" altLang="ko-KR" sz="1200" b="0" dirty="0" smtClean="0">
                <a:solidFill>
                  <a:schemeClr val="tx1"/>
                </a:solidFill>
              </a:rPr>
              <a:t>Fail </a:t>
            </a:r>
            <a:r>
              <a:rPr lang="ko-KR" altLang="en-US" sz="1200" b="0" dirty="0" smtClean="0">
                <a:solidFill>
                  <a:schemeClr val="tx1"/>
                </a:solidFill>
              </a:rPr>
              <a:t>발생이 외관 불량에 의한 불량인지 시스템이 제시</a:t>
            </a:r>
            <a:endParaRPr lang="ko-KR" altLang="en-US" sz="1200" b="0" dirty="0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81600" y="5274000"/>
            <a:ext cx="1224000" cy="46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400" b="1">
                <a:solidFill>
                  <a:schemeClr val="bg1"/>
                </a:solidFill>
              </a:rPr>
              <a:t>POC 목표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5600" y="5274000"/>
            <a:ext cx="7919400" cy="46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36000" rIns="144000" bIns="36000" rtlCol="0" anchor="ctr"/>
          <a:lstStyle/>
          <a:p>
            <a:pPr algn="l" latinLnBrk="0"/>
            <a:r>
              <a:rPr lang="ko-KR" altLang="en-US" sz="1200" b="0" dirty="0">
                <a:solidFill>
                  <a:schemeClr val="tx1"/>
                </a:solidFill>
              </a:rPr>
              <a:t>도면, 외관 불량, 전기 검사 데이터를 한 화면에서 연결해 </a:t>
            </a:r>
            <a:r>
              <a:rPr lang="ko-KR" altLang="en-US" sz="1200" b="1" dirty="0">
                <a:solidFill>
                  <a:schemeClr val="tx1"/>
                </a:solidFill>
              </a:rPr>
              <a:t>불량 원인 판단 근거 확보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1600" y="4752000"/>
            <a:ext cx="1224000" cy="468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400" b="1">
                <a:solidFill>
                  <a:schemeClr val="bg1"/>
                </a:solidFill>
              </a:rPr>
              <a:t>현황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605600" y="4752000"/>
            <a:ext cx="7920000" cy="46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36000" rIns="144000" bIns="36000" rtlCol="0" anchor="ctr"/>
          <a:lstStyle/>
          <a:p>
            <a:pPr algn="l" latinLnBrk="0"/>
            <a:r>
              <a:rPr lang="ko-KR" altLang="en-US" sz="1200" b="0" dirty="0">
                <a:solidFill>
                  <a:schemeClr val="tx1"/>
                </a:solidFill>
              </a:rPr>
              <a:t>세 데이터가 따로 있어, </a:t>
            </a:r>
            <a:r>
              <a:rPr lang="ko-KR" altLang="en-US" sz="1200" b="0" dirty="0" err="1">
                <a:solidFill>
                  <a:schemeClr val="tx1"/>
                </a:solidFill>
              </a:rPr>
              <a:t>E-Test</a:t>
            </a:r>
            <a:r>
              <a:rPr lang="ko-KR" altLang="en-US" sz="1200" b="0" dirty="0">
                <a:solidFill>
                  <a:schemeClr val="tx1"/>
                </a:solidFill>
              </a:rPr>
              <a:t> </a:t>
            </a:r>
            <a:r>
              <a:rPr lang="ko-KR" altLang="en-US" sz="1200" b="0" dirty="0" err="1">
                <a:solidFill>
                  <a:schemeClr val="tx1"/>
                </a:solidFill>
              </a:rPr>
              <a:t>Fail이</a:t>
            </a:r>
            <a:r>
              <a:rPr lang="ko-KR" altLang="en-US" sz="1200" b="0" dirty="0">
                <a:solidFill>
                  <a:schemeClr val="tx1"/>
                </a:solidFill>
              </a:rPr>
              <a:t> 외관 불량 때문인지 </a:t>
            </a:r>
            <a:r>
              <a:rPr lang="ko-KR" altLang="en-US" sz="1200" b="1" dirty="0">
                <a:solidFill>
                  <a:schemeClr val="tx1"/>
                </a:solidFill>
              </a:rPr>
              <a:t>근거를 바로 확인하기 어려움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1600" y="5796000"/>
            <a:ext cx="1224000" cy="468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400" b="1">
                <a:solidFill>
                  <a:schemeClr val="bg1"/>
                </a:solidFill>
              </a:rPr>
              <a:t>POC 범위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605600" y="5796000"/>
            <a:ext cx="7920000" cy="46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36000" rIns="144000" bIns="36000" rtlCol="0" anchor="ctr"/>
          <a:lstStyle/>
          <a:p>
            <a:pPr algn="l" latinLnBrk="0"/>
            <a:r>
              <a:rPr lang="ko-KR" altLang="en-US" sz="1200" b="0" dirty="0">
                <a:solidFill>
                  <a:schemeClr val="tx1"/>
                </a:solidFill>
              </a:rPr>
              <a:t>기간 '26.10.01 ~ 10.30   /   </a:t>
            </a:r>
            <a:r>
              <a:rPr lang="ko-KR" altLang="en-US" sz="1200" b="0" dirty="0" smtClean="0">
                <a:solidFill>
                  <a:schemeClr val="tx1"/>
                </a:solidFill>
              </a:rPr>
              <a:t>대상 </a:t>
            </a:r>
            <a:r>
              <a:rPr lang="ko-KR" altLang="en-US" sz="1200" dirty="0" smtClean="0">
                <a:solidFill>
                  <a:schemeClr val="tx1"/>
                </a:solidFill>
              </a:rPr>
              <a:t>디바이스</a:t>
            </a:r>
            <a:r>
              <a:rPr lang="ko-KR" altLang="en-US" sz="1200" b="0" dirty="0" smtClean="0">
                <a:solidFill>
                  <a:schemeClr val="tx1"/>
                </a:solidFill>
              </a:rPr>
              <a:t> U9, </a:t>
            </a:r>
            <a:r>
              <a:rPr lang="ko-KR" altLang="en-US" sz="1200" b="0" dirty="0">
                <a:solidFill>
                  <a:schemeClr val="tx1"/>
                </a:solidFill>
              </a:rPr>
              <a:t>U8 </a:t>
            </a:r>
            <a:r>
              <a:rPr lang="ko-KR" altLang="en-US" sz="1200" b="0" dirty="0" smtClean="0">
                <a:solidFill>
                  <a:schemeClr val="tx1"/>
                </a:solidFill>
              </a:rPr>
              <a:t> /   </a:t>
            </a:r>
            <a:r>
              <a:rPr lang="ko-KR" altLang="en-US" sz="1200" b="0" dirty="0">
                <a:solidFill>
                  <a:schemeClr val="tx1"/>
                </a:solidFill>
              </a:rPr>
              <a:t>파일 수동 </a:t>
            </a:r>
            <a:r>
              <a:rPr lang="ko-KR" altLang="en-US" sz="1200" b="0" dirty="0" smtClean="0">
                <a:solidFill>
                  <a:schemeClr val="tx1"/>
                </a:solidFill>
              </a:rPr>
              <a:t>업로드 </a:t>
            </a:r>
            <a:r>
              <a:rPr lang="en-US" altLang="ko-KR" sz="1200" b="0" dirty="0" smtClean="0">
                <a:solidFill>
                  <a:schemeClr val="tx1"/>
                </a:solidFill>
              </a:rPr>
              <a:t>/ </a:t>
            </a:r>
            <a:r>
              <a:rPr lang="ko-KR" altLang="en-US" sz="1200" b="0" dirty="0" smtClean="0">
                <a:solidFill>
                  <a:schemeClr val="tx1"/>
                </a:solidFill>
              </a:rPr>
              <a:t>세 데이터 기반 연관 분석 제공</a:t>
            </a:r>
            <a:endParaRPr lang="ko-KR" altLang="en-US" sz="12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 smtClean="0"/>
              <a:t>시스템 구성 및 업무 영역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pPr latinLnBrk="0"/>
            <a:r>
              <a:rPr lang="ko-KR" altLang="en-US" dirty="0" smtClean="0"/>
              <a:t>초기 제안한 POC 대상 화면들은 반영 완료</a:t>
            </a:r>
            <a:endParaRPr lang="en-US" altLang="ko-KR" dirty="0" smtClean="0"/>
          </a:p>
          <a:p>
            <a:pPr latinLnBrk="0"/>
            <a:r>
              <a:rPr lang="ko-KR" altLang="en-US" dirty="0" smtClean="0"/>
              <a:t>기존 </a:t>
            </a:r>
            <a:r>
              <a:rPr lang="en-US" altLang="ko-KR" dirty="0" smtClean="0"/>
              <a:t>YMS, DMS</a:t>
            </a:r>
            <a:r>
              <a:rPr lang="ko-KR" altLang="en-US" dirty="0" smtClean="0"/>
              <a:t>의 화면을 최대한 재활용하는 형태로 개발 진행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I. POC 개요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600" y="4782261"/>
            <a:ext cx="3002400" cy="36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500" b="1">
                <a:solidFill>
                  <a:schemeClr val="bg1"/>
                </a:solidFill>
              </a:rPr>
              <a:t>미라콤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5142261"/>
            <a:ext cx="3002400" cy="11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600" y="5312236"/>
            <a:ext cx="2808000" cy="776047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 dirty="0"/>
              <a:t>PM, 설계, 개발, 검증 </a:t>
            </a:r>
            <a:endParaRPr lang="en-US" altLang="ko-KR" sz="1300" dirty="0" smtClean="0"/>
          </a:p>
          <a:p>
            <a:pPr lvl="1" latinLnBrk="0"/>
            <a:r>
              <a:rPr lang="ko-KR" altLang="en-US" sz="1300" dirty="0" smtClean="0"/>
              <a:t>인계 자료, 절차</a:t>
            </a:r>
            <a:r>
              <a:rPr lang="ko-KR" altLang="en-US" sz="1300" dirty="0"/>
              <a:t>, 교육, 결과 보고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2400" y="4782261"/>
            <a:ext cx="3002400" cy="36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500" b="1">
                <a:solidFill>
                  <a:schemeClr val="bg1"/>
                </a:solidFill>
              </a:rPr>
              <a:t>SCK 연구소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52400" y="5142261"/>
            <a:ext cx="3002400" cy="11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0400" y="5412937"/>
            <a:ext cx="2808000" cy="574646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 dirty="0" smtClean="0"/>
              <a:t>요건, </a:t>
            </a:r>
            <a:r>
              <a:rPr lang="ko-KR" altLang="en-US" sz="1300" dirty="0"/>
              <a:t>샘플 데이터 제공</a:t>
            </a:r>
          </a:p>
          <a:p>
            <a:pPr lvl="1" latinLnBrk="0"/>
            <a:r>
              <a:rPr lang="ko-KR" altLang="en-US" sz="1300" dirty="0"/>
              <a:t>결과 </a:t>
            </a:r>
            <a:r>
              <a:rPr lang="ko-KR" altLang="en-US" sz="1300" dirty="0" smtClean="0"/>
              <a:t>검증</a:t>
            </a:r>
            <a:endParaRPr lang="ko-KR" altLang="en-US" sz="1300" dirty="0"/>
          </a:p>
        </p:txBody>
      </p:sp>
      <p:sp>
        <p:nvSpPr>
          <p:cNvPr id="14" name="Rectangle 13"/>
          <p:cNvSpPr/>
          <p:nvPr/>
        </p:nvSpPr>
        <p:spPr>
          <a:xfrm>
            <a:off x="6523199" y="4782261"/>
            <a:ext cx="3002400" cy="36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500" b="1">
                <a:solidFill>
                  <a:schemeClr val="bg1"/>
                </a:solidFill>
              </a:rPr>
              <a:t>SCK IT팀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23199" y="5142261"/>
            <a:ext cx="3002400" cy="111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31199" y="5412938"/>
            <a:ext cx="2808000" cy="574646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 dirty="0"/>
              <a:t>서버, </a:t>
            </a:r>
            <a:r>
              <a:rPr lang="ko-KR" altLang="en-US" sz="1300" dirty="0" smtClean="0"/>
              <a:t>DB 제공</a:t>
            </a:r>
            <a:endParaRPr lang="ko-KR" altLang="en-US" sz="1300" dirty="0"/>
          </a:p>
          <a:p>
            <a:pPr lvl="1" latinLnBrk="0"/>
            <a:r>
              <a:rPr lang="ko-KR" altLang="en-US" sz="1300" dirty="0" smtClean="0"/>
              <a:t>시스템에 대한 아키텍처 지원</a:t>
            </a:r>
            <a:endParaRPr lang="ko-KR" altLang="en-US" sz="1300" dirty="0"/>
          </a:p>
        </p:txBody>
      </p:sp>
      <p:pic>
        <p:nvPicPr>
          <p:cNvPr id="18" name="고객사 CI" descr="sck_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709889"/>
              </p:ext>
            </p:extLst>
          </p:nvPr>
        </p:nvGraphicFramePr>
        <p:xfrm>
          <a:off x="381600" y="1519200"/>
          <a:ext cx="9144000" cy="31474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bg1"/>
                          </a:solidFill>
                        </a:rPr>
                        <a:t>영역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초기 제안 </a:t>
                      </a:r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</a:rPr>
                        <a:t>기능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dirty="0">
                          <a:solidFill>
                            <a:schemeClr val="bg1"/>
                          </a:solidFill>
                        </a:rPr>
                        <a:t>완료 </a:t>
                      </a:r>
                      <a:r>
                        <a:rPr lang="ko-KR" altLang="en-US" sz="1200" b="1" dirty="0" smtClean="0">
                          <a:solidFill>
                            <a:schemeClr val="bg1"/>
                          </a:solidFill>
                        </a:rPr>
                        <a:t>화면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>
                          <a:solidFill>
                            <a:schemeClr val="bg1"/>
                          </a:solidFill>
                        </a:rPr>
                        <a:t>구분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chemeClr val="accent1"/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500">
                <a:tc rowSpan="3">
                  <a:txBody>
                    <a:bodyPr/>
                    <a:lstStyle/>
                    <a:p>
                      <a:pPr algn="ctr" latinLnBrk="0"/>
                      <a:r>
                        <a:rPr lang="ko-KR" altLang="en-US" sz="1050" b="1">
                          <a:solidFill>
                            <a:schemeClr val="tx1"/>
                          </a:solidFill>
                        </a:rPr>
                        <a:t>Setup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50">
                          <a:solidFill>
                            <a:schemeClr val="tx1"/>
                          </a:solidFill>
                        </a:rPr>
                        <a:t>Map Setup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Wafer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Map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Setup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(KLARF 파일 기준)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50" b="1" dirty="0" smtClean="0">
                          <a:solidFill>
                            <a:schemeClr val="accent3"/>
                          </a:solidFill>
                        </a:rPr>
                        <a:t>신규 + 기존</a:t>
                      </a:r>
                      <a:endParaRPr lang="ko-KR" altLang="en-US" sz="1050" b="1" dirty="0">
                        <a:solidFill>
                          <a:schemeClr val="accent3"/>
                        </a:solidFill>
                      </a:endParaRP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500">
                <a:tc vMerge="1">
                  <a:txBody>
                    <a:bodyPr/>
                    <a:lstStyle/>
                    <a:p>
                      <a:pPr algn="ctr" latinLnBrk="0"/>
                      <a:endParaRPr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50">
                          <a:solidFill>
                            <a:schemeClr val="tx1"/>
                          </a:solidFill>
                        </a:rPr>
                        <a:t>Bin Setup, Program Parameter Setup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Bin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Define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/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E-Test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Para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Register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Para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Setup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50" b="1" dirty="0">
                          <a:solidFill>
                            <a:schemeClr val="accent3"/>
                          </a:solidFill>
                        </a:rPr>
                        <a:t>신규 + 기존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500">
                <a:tc vMerge="1">
                  <a:txBody>
                    <a:bodyPr/>
                    <a:lstStyle/>
                    <a:p>
                      <a:pPr algn="ctr" latinLnBrk="0"/>
                      <a:endParaRPr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50">
                          <a:solidFill>
                            <a:schemeClr val="tx1"/>
                          </a:solidFill>
                        </a:rPr>
                        <a:t>Defect Setup, Defect Type Setup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Defect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Type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Define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5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기존 활용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500">
                <a:tc rowSpan="2">
                  <a:txBody>
                    <a:bodyPr/>
                    <a:lstStyle/>
                    <a:p>
                      <a:pPr algn="ctr" latinLnBrk="0"/>
                      <a:r>
                        <a:rPr lang="ko-KR" altLang="en-US" sz="1050" b="1">
                          <a:solidFill>
                            <a:schemeClr val="tx1"/>
                          </a:solidFill>
                        </a:rPr>
                        <a:t>Correlation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50">
                          <a:solidFill>
                            <a:schemeClr val="tx1"/>
                          </a:solidFill>
                        </a:rPr>
                        <a:t>GDS Data Registration, Chain Name / Data Setup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GDS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Map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Setup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/ GDS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Map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View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, GDS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Map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View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U8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50" b="1">
                          <a:solidFill>
                            <a:schemeClr val="accent1"/>
                          </a:solidFill>
                        </a:rPr>
                        <a:t>신규 개발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500">
                <a:tc vMerge="1">
                  <a:txBody>
                    <a:bodyPr/>
                    <a:lstStyle/>
                    <a:p>
                      <a:pPr algn="ctr" latinLnBrk="0"/>
                      <a:endParaRPr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50">
                          <a:solidFill>
                            <a:schemeClr val="tx1"/>
                          </a:solidFill>
                        </a:rPr>
                        <a:t>Defect / Test Correlation View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GDS-KLARF-ET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Correlation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/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Die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Detail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Analysis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50" b="1">
                          <a:solidFill>
                            <a:schemeClr val="accent1"/>
                          </a:solidFill>
                        </a:rPr>
                        <a:t>신규 개발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500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50" b="1">
                          <a:solidFill>
                            <a:schemeClr val="tx1"/>
                          </a:solidFill>
                        </a:rPr>
                        <a:t>DMS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50">
                          <a:solidFill>
                            <a:schemeClr val="tx1"/>
                          </a:solidFill>
                        </a:rPr>
                        <a:t>Defect Data Manual Input, Map / Image Gallery, Chart Analysis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KLARF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File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Upload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/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Map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Image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Gallery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Chart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Analysis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50" b="1" dirty="0">
                          <a:solidFill>
                            <a:schemeClr val="accent3"/>
                          </a:solidFill>
                        </a:rPr>
                        <a:t>신규 + 기존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500">
                <a:tc rowSpan="2">
                  <a:txBody>
                    <a:bodyPr/>
                    <a:lstStyle/>
                    <a:p>
                      <a:pPr algn="ctr" latinLnBrk="0"/>
                      <a:r>
                        <a:rPr lang="ko-KR" altLang="en-US" sz="1050" b="1" dirty="0">
                          <a:solidFill>
                            <a:schemeClr val="tx1"/>
                          </a:solidFill>
                        </a:rPr>
                        <a:t>YMS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50">
                          <a:solidFill>
                            <a:schemeClr val="tx1"/>
                          </a:solidFill>
                        </a:rPr>
                        <a:t>E-Test Data Manual Input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E-Test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Result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Upload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E-Test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Limit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Setup</a:t>
                      </a:r>
                      <a:endParaRPr lang="ko-KR" altLang="en-US" sz="1050" dirty="0">
                        <a:solidFill>
                          <a:schemeClr val="tx1"/>
                        </a:solidFill>
                      </a:endParaRP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50" b="1" dirty="0">
                          <a:solidFill>
                            <a:schemeClr val="accent1"/>
                          </a:solidFill>
                        </a:rPr>
                        <a:t>신규 개발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500">
                <a:tc vMerge="1">
                  <a:txBody>
                    <a:bodyPr/>
                    <a:lstStyle/>
                    <a:p>
                      <a:pPr algn="ctr" latinLnBrk="0"/>
                      <a:endParaRPr/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Bin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Map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Wafer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Cumulative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Bin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Stack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Yield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Test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Map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Parameter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Report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등 11종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TEST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Map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View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Bin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Map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Gallery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Wafer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Cum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/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Bin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Report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Yield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Report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Param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050" dirty="0" err="1">
                          <a:solidFill>
                            <a:schemeClr val="tx1"/>
                          </a:solidFill>
                        </a:rPr>
                        <a:t>Analysis</a:t>
                      </a:r>
                      <a:r>
                        <a:rPr lang="ko-KR" altLang="en-US" sz="1050" dirty="0">
                          <a:solidFill>
                            <a:schemeClr val="tx1"/>
                          </a:solidFill>
                        </a:rPr>
                        <a:t> 등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5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기존 활용</a:t>
                      </a:r>
                    </a:p>
                  </a:txBody>
                  <a:tcPr marL="64800" marR="64800" marT="21600" marB="21600"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 smtClean="0"/>
              <a:t>주요 </a:t>
            </a:r>
            <a:r>
              <a:rPr lang="en-US" altLang="ko-KR" dirty="0" smtClean="0"/>
              <a:t>POC </a:t>
            </a:r>
            <a:r>
              <a:rPr lang="ko-KR" altLang="en-US" dirty="0" smtClean="0"/>
              <a:t>기능 </a:t>
            </a:r>
            <a:r>
              <a:rPr lang="en-US" altLang="ko-KR" dirty="0" smtClean="0"/>
              <a:t>- </a:t>
            </a:r>
            <a:r>
              <a:rPr lang="ko-KR" altLang="en-US" dirty="0" err="1" smtClean="0"/>
              <a:t>미라콤</a:t>
            </a:r>
            <a:r>
              <a:rPr lang="ko-KR" altLang="en-US" dirty="0" smtClean="0"/>
              <a:t> </a:t>
            </a:r>
            <a:r>
              <a:rPr lang="ko-KR" altLang="en-US" dirty="0"/>
              <a:t>솔루션과 신규 개발 연동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II. 주요 POC 기능 및 결과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pPr latinLnBrk="0"/>
            <a:r>
              <a:rPr lang="ko-KR" altLang="en-US" dirty="0"/>
              <a:t>기존 DMS, YMS 기능은 그대로 쓰고 GDS, </a:t>
            </a:r>
            <a:r>
              <a:rPr lang="ko-KR" altLang="en-US" dirty="0" err="1"/>
              <a:t>Chain만</a:t>
            </a:r>
            <a:r>
              <a:rPr lang="ko-KR" altLang="en-US" dirty="0"/>
              <a:t> 신규 개발해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가지 </a:t>
            </a:r>
            <a:r>
              <a:rPr lang="ko-KR" altLang="en-US" dirty="0"/>
              <a:t>데이터를 </a:t>
            </a:r>
            <a:r>
              <a:rPr lang="ko-KR" altLang="en-US" dirty="0" smtClean="0"/>
              <a:t>연동하여 </a:t>
            </a:r>
            <a:endParaRPr lang="en-US" altLang="ko-KR" dirty="0" smtClean="0"/>
          </a:p>
          <a:p>
            <a:pPr latinLnBrk="0"/>
            <a:r>
              <a:rPr lang="ko-KR" altLang="en-US" dirty="0" smtClean="0"/>
              <a:t>POC 프로젝트 진행</a:t>
            </a:r>
            <a:endParaRPr lang="ko-KR" altLang="en-US" dirty="0"/>
          </a:p>
        </p:txBody>
      </p:sp>
      <p:sp>
        <p:nvSpPr>
          <p:cNvPr id="5" name="Rectangle 4"/>
          <p:cNvSpPr/>
          <p:nvPr/>
        </p:nvSpPr>
        <p:spPr>
          <a:xfrm>
            <a:off x="381600" y="1519200"/>
            <a:ext cx="3002400" cy="432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300" b="1">
                <a:solidFill>
                  <a:schemeClr val="bg1"/>
                </a:solidFill>
              </a:rPr>
              <a:t>DMS</a:t>
            </a:r>
          </a:p>
          <a:p>
            <a:pPr algn="ctr" latinLnBrk="0"/>
            <a:r>
              <a:rPr lang="ko-KR" altLang="en-US" sz="1300" b="0">
                <a:solidFill>
                  <a:schemeClr val="bg1"/>
                </a:solidFill>
              </a:rPr>
              <a:t>KLARF Defect 분석</a:t>
            </a:r>
          </a:p>
        </p:txBody>
      </p:sp>
      <p:pic>
        <p:nvPicPr>
          <p:cNvPr id="6" name="Picture 5" descr="cap_d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876" y="2015999"/>
            <a:ext cx="2953846" cy="201599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05876" y="2015999"/>
            <a:ext cx="2953846" cy="2015999"/>
          </a:xfrm>
          <a:prstGeom prst="rect">
            <a:avLst/>
          </a:prstGeom>
          <a:noFill/>
          <a:ln w="9525">
            <a:solidFill>
              <a:schemeClr val="tx1">
                <a:lumMod val="25000"/>
                <a:lumOff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1600" y="4121999"/>
            <a:ext cx="3002400" cy="127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1600" y="4381111"/>
            <a:ext cx="2858400" cy="777778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5999" lvl="1" indent="-125999" latinLnBrk="0"/>
            <a:r>
              <a:rPr lang="ko-KR" altLang="en-US" sz="1200" dirty="0"/>
              <a:t>KLARF </a:t>
            </a:r>
            <a:r>
              <a:rPr lang="ko-KR" altLang="en-US" sz="1200" dirty="0" err="1"/>
              <a:t>Defect</a:t>
            </a:r>
            <a:r>
              <a:rPr lang="ko-KR" altLang="en-US" sz="1200" dirty="0"/>
              <a:t> </a:t>
            </a:r>
            <a:r>
              <a:rPr lang="ko-KR" altLang="en-US" sz="1200" dirty="0" err="1"/>
              <a:t>Wafer</a:t>
            </a:r>
            <a:r>
              <a:rPr lang="ko-KR" altLang="en-US" sz="1200" dirty="0"/>
              <a:t> </a:t>
            </a:r>
            <a:r>
              <a:rPr lang="ko-KR" altLang="en-US" sz="1200" dirty="0" err="1"/>
              <a:t>Map</a:t>
            </a:r>
            <a:r>
              <a:rPr lang="ko-KR" altLang="en-US" sz="1200" dirty="0"/>
              <a:t> 조회</a:t>
            </a:r>
          </a:p>
          <a:p>
            <a:pPr marL="125999" lvl="1" indent="-125999" latinLnBrk="0"/>
            <a:r>
              <a:rPr lang="ko-KR" altLang="en-US" sz="1200" dirty="0" err="1"/>
              <a:t>Die별</a:t>
            </a:r>
            <a:r>
              <a:rPr lang="ko-KR" altLang="en-US" sz="1200" dirty="0"/>
              <a:t> </a:t>
            </a:r>
            <a:r>
              <a:rPr lang="ko-KR" altLang="en-US" sz="1200" dirty="0" err="1"/>
              <a:t>Defect</a:t>
            </a:r>
            <a:r>
              <a:rPr lang="ko-KR" altLang="en-US" sz="1200" dirty="0"/>
              <a:t> 분포, </a:t>
            </a:r>
            <a:r>
              <a:rPr lang="ko-KR" altLang="en-US" sz="1200" dirty="0" err="1"/>
              <a:t>Class별</a:t>
            </a:r>
            <a:r>
              <a:rPr lang="ko-KR" altLang="en-US" sz="1200" dirty="0"/>
              <a:t> </a:t>
            </a:r>
            <a:r>
              <a:rPr lang="ko-KR" altLang="en-US" sz="1200" dirty="0" err="1"/>
              <a:t>Chart</a:t>
            </a:r>
            <a:endParaRPr lang="ko-KR" altLang="en-US" sz="1200" dirty="0"/>
          </a:p>
          <a:p>
            <a:pPr marL="125999" lvl="1" indent="-125999" latinLnBrk="0"/>
            <a:r>
              <a:rPr lang="ko-KR" altLang="en-US" sz="1200" dirty="0" err="1"/>
              <a:t>Defect</a:t>
            </a:r>
            <a:r>
              <a:rPr lang="ko-KR" altLang="en-US" sz="1200" dirty="0"/>
              <a:t> 이미지 조회 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52400" y="1519200"/>
            <a:ext cx="3002400" cy="432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300" b="1">
                <a:solidFill>
                  <a:schemeClr val="bg1"/>
                </a:solidFill>
              </a:rPr>
              <a:t>YMS</a:t>
            </a:r>
          </a:p>
          <a:p>
            <a:pPr algn="ctr" latinLnBrk="0"/>
            <a:r>
              <a:rPr lang="ko-KR" altLang="en-US" sz="1300" b="0">
                <a:solidFill>
                  <a:schemeClr val="bg1"/>
                </a:solidFill>
              </a:rPr>
              <a:t>E-Test 측정 데이터 분석</a:t>
            </a:r>
          </a:p>
        </p:txBody>
      </p:sp>
      <p:pic>
        <p:nvPicPr>
          <p:cNvPr id="11" name="Picture 10" descr="cap_ym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5899" y="2015999"/>
            <a:ext cx="2915401" cy="201599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495899" y="2015999"/>
            <a:ext cx="2915401" cy="2015999"/>
          </a:xfrm>
          <a:prstGeom prst="rect">
            <a:avLst/>
          </a:prstGeom>
          <a:noFill/>
          <a:ln w="9525">
            <a:solidFill>
              <a:schemeClr val="tx1">
                <a:lumMod val="25000"/>
                <a:lumOff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52400" y="4121999"/>
            <a:ext cx="3002400" cy="127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42400" y="4176000"/>
            <a:ext cx="2858400" cy="1188000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5999" lvl="1" indent="-125999" latinLnBrk="0"/>
            <a:r>
              <a:rPr lang="ko-KR" altLang="en-US" sz="1200"/>
              <a:t>E-Test 측정값 Wafer Map 표시</a:t>
            </a:r>
          </a:p>
          <a:p>
            <a:pPr marL="125999" lvl="1" indent="-125999" latinLnBrk="0"/>
            <a:r>
              <a:rPr lang="ko-KR" altLang="en-US" sz="1200"/>
              <a:t>Parameter별 Map, Bin 정보, 구간 필터</a:t>
            </a:r>
          </a:p>
          <a:p>
            <a:pPr marL="125999" lvl="1" indent="-125999" latinLnBrk="0"/>
            <a:r>
              <a:rPr lang="ko-KR" altLang="en-US" sz="1200"/>
              <a:t>Spec 판정, 수율 분석 화면 활용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23199" y="1519200"/>
            <a:ext cx="3002400" cy="432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300" b="1">
                <a:solidFill>
                  <a:schemeClr val="bg1"/>
                </a:solidFill>
              </a:rPr>
              <a:t>POC 신규 개발</a:t>
            </a:r>
          </a:p>
          <a:p>
            <a:pPr algn="ctr" latinLnBrk="0"/>
            <a:r>
              <a:rPr lang="ko-KR" altLang="en-US" sz="1300" b="0">
                <a:solidFill>
                  <a:schemeClr val="bg1"/>
                </a:solidFill>
              </a:rPr>
              <a:t>GDS, Chain + 연관 분석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68804" y="2015999"/>
            <a:ext cx="2911191" cy="2015999"/>
          </a:xfrm>
          <a:prstGeom prst="rect">
            <a:avLst/>
          </a:prstGeom>
          <a:noFill/>
          <a:ln w="9525">
            <a:solidFill>
              <a:schemeClr val="tx1">
                <a:lumMod val="25000"/>
                <a:lumOff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23199" y="4121999"/>
            <a:ext cx="3002400" cy="127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13199" y="4176000"/>
            <a:ext cx="2858400" cy="1188000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5999" lvl="1" indent="-125999" latinLnBrk="0"/>
            <a:r>
              <a:rPr lang="ko-KR" altLang="en-US" sz="1200"/>
              <a:t>GDS 도면 등록, Chain 영역 설정</a:t>
            </a:r>
          </a:p>
          <a:p>
            <a:pPr marL="125999" lvl="1" indent="-125999" latinLnBrk="0"/>
            <a:r>
              <a:rPr lang="ko-KR" altLang="en-US" sz="1200"/>
              <a:t>DMS, YMS 데이터를 Chain에 연동</a:t>
            </a:r>
          </a:p>
          <a:p>
            <a:pPr marL="125999" lvl="1" indent="-125999" latinLnBrk="0"/>
            <a:r>
              <a:rPr lang="ko-KR" altLang="en-US" sz="1200"/>
              <a:t>Die별 Chain 위 Defect 수, 이미지 분석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1600" y="5454000"/>
            <a:ext cx="6073200" cy="19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100" b="1">
                <a:solidFill>
                  <a:schemeClr val="accent1"/>
                </a:solidFill>
              </a:rPr>
              <a:t>미라콤 솔루션 (기존 기능 활용)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23200" y="5454000"/>
            <a:ext cx="3002400" cy="19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100" b="1">
                <a:solidFill>
                  <a:schemeClr val="accent1"/>
                </a:solidFill>
              </a:rPr>
              <a:t>신규 개발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1600" y="5742000"/>
            <a:ext cx="1512000" cy="720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500" b="1" dirty="0" smtClean="0">
                <a:solidFill>
                  <a:schemeClr val="bg1"/>
                </a:solidFill>
              </a:rPr>
              <a:t>작업</a:t>
            </a:r>
            <a:r>
              <a:rPr lang="en-US" altLang="ko-KR" sz="1500" b="1" dirty="0" smtClean="0">
                <a:solidFill>
                  <a:schemeClr val="bg1"/>
                </a:solidFill>
              </a:rPr>
              <a:t> </a:t>
            </a:r>
            <a:r>
              <a:rPr lang="ko-KR" altLang="en-US" sz="1500" b="1" dirty="0" smtClean="0">
                <a:solidFill>
                  <a:schemeClr val="bg1"/>
                </a:solidFill>
              </a:rPr>
              <a:t>내용</a:t>
            </a:r>
            <a:endParaRPr lang="ko-KR" altLang="en-US" sz="1500" b="1" dirty="0">
              <a:solidFill>
                <a:schemeClr val="bg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893600" y="5742000"/>
            <a:ext cx="7632000" cy="720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015999" y="5833144"/>
            <a:ext cx="7416000" cy="537712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200" dirty="0"/>
              <a:t>DMS(KLARF) + YMS(</a:t>
            </a:r>
            <a:r>
              <a:rPr lang="ko-KR" altLang="en-US" sz="1200" dirty="0" err="1"/>
              <a:t>E-Test</a:t>
            </a:r>
            <a:r>
              <a:rPr lang="ko-KR" altLang="en-US" sz="1200" dirty="0"/>
              <a:t>) 데이터를 신규 GDS, </a:t>
            </a:r>
            <a:r>
              <a:rPr lang="ko-KR" altLang="en-US" sz="1200" dirty="0" err="1"/>
              <a:t>Chain</a:t>
            </a:r>
            <a:r>
              <a:rPr lang="ko-KR" altLang="en-US" sz="1200" dirty="0"/>
              <a:t> 기준으로 묶어 </a:t>
            </a:r>
            <a:r>
              <a:rPr lang="ko-KR" altLang="en-US" sz="1200" b="1" dirty="0" err="1"/>
              <a:t>Defect</a:t>
            </a:r>
            <a:r>
              <a:rPr lang="ko-KR" altLang="en-US" sz="1200" b="1" dirty="0"/>
              <a:t> / </a:t>
            </a:r>
            <a:r>
              <a:rPr lang="ko-KR" altLang="en-US" sz="1200" b="1" dirty="0" err="1"/>
              <a:t>E-Test</a:t>
            </a:r>
            <a:r>
              <a:rPr lang="ko-KR" altLang="en-US" sz="1200" b="1" dirty="0"/>
              <a:t> 연관 분석</a:t>
            </a:r>
            <a:r>
              <a:rPr lang="ko-KR" altLang="en-US" sz="1200" dirty="0"/>
              <a:t> 구현</a:t>
            </a:r>
          </a:p>
          <a:p>
            <a:pPr lvl="1" latinLnBrk="0"/>
            <a:r>
              <a:rPr lang="ko-KR" altLang="en-US" sz="1200" dirty="0"/>
              <a:t>솔루션 기능 재사용으로 신규 개발을 GDS, </a:t>
            </a:r>
            <a:r>
              <a:rPr lang="ko-KR" altLang="en-US" sz="1200" dirty="0" err="1"/>
              <a:t>Chain</a:t>
            </a:r>
            <a:r>
              <a:rPr lang="ko-KR" altLang="en-US" sz="1200" dirty="0"/>
              <a:t>, 연관 분석 화면에 </a:t>
            </a:r>
            <a:r>
              <a:rPr lang="ko-KR" altLang="en-US" sz="1200" dirty="0" smtClean="0"/>
              <a:t>집중</a:t>
            </a:r>
            <a:endParaRPr lang="ko-KR" altLang="en-US" sz="1200" dirty="0"/>
          </a:p>
        </p:txBody>
      </p:sp>
      <p:pic>
        <p:nvPicPr>
          <p:cNvPr id="25" name="고객사 CI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5975" y="2015468"/>
            <a:ext cx="2936031" cy="2016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주요 </a:t>
            </a:r>
            <a:r>
              <a:rPr lang="en-US" altLang="ko-KR" dirty="0"/>
              <a:t>POC </a:t>
            </a:r>
            <a:r>
              <a:rPr lang="ko-KR" altLang="en-US" dirty="0"/>
              <a:t>기능 </a:t>
            </a:r>
            <a:r>
              <a:rPr lang="en-US" altLang="ko-KR" dirty="0"/>
              <a:t>- </a:t>
            </a:r>
            <a:r>
              <a:rPr lang="ko-KR" altLang="en-US" dirty="0" err="1" smtClean="0"/>
              <a:t>Chain</a:t>
            </a:r>
            <a:r>
              <a:rPr lang="ko-KR" altLang="en-US" dirty="0" smtClean="0"/>
              <a:t> </a:t>
            </a:r>
            <a:r>
              <a:rPr lang="ko-KR" altLang="en-US" dirty="0"/>
              <a:t>자동 생성과 파일 기반 </a:t>
            </a:r>
            <a:r>
              <a:rPr lang="ko-KR" altLang="en-US" dirty="0" err="1"/>
              <a:t>Setup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II. 주요 POC 기능 및 결과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latinLnBrk="0"/>
            <a:r>
              <a:rPr lang="ko-KR" altLang="en-US" dirty="0"/>
              <a:t>GDS </a:t>
            </a:r>
            <a:r>
              <a:rPr lang="ko-KR" altLang="en-US" dirty="0" err="1"/>
              <a:t>Chain은</a:t>
            </a:r>
            <a:r>
              <a:rPr lang="ko-KR" altLang="en-US" dirty="0"/>
              <a:t> </a:t>
            </a:r>
            <a:r>
              <a:rPr lang="ko-KR" altLang="en-US" b="1" dirty="0"/>
              <a:t>시작 도형 하나로 자동 생성</a:t>
            </a:r>
            <a:r>
              <a:rPr lang="ko-KR" altLang="en-US" dirty="0"/>
              <a:t>, </a:t>
            </a:r>
            <a:r>
              <a:rPr lang="ko-KR" altLang="en-US" dirty="0" err="1"/>
              <a:t>Wafer</a:t>
            </a:r>
            <a:r>
              <a:rPr lang="ko-KR" altLang="en-US" dirty="0"/>
              <a:t> </a:t>
            </a:r>
            <a:r>
              <a:rPr lang="ko-KR" altLang="en-US" dirty="0" err="1"/>
              <a:t>Map과</a:t>
            </a:r>
            <a:r>
              <a:rPr lang="ko-KR" altLang="en-US" dirty="0"/>
              <a:t> </a:t>
            </a:r>
            <a:r>
              <a:rPr lang="ko-KR" altLang="en-US" dirty="0" err="1"/>
              <a:t>Parameter는</a:t>
            </a:r>
            <a:r>
              <a:rPr lang="ko-KR" altLang="en-US" dirty="0"/>
              <a:t> </a:t>
            </a:r>
            <a:r>
              <a:rPr lang="ko-KR" altLang="en-US" b="1" dirty="0"/>
              <a:t>파일을 읽어 바로 등록</a:t>
            </a:r>
            <a:r>
              <a:rPr lang="ko-KR" altLang="en-US" dirty="0"/>
              <a:t>해 </a:t>
            </a:r>
            <a:r>
              <a:rPr lang="ko-KR" altLang="en-US" dirty="0" err="1"/>
              <a:t>기준정보</a:t>
            </a:r>
            <a:r>
              <a:rPr lang="ko-KR" altLang="en-US" dirty="0"/>
              <a:t> </a:t>
            </a:r>
            <a:r>
              <a:rPr lang="ko-KR" altLang="en-US" dirty="0" err="1"/>
              <a:t>Setup을</a:t>
            </a:r>
            <a:r>
              <a:rPr lang="ko-KR" altLang="en-US" dirty="0"/>
              <a:t> 간소화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600" y="1519200"/>
            <a:ext cx="4435200" cy="342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400" b="1" dirty="0">
                <a:solidFill>
                  <a:schemeClr val="bg1"/>
                </a:solidFill>
              </a:rPr>
              <a:t>GDS </a:t>
            </a:r>
            <a:r>
              <a:rPr lang="ko-KR" altLang="en-US" sz="1400" b="1" dirty="0" err="1">
                <a:solidFill>
                  <a:schemeClr val="bg1"/>
                </a:solidFill>
              </a:rPr>
              <a:t>Chain</a:t>
            </a:r>
            <a:r>
              <a:rPr lang="ko-KR" altLang="en-US" sz="1400" b="1" dirty="0">
                <a:solidFill>
                  <a:schemeClr val="bg1"/>
                </a:solidFill>
              </a:rPr>
              <a:t> 자동 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생성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81600" y="1915200"/>
            <a:ext cx="4435200" cy="1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000" b="1">
                <a:solidFill>
                  <a:schemeClr val="accent4"/>
                </a:solidFill>
              </a:rPr>
              <a:t>GDS Map View: 자동 생성된 U9 Chain 목록, 색 구분</a:t>
            </a:r>
          </a:p>
        </p:txBody>
      </p:sp>
      <p:sp>
        <p:nvSpPr>
          <p:cNvPr id="8" name="Rectangle 7"/>
          <p:cNvSpPr/>
          <p:nvPr/>
        </p:nvSpPr>
        <p:spPr>
          <a:xfrm>
            <a:off x="819873" y="2095200"/>
            <a:ext cx="3558653" cy="1872000"/>
          </a:xfrm>
          <a:prstGeom prst="rect">
            <a:avLst/>
          </a:prstGeom>
          <a:noFill/>
          <a:ln w="9525">
            <a:solidFill>
              <a:schemeClr val="tx1">
                <a:lumMod val="25000"/>
                <a:lumOff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1600" y="4050000"/>
            <a:ext cx="4435200" cy="1565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9600" y="4240978"/>
            <a:ext cx="4255200" cy="1184043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5999" lvl="1" indent="-125999" latinLnBrk="0"/>
            <a:r>
              <a:rPr lang="ko-KR" altLang="en-US" sz="1200" b="1" dirty="0" err="1"/>
              <a:t>Input</a:t>
            </a:r>
            <a:r>
              <a:rPr lang="ko-KR" altLang="en-US" sz="1200" b="1" dirty="0"/>
              <a:t> 도형 1개 지정</a:t>
            </a:r>
            <a:r>
              <a:rPr lang="ko-KR" altLang="en-US" sz="1200" dirty="0"/>
              <a:t> </a:t>
            </a:r>
            <a:r>
              <a:rPr lang="en-US" altLang="ko-KR" sz="1200" dirty="0" smtClean="0"/>
              <a:t>:</a:t>
            </a:r>
            <a:r>
              <a:rPr lang="ko-KR" altLang="en-US" sz="1200" dirty="0" smtClean="0"/>
              <a:t> </a:t>
            </a:r>
            <a:r>
              <a:rPr lang="ko-KR" altLang="en-US" sz="1200" dirty="0"/>
              <a:t>이어진 배선 도형을 자동 탐색해 </a:t>
            </a:r>
            <a:r>
              <a:rPr lang="ko-KR" altLang="en-US" sz="1200" dirty="0" err="1"/>
              <a:t>Chain</a:t>
            </a:r>
            <a:r>
              <a:rPr lang="ko-KR" altLang="en-US" sz="1200" dirty="0"/>
              <a:t> 생성 (실제 도형 겹침 기준)</a:t>
            </a:r>
          </a:p>
          <a:p>
            <a:pPr marL="125999" lvl="1" indent="-125999" latinLnBrk="0"/>
            <a:r>
              <a:rPr lang="ko-KR" altLang="en-US" sz="1200" b="1" dirty="0" err="1"/>
              <a:t>Chain</a:t>
            </a:r>
            <a:r>
              <a:rPr lang="ko-KR" altLang="en-US" sz="1200" b="1" dirty="0"/>
              <a:t> 이름 자동 지정</a:t>
            </a:r>
            <a:r>
              <a:rPr lang="ko-KR" altLang="en-US" sz="1200" dirty="0"/>
              <a:t>: </a:t>
            </a:r>
            <a:r>
              <a:rPr lang="ko-KR" altLang="en-US" sz="1200" dirty="0" err="1"/>
              <a:t>Input</a:t>
            </a:r>
            <a:r>
              <a:rPr lang="ko-KR" altLang="en-US" sz="1200" dirty="0"/>
              <a:t> 근처 </a:t>
            </a:r>
            <a:r>
              <a:rPr lang="ko-KR" altLang="en-US" sz="1200" dirty="0" err="1"/>
              <a:t>Label을</a:t>
            </a:r>
            <a:r>
              <a:rPr lang="ko-KR" altLang="en-US" sz="1200" dirty="0"/>
              <a:t> 읽어 </a:t>
            </a:r>
            <a:r>
              <a:rPr lang="ko-KR" altLang="en-US" sz="1200" dirty="0" err="1"/>
              <a:t>E-Test</a:t>
            </a:r>
            <a:r>
              <a:rPr lang="ko-KR" altLang="en-US" sz="1200" dirty="0"/>
              <a:t> </a:t>
            </a:r>
            <a:r>
              <a:rPr lang="ko-KR" altLang="en-US" sz="1200" dirty="0" err="1"/>
              <a:t>Chain</a:t>
            </a:r>
            <a:r>
              <a:rPr lang="ko-KR" altLang="en-US" sz="1200" dirty="0"/>
              <a:t> 이름과 맞춤</a:t>
            </a:r>
          </a:p>
          <a:p>
            <a:pPr marL="125999" lvl="1" indent="-125999" latinLnBrk="0"/>
            <a:r>
              <a:rPr lang="ko-KR" altLang="en-US" sz="1200" b="1" dirty="0"/>
              <a:t>색 자동 구분, 유사 묶음 일괄 제외</a:t>
            </a:r>
            <a:r>
              <a:rPr lang="ko-KR" altLang="en-US" sz="1200" dirty="0"/>
              <a:t>로 수작업 편집 </a:t>
            </a:r>
            <a:r>
              <a:rPr lang="ko-KR" altLang="en-US" sz="1200" dirty="0" smtClean="0"/>
              <a:t>최소화</a:t>
            </a:r>
            <a:endParaRPr lang="ko-KR" altLang="en-US" sz="1200" dirty="0"/>
          </a:p>
        </p:txBody>
      </p:sp>
      <p:sp>
        <p:nvSpPr>
          <p:cNvPr id="11" name="Rectangle 10"/>
          <p:cNvSpPr/>
          <p:nvPr/>
        </p:nvSpPr>
        <p:spPr>
          <a:xfrm>
            <a:off x="5090400" y="1519200"/>
            <a:ext cx="4435200" cy="342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400" b="1">
                <a:solidFill>
                  <a:schemeClr val="bg1"/>
                </a:solidFill>
              </a:rPr>
              <a:t>파일 기반 Wafer Map, Parameter Setup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90400" y="1915200"/>
            <a:ext cx="2163600" cy="1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000" b="1">
                <a:solidFill>
                  <a:schemeClr val="accent4"/>
                </a:solidFill>
              </a:rPr>
              <a:t>Wafer Map Setup (KLARF 파일)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2000" y="1915200"/>
            <a:ext cx="2163600" cy="1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000" b="1">
                <a:solidFill>
                  <a:schemeClr val="accent4"/>
                </a:solidFill>
              </a:rPr>
              <a:t>E-Test Para Register (결과 파일)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92095" y="2095200"/>
            <a:ext cx="1960209" cy="1872000"/>
          </a:xfrm>
          <a:prstGeom prst="rect">
            <a:avLst/>
          </a:prstGeom>
          <a:noFill/>
          <a:ln w="9525">
            <a:solidFill>
              <a:schemeClr val="tx1">
                <a:lumMod val="25000"/>
                <a:lumOff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63695" y="2095200"/>
            <a:ext cx="1960209" cy="1872000"/>
          </a:xfrm>
          <a:prstGeom prst="rect">
            <a:avLst/>
          </a:prstGeom>
          <a:noFill/>
          <a:ln w="9525">
            <a:solidFill>
              <a:schemeClr val="tx1">
                <a:lumMod val="25000"/>
                <a:lumOff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90400" y="4050000"/>
            <a:ext cx="4435200" cy="1565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98400" y="4444111"/>
            <a:ext cx="4255200" cy="777778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5999" lvl="1" indent="-125999" latinLnBrk="0"/>
            <a:r>
              <a:rPr lang="ko-KR" altLang="en-US" sz="1200" b="1" dirty="0"/>
              <a:t>KLARF 파일 선택</a:t>
            </a:r>
            <a:r>
              <a:rPr lang="ko-KR" altLang="en-US" sz="1200" dirty="0"/>
              <a:t> </a:t>
            </a:r>
            <a:r>
              <a:rPr lang="en-US" altLang="ko-KR" sz="1200" dirty="0" smtClean="0"/>
              <a:t>:</a:t>
            </a:r>
            <a:r>
              <a:rPr lang="ko-KR" altLang="en-US" sz="1200" dirty="0" smtClean="0"/>
              <a:t> </a:t>
            </a:r>
            <a:r>
              <a:rPr lang="ko-KR" altLang="en-US" sz="1200" dirty="0" err="1"/>
              <a:t>Wafer</a:t>
            </a:r>
            <a:r>
              <a:rPr lang="ko-KR" altLang="en-US" sz="1200" dirty="0"/>
              <a:t> </a:t>
            </a:r>
            <a:r>
              <a:rPr lang="ko-KR" altLang="en-US" sz="1200" dirty="0" err="1"/>
              <a:t>Map</a:t>
            </a:r>
            <a:r>
              <a:rPr lang="ko-KR" altLang="en-US" sz="1200" dirty="0"/>
              <a:t> 자동 생성 (원점만 확인)</a:t>
            </a:r>
          </a:p>
          <a:p>
            <a:pPr marL="125999" lvl="1" indent="-125999" latinLnBrk="0"/>
            <a:r>
              <a:rPr lang="ko-KR" altLang="en-US" sz="1200" b="1" dirty="0" err="1"/>
              <a:t>E-Test</a:t>
            </a:r>
            <a:r>
              <a:rPr lang="ko-KR" altLang="en-US" sz="1200" b="1" dirty="0"/>
              <a:t> 결과 파일 열기</a:t>
            </a:r>
            <a:r>
              <a:rPr lang="ko-KR" altLang="en-US" sz="1200" dirty="0"/>
              <a:t> </a:t>
            </a:r>
            <a:r>
              <a:rPr lang="en-US" altLang="ko-KR" sz="1200" dirty="0" smtClean="0"/>
              <a:t>:</a:t>
            </a:r>
            <a:r>
              <a:rPr lang="ko-KR" altLang="en-US" sz="1200" dirty="0" smtClean="0"/>
              <a:t> </a:t>
            </a:r>
            <a:r>
              <a:rPr lang="ko-KR" altLang="en-US" sz="1200" dirty="0"/>
              <a:t>헤더를 측정, 조건, </a:t>
            </a:r>
            <a:r>
              <a:rPr lang="ko-KR" altLang="en-US" sz="1200" dirty="0" err="1"/>
              <a:t>Chain으로</a:t>
            </a:r>
            <a:r>
              <a:rPr lang="ko-KR" altLang="en-US" sz="1200" dirty="0"/>
              <a:t> 분해</a:t>
            </a:r>
          </a:p>
          <a:p>
            <a:pPr marL="125999" lvl="1" indent="-125999" latinLnBrk="0"/>
            <a:r>
              <a:rPr lang="ko-KR" altLang="en-US" sz="1200" b="1" dirty="0"/>
              <a:t>신규 전체 선택, 저장</a:t>
            </a:r>
            <a:r>
              <a:rPr lang="ko-KR" altLang="en-US" sz="1200" dirty="0"/>
              <a:t>으로 </a:t>
            </a:r>
            <a:r>
              <a:rPr lang="ko-KR" altLang="en-US" sz="1200" dirty="0" err="1"/>
              <a:t>Parameter</a:t>
            </a:r>
            <a:r>
              <a:rPr lang="ko-KR" altLang="en-US" sz="1200" dirty="0"/>
              <a:t> 일괄 등록 </a:t>
            </a:r>
            <a:endParaRPr lang="en-US" altLang="ko-KR" sz="1200" dirty="0" smtClean="0"/>
          </a:p>
        </p:txBody>
      </p:sp>
      <p:sp>
        <p:nvSpPr>
          <p:cNvPr id="20" name="Rectangle 19"/>
          <p:cNvSpPr/>
          <p:nvPr/>
        </p:nvSpPr>
        <p:spPr>
          <a:xfrm>
            <a:off x="381600" y="5724000"/>
            <a:ext cx="1512000" cy="612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500" b="1">
                <a:solidFill>
                  <a:schemeClr val="bg1"/>
                </a:solidFill>
              </a:rPr>
              <a:t>효과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93600" y="5724000"/>
            <a:ext cx="7632000" cy="612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037600" y="5742000"/>
            <a:ext cx="7343999" cy="576000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200" dirty="0"/>
              <a:t>새 </a:t>
            </a:r>
            <a:r>
              <a:rPr lang="ko-KR" altLang="en-US" sz="1200" dirty="0" err="1"/>
              <a:t>Device도</a:t>
            </a:r>
            <a:r>
              <a:rPr lang="ko-KR" altLang="en-US" sz="1200" dirty="0"/>
              <a:t> </a:t>
            </a:r>
            <a:r>
              <a:rPr lang="ko-KR" altLang="en-US" sz="1200" b="1" dirty="0"/>
              <a:t>파일 선택과 클릭 몇 번으로 </a:t>
            </a:r>
            <a:r>
              <a:rPr lang="ko-KR" altLang="en-US" sz="1200" b="1" dirty="0" err="1"/>
              <a:t>기준정보</a:t>
            </a:r>
            <a:r>
              <a:rPr lang="ko-KR" altLang="en-US" sz="1200" b="1" dirty="0"/>
              <a:t> </a:t>
            </a:r>
            <a:r>
              <a:rPr lang="ko-KR" altLang="en-US" sz="1200" b="1" dirty="0" err="1"/>
              <a:t>Setup</a:t>
            </a:r>
            <a:r>
              <a:rPr lang="ko-KR" altLang="en-US" sz="1200" dirty="0"/>
              <a:t>, 연구소에서 직접 등록 가능</a:t>
            </a:r>
          </a:p>
          <a:p>
            <a:pPr lvl="1" latinLnBrk="0"/>
            <a:r>
              <a:rPr lang="ko-KR" altLang="en-US" sz="1200" dirty="0"/>
              <a:t>수천 개 </a:t>
            </a:r>
            <a:r>
              <a:rPr lang="ko-KR" altLang="en-US" sz="1200" dirty="0" err="1"/>
              <a:t>Parameter</a:t>
            </a:r>
            <a:r>
              <a:rPr lang="ko-KR" altLang="en-US" sz="1200" dirty="0"/>
              <a:t>, 수만 개 도형을 사람이 하나씩 입력하지 않아 </a:t>
            </a:r>
            <a:r>
              <a:rPr lang="ko-KR" altLang="en-US" sz="1200" b="1" dirty="0"/>
              <a:t>설정 오류와 시간 감소</a:t>
            </a:r>
          </a:p>
        </p:txBody>
      </p:sp>
      <p:pic>
        <p:nvPicPr>
          <p:cNvPr id="23" name="고객사 CI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2095" y="2215652"/>
            <a:ext cx="1958413" cy="1618348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3695" y="2233664"/>
            <a:ext cx="1991701" cy="1600336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10" y="2099117"/>
            <a:ext cx="3406790" cy="18598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주요 </a:t>
            </a:r>
            <a:r>
              <a:rPr lang="en-US" altLang="ko-KR" dirty="0"/>
              <a:t>POC </a:t>
            </a:r>
            <a:r>
              <a:rPr lang="ko-KR" altLang="en-US" dirty="0"/>
              <a:t>기능 </a:t>
            </a:r>
            <a:r>
              <a:rPr lang="en-US" altLang="ko-KR" dirty="0"/>
              <a:t>- </a:t>
            </a:r>
            <a:r>
              <a:rPr lang="ko-KR" altLang="en-US" dirty="0" smtClean="0"/>
              <a:t>파일 </a:t>
            </a:r>
            <a:r>
              <a:rPr lang="ko-KR" altLang="en-US" dirty="0"/>
              <a:t>기반 </a:t>
            </a:r>
            <a:r>
              <a:rPr lang="ko-KR" altLang="en-US" dirty="0" smtClean="0"/>
              <a:t>수동 </a:t>
            </a:r>
            <a:r>
              <a:rPr lang="en-US" altLang="ko-KR" dirty="0" smtClean="0"/>
              <a:t>Upload</a:t>
            </a:r>
            <a:endParaRPr lang="ko-KR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II. 주요 POC 기능 및 결과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pPr latinLnBrk="0"/>
            <a:r>
              <a:rPr lang="ko-KR" altLang="en-US" dirty="0"/>
              <a:t>MES, QMS 연동 없이 </a:t>
            </a:r>
            <a:r>
              <a:rPr lang="ko-KR" altLang="en-US" b="1" dirty="0"/>
              <a:t>KLARF, </a:t>
            </a:r>
            <a:r>
              <a:rPr lang="ko-KR" altLang="en-US" b="1" dirty="0" err="1"/>
              <a:t>E-Test</a:t>
            </a:r>
            <a:r>
              <a:rPr lang="ko-KR" altLang="en-US" b="1" dirty="0"/>
              <a:t> 파일을 수동 업로드</a:t>
            </a:r>
            <a:r>
              <a:rPr lang="ko-KR" altLang="en-US" dirty="0"/>
              <a:t>하고, 파일 </a:t>
            </a:r>
            <a:r>
              <a:rPr lang="ko-KR" altLang="en-US" dirty="0" smtClean="0"/>
              <a:t>내부 정보 기준으로 </a:t>
            </a:r>
            <a:r>
              <a:rPr lang="ko-KR" altLang="en-US" dirty="0" err="1"/>
              <a:t>기준정보</a:t>
            </a:r>
            <a:r>
              <a:rPr lang="ko-KR" altLang="en-US" dirty="0"/>
              <a:t> 생성과 연관 </a:t>
            </a:r>
            <a:r>
              <a:rPr lang="ko-KR" altLang="en-US" dirty="0" err="1"/>
              <a:t>Mapping</a:t>
            </a:r>
            <a:r>
              <a:rPr lang="ko-KR" altLang="en-US" dirty="0"/>
              <a:t> 수행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600" y="1519200"/>
            <a:ext cx="4435200" cy="360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400" b="1">
                <a:solidFill>
                  <a:schemeClr val="bg1"/>
                </a:solidFill>
              </a:rPr>
              <a:t>KLARF File Upload (DMS)</a:t>
            </a:r>
          </a:p>
        </p:txBody>
      </p:sp>
      <p:pic>
        <p:nvPicPr>
          <p:cNvPr id="6" name="Picture 5" descr="cap_klarf_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00" y="1925999"/>
            <a:ext cx="4435200" cy="242827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1600" y="1925999"/>
            <a:ext cx="4435200" cy="2428272"/>
          </a:xfrm>
          <a:prstGeom prst="rect">
            <a:avLst/>
          </a:prstGeom>
          <a:noFill/>
          <a:ln w="9525">
            <a:solidFill>
              <a:schemeClr val="tx1">
                <a:lumMod val="25000"/>
                <a:lumOff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81600" y="4408272"/>
            <a:ext cx="4435200" cy="9737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1600" y="4534716"/>
            <a:ext cx="4291200" cy="720839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5999" lvl="1" indent="-125999" latinLnBrk="0"/>
            <a:r>
              <a:rPr lang="ko-KR" altLang="en-US" sz="1100" dirty="0"/>
              <a:t>KLARF 파일, </a:t>
            </a:r>
            <a:r>
              <a:rPr lang="ko-KR" altLang="en-US" sz="1100" dirty="0" err="1"/>
              <a:t>Defect</a:t>
            </a:r>
            <a:r>
              <a:rPr lang="ko-KR" altLang="en-US" sz="1100" dirty="0"/>
              <a:t> 이미지 폴더를 선택해 DB 저장</a:t>
            </a:r>
          </a:p>
          <a:p>
            <a:pPr marL="125999" lvl="1" indent="-125999" latinLnBrk="0"/>
            <a:r>
              <a:rPr lang="ko-KR" altLang="en-US" sz="1100" dirty="0" err="1"/>
              <a:t>Lot</a:t>
            </a:r>
            <a:r>
              <a:rPr lang="ko-KR" altLang="en-US" sz="1100" dirty="0"/>
              <a:t>, </a:t>
            </a:r>
            <a:r>
              <a:rPr lang="ko-KR" altLang="en-US" sz="1100" dirty="0" err="1"/>
              <a:t>Device</a:t>
            </a:r>
            <a:r>
              <a:rPr lang="ko-KR" altLang="en-US" sz="1100" dirty="0"/>
              <a:t>, </a:t>
            </a:r>
            <a:r>
              <a:rPr lang="ko-KR" altLang="en-US" sz="1100" dirty="0" err="1"/>
              <a:t>Step</a:t>
            </a:r>
            <a:r>
              <a:rPr lang="ko-KR" altLang="en-US" sz="1100" dirty="0"/>
              <a:t>, </a:t>
            </a:r>
            <a:r>
              <a:rPr lang="ko-KR" altLang="en-US" sz="1100" dirty="0" err="1"/>
              <a:t>Wafer</a:t>
            </a:r>
            <a:r>
              <a:rPr lang="ko-KR" altLang="en-US" sz="1100" dirty="0"/>
              <a:t>, </a:t>
            </a:r>
            <a:r>
              <a:rPr lang="ko-KR" altLang="en-US" sz="1100" dirty="0" err="1"/>
              <a:t>Defect</a:t>
            </a:r>
            <a:r>
              <a:rPr lang="ko-KR" altLang="en-US" sz="1100" dirty="0"/>
              <a:t> 정보 추출 </a:t>
            </a:r>
            <a:endParaRPr lang="en-US" altLang="ko-KR" sz="1100" dirty="0" smtClean="0"/>
          </a:p>
          <a:p>
            <a:pPr marL="125999" lvl="1" indent="-125999" latinLnBrk="0"/>
            <a:r>
              <a:rPr lang="ko-KR" altLang="en-US" sz="1100" dirty="0" err="1" smtClean="0"/>
              <a:t>Die</a:t>
            </a:r>
            <a:r>
              <a:rPr lang="ko-KR" altLang="en-US" sz="1100" dirty="0" smtClean="0"/>
              <a:t> </a:t>
            </a:r>
            <a:r>
              <a:rPr lang="ko-KR" altLang="en-US" sz="1100" dirty="0" err="1"/>
              <a:t>Index</a:t>
            </a:r>
            <a:r>
              <a:rPr lang="ko-KR" altLang="en-US" sz="1100" dirty="0"/>
              <a:t>, XREL / YREL 좌표로 </a:t>
            </a:r>
            <a:r>
              <a:rPr lang="ko-KR" altLang="en-US" sz="1100" dirty="0" err="1"/>
              <a:t>Wafer</a:t>
            </a:r>
            <a:r>
              <a:rPr lang="ko-KR" altLang="en-US" sz="1100" dirty="0"/>
              <a:t> </a:t>
            </a:r>
            <a:r>
              <a:rPr lang="ko-KR" altLang="en-US" sz="1100" dirty="0" err="1"/>
              <a:t>Map</a:t>
            </a:r>
            <a:r>
              <a:rPr lang="ko-KR" altLang="en-US" sz="1100" dirty="0"/>
              <a:t>, GDS 위치 </a:t>
            </a:r>
            <a:r>
              <a:rPr lang="ko-KR" altLang="en-US" sz="1100" dirty="0" err="1"/>
              <a:t>Mapping</a:t>
            </a:r>
            <a:endParaRPr lang="ko-KR" altLang="en-US" sz="1100" dirty="0"/>
          </a:p>
        </p:txBody>
      </p:sp>
      <p:sp>
        <p:nvSpPr>
          <p:cNvPr id="10" name="Rectangle 9"/>
          <p:cNvSpPr/>
          <p:nvPr/>
        </p:nvSpPr>
        <p:spPr>
          <a:xfrm>
            <a:off x="5090400" y="1519200"/>
            <a:ext cx="4435200" cy="360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400" b="1">
                <a:solidFill>
                  <a:schemeClr val="bg1"/>
                </a:solidFill>
              </a:rPr>
              <a:t>E-Test Result Upload (YMS)</a:t>
            </a:r>
          </a:p>
        </p:txBody>
      </p:sp>
      <p:pic>
        <p:nvPicPr>
          <p:cNvPr id="11" name="Picture 10" descr="cap_etest_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0400" y="1925999"/>
            <a:ext cx="4435200" cy="241718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090400" y="1925999"/>
            <a:ext cx="4435200" cy="2417184"/>
          </a:xfrm>
          <a:prstGeom prst="rect">
            <a:avLst/>
          </a:prstGeom>
          <a:noFill/>
          <a:ln w="9525">
            <a:solidFill>
              <a:schemeClr val="tx1">
                <a:lumMod val="25000"/>
                <a:lumOff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90400" y="4397184"/>
            <a:ext cx="4435200" cy="9848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80400" y="4529172"/>
            <a:ext cx="4291200" cy="720839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5999" lvl="1" indent="-125999" latinLnBrk="0"/>
            <a:r>
              <a:rPr lang="ko-KR" altLang="en-US" sz="1100" dirty="0" err="1"/>
              <a:t>E-Test</a:t>
            </a:r>
            <a:r>
              <a:rPr lang="ko-KR" altLang="en-US" sz="1100" dirty="0"/>
              <a:t> 결과 파일(</a:t>
            </a:r>
            <a:r>
              <a:rPr lang="ko-KR" altLang="en-US" sz="1100" dirty="0" err="1"/>
              <a:t>xlsx</a:t>
            </a:r>
            <a:r>
              <a:rPr lang="ko-KR" altLang="en-US" sz="1100" dirty="0"/>
              <a:t>) 업로드, 저장 전 </a:t>
            </a:r>
            <a:r>
              <a:rPr lang="ko-KR" altLang="en-US" sz="1100" dirty="0" err="1"/>
              <a:t>미리보기</a:t>
            </a:r>
            <a:endParaRPr lang="ko-KR" altLang="en-US" sz="1100" dirty="0"/>
          </a:p>
          <a:p>
            <a:pPr marL="125999" lvl="1" indent="-125999" latinLnBrk="0"/>
            <a:r>
              <a:rPr lang="ko-KR" altLang="en-US" sz="1100" dirty="0" err="1"/>
              <a:t>Device</a:t>
            </a:r>
            <a:r>
              <a:rPr lang="ko-KR" altLang="en-US" sz="1100" dirty="0"/>
              <a:t>, 공정, </a:t>
            </a:r>
            <a:r>
              <a:rPr lang="ko-KR" altLang="en-US" sz="1100" dirty="0" err="1"/>
              <a:t>Lot</a:t>
            </a:r>
            <a:r>
              <a:rPr lang="ko-KR" altLang="en-US" sz="1100" dirty="0"/>
              <a:t>, </a:t>
            </a:r>
            <a:r>
              <a:rPr lang="ko-KR" altLang="en-US" sz="1100" dirty="0" err="1"/>
              <a:t>Wafer</a:t>
            </a:r>
            <a:r>
              <a:rPr lang="ko-KR" altLang="en-US" sz="1100" dirty="0"/>
              <a:t>, </a:t>
            </a:r>
            <a:r>
              <a:rPr lang="ko-KR" altLang="en-US" sz="1100" dirty="0" err="1"/>
              <a:t>Parameter</a:t>
            </a:r>
            <a:r>
              <a:rPr lang="ko-KR" altLang="en-US" sz="1100" dirty="0"/>
              <a:t> 추출 </a:t>
            </a:r>
            <a:endParaRPr lang="en-US" altLang="ko-KR" sz="1100" dirty="0" smtClean="0"/>
          </a:p>
          <a:p>
            <a:pPr marL="125999" lvl="1" indent="-125999" latinLnBrk="0"/>
            <a:r>
              <a:rPr lang="ko-KR" altLang="en-US" sz="1100" dirty="0" err="1" smtClean="0"/>
              <a:t>Parameter</a:t>
            </a:r>
            <a:r>
              <a:rPr lang="ko-KR" altLang="en-US" sz="1100" dirty="0" smtClean="0"/>
              <a:t> </a:t>
            </a:r>
            <a:r>
              <a:rPr lang="ko-KR" altLang="en-US" sz="1100" dirty="0"/>
              <a:t>이름 </a:t>
            </a:r>
            <a:r>
              <a:rPr lang="en-US" altLang="ko-KR" sz="1100" dirty="0" smtClean="0"/>
              <a:t>-&gt;</a:t>
            </a:r>
            <a:r>
              <a:rPr lang="ko-KR" altLang="en-US" sz="1100" dirty="0" smtClean="0"/>
              <a:t> </a:t>
            </a:r>
            <a:r>
              <a:rPr lang="ko-KR" altLang="en-US" sz="1100" dirty="0"/>
              <a:t>GDS </a:t>
            </a:r>
            <a:r>
              <a:rPr lang="ko-KR" altLang="en-US" sz="1100" dirty="0" err="1"/>
              <a:t>Chain</a:t>
            </a:r>
            <a:r>
              <a:rPr lang="ko-KR" altLang="en-US" sz="1100" dirty="0"/>
              <a:t>, </a:t>
            </a:r>
            <a:r>
              <a:rPr lang="ko-KR" altLang="en-US" sz="1100" dirty="0" err="1"/>
              <a:t>Die</a:t>
            </a:r>
            <a:r>
              <a:rPr lang="ko-KR" altLang="en-US" sz="1100" dirty="0"/>
              <a:t> </a:t>
            </a:r>
            <a:r>
              <a:rPr lang="ko-KR" altLang="en-US" sz="1100" dirty="0" err="1"/>
              <a:t>X</a:t>
            </a:r>
            <a:r>
              <a:rPr lang="ko-KR" altLang="en-US" sz="1100" dirty="0"/>
              <a:t> / </a:t>
            </a:r>
            <a:r>
              <a:rPr lang="ko-KR" altLang="en-US" sz="1100" dirty="0" err="1"/>
              <a:t>Y</a:t>
            </a:r>
            <a:r>
              <a:rPr lang="ko-KR" altLang="en-US" sz="1100" dirty="0"/>
              <a:t> </a:t>
            </a:r>
            <a:r>
              <a:rPr lang="en-US" altLang="ko-KR" sz="1100" dirty="0" smtClean="0"/>
              <a:t>-&gt;</a:t>
            </a:r>
            <a:r>
              <a:rPr lang="ko-KR" altLang="en-US" sz="1100" dirty="0" smtClean="0"/>
              <a:t> </a:t>
            </a:r>
            <a:r>
              <a:rPr lang="ko-KR" altLang="en-US" sz="1100" dirty="0" err="1"/>
              <a:t>Map</a:t>
            </a:r>
            <a:r>
              <a:rPr lang="ko-KR" altLang="en-US" sz="1100" dirty="0"/>
              <a:t> 위치 </a:t>
            </a:r>
            <a:r>
              <a:rPr lang="ko-KR" altLang="en-US" sz="1100" dirty="0" err="1"/>
              <a:t>Mapping</a:t>
            </a:r>
            <a:endParaRPr lang="ko-KR" altLang="en-US" sz="1100" dirty="0"/>
          </a:p>
        </p:txBody>
      </p:sp>
      <p:sp>
        <p:nvSpPr>
          <p:cNvPr id="15" name="Pentagon 14"/>
          <p:cNvSpPr/>
          <p:nvPr/>
        </p:nvSpPr>
        <p:spPr>
          <a:xfrm>
            <a:off x="381600" y="5472000"/>
            <a:ext cx="2340000" cy="468000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36000" rIns="14400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파일 수동 업로드</a:t>
            </a:r>
          </a:p>
        </p:txBody>
      </p:sp>
      <p:sp>
        <p:nvSpPr>
          <p:cNvPr id="16" name="Chevron 15"/>
          <p:cNvSpPr/>
          <p:nvPr/>
        </p:nvSpPr>
        <p:spPr>
          <a:xfrm>
            <a:off x="2667600" y="5472000"/>
            <a:ext cx="2340000" cy="468000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36000" rIns="14400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파일 정보 추출</a:t>
            </a:r>
          </a:p>
        </p:txBody>
      </p:sp>
      <p:sp>
        <p:nvSpPr>
          <p:cNvPr id="17" name="Chevron 16"/>
          <p:cNvSpPr/>
          <p:nvPr/>
        </p:nvSpPr>
        <p:spPr>
          <a:xfrm>
            <a:off x="4953600" y="5472000"/>
            <a:ext cx="2340000" cy="468000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36000" rIns="14400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기준정보 생성</a:t>
            </a:r>
          </a:p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(Device, Lot, Wafer)</a:t>
            </a:r>
          </a:p>
        </p:txBody>
      </p:sp>
      <p:sp>
        <p:nvSpPr>
          <p:cNvPr id="18" name="Chevron 17"/>
          <p:cNvSpPr/>
          <p:nvPr/>
        </p:nvSpPr>
        <p:spPr>
          <a:xfrm>
            <a:off x="7239599" y="5472000"/>
            <a:ext cx="2340000" cy="468000"/>
          </a:xfrm>
          <a:prstGeom prst="chevron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36000" rIns="14400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연관 Mapping</a:t>
            </a:r>
          </a:p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(Die 좌표, Chain)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600" y="6030000"/>
            <a:ext cx="9144000" cy="234000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ko-KR" altLang="en-US" sz="1000" b="0" dirty="0">
                <a:solidFill>
                  <a:schemeClr val="tx1"/>
                </a:solidFill>
              </a:rPr>
              <a:t>※ MES </a:t>
            </a:r>
            <a:r>
              <a:rPr lang="ko-KR" altLang="en-US" sz="1000" b="0" dirty="0" err="1">
                <a:solidFill>
                  <a:schemeClr val="tx1"/>
                </a:solidFill>
              </a:rPr>
              <a:t>기준정보</a:t>
            </a:r>
            <a:r>
              <a:rPr lang="ko-KR" altLang="en-US" sz="1000" b="0" dirty="0">
                <a:solidFill>
                  <a:schemeClr val="tx1"/>
                </a:solidFill>
              </a:rPr>
              <a:t>, QMS 데이터 연동, 파일 자동 수집은 본사업 범위 (</a:t>
            </a:r>
            <a:r>
              <a:rPr lang="ko-KR" altLang="en-US" sz="1000" b="0" dirty="0" err="1">
                <a:solidFill>
                  <a:schemeClr val="tx1"/>
                </a:solidFill>
              </a:rPr>
              <a:t>POC는</a:t>
            </a:r>
            <a:r>
              <a:rPr lang="ko-KR" altLang="en-US" sz="1000" b="0" dirty="0">
                <a:solidFill>
                  <a:schemeClr val="tx1"/>
                </a:solidFill>
              </a:rPr>
              <a:t> 파일 안 정보만으로 검증)</a:t>
            </a:r>
          </a:p>
        </p:txBody>
      </p:sp>
      <p:pic>
        <p:nvPicPr>
          <p:cNvPr id="20" name="고객사 CI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380999" y="427042"/>
            <a:ext cx="9144001" cy="400110"/>
          </a:xfrm>
        </p:spPr>
        <p:txBody>
          <a:bodyPr/>
          <a:lstStyle/>
          <a:p>
            <a:pPr latinLnBrk="0"/>
            <a:r>
              <a:rPr lang="ko-KR" altLang="en-US" dirty="0"/>
              <a:t>주요 </a:t>
            </a:r>
            <a:r>
              <a:rPr lang="en-US" altLang="ko-KR" dirty="0"/>
              <a:t>POC </a:t>
            </a:r>
            <a:r>
              <a:rPr lang="ko-KR" altLang="en-US" dirty="0"/>
              <a:t>기능 </a:t>
            </a:r>
            <a:r>
              <a:rPr lang="en-US" altLang="ko-KR" dirty="0" smtClean="0"/>
              <a:t>- </a:t>
            </a:r>
            <a:r>
              <a:rPr lang="ko-KR" altLang="en-US" dirty="0" err="1" smtClean="0"/>
              <a:t>Die</a:t>
            </a:r>
            <a:r>
              <a:rPr lang="ko-KR" altLang="en-US" dirty="0" smtClean="0"/>
              <a:t> </a:t>
            </a:r>
            <a:r>
              <a:rPr lang="ko-KR" altLang="en-US" dirty="0"/>
              <a:t>상세 연관 </a:t>
            </a:r>
            <a:r>
              <a:rPr lang="ko-KR" altLang="en-US" dirty="0" smtClean="0"/>
              <a:t>분석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pPr latinLnBrk="0"/>
            <a:r>
              <a:rPr lang="ko-KR" altLang="en-US" b="1" dirty="0" smtClean="0"/>
              <a:t>GDS, KLARF, E-Test 데이터를 한 Map에 겹쳐</a:t>
            </a:r>
            <a:r>
              <a:rPr lang="ko-KR" altLang="en-US" dirty="0" smtClean="0"/>
              <a:t> 위치 분석과 E-Test 연관성을 한 화면에서 제공</a:t>
            </a:r>
            <a:endParaRPr lang="en-US" altLang="ko-KR" dirty="0" smtClean="0"/>
          </a:p>
          <a:p>
            <a:pPr latinLnBrk="0"/>
            <a:r>
              <a:rPr lang="ko-KR" altLang="ko-KR" b="1" dirty="0" smtClean="0"/>
              <a:t>POC </a:t>
            </a:r>
            <a:r>
              <a:rPr lang="ko-KR" altLang="ko-KR" b="1" dirty="0"/>
              <a:t>최종 </a:t>
            </a:r>
            <a:r>
              <a:rPr lang="ko-KR" altLang="en-US" b="1" dirty="0" smtClean="0"/>
              <a:t>분석</a:t>
            </a:r>
            <a:r>
              <a:rPr lang="en-US" altLang="ko-KR" b="1" dirty="0" smtClean="0"/>
              <a:t> </a:t>
            </a:r>
            <a:r>
              <a:rPr lang="ko-KR" altLang="ko-KR" b="1" dirty="0" smtClean="0"/>
              <a:t>결과 </a:t>
            </a:r>
            <a:r>
              <a:rPr lang="ko-KR" altLang="en-US" b="1" dirty="0" smtClean="0"/>
              <a:t>도출</a:t>
            </a:r>
            <a:r>
              <a:rPr lang="en-US" altLang="ko-KR" b="1" dirty="0" smtClean="0"/>
              <a:t> </a:t>
            </a:r>
            <a:r>
              <a:rPr lang="ko-KR" altLang="ko-KR" b="1" dirty="0" smtClean="0"/>
              <a:t>화면</a:t>
            </a:r>
            <a:endParaRPr lang="en-US" altLang="ko-KR" b="1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II. 주요 POC 기능 및 결과</a:t>
            </a:r>
          </a:p>
        </p:txBody>
      </p:sp>
      <p:pic>
        <p:nvPicPr>
          <p:cNvPr id="10" name="고객사 CI" descr="sck_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600" y="1519200"/>
            <a:ext cx="5903554" cy="385199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81600" y="1519200"/>
            <a:ext cx="5903554" cy="3851999"/>
          </a:xfrm>
          <a:prstGeom prst="rect">
            <a:avLst/>
          </a:prstGeom>
          <a:noFill/>
          <a:ln w="9525">
            <a:solidFill>
              <a:schemeClr val="tx1">
                <a:lumMod val="25000"/>
                <a:lumOff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05214" y="1642463"/>
            <a:ext cx="2703827" cy="154079"/>
          </a:xfrm>
          <a:prstGeom prst="rect">
            <a:avLst/>
          </a:prstGeom>
          <a:noFill/>
          <a:ln w="25400">
            <a:solidFill>
              <a:schemeClr val="accent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80305" y="1584504"/>
            <a:ext cx="270000" cy="270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9310" y="1858176"/>
            <a:ext cx="3199726" cy="3493764"/>
          </a:xfrm>
          <a:prstGeom prst="rect">
            <a:avLst/>
          </a:prstGeom>
          <a:noFill/>
          <a:ln w="25400">
            <a:solidFill>
              <a:schemeClr val="accent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82742" y="1923480"/>
            <a:ext cx="270000" cy="270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22651" y="2154780"/>
            <a:ext cx="2632985" cy="2060819"/>
          </a:xfrm>
          <a:prstGeom prst="rect">
            <a:avLst/>
          </a:prstGeom>
          <a:noFill/>
          <a:ln w="25400">
            <a:solidFill>
              <a:schemeClr val="accent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914011" y="2193120"/>
            <a:ext cx="270000" cy="270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22651" y="4273380"/>
            <a:ext cx="2632985" cy="539280"/>
          </a:xfrm>
          <a:prstGeom prst="rect">
            <a:avLst/>
          </a:prstGeom>
          <a:noFill/>
          <a:ln w="25400">
            <a:solidFill>
              <a:schemeClr val="accent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914011" y="4311720"/>
            <a:ext cx="270000" cy="270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6447154" y="1537199"/>
            <a:ext cx="270000" cy="270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9154" y="1519200"/>
            <a:ext cx="2736445" cy="306000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ko-KR" altLang="en-US" sz="1300" b="1"/>
              <a:t>Die 분석 요약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9154" y="1807199"/>
            <a:ext cx="2736445" cy="639000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5999" lvl="1" indent="-125999" latinLnBrk="0"/>
            <a:r>
              <a:rPr lang="ko-KR" altLang="en-US" sz="1100" dirty="0"/>
              <a:t>선택 </a:t>
            </a:r>
            <a:r>
              <a:rPr lang="ko-KR" altLang="en-US" sz="1100" dirty="0" err="1"/>
              <a:t>Die의</a:t>
            </a:r>
            <a:r>
              <a:rPr lang="ko-KR" altLang="en-US" sz="1100" dirty="0"/>
              <a:t> </a:t>
            </a:r>
            <a:r>
              <a:rPr lang="ko-KR" altLang="en-US" sz="1100" dirty="0" err="1"/>
              <a:t>Defect</a:t>
            </a:r>
            <a:r>
              <a:rPr lang="ko-KR" altLang="en-US" sz="1100" dirty="0"/>
              <a:t> 수, </a:t>
            </a:r>
            <a:r>
              <a:rPr lang="ko-KR" altLang="en-US" sz="1100" dirty="0" err="1"/>
              <a:t>Chain</a:t>
            </a:r>
            <a:r>
              <a:rPr lang="ko-KR" altLang="en-US" sz="1100" dirty="0"/>
              <a:t> 안 / 밖</a:t>
            </a:r>
          </a:p>
          <a:p>
            <a:pPr marL="125999" lvl="1" indent="-125999" latinLnBrk="0"/>
            <a:r>
              <a:rPr lang="ko-KR" altLang="en-US" sz="1100" dirty="0" err="1"/>
              <a:t>Fail</a:t>
            </a:r>
            <a:r>
              <a:rPr lang="ko-KR" altLang="en-US" sz="1100" dirty="0"/>
              <a:t> </a:t>
            </a:r>
            <a:r>
              <a:rPr lang="ko-KR" altLang="en-US" sz="1100" dirty="0" err="1"/>
              <a:t>Chain</a:t>
            </a:r>
            <a:r>
              <a:rPr lang="ko-KR" altLang="en-US" sz="1100" dirty="0"/>
              <a:t> 수, 연관 일치 수 요약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427824" y="2439000"/>
            <a:ext cx="307844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6447154" y="2500200"/>
            <a:ext cx="270000" cy="270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9154" y="2482200"/>
            <a:ext cx="2736445" cy="306000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ko-KR" altLang="en-US" sz="1300" b="1"/>
              <a:t>GDS + KLARF 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9154" y="2770200"/>
            <a:ext cx="2736445" cy="639000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5999" lvl="1" indent="-125999" latinLnBrk="0"/>
            <a:r>
              <a:rPr lang="ko-KR" altLang="en-US" sz="1100"/>
              <a:t>GDS 도면 위에 KLARF Defect 좌표 표시</a:t>
            </a:r>
          </a:p>
          <a:p>
            <a:pPr marL="125999" lvl="1" indent="-125999" latinLnBrk="0"/>
            <a:r>
              <a:rPr lang="ko-KR" altLang="en-US" sz="1100"/>
              <a:t>Chain(Bump, RDL) 위 Defect 위치 확인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27824" y="3402000"/>
            <a:ext cx="307844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447154" y="3463200"/>
            <a:ext cx="270000" cy="270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9154" y="3445200"/>
            <a:ext cx="2736445" cy="306000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ko-KR" altLang="en-US" sz="1300" b="1"/>
              <a:t>Chain별 위치 분석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9154" y="3733200"/>
            <a:ext cx="2736445" cy="639000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5999" lvl="1" indent="-125999" latinLnBrk="0"/>
            <a:r>
              <a:rPr lang="ko-KR" altLang="en-US" sz="1100" dirty="0" err="1"/>
              <a:t>Chain</a:t>
            </a:r>
            <a:r>
              <a:rPr lang="ko-KR" altLang="en-US" sz="1100" dirty="0"/>
              <a:t> 영역 안 / 밖 </a:t>
            </a:r>
            <a:r>
              <a:rPr lang="ko-KR" altLang="en-US" sz="1100" dirty="0" err="1"/>
              <a:t>Defect</a:t>
            </a:r>
            <a:r>
              <a:rPr lang="ko-KR" altLang="en-US" sz="1100" dirty="0"/>
              <a:t> 수, 목록</a:t>
            </a:r>
          </a:p>
          <a:p>
            <a:pPr marL="125999" lvl="1" indent="-125999" latinLnBrk="0"/>
            <a:r>
              <a:rPr lang="ko-KR" altLang="en-US" sz="1100" dirty="0" err="1"/>
              <a:t>E-Test</a:t>
            </a:r>
            <a:r>
              <a:rPr lang="ko-KR" altLang="en-US" sz="1100" dirty="0"/>
              <a:t> 판정, 연관 분류 함께 표시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27824" y="4365000"/>
            <a:ext cx="307844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6447154" y="4426200"/>
            <a:ext cx="270000" cy="270000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9154" y="4408200"/>
            <a:ext cx="2736445" cy="306000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ko-KR" altLang="en-US" sz="1300" b="1"/>
              <a:t>E-Test 연관성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9154" y="4696200"/>
            <a:ext cx="2736445" cy="639000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5999" lvl="1" indent="-125999" latinLnBrk="0"/>
            <a:r>
              <a:rPr lang="ko-KR" altLang="en-US" sz="1100"/>
              <a:t>선택 Chain의 Parameter별 값, Spec</a:t>
            </a:r>
          </a:p>
          <a:p>
            <a:pPr marL="125999" lvl="1" indent="-125999" latinLnBrk="0"/>
            <a:r>
              <a:rPr lang="ko-KR" altLang="en-US" sz="1100"/>
              <a:t>Spec Out 항목 강조로 Fail 근거 제시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1600" y="5479200"/>
            <a:ext cx="1512000" cy="96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400" b="1">
                <a:solidFill>
                  <a:schemeClr val="bg1"/>
                </a:solidFill>
              </a:rPr>
              <a:t>고객 요청 대응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93600" y="5479200"/>
            <a:ext cx="7632000" cy="96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015999" y="5572710"/>
            <a:ext cx="7416000" cy="777778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200" b="1" dirty="0"/>
              <a:t>위치 일치 확인</a:t>
            </a:r>
            <a:r>
              <a:rPr lang="ko-KR" altLang="en-US" sz="1200" dirty="0"/>
              <a:t>: KLARF </a:t>
            </a:r>
            <a:r>
              <a:rPr lang="ko-KR" altLang="en-US" sz="1200" dirty="0" err="1"/>
              <a:t>Defect가</a:t>
            </a:r>
            <a:r>
              <a:rPr lang="ko-KR" altLang="en-US" sz="1200" dirty="0"/>
              <a:t> GDS </a:t>
            </a:r>
            <a:r>
              <a:rPr lang="ko-KR" altLang="en-US" sz="1200" dirty="0" err="1" smtClean="0"/>
              <a:t>Chain</a:t>
            </a:r>
            <a:r>
              <a:rPr lang="ko-KR" altLang="en-US" sz="1200" dirty="0"/>
              <a:t> </a:t>
            </a:r>
            <a:r>
              <a:rPr lang="ko-KR" altLang="en-US" sz="1200" dirty="0" smtClean="0"/>
              <a:t>위에 </a:t>
            </a:r>
            <a:r>
              <a:rPr lang="ko-KR" altLang="en-US" sz="1200" dirty="0"/>
              <a:t>있는지 도면에서 확인</a:t>
            </a:r>
          </a:p>
          <a:p>
            <a:pPr lvl="1" latinLnBrk="0"/>
            <a:r>
              <a:rPr lang="ko-KR" altLang="en-US" sz="1200" b="1" dirty="0"/>
              <a:t>정확한 위치 제공</a:t>
            </a:r>
            <a:r>
              <a:rPr lang="ko-KR" altLang="en-US" sz="1200" dirty="0"/>
              <a:t>: </a:t>
            </a:r>
            <a:r>
              <a:rPr lang="ko-KR" altLang="en-US" sz="1200" dirty="0" err="1"/>
              <a:t>Chain별</a:t>
            </a:r>
            <a:r>
              <a:rPr lang="ko-KR" altLang="en-US" sz="1200" dirty="0"/>
              <a:t> </a:t>
            </a:r>
            <a:r>
              <a:rPr lang="ko-KR" altLang="en-US" sz="1200" dirty="0" err="1"/>
              <a:t>Defect</a:t>
            </a:r>
            <a:r>
              <a:rPr lang="ko-KR" altLang="en-US" sz="1200" dirty="0"/>
              <a:t> ID, 좌표, 크기를 목록으로 제공</a:t>
            </a:r>
          </a:p>
          <a:p>
            <a:pPr lvl="1" latinLnBrk="0"/>
            <a:r>
              <a:rPr lang="ko-KR" altLang="en-US" sz="1200" b="1" dirty="0" err="1"/>
              <a:t>E-Test</a:t>
            </a:r>
            <a:r>
              <a:rPr lang="ko-KR" altLang="en-US" sz="1200" b="1" dirty="0"/>
              <a:t> 연관성</a:t>
            </a:r>
            <a:r>
              <a:rPr lang="ko-KR" altLang="en-US" sz="1200" dirty="0"/>
              <a:t>: </a:t>
            </a:r>
            <a:r>
              <a:rPr lang="ko-KR" altLang="en-US" sz="1200" dirty="0" err="1"/>
              <a:t>Fail</a:t>
            </a:r>
            <a:r>
              <a:rPr lang="ko-KR" altLang="en-US" sz="1200" dirty="0"/>
              <a:t> </a:t>
            </a:r>
            <a:r>
              <a:rPr lang="ko-KR" altLang="en-US" sz="1200" dirty="0" err="1"/>
              <a:t>Chain과</a:t>
            </a:r>
            <a:r>
              <a:rPr lang="ko-KR" altLang="en-US" sz="1200" dirty="0"/>
              <a:t> </a:t>
            </a:r>
            <a:r>
              <a:rPr lang="ko-KR" altLang="en-US" sz="1200" dirty="0" err="1"/>
              <a:t>Defect</a:t>
            </a:r>
            <a:r>
              <a:rPr lang="ko-KR" altLang="en-US" sz="1200" dirty="0"/>
              <a:t> 겹침을 함께 보여 판단 근거 제공 (판정은 엔지니어)</a:t>
            </a:r>
          </a:p>
        </p:txBody>
      </p:sp>
      <p:cxnSp>
        <p:nvCxnSpPr>
          <p:cNvPr id="39" name="Connector 23"/>
          <p:cNvCxnSpPr/>
          <p:nvPr/>
        </p:nvCxnSpPr>
        <p:spPr>
          <a:xfrm>
            <a:off x="6427824" y="1520825"/>
            <a:ext cx="307844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1"/>
          <p:cNvCxnSpPr/>
          <p:nvPr/>
        </p:nvCxnSpPr>
        <p:spPr>
          <a:xfrm>
            <a:off x="6427824" y="5371199"/>
            <a:ext cx="3078446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52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POC </a:t>
            </a:r>
            <a:r>
              <a:rPr lang="ko-KR" altLang="en-US" dirty="0" smtClean="0"/>
              <a:t>결과 </a:t>
            </a:r>
            <a:r>
              <a:rPr lang="ko-KR" altLang="en-US" dirty="0"/>
              <a:t>및 시사점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3200"/>
          </a:xfrm>
        </p:spPr>
        <p:txBody>
          <a:bodyPr/>
          <a:lstStyle/>
          <a:p>
            <a:pPr latinLnBrk="0"/>
            <a:r>
              <a:rPr lang="ko-KR" altLang="en-US" dirty="0"/>
              <a:t>도면 기반 불량 연관 분석이 </a:t>
            </a:r>
            <a:r>
              <a:rPr lang="ko-KR" altLang="en-US" b="1" dirty="0"/>
              <a:t>가능함을 확인</a:t>
            </a:r>
            <a:r>
              <a:rPr lang="ko-KR" altLang="en-US" dirty="0"/>
              <a:t>, 실제 활용에는 Wafer 이름, 좌표 원점 등 데이터 기준 확정이 먼저 필요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II. 주요 POC 기능 및 결과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4334748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600" b="1" dirty="0">
                <a:solidFill>
                  <a:schemeClr val="bg1"/>
                </a:solidFill>
              </a:rPr>
              <a:t>확인된 가능성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600" y="1980000"/>
            <a:ext cx="4334748" cy="19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1530" y="2202545"/>
            <a:ext cx="4054081" cy="1534908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 dirty="0" smtClean="0"/>
              <a:t>도면, Defect, 전기 검사 데이터를 한 화면에 연결하여 연관 </a:t>
            </a:r>
            <a:r>
              <a:rPr lang="ko-KR" altLang="en-US" sz="1300" dirty="0"/>
              <a:t>분석 가능</a:t>
            </a:r>
          </a:p>
          <a:p>
            <a:pPr lvl="1" latinLnBrk="0"/>
            <a:r>
              <a:rPr lang="ko-KR" altLang="en-US" sz="1300" dirty="0"/>
              <a:t>Chain 생성 Rule을 통해 사용 편의성 증가 </a:t>
            </a:r>
            <a:endParaRPr lang="en-US" altLang="ko-KR" sz="1300" dirty="0"/>
          </a:p>
          <a:p>
            <a:pPr lvl="1" latinLnBrk="0"/>
            <a:r>
              <a:rPr lang="ko-KR" altLang="en-US" sz="1300" dirty="0"/>
              <a:t>GDS Chain &lt;-&gt; E-Test Chain 간의 Naming Rule을 Mapping하여 연결</a:t>
            </a:r>
            <a:endParaRPr lang="en-US" altLang="ko-KR" sz="1300" dirty="0"/>
          </a:p>
          <a:p>
            <a:pPr lvl="1" latinLnBrk="0"/>
            <a:r>
              <a:rPr lang="ko-KR" altLang="en-US" sz="1300" dirty="0"/>
              <a:t>다른 제품(Device)에도 확장 </a:t>
            </a:r>
            <a:r>
              <a:rPr lang="ko-KR" altLang="en-US" sz="1300" dirty="0" smtClean="0"/>
              <a:t>가능</a:t>
            </a:r>
            <a:endParaRPr lang="en-US" altLang="ko-KR" sz="1300" dirty="0"/>
          </a:p>
        </p:txBody>
      </p:sp>
      <p:sp>
        <p:nvSpPr>
          <p:cNvPr id="10" name="Rectangle 9"/>
          <p:cNvSpPr/>
          <p:nvPr/>
        </p:nvSpPr>
        <p:spPr>
          <a:xfrm>
            <a:off x="5180911" y="1519200"/>
            <a:ext cx="4334748" cy="396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600" b="1">
                <a:solidFill>
                  <a:schemeClr val="bg1"/>
                </a:solidFill>
              </a:rPr>
              <a:t>남은 과제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80911" y="1980000"/>
            <a:ext cx="4334748" cy="198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31255" y="2110845"/>
            <a:ext cx="2798027" cy="1674947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 dirty="0" smtClean="0"/>
              <a:t>Wafer 이름, 좌표 원점 등 데이터 기준 확정 (U8, U9 원점 기준 다름)</a:t>
            </a:r>
          </a:p>
          <a:p>
            <a:pPr lvl="1" latinLnBrk="0"/>
            <a:r>
              <a:rPr lang="ko-KR" altLang="en-US" sz="1300" dirty="0" smtClean="0"/>
              <a:t>결과 Data의 기준 정보 Rule 정립 (E-Test File, Chain Naming Rule, KLARF File 내부 Wafer ID, Lot ID 등)</a:t>
            </a:r>
          </a:p>
        </p:txBody>
      </p:sp>
      <p:pic>
        <p:nvPicPr>
          <p:cNvPr id="18" name="고객사 CI" descr="sck_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381600" y="4140000"/>
            <a:ext cx="9144000" cy="360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500" b="1">
                <a:solidFill>
                  <a:schemeClr val="bg1"/>
                </a:solidFill>
              </a:rPr>
              <a:t>본사업 추진 기능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1600" y="4554000"/>
            <a:ext cx="2205000" cy="149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71600" y="4644000"/>
            <a:ext cx="270000" cy="2700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600" y="4608000"/>
            <a:ext cx="1755000" cy="34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36000" rIns="18000" bIns="36000" rtlCol="0" anchor="ctr"/>
          <a:lstStyle/>
          <a:p>
            <a:pPr algn="l" latinLnBrk="0"/>
            <a:r>
              <a:rPr lang="ko-KR" altLang="en-US" sz="1200" b="1">
                <a:solidFill>
                  <a:schemeClr val="accent4"/>
                </a:solidFill>
              </a:rPr>
              <a:t>자동 수집, MES 연동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1600" y="5022000"/>
            <a:ext cx="202500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3600" y="5090478"/>
            <a:ext cx="2060999" cy="907044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ko-KR" altLang="en-US" sz="1200" b="0" dirty="0"/>
              <a:t>KLARF, </a:t>
            </a:r>
            <a:r>
              <a:rPr lang="ko-KR" altLang="en-US" sz="1200" b="0" dirty="0" err="1"/>
              <a:t>E-Test</a:t>
            </a:r>
            <a:r>
              <a:rPr lang="ko-KR" altLang="en-US" sz="1200" b="0" dirty="0"/>
              <a:t> 파일 자동 수집, MES </a:t>
            </a:r>
            <a:r>
              <a:rPr lang="ko-KR" altLang="en-US" sz="1200" b="0" dirty="0" err="1"/>
              <a:t>기준정보</a:t>
            </a:r>
            <a:r>
              <a:rPr lang="ko-KR" altLang="en-US" sz="1200" b="0" dirty="0"/>
              <a:t> 연동으로 수동 업로드 </a:t>
            </a:r>
            <a:r>
              <a:rPr lang="ko-KR" altLang="en-US" sz="1200" b="0" dirty="0" smtClean="0"/>
              <a:t>제거</a:t>
            </a:r>
            <a:r>
              <a:rPr lang="en-US" altLang="ko-KR" sz="1200" b="0" dirty="0"/>
              <a:t/>
            </a:r>
            <a:br>
              <a:rPr lang="en-US" altLang="ko-KR" sz="1200" b="0" dirty="0"/>
            </a:br>
            <a:r>
              <a:rPr lang="en-US" altLang="ko-KR" sz="1200" b="0" dirty="0" smtClean="0"/>
              <a:t>STDF Format </a:t>
            </a:r>
            <a:r>
              <a:rPr lang="ko-KR" altLang="en-US" sz="1200" b="0" dirty="0" smtClean="0"/>
              <a:t>추가</a:t>
            </a:r>
            <a:r>
              <a:rPr lang="en-US" altLang="ko-KR" sz="1200" b="0" dirty="0" smtClean="0"/>
              <a:t>(E-Test)</a:t>
            </a:r>
            <a:endParaRPr lang="en-US" altLang="ko-KR" sz="1200" b="0" dirty="0" smtClean="0"/>
          </a:p>
        </p:txBody>
      </p:sp>
      <p:sp>
        <p:nvSpPr>
          <p:cNvPr id="25" name="Rectangle 24"/>
          <p:cNvSpPr/>
          <p:nvPr/>
        </p:nvSpPr>
        <p:spPr>
          <a:xfrm>
            <a:off x="2694600" y="4554000"/>
            <a:ext cx="2205000" cy="149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784600" y="4644000"/>
            <a:ext cx="270000" cy="2700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90599" y="4608000"/>
            <a:ext cx="1755000" cy="34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36000" rIns="18000" bIns="36000" rtlCol="0" anchor="ctr"/>
          <a:lstStyle/>
          <a:p>
            <a:pPr algn="l" latinLnBrk="0"/>
            <a:r>
              <a:rPr lang="ko-KR" altLang="en-US" sz="1200" b="1">
                <a:solidFill>
                  <a:schemeClr val="accent4"/>
                </a:solidFill>
              </a:rPr>
              <a:t>불량 Spec 관리, 설비 Monitoring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784600" y="5022000"/>
            <a:ext cx="202500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766600" y="5192044"/>
            <a:ext cx="2060999" cy="703912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ko-KR" altLang="en-US" sz="1200" b="0" dirty="0"/>
              <a:t>AOI </a:t>
            </a:r>
            <a:r>
              <a:rPr lang="ko-KR" altLang="en-US" sz="1200" b="0" dirty="0" err="1"/>
              <a:t>Defect</a:t>
            </a:r>
            <a:r>
              <a:rPr lang="ko-KR" altLang="en-US" sz="1200" b="0" dirty="0"/>
              <a:t>, 전기 불량 </a:t>
            </a:r>
            <a:r>
              <a:rPr lang="ko-KR" altLang="en-US" sz="1200" b="0" dirty="0" err="1"/>
              <a:t>Spec</a:t>
            </a:r>
            <a:r>
              <a:rPr lang="ko-KR" altLang="en-US" sz="1200" b="0" dirty="0"/>
              <a:t> 관리, 기준 초과 시 </a:t>
            </a:r>
            <a:r>
              <a:rPr lang="en-US" altLang="ko-KR" sz="1200" b="0" dirty="0" smtClean="0"/>
              <a:t>Lot </a:t>
            </a:r>
            <a:r>
              <a:rPr lang="ko-KR" altLang="en-US" sz="1200" b="0" dirty="0" smtClean="0"/>
              <a:t>또는 설비 </a:t>
            </a:r>
            <a:r>
              <a:rPr lang="en-US" altLang="ko-KR" sz="1200" b="0" dirty="0" smtClean="0"/>
              <a:t>Hold, Auto Mail</a:t>
            </a:r>
            <a:endParaRPr lang="ko-KR" altLang="en-US" sz="1200" b="0" dirty="0"/>
          </a:p>
        </p:txBody>
      </p:sp>
      <p:sp>
        <p:nvSpPr>
          <p:cNvPr id="30" name="Rectangle 29"/>
          <p:cNvSpPr/>
          <p:nvPr/>
        </p:nvSpPr>
        <p:spPr>
          <a:xfrm>
            <a:off x="5007600" y="4554000"/>
            <a:ext cx="2205000" cy="149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097600" y="4644000"/>
            <a:ext cx="270000" cy="2700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03600" y="4608000"/>
            <a:ext cx="1755000" cy="34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36000" rIns="18000" bIns="36000" rtlCol="0" anchor="ctr"/>
          <a:lstStyle/>
          <a:p>
            <a:pPr algn="l" latinLnBrk="0"/>
            <a:r>
              <a:rPr lang="ko-KR" altLang="en-US" sz="1200" b="1">
                <a:solidFill>
                  <a:schemeClr val="accent4"/>
                </a:solidFill>
              </a:rPr>
              <a:t>BS / FS 기준 정보화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97600" y="5022000"/>
            <a:ext cx="202500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79600" y="5094000"/>
            <a:ext cx="2060999" cy="900000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ko-KR" altLang="en-US" sz="1200" b="0"/>
              <a:t>차수, 작업별 Back / Front Side 기준 정보 관리로 분석 기준 구분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20599" y="4554000"/>
            <a:ext cx="2205000" cy="149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410599" y="4644000"/>
            <a:ext cx="270000" cy="2700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000" rIns="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16600" y="4608000"/>
            <a:ext cx="1755000" cy="34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000" tIns="36000" rIns="18000" bIns="36000" rtlCol="0" anchor="ctr"/>
          <a:lstStyle/>
          <a:p>
            <a:pPr algn="l" latinLnBrk="0"/>
            <a:r>
              <a:rPr lang="ko-KR" altLang="en-US" sz="1200" b="1">
                <a:solidFill>
                  <a:schemeClr val="accent4"/>
                </a:solidFill>
              </a:rPr>
              <a:t>신규 GDS Format 대응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410599" y="5022000"/>
            <a:ext cx="2025000" cy="0"/>
          </a:xfrm>
          <a:prstGeom prst="line">
            <a:avLst/>
          </a:prstGeom>
          <a:ln w="9525"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392599" y="5094000"/>
            <a:ext cx="2060999" cy="900000"/>
          </a:xfrm>
          <a:prstGeom prst="rect">
            <a:avLst/>
          </a:prstGeom>
          <a:noFill/>
        </p:spPr>
        <p:txBody>
          <a:bodyPr wrap="square" lIns="0" tIns="46800" rIns="0" bIns="46800" anchor="ctr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latinLnBrk="0">
              <a:buNone/>
            </a:pPr>
            <a:r>
              <a:rPr lang="ko-KR" altLang="en-US" sz="1200" b="0" dirty="0"/>
              <a:t>새 GDS </a:t>
            </a:r>
            <a:r>
              <a:rPr lang="ko-KR" altLang="en-US" sz="1200" b="0" dirty="0" err="1"/>
              <a:t>Format의</a:t>
            </a:r>
            <a:r>
              <a:rPr lang="ko-KR" altLang="en-US" sz="1200" b="0" dirty="0"/>
              <a:t> </a:t>
            </a:r>
            <a:r>
              <a:rPr lang="ko-KR" altLang="en-US" sz="1200" b="0" dirty="0" err="1"/>
              <a:t>Chain</a:t>
            </a:r>
            <a:r>
              <a:rPr lang="ko-KR" altLang="en-US" sz="1200" b="0" dirty="0"/>
              <a:t> 자동 생성 </a:t>
            </a:r>
            <a:r>
              <a:rPr lang="ko-KR" altLang="en-US" sz="1200" b="0" dirty="0" err="1"/>
              <a:t>Rule</a:t>
            </a:r>
            <a:r>
              <a:rPr lang="ko-KR" altLang="en-US" sz="1200" b="0" dirty="0"/>
              <a:t> 확장 (현재 U8, U9 개발 완료)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4451" y="1987199"/>
            <a:ext cx="1656038" cy="198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atinLnBrk="0"/>
            <a:r>
              <a:rPr lang="ko-KR" altLang="en-US" dirty="0"/>
              <a:t>종료 후 운영 방안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492443"/>
          </a:xfrm>
        </p:spPr>
        <p:txBody>
          <a:bodyPr/>
          <a:lstStyle/>
          <a:p>
            <a:pPr latinLnBrk="0"/>
            <a:r>
              <a:rPr lang="ko-KR" altLang="en-US" dirty="0"/>
              <a:t>미라콤 철수 후에도 연구소가 </a:t>
            </a:r>
            <a:r>
              <a:rPr lang="ko-KR" altLang="en-US" b="1" dirty="0"/>
              <a:t>'27.1.31까지 POC 시스템을 직접 </a:t>
            </a:r>
            <a:r>
              <a:rPr lang="ko-KR" altLang="en-US" b="1" dirty="0" smtClean="0"/>
              <a:t>사용 </a:t>
            </a:r>
          </a:p>
          <a:p>
            <a:pPr latinLnBrk="0"/>
            <a:r>
              <a:rPr lang="ko-KR" altLang="en-US" dirty="0" smtClean="0"/>
              <a:t>'27.1.31 이후는 조회만 가능</a:t>
            </a:r>
            <a:endParaRPr lang="en-US" altLang="ko-KR" dirty="0" smtClean="0"/>
          </a:p>
        </p:txBody>
      </p:sp>
      <p:sp>
        <p:nvSpPr>
          <p:cNvPr id="6" name="텍스트 개체 틀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atinLnBrk="0"/>
            <a:r>
              <a:rPr lang="ko-KR" altLang="en-US"/>
              <a:t>III. 종료 후 운영 방안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600" y="1519200"/>
            <a:ext cx="3002400" cy="396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600" b="1">
                <a:solidFill>
                  <a:schemeClr val="bg1"/>
                </a:solidFill>
              </a:rPr>
              <a:t>시스템 사용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381600" y="1980000"/>
            <a:ext cx="3002400" cy="266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9600" y="2070000"/>
            <a:ext cx="2808000" cy="2195089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 dirty="0"/>
              <a:t>POC </a:t>
            </a:r>
            <a:r>
              <a:rPr lang="ko-KR" altLang="en-US" sz="1300" dirty="0" err="1"/>
              <a:t>License</a:t>
            </a:r>
            <a:r>
              <a:rPr lang="ko-KR" altLang="en-US" sz="1300" dirty="0"/>
              <a:t>: '27.1.31까지 데이터 등록, 수정 가능</a:t>
            </a:r>
          </a:p>
          <a:p>
            <a:pPr lvl="1" latinLnBrk="0"/>
            <a:r>
              <a:rPr lang="ko-KR" altLang="en-US" sz="1300" dirty="0"/>
              <a:t>기한 후 조회 전용 전환 (등록 데이터 유지)</a:t>
            </a:r>
          </a:p>
          <a:p>
            <a:pPr lvl="1" latinLnBrk="0"/>
            <a:r>
              <a:rPr lang="ko-KR" altLang="en-US" sz="1300" dirty="0"/>
              <a:t>사용 결과로 </a:t>
            </a:r>
            <a:r>
              <a:rPr lang="ko-KR" altLang="en-US" sz="1300" dirty="0" smtClean="0"/>
              <a:t>본사업 확장 판단</a:t>
            </a:r>
            <a:r>
              <a:rPr lang="ko-KR" altLang="en-US" sz="1300" dirty="0"/>
              <a:t> (착수 시 약 3개월 사용 안내)</a:t>
            </a:r>
          </a:p>
          <a:p>
            <a:pPr lvl="1" latinLnBrk="0"/>
            <a:r>
              <a:rPr lang="ko-KR" altLang="en-US" sz="1300" dirty="0" err="1" smtClean="0"/>
              <a:t>Device 개수 제한 없음 (착수 시 5개로 정했으나 불필요하다고 판단)</a:t>
            </a:r>
            <a:r>
              <a:rPr lang="en-US" altLang="ko-KR" sz="1300" dirty="0"/>
              <a:t/>
            </a:r>
            <a:br>
              <a:rPr lang="en-US" altLang="ko-KR" sz="1300" dirty="0"/>
            </a:br>
            <a:endParaRPr lang="en-US" altLang="ko-KR" sz="1300" dirty="0"/>
          </a:p>
        </p:txBody>
      </p:sp>
      <p:sp>
        <p:nvSpPr>
          <p:cNvPr id="10" name="Rectangle 9"/>
          <p:cNvSpPr/>
          <p:nvPr/>
        </p:nvSpPr>
        <p:spPr>
          <a:xfrm>
            <a:off x="3452400" y="1519200"/>
            <a:ext cx="3002400" cy="396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600" b="1">
                <a:solidFill>
                  <a:schemeClr val="bg1"/>
                </a:solidFill>
              </a:rPr>
              <a:t>운영 역할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52400" y="1980000"/>
            <a:ext cx="3002400" cy="266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0400" y="2070000"/>
            <a:ext cx="2808000" cy="1975029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 dirty="0" smtClean="0"/>
              <a:t>연구소: 파일 업로드, 셋업, 분석 (Key User)</a:t>
            </a:r>
            <a:endParaRPr lang="ko-KR" altLang="en-US" sz="1300" dirty="0">
              <a:solidFill>
                <a:schemeClr val="accent6"/>
              </a:solidFill>
            </a:endParaRPr>
          </a:p>
          <a:p>
            <a:pPr lvl="1" latinLnBrk="0"/>
            <a:r>
              <a:rPr lang="ko-KR" altLang="en-US" sz="1300" dirty="0" smtClean="0"/>
              <a:t>IT팀: 서비스 3종 상태 확인, 재시작 (자동 시작 설정)</a:t>
            </a:r>
            <a:endParaRPr lang="ko-KR" altLang="en-US" sz="1300" dirty="0">
              <a:solidFill>
                <a:schemeClr val="accent6"/>
              </a:solidFill>
            </a:endParaRPr>
          </a:p>
          <a:p>
            <a:pPr lvl="1" latinLnBrk="0"/>
            <a:r>
              <a:rPr lang="ko-KR" altLang="en-US" sz="1300" dirty="0" smtClean="0"/>
              <a:t>IT팀: 새 버전 설치 파일 배포, 서비스 업데이트 (백업 후 진행)</a:t>
            </a:r>
            <a:endParaRPr lang="ko-KR" altLang="en-US" sz="1300" dirty="0">
              <a:solidFill>
                <a:schemeClr val="accent6"/>
              </a:solidFill>
            </a:endParaRPr>
          </a:p>
          <a:p>
            <a:pPr lvl="1" latinLnBrk="0"/>
            <a:r>
              <a:rPr lang="ko-KR" altLang="en-US" sz="1300" dirty="0" smtClean="0"/>
              <a:t>미라콤: </a:t>
            </a:r>
            <a:r>
              <a:rPr lang="ko-KR" altLang="en-US" sz="1300" dirty="0"/>
              <a:t>Bug성 문제 발생 </a:t>
            </a:r>
            <a:r>
              <a:rPr lang="ko-KR" altLang="en-US" sz="1300" dirty="0" smtClean="0"/>
              <a:t>시 업데이트 파일 제공, 문의 대응</a:t>
            </a:r>
            <a:endParaRPr lang="ko-KR" altLang="en-US" sz="1300" dirty="0">
              <a:solidFill>
                <a:schemeClr val="accent6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23199" y="1519200"/>
            <a:ext cx="3002400" cy="396000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600" b="1">
                <a:solidFill>
                  <a:schemeClr val="bg1"/>
                </a:solidFill>
              </a:rPr>
              <a:t>인계 자료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23199" y="1980000"/>
            <a:ext cx="3002400" cy="2664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31199" y="2070000"/>
            <a:ext cx="2808000" cy="794706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 dirty="0" smtClean="0"/>
              <a:t>IT 유지보수 가이드: 서버 구성, 서비스 관리, 업데이트 배치</a:t>
            </a:r>
            <a:endParaRPr lang="ko-KR" altLang="en-US" sz="1300" dirty="0"/>
          </a:p>
          <a:p>
            <a:pPr lvl="1" latinLnBrk="0"/>
            <a:r>
              <a:rPr lang="ko-KR" altLang="en-US" sz="1300" dirty="0" smtClean="0"/>
              <a:t>사용자 매뉴얼 v1.0: 화면별 사용법, 트러블 슈팅</a:t>
            </a:r>
            <a:endParaRPr lang="ko-KR" altLang="en-US" sz="1300" dirty="0"/>
          </a:p>
        </p:txBody>
      </p:sp>
      <p:sp>
        <p:nvSpPr>
          <p:cNvPr id="16" name="Rectangle 15"/>
          <p:cNvSpPr/>
          <p:nvPr/>
        </p:nvSpPr>
        <p:spPr>
          <a:xfrm>
            <a:off x="381600" y="4788000"/>
            <a:ext cx="9144000" cy="32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4000" tIns="36000" rIns="144000" bIns="36000" rtlCol="0" anchor="ctr"/>
          <a:lstStyle/>
          <a:p>
            <a:pPr algn="l" latinLnBrk="0"/>
            <a:r>
              <a:rPr lang="ko-KR" altLang="en-US" sz="1400" b="1" dirty="0" smtClean="0">
                <a:solidFill>
                  <a:schemeClr val="accent1"/>
                </a:solidFill>
              </a:rPr>
              <a:t>추후 일정</a:t>
            </a:r>
            <a:endParaRPr lang="ko-KR" altLang="en-US" sz="1400" b="1" dirty="0">
              <a:solidFill>
                <a:schemeClr val="accent1"/>
              </a:solidFill>
            </a:endParaRPr>
          </a:p>
        </p:txBody>
      </p:sp>
      <p:sp>
        <p:nvSpPr>
          <p:cNvPr id="17" name="Pentagon 16"/>
          <p:cNvSpPr/>
          <p:nvPr/>
        </p:nvSpPr>
        <p:spPr>
          <a:xfrm>
            <a:off x="381600" y="5243293"/>
            <a:ext cx="1908000" cy="792000"/>
          </a:xfrm>
          <a:prstGeom prst="homePlat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36000" rIns="21600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10.26~10.28</a:t>
            </a:r>
          </a:p>
          <a:p>
            <a:pPr algn="ctr" latinLnBrk="0"/>
            <a:r>
              <a:rPr lang="ko-KR" altLang="en-US" sz="1200" b="0">
                <a:solidFill>
                  <a:schemeClr val="bg1"/>
                </a:solidFill>
              </a:rPr>
              <a:t>고객 검증</a:t>
            </a:r>
          </a:p>
        </p:txBody>
      </p:sp>
      <p:sp>
        <p:nvSpPr>
          <p:cNvPr id="18" name="Chevron 17"/>
          <p:cNvSpPr/>
          <p:nvPr/>
        </p:nvSpPr>
        <p:spPr>
          <a:xfrm>
            <a:off x="2190600" y="5243293"/>
            <a:ext cx="1908000" cy="792000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36000" rIns="21600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10.29</a:t>
            </a:r>
          </a:p>
          <a:p>
            <a:pPr algn="ctr" latinLnBrk="0"/>
            <a:r>
              <a:rPr lang="ko-KR" altLang="en-US" sz="1200" b="0">
                <a:solidFill>
                  <a:schemeClr val="bg1"/>
                </a:solidFill>
              </a:rPr>
              <a:t>종료 보고</a:t>
            </a:r>
          </a:p>
        </p:txBody>
      </p:sp>
      <p:sp>
        <p:nvSpPr>
          <p:cNvPr id="19" name="Chevron 18"/>
          <p:cNvSpPr/>
          <p:nvPr/>
        </p:nvSpPr>
        <p:spPr>
          <a:xfrm>
            <a:off x="3999600" y="5243293"/>
            <a:ext cx="1908000" cy="792000"/>
          </a:xfrm>
          <a:prstGeom prst="chevron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36000" rIns="21600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10월 말</a:t>
            </a:r>
          </a:p>
          <a:p>
            <a:pPr algn="ctr" latinLnBrk="0"/>
            <a:r>
              <a:rPr lang="ko-KR" altLang="en-US" sz="1200" b="0">
                <a:solidFill>
                  <a:schemeClr val="bg1"/>
                </a:solidFill>
              </a:rPr>
              <a:t>현장 철수</a:t>
            </a:r>
          </a:p>
        </p:txBody>
      </p:sp>
      <p:sp>
        <p:nvSpPr>
          <p:cNvPr id="20" name="Chevron 19"/>
          <p:cNvSpPr/>
          <p:nvPr/>
        </p:nvSpPr>
        <p:spPr>
          <a:xfrm>
            <a:off x="5808600" y="5243293"/>
            <a:ext cx="1908000" cy="792000"/>
          </a:xfrm>
          <a:prstGeom prst="chevron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36000" rIns="216000" bIns="36000" rtlCol="0" anchor="ctr"/>
          <a:lstStyle/>
          <a:p>
            <a:pPr algn="ctr" latinLnBrk="0"/>
            <a:r>
              <a:rPr lang="ko-KR" altLang="en-US" sz="1200" b="1">
                <a:solidFill>
                  <a:schemeClr val="bg1"/>
                </a:solidFill>
              </a:rPr>
              <a:t>~'27.1.31</a:t>
            </a:r>
          </a:p>
          <a:p>
            <a:pPr algn="ctr" latinLnBrk="0"/>
            <a:r>
              <a:rPr lang="ko-KR" altLang="en-US" sz="1200" b="0">
                <a:solidFill>
                  <a:schemeClr val="bg1"/>
                </a:solidFill>
              </a:rPr>
              <a:t>POC 사용</a:t>
            </a:r>
          </a:p>
        </p:txBody>
      </p:sp>
      <p:sp>
        <p:nvSpPr>
          <p:cNvPr id="21" name="Chevron 20"/>
          <p:cNvSpPr/>
          <p:nvPr/>
        </p:nvSpPr>
        <p:spPr>
          <a:xfrm>
            <a:off x="7617600" y="5243293"/>
            <a:ext cx="1908000" cy="792000"/>
          </a:xfrm>
          <a:prstGeom prst="chevron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6000" tIns="36000" rIns="216000" bIns="36000" rtlCol="0" anchor="ctr"/>
          <a:lstStyle/>
          <a:p>
            <a:pPr algn="ctr" latinLnBrk="0"/>
            <a:r>
              <a:rPr lang="ko-KR" altLang="en-US" sz="1200" b="1" dirty="0" smtClean="0">
                <a:solidFill>
                  <a:schemeClr val="bg1"/>
                </a:solidFill>
              </a:rPr>
              <a:t>'27.</a:t>
            </a:r>
            <a:r>
              <a:rPr lang="en-US" altLang="ko-KR" sz="1200" b="1" dirty="0" smtClean="0">
                <a:solidFill>
                  <a:schemeClr val="bg1"/>
                </a:solidFill>
              </a:rPr>
              <a:t>2</a:t>
            </a:r>
            <a:r>
              <a:rPr lang="ko-KR" altLang="en-US" sz="1200" b="1" dirty="0" smtClean="0">
                <a:solidFill>
                  <a:schemeClr val="bg1"/>
                </a:solidFill>
              </a:rPr>
              <a:t>~</a:t>
            </a:r>
            <a:endParaRPr lang="ko-KR" altLang="en-US" sz="1200" b="1" dirty="0">
              <a:solidFill>
                <a:schemeClr val="bg1"/>
              </a:solidFill>
            </a:endParaRPr>
          </a:p>
          <a:p>
            <a:pPr algn="ctr" latinLnBrk="0"/>
            <a:r>
              <a:rPr lang="ko-KR" altLang="en-US" sz="1200" b="0" dirty="0" err="1">
                <a:solidFill>
                  <a:schemeClr val="bg1"/>
                </a:solidFill>
              </a:rPr>
              <a:t>본사업</a:t>
            </a:r>
            <a:r>
              <a:rPr lang="ko-KR" altLang="en-US" sz="1200" b="0" dirty="0">
                <a:solidFill>
                  <a:schemeClr val="bg1"/>
                </a:solidFill>
              </a:rPr>
              <a:t> 판단</a:t>
            </a:r>
          </a:p>
        </p:txBody>
      </p:sp>
      <p:pic>
        <p:nvPicPr>
          <p:cNvPr id="23" name="고객사 CI" descr="sck_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00" y="6554862"/>
            <a:ext cx="684000" cy="144737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631200" y="3091659"/>
            <a:ext cx="2786400" cy="27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/>
          <a:lstStyle/>
          <a:p>
            <a:pPr algn="ctr" latinLnBrk="0"/>
            <a:r>
              <a:rPr lang="ko-KR" altLang="en-US" sz="1300" b="1" dirty="0">
                <a:solidFill>
                  <a:schemeClr val="accent1"/>
                </a:solidFill>
              </a:rPr>
              <a:t>사용 시 유의 사항</a:t>
            </a:r>
          </a:p>
        </p:txBody>
      </p:sp>
      <p:sp>
        <p:nvSpPr>
          <p:cNvPr id="25" name="TextBox 유의"/>
          <p:cNvSpPr txBox="1"/>
          <p:nvPr/>
        </p:nvSpPr>
        <p:spPr>
          <a:xfrm>
            <a:off x="6631199" y="3415659"/>
            <a:ext cx="2808000" cy="1274837"/>
          </a:xfrm>
          <a:prstGeom prst="rect">
            <a:avLst/>
          </a:prstGeom>
          <a:noFill/>
        </p:spPr>
        <p:txBody>
          <a:bodyPr wrap="square" lIns="0" tIns="46800" rIns="0" bIns="46800" anchor="t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latinLnBrk="0"/>
            <a:r>
              <a:rPr lang="ko-KR" altLang="en-US" sz="1300" dirty="0" smtClean="0"/>
              <a:t>새 Device는 GDS Map, Wafer Map 설정 후 파일 업로드</a:t>
            </a:r>
            <a:endParaRPr lang="ko-KR" altLang="en-US" sz="1300" dirty="0"/>
          </a:p>
          <a:p>
            <a:pPr lvl="1" latinLnBrk="0"/>
            <a:r>
              <a:rPr lang="ko-KR" altLang="en-US" sz="1300" dirty="0" smtClean="0"/>
              <a:t>U8, U9는 좌표 원점이 달라 제품별 설정 </a:t>
            </a:r>
            <a:r>
              <a:rPr lang="ko-KR" altLang="en-US" sz="1300" dirty="0" smtClean="0"/>
              <a:t>확인</a:t>
            </a:r>
            <a:endParaRPr lang="en-US" altLang="ko-KR" sz="1300" dirty="0" smtClean="0"/>
          </a:p>
          <a:p>
            <a:pPr lvl="1" latinLnBrk="0"/>
            <a:r>
              <a:rPr lang="en-US" altLang="ko-KR" sz="1300" dirty="0" smtClean="0"/>
              <a:t>Oracle </a:t>
            </a:r>
            <a:r>
              <a:rPr lang="ko-KR" altLang="en-US" sz="1300" dirty="0" smtClean="0"/>
              <a:t>시간 초과 </a:t>
            </a:r>
            <a:r>
              <a:rPr lang="en-US" altLang="ko-KR" sz="1300" dirty="0" smtClean="0"/>
              <a:t>Error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63774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6617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문서템플릿">
  <a:themeElements>
    <a:clrScheme name="표준템플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AB4"/>
      </a:accent1>
      <a:accent2>
        <a:srgbClr val="00A7ED"/>
      </a:accent2>
      <a:accent3>
        <a:srgbClr val="0071BB"/>
      </a:accent3>
      <a:accent4>
        <a:srgbClr val="222D5B"/>
      </a:accent4>
      <a:accent5>
        <a:srgbClr val="33CCCC"/>
      </a:accent5>
      <a:accent6>
        <a:srgbClr val="FF0066"/>
      </a:accent6>
      <a:hlink>
        <a:srgbClr val="954F72"/>
      </a:hlink>
      <a:folHlink>
        <a:srgbClr val="954F72"/>
      </a:folHlink>
    </a:clrScheme>
    <a:fontScheme name="사용자 지정 4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0D996D5B674C4386830A6AB0E50984" ma:contentTypeVersion="0" ma:contentTypeDescription="새 문서를 만듭니다." ma:contentTypeScope="" ma:versionID="a166825e3373d96581aa46038a4cd7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d8f6c9257034a6ffde9c3b3e5e5b89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E156550-B094-4ABA-846C-47B3875BCF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225471-7C69-49CC-95EB-8C94F25B43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92C52DB-E9E3-46CD-811C-803D077AD9CA}">
  <ds:schemaRefs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elements/1.1/"/>
    <ds:schemaRef ds:uri="http://purl.org/dc/dcmitype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28599</TotalTime>
  <Words>2129</Words>
  <Application>Microsoft Office PowerPoint</Application>
  <PresentationFormat>A4 용지(210x297mm)</PresentationFormat>
  <Paragraphs>275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굴림</vt:lpstr>
      <vt:lpstr>맑은 고딕</vt:lpstr>
      <vt:lpstr>Arial</vt:lpstr>
      <vt:lpstr>Segoe UI</vt:lpstr>
      <vt:lpstr>Wingdings</vt:lpstr>
      <vt:lpstr>문서템플릿</vt:lpstr>
      <vt:lpstr>PowerPoint 프레젠테이션</vt:lpstr>
      <vt:lpstr>PowerPoint 프레젠테이션</vt:lpstr>
      <vt:lpstr>POC 배경 및 목표</vt:lpstr>
      <vt:lpstr>시스템 구성 및 업무 영역</vt:lpstr>
      <vt:lpstr>주요 POC 기능 - 미라콤 솔루션과 신규 개발 연동</vt:lpstr>
      <vt:lpstr>주요 POC 기능 - Chain 자동 생성과 파일 기반 Setup</vt:lpstr>
      <vt:lpstr>주요 POC 기능 - 파일 기반 수동 Upload</vt:lpstr>
      <vt:lpstr>주요 POC 기능 - Die 상세 연관 분석</vt:lpstr>
      <vt:lpstr>POC 결과 및 시사점</vt:lpstr>
      <vt:lpstr>종료 후 운영 방안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Defect / E-Test 자동 분석 시스템 구축 POC 완료보고</dc:title>
  <dc:creator>정병주</dc:creator>
  <cp:lastModifiedBy>BJ</cp:lastModifiedBy>
  <cp:revision>138</cp:revision>
  <dcterms:created xsi:type="dcterms:W3CDTF">2013-11-13T01:08:07Z</dcterms:created>
  <dcterms:modified xsi:type="dcterms:W3CDTF">2026-10-28T06:01:17Z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0x0101003F0D996D5B674C4386830A6AB0E50984</vt:lpwstr>
  </property>
  <property fmtid="{5C58129F-E5B8-477A-9B38-B3E54BFA04C8}" pid="2">
    <vt:lpwstr>A2265D46B23E86417CDAB57A7F05BAAEADCBBC752B73D54DA3E9536622969EE5</vt:lpwstr>
  </property>
</Properties>
</file>