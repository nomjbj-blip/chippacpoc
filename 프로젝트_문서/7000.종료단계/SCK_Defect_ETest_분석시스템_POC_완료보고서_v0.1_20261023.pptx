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27"/>
  </p:notesMasterIdLst>
  <p:handoutMasterIdLst>
    <p:handoutMasterId r:id="rId28"/>
  </p:handoutMasterIdLst>
  <p:sldIdLst>
    <p:sldId id="257" r:id="rIdS1"/>
    <p:sldId id="258" r:id="rIdS2"/>
    <p:sldId id="259" r:id="rIdS3"/>
    <p:sldId id="260" r:id="rIdS4"/>
    <p:sldId id="261" r:id="rIdS5"/>
    <p:sldId id="262" r:id="rIdS6"/>
    <p:sldId id="263" r:id="rIdS7"/>
    <p:sldId id="264" r:id="rIdS8"/>
    <p:sldId id="265" r:id="rIdS9"/>
    <p:sldId id="266" r:id="rIdS10"/>
    <p:sldId id="267" r:id="rIdS11"/>
    <p:sldId id="268" r:id="rIdS12"/>
    <p:sldId id="269" r:id="rIdS13"/>
    <p:sldId id="270" r:id="rIdS14"/>
    <p:sldId id="271" r:id="rIdS15"/>
    <p:sldId id="272" r:id="rIdS16"/>
    <p:sldId id="273" r:id="rIdS17"/>
    <p:sldId id="274" r:id="rIdS18"/>
    <p:sldId id="275" r:id="rIdS19"/>
    <p:sldId id="276" r:id="rIdS20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9" autoAdjust="0"/>
    <p:restoredTop sz="96339" autoAdjust="0"/>
  </p:normalViewPr>
  <p:slideViewPr>
    <p:cSldViewPr snapToGrid="0">
      <p:cViewPr varScale="1">
        <p:scale>
          <a:sx n="124" d="100"/>
          <a:sy n="124" d="100"/>
        </p:scale>
        <p:origin x="876" y="76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S1" Type="http://schemas.openxmlformats.org/officeDocument/2006/relationships/slide" Target="slides/slide1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" Type="http://schemas.openxmlformats.org/officeDocument/2006/relationships/slide" Target="slides/slide2.xml"/><Relationship Id="rIdS20" Type="http://schemas.openxmlformats.org/officeDocument/2006/relationships/slide" Target="slides/slide20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2026-05-04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473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18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18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5" r:id="rId5"/>
    <p:sldLayoutId id="2147484097" r:id="rId6"/>
    <p:sldLayoutId id="214748409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atinLnBrk="0"/>
            <a:r>
              <a:rPr lang="ko-KR" altLang="en-US"/>
              <a:t>'26.10.23 (1차 시안)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[부서명 확인 필요]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/>
          <a:lstStyle/>
          <a:p>
            <a:pPr latinLnBrk="0"/>
            <a:r>
              <a:rPr lang="ko-KR" altLang="en-US" dirty="0" smtClean="0"/>
              <a:t>Defect / E-Test 자동 분석</a:t>
            </a:r>
            <a:endParaRPr lang="ko-KR" altLang="en-US" dirty="0"/>
          </a:p>
          <a:p>
            <a:pPr latinLnBrk="0"/>
            <a:r>
              <a:rPr lang="ko-KR" altLang="en-US" dirty="0" smtClean="0"/>
              <a:t>시스템 구축 POC 완료보고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latinLnBrk="0"/>
            <a:r>
              <a:rPr lang="ko-KR" altLang="en-US"/>
              <a:t>스태츠칩팩코리아 인천공장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문서 개정 이력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1차 시안으로 작성, IV장 POC 결과는 고객 검증('26.10.26~10.28) 후 보완 예정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문서 정보</a:t>
            </a:r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162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80000"/>
                <a:gridCol w="1440000"/>
                <a:gridCol w="4824000"/>
                <a:gridCol w="1800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버전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일자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개정 내용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작성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v0.1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'26.10.23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1차 시안 작성 (수행 내용, 종료 후 운영 방안, 향후 추진 방향)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미라콤 정병주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v0.2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[작성 예정]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고객 검증 결과, POC 평가 반영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v1.0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[작성 예정]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종료 보고 확정본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 latinLnBrk="0"/>
            <a:r>
              <a:rPr lang="ko-KR" altLang="en-US" b="1" dirty="0"/>
              <a:t>POC 개요</a:t>
            </a:r>
            <a:endParaRPr lang="en-US" altLang="ko-KR" b="1" dirty="0"/>
          </a:p>
          <a:p>
            <a:pPr lvl="0" latinLnBrk="0"/>
            <a:r>
              <a:rPr lang="ko-KR" altLang="en-US" dirty="0"/>
              <a:t>추진 경과</a:t>
            </a:r>
            <a:endParaRPr lang="en-US" altLang="ko-KR" dirty="0" smtClean="0"/>
          </a:p>
          <a:p>
            <a:pPr lvl="0" latinLnBrk="0"/>
            <a:r>
              <a:rPr lang="ko-KR" altLang="en-US" dirty="0" smtClean="0"/>
              <a:t>주요 수행 내용</a:t>
            </a:r>
            <a:endParaRPr lang="en-US" altLang="ko-KR" dirty="0"/>
          </a:p>
          <a:p>
            <a:pPr lvl="0" latinLnBrk="0"/>
            <a:r>
              <a:rPr lang="ko-KR" altLang="en-US" dirty="0"/>
              <a:t>POC 결과</a:t>
            </a:r>
            <a:endParaRPr lang="en-US" altLang="ko-KR" dirty="0" smtClean="0"/>
          </a:p>
          <a:p>
            <a:pPr lvl="0" latinLnBrk="0"/>
            <a:r>
              <a:rPr lang="ko-KR" altLang="en-US" dirty="0" smtClean="0"/>
              <a:t>종료 후 운영 방안</a:t>
            </a:r>
            <a:endParaRPr lang="en-US" altLang="ko-KR" dirty="0"/>
          </a:p>
          <a:p>
            <a:pPr lvl="0" latinLnBrk="0"/>
            <a:r>
              <a:rPr lang="ko-KR" altLang="en-US" dirty="0"/>
              <a:t>향후 추진 방향</a:t>
            </a:r>
          </a:p>
          <a:p>
            <a:pPr marL="0" indent="0" latinLnBrk="0">
              <a:buNone/>
            </a:pPr>
            <a:r>
              <a:rPr lang="ko-KR" altLang="en-US"/>
              <a:t>별첨자료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결과 요약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AOI Defect와 E-Test Fail을 GDS Chain 위에서 겹쳐 보는 분석 흐름을 1개월 안에 구현, 고객 검증 후 결과 확정 예정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요약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1800000" cy="111599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800" b="1" lang="ko-KR" altLang="en-US">
                <a:solidFill>
                  <a:schemeClr val="bg1"/>
                </a:solidFill>
              </a:rPr>
              <a:t>수행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2181600" y="1519200"/>
            <a:ext cx="7343999" cy="11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9" name="TextBox 8"/>
          <p:cNvSpPr txBox="1"/>
          <p:nvPr/>
        </p:nvSpPr>
        <p:spPr>
          <a:xfrm>
            <a:off x="2376000" y="1573200"/>
            <a:ext cx="7020000" cy="1007999"/>
          </a:xfrm>
          <a:prstGeom prst="rect">
            <a:avLst/>
          </a:prstGeom>
          <a:noFill/>
        </p:spPr>
        <p:txBody>
          <a:bodyPr wrap="square" anchor="ctr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400" lang="ko-KR" altLang="en-US"/>
              <a:t>POC 화면 12종 개발, 고객 TRAINING 환경에 DB, 서버 반영</a:t>
            </a:r>
          </a:p>
          <a:p>
            <a:pPr lvl="1" latinLnBrk="0"/>
            <a:r>
              <a:rPr sz="1400" lang="ko-KR" altLang="en-US"/>
              <a:t>GDS 등록 → Chain 설정 → KLARF, E-Test 업로드 → 연관 분석을 한 흐름으로 연결</a:t>
            </a:r>
          </a:p>
          <a:p>
            <a:pPr lvl="1" latinLnBrk="0"/>
            <a:r>
              <a:rPr sz="1400" lang="ko-KR" altLang="en-US"/>
              <a:t>U9(Chain 15~19개)에 더해 대용량 U8(도형 181만, Chain 2.7만)까지 대응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600" y="2761200"/>
            <a:ext cx="1800000" cy="111599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800" b="1" lang="ko-KR" altLang="en-US">
                <a:solidFill>
                  <a:schemeClr val="bg1"/>
                </a:solidFill>
              </a:rPr>
              <a:t>POC 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1600" y="2761200"/>
            <a:ext cx="7343999" cy="11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2" name="TextBox 11"/>
          <p:cNvSpPr txBox="1"/>
          <p:nvPr/>
        </p:nvSpPr>
        <p:spPr>
          <a:xfrm>
            <a:off x="2376000" y="2815200"/>
            <a:ext cx="7020000" cy="1007999"/>
          </a:xfrm>
          <a:prstGeom prst="rect">
            <a:avLst/>
          </a:prstGeom>
          <a:noFill/>
        </p:spPr>
        <p:txBody>
          <a:bodyPr wrap="square" anchor="ctr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400" lang="ko-KR" altLang="en-US">
                <a:solidFill>
                  <a:schemeClr val="accent6"/>
                </a:solidFill>
              </a:rPr>
              <a:t>[고객 검증 후 작성]</a:t>
            </a:r>
            <a:r>
              <a:rPr sz="1400" lang="ko-KR" altLang="en-US"/>
              <a:t> 검증 기간 '26.10.26~10.28</a:t>
            </a:r>
          </a:p>
          <a:p>
            <a:pPr lvl="1" latinLnBrk="0"/>
            <a:r>
              <a:rPr sz="1400" lang="ko-KR" altLang="en-US"/>
              <a:t>사전 검증('26.10.19, U9 Wafer 1장): 47개 항목 중 44개 PASS (FAIL 3건은 원본 데이터 문제)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600" y="4003199"/>
            <a:ext cx="1800000" cy="1115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800" b="1" lang="ko-KR" altLang="en-US">
                <a:solidFill>
                  <a:schemeClr val="bg1"/>
                </a:solidFill>
              </a:rPr>
              <a:t>종료 후 운영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1600" y="4003199"/>
            <a:ext cx="7343999" cy="11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5" name="TextBox 14"/>
          <p:cNvSpPr txBox="1"/>
          <p:nvPr/>
        </p:nvSpPr>
        <p:spPr>
          <a:xfrm>
            <a:off x="2376000" y="4057200"/>
            <a:ext cx="7020000" cy="1007999"/>
          </a:xfrm>
          <a:prstGeom prst="rect">
            <a:avLst/>
          </a:prstGeom>
          <a:noFill/>
        </p:spPr>
        <p:txBody>
          <a:bodyPr wrap="square" anchor="ctr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400" lang="ko-KR" altLang="en-US"/>
              <a:t>POC License로 '27.1.31까지 데이터 등록 가능, 이후 조회 전용</a:t>
            </a:r>
          </a:p>
          <a:p>
            <a:pPr lvl="1" latinLnBrk="0"/>
            <a:r>
              <a:rPr sz="1400" lang="ko-KR" altLang="en-US"/>
              <a:t>연구소 Key User 직접 운영, IT팀 서버 관리, 미라콤 원격 문의 대응 </a:t>
            </a:r>
            <a:r>
              <a:rPr sz="1400" lang="ko-KR" altLang="en-US">
                <a:solidFill>
                  <a:schemeClr val="accent6"/>
                </a:solidFill>
              </a:rPr>
              <a:t>[지원 방식 확인 필요]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600" y="5245199"/>
            <a:ext cx="1800000" cy="11159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800" b="1" lang="ko-KR" altLang="en-US">
                <a:solidFill>
                  <a:schemeClr val="bg1"/>
                </a:solidFill>
              </a:rPr>
              <a:t>향후 추진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81600" y="5245199"/>
            <a:ext cx="7343999" cy="111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8" name="TextBox 17"/>
          <p:cNvSpPr txBox="1"/>
          <p:nvPr/>
        </p:nvSpPr>
        <p:spPr>
          <a:xfrm>
            <a:off x="2376000" y="5299200"/>
            <a:ext cx="7020000" cy="1007999"/>
          </a:xfrm>
          <a:prstGeom prst="rect">
            <a:avLst/>
          </a:prstGeom>
          <a:noFill/>
        </p:spPr>
        <p:txBody>
          <a:bodyPr wrap="square" anchor="ctr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400" lang="ko-KR" altLang="en-US"/>
              <a:t>MES 연동, 파일 자동 수집, 새 Chain Rule 등 7건을 본 프로젝트(Phase 1) 범위로 제안</a:t>
            </a:r>
          </a:p>
          <a:p>
            <a:pPr lvl="1" latinLnBrk="0"/>
            <a:r>
              <a:rPr sz="1400" lang="ko-KR" altLang="en-US"/>
              <a:t>POC 사용 평가('~27.1) 결과로 본사업 추진 여부 결정 요청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배경 및 목표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엔지니어가 수작업으로 대조하던 AOI Defect와 E-Test Fail을 </a:t>
            </a:r>
            <a:r>
              <a:rPr lang="ko-KR" altLang="en-US" dirty="0" b="1"/>
              <a:t>도면(GDS) 위에서 자동으로 겹쳐 보는 것이 가능한지</a:t>
            </a:r>
            <a:r>
              <a:rPr lang="ko-KR" altLang="en-US" dirty="0"/>
              <a:t> 확인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I. POC 개요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44352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600" b="1" lang="ko-KR" altLang="en-US">
                <a:solidFill>
                  <a:schemeClr val="bg1"/>
                </a:solidFill>
              </a:rPr>
              <a:t>추진 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015999"/>
            <a:ext cx="4284000" cy="158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AOI(외관 검사) Defect가 E-Test Fail 원인인지 엔지니어가 파일을 하나씩 대조</a:t>
            </a:r>
          </a:p>
          <a:p>
            <a:pPr lvl="1" latinLnBrk="0"/>
            <a:r>
              <a:rPr sz="1300" lang="ko-KR" altLang="en-US"/>
              <a:t>2.5D 패키지의 Daisy Chain(TSV, RDL, Bump) 단위 판단 필요</a:t>
            </a:r>
          </a:p>
          <a:p>
            <a:pPr lvl="1" latinLnBrk="0"/>
            <a:r>
              <a:rPr sz="1300" lang="ko-KR" altLang="en-US"/>
              <a:t>제안 v1.1('26.7.29) 본사업 전, 1개월 POC로 구현 가능성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400" y="1519200"/>
            <a:ext cx="44352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600" b="1" lang="ko-KR" altLang="en-US">
                <a:solidFill>
                  <a:schemeClr val="bg1"/>
                </a:solidFill>
              </a:rPr>
              <a:t>판단 원칙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6800" y="2015999"/>
            <a:ext cx="4284000" cy="158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b="1" lang="ko-KR" altLang="en-US"/>
              <a:t>판정은 엔지니어, 시스템은 위치, 개수, 이미지를 보여줌</a:t>
            </a:r>
            <a:r>
              <a:rPr sz="1300" lang="ko-KR" altLang="en-US"/>
              <a:t> (10.02, 10.13 회의 합의)</a:t>
            </a:r>
          </a:p>
          <a:p>
            <a:pPr lvl="1" latinLnBrk="0"/>
            <a:r>
              <a:rPr sz="1300" lang="ko-KR" altLang="en-US"/>
              <a:t>Chain 영역(크기 + 허용오차) 안 Defect 수와 위치를 표시</a:t>
            </a:r>
          </a:p>
          <a:p>
            <a:pPr lvl="1" latinLnBrk="0"/>
            <a:r>
              <a:rPr sz="1300" lang="ko-KR" altLang="en-US"/>
              <a:t>E-Test Spec Out Chain을 도면 위에 색으로 구분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1600" y="3600000"/>
          <a:ext cx="9144000" cy="2628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72000"/>
                <a:gridCol w="3456000"/>
                <a:gridCol w="3816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활용 목적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시스템이 보여주는 것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엔지니어 활용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Fail 원인 찾기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Fail Chain 위에 있는 Defect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이미지 리뷰, 파괴 분석 대상 선정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AOI 기준 조정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Fail과 무관한 위치의 Defect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AOI Recipe, Reject 기준 조정 근거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잠재 불량 관리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Defect는 있으나 Fail이 없는 Chain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이후 신뢰성 Fail과 연계 관리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검출 누락 확인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Fail이지만 Defect가 없는 Chain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AOI 미검출 가능성 확인, 파괴 분석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범위 및 수행 체계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Function List v2의 POC 대상 기능을 4개 영역으로 수행, 신규 개발은 Correlation과 데이터 업로드에 집중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I. POC 개요</a:t>
            </a:r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27359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96000"/>
                <a:gridCol w="4320000"/>
                <a:gridCol w="3528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영역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POC 대상 기능 (Function List v2)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수행 방식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02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b="1" lang="ko-KR" altLang="en-US">
                          <a:solidFill>
                            <a:schemeClr val="tx1"/>
                          </a:solidFill>
                        </a:rPr>
                        <a:t>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Map, Bin, Program Parameter, Defect Class/Color, Defect Type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Map, Parameter, Bin은 신규 화면 / Defect 분류는 기존 DMS 기능 </a:t>
                      </a:r>
                      <a:r>
                        <a:rPr sz="1100" lang="ko-KR" altLang="en-US">
                          <a:solidFill>
                            <a:schemeClr val="accent6"/>
                          </a:solidFill>
                        </a:rPr>
                        <a:t>[확인 필요]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02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b="1" lang="ko-KR" altLang="en-US">
                          <a:solidFill>
                            <a:schemeClr val="tx1"/>
                          </a:solidFill>
                        </a:rPr>
                        <a:t>Correlation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GDS Data Registration, Chain Name/Data Setup, Defect/Test Correlation View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b="1" lang="ko-KR" altLang="en-US">
                          <a:solidFill>
                            <a:schemeClr val="tx1"/>
                          </a:solidFill>
                        </a:rPr>
                        <a:t>신규 개발 (POC 핵심)</a:t>
                      </a:r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, 연관 분석 화면 1개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02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b="1" lang="ko-KR" altLang="en-US">
                          <a:solidFill>
                            <a:schemeClr val="tx1"/>
                          </a:solidFill>
                        </a:rPr>
                        <a:t>DMS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Defect Data Manual Input, Defect Map/Image Gallery, Chart Analysis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KLARF 업로드 신규 / 조회는 기존 DMS 화면 재사용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02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b="1" lang="ko-KR" altLang="en-US">
                          <a:solidFill>
                            <a:schemeClr val="tx1"/>
                          </a:solidFill>
                        </a:rPr>
                        <a:t>YMS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E-Test Data Manual Input, Bin/Test Map, Yield, Report 등 14종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E-Test 업로드 신규, YMS 적재 / 화면 노출 범위 </a:t>
                      </a:r>
                      <a:r>
                        <a:rPr sz="1100" lang="ko-KR" altLang="en-US">
                          <a:solidFill>
                            <a:schemeClr val="accent6"/>
                          </a:solidFill>
                        </a:rPr>
                        <a:t>[확인 필요]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600" y="4446000"/>
            <a:ext cx="30024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500" b="1" lang="ko-KR" altLang="en-US">
                <a:solidFill>
                  <a:schemeClr val="bg1"/>
                </a:solidFill>
              </a:rPr>
              <a:t>미라콤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4806000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0" name="TextBox 9"/>
          <p:cNvSpPr txBox="1"/>
          <p:nvPr/>
        </p:nvSpPr>
        <p:spPr>
          <a:xfrm>
            <a:off x="489600" y="4860000"/>
            <a:ext cx="2808000" cy="1007999"/>
          </a:xfrm>
          <a:prstGeom prst="rect">
            <a:avLst/>
          </a:prstGeom>
          <a:noFill/>
        </p:spPr>
        <p:txBody>
          <a:bodyPr wrap="square" anchor="ctr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PM, 설계, 개발, 검증 (정병주 프로 1인)</a:t>
            </a:r>
          </a:p>
          <a:p>
            <a:pPr lvl="1" latinLnBrk="0"/>
            <a:r>
              <a:rPr sz="1300" lang="ko-KR" altLang="en-US"/>
              <a:t>반영 자료, 절차, 교육, 결과 보고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4446000"/>
            <a:ext cx="30024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500" b="1" lang="ko-KR" altLang="en-US">
                <a:solidFill>
                  <a:schemeClr val="bg1"/>
                </a:solidFill>
              </a:rPr>
              <a:t>SCK 연구소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2400" y="4806000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3" name="TextBox 12"/>
          <p:cNvSpPr txBox="1"/>
          <p:nvPr/>
        </p:nvSpPr>
        <p:spPr>
          <a:xfrm>
            <a:off x="3560400" y="4860000"/>
            <a:ext cx="2808000" cy="1007999"/>
          </a:xfrm>
          <a:prstGeom prst="rect">
            <a:avLst/>
          </a:prstGeom>
          <a:noFill/>
        </p:spPr>
        <p:txBody>
          <a:bodyPr wrap="square" anchor="ctr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요건, 성공 기준, 샘플 데이터 제공</a:t>
            </a:r>
          </a:p>
          <a:p>
            <a:pPr lvl="1" latinLnBrk="0"/>
            <a:r>
              <a:rPr sz="1300" lang="ko-KR" altLang="en-US"/>
              <a:t>결과 검증, 완료 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99" y="4446000"/>
            <a:ext cx="30024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500" b="1" lang="ko-KR" altLang="en-US">
                <a:solidFill>
                  <a:schemeClr val="bg1"/>
                </a:solidFill>
              </a:rPr>
              <a:t>SCK IT팀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3199" y="4806000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6" name="TextBox 15"/>
          <p:cNvSpPr txBox="1"/>
          <p:nvPr/>
        </p:nvSpPr>
        <p:spPr>
          <a:xfrm>
            <a:off x="6631199" y="4860000"/>
            <a:ext cx="2808000" cy="1007999"/>
          </a:xfrm>
          <a:prstGeom prst="rect">
            <a:avLst/>
          </a:prstGeom>
          <a:noFill/>
        </p:spPr>
        <p:txBody>
          <a:bodyPr wrap="square" anchor="ctr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서버, DB, 계정, 방화벽 제공</a:t>
            </a:r>
          </a:p>
          <a:p>
            <a:pPr lvl="1" latinLnBrk="0"/>
            <a:r>
              <a:rPr sz="1300" lang="ko-KR" altLang="en-US"/>
              <a:t>운영 환경 반영 승인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600" y="6263999"/>
            <a:ext cx="9144000" cy="23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sz="1000" b="0" lang="ko-KR" altLang="en-US">
                <a:solidFill>
                  <a:schemeClr val="tx1"/>
                </a:solidFill>
              </a:rPr>
              <a:t>※ 기간 '26.10.01~10.30 (WBS V1.0) / 제약: 데이터가 없는 기능 제외, 파일은 엔지니어가 수동 업로드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추진 일정: 계획 대비 실적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개발은 계획대로 '26.10.23 종료, 운영 환경은 DB와 서버 반영 후 FTP, 방화벽 개방 대기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추진 경과</a:t>
            </a:r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3999" cy="4464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55999"/>
                <a:gridCol w="1512000"/>
                <a:gridCol w="4464000"/>
                <a:gridCol w="1512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단계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계획 (WBS)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실적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착수, 범위 확정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10.01~10.02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10.02 상견례, 업무 범위 협의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분석, 설계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10.06~10.08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10.06, 10.13 데이터 기준 협의 / 설계 문서 71건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핵심 기능 개발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10.12~10.23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10.23 개발 종료 (작업 222건, 화면 12종)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중간 리뷰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10.16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10.19로 변경 실시, U8 Device 추가 요청 수용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완료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운영 환경 구성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10.19~10.21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10.21 TRAINING DB 스키마, App 서버 반영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진행 (FTP, 방화벽)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테스트, 검증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10.22~10.27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10.26~10.28 고객 검증 </a:t>
                      </a:r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[예정]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예정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교육, Go-Live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10.27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Key User 교육 </a:t>
                      </a:r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[일정 확인 필요]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예정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종료 보고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10.28~10.30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10.29 종료 보고 </a:t>
                      </a:r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[확인 필요]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예정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600" y="6120000"/>
            <a:ext cx="9144000" cy="23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sz="1000" b="0" lang="ko-KR" altLang="en-US">
                <a:solidFill>
                  <a:schemeClr val="tx1"/>
                </a:solidFill>
              </a:rPr>
              <a:t>※ 실적 기준일 '26.10.23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주요 협의 및 결정 사항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6차례 협의로 데이터 기준과 분석 범위 확정, U8 추가 요청은 현재 Chain Rule 안에서 수용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추진 경과</a:t>
            </a:r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453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36000"/>
                <a:gridCol w="1296000"/>
                <a:gridCol w="6912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일자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결정 내용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02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10.02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상견례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10월 말 완료 목표 / 시스템은 Chain 영역 Defect 개수, 위치 표시, 판정은 엔지니어 / 파일 수동 업로드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702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10.06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데이터 기준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GDS를 Back side 기준으로 사용 / Full(76 Die), Hybrid(26 Die)는 같은 Device / E-Test는 Chain별 Limit 판정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702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10.12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 회신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파일명 규칙, Parameter 이름 규칙(RES, LKG), 통합 Die 번호와 좌표 대응표(76 Die) 수령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702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10.13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후속 협의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BS/FS, Step은 엔지니어 선택(MES 연동은 본 프로젝트) / Spec은 Parameter 단위 / 좌표는 허용오차로 맞춤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702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10.19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중간 리뷰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연관 분석 기능 우선 / U8 추가 요청 → 현재 Chain Rule로 셋업, 새 Rule은 본 프로젝트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702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10.21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진행 공유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Defect 판정 영역은 사각형(크기 + 허용오차) / 10.26 주 검증, 목요일 보고 / 화면 영문화 요청(추후)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시스템 구성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기존 DMS/YMS에 도면(GDS) 화면과 연관 분석 화면을 더해, </a:t>
            </a:r>
            <a:r>
              <a:rPr lang="ko-KR" altLang="en-US" dirty="0" b="1"/>
              <a:t>셋업 → 업로드 → 분석이 한 클라이언트에서 이어지도록</a:t>
            </a:r>
            <a:r>
              <a:rPr lang="ko-KR" altLang="en-US" dirty="0"/>
              <a:t> 구성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III. 주요 수행 내용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1872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400" b="1" lang="ko-KR" altLang="en-US">
                <a:solidFill>
                  <a:schemeClr val="bg1"/>
                </a:solidFill>
              </a:rPr>
              <a:t>입력 파일 (엔지니어)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98000"/>
            <a:ext cx="1872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tx1"/>
                </a:solidFill>
              </a:rPr>
              <a:t>GDS 도면</a:t>
            </a:r>
          </a:p>
          <a:p>
            <a:pPr algn="ctr" latinLnBrk="0"/>
            <a:r>
              <a:rPr sz="1300" b="0" lang="ko-KR" altLang="en-US">
                <a:solidFill>
                  <a:schemeClr val="tx1"/>
                </a:solidFill>
              </a:rPr>
              <a:t>Chain 배선 위치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2934000"/>
            <a:ext cx="1872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tx1"/>
                </a:solidFill>
              </a:rPr>
              <a:t>KLARF + 이미지</a:t>
            </a:r>
          </a:p>
          <a:p>
            <a:pPr algn="ctr" latinLnBrk="0"/>
            <a:r>
              <a:rPr sz="1300" b="0" lang="ko-KR" altLang="en-US">
                <a:solidFill>
                  <a:schemeClr val="tx1"/>
                </a:solidFill>
              </a:rPr>
              <a:t>AOI Defect 좌표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600" y="3870000"/>
            <a:ext cx="1872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tx1"/>
                </a:solidFill>
              </a:rPr>
              <a:t>E-Test 결과</a:t>
            </a:r>
          </a:p>
          <a:p>
            <a:pPr algn="ctr" latinLnBrk="0"/>
            <a:r>
              <a:rPr sz="1300" b="0" lang="ko-KR" altLang="en-US">
                <a:solidFill>
                  <a:schemeClr val="tx1"/>
                </a:solidFill>
              </a:rPr>
              <a:t>Chain별 측정값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22000" y="2286000"/>
            <a:ext cx="270000" cy="25199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</a:p>
        </p:txBody>
      </p:sp>
      <p:sp>
        <p:nvSpPr>
          <p:cNvPr id="12" name="Right Arrow 11"/>
          <p:cNvSpPr/>
          <p:nvPr/>
        </p:nvSpPr>
        <p:spPr>
          <a:xfrm>
            <a:off x="2322000" y="3221999"/>
            <a:ext cx="270000" cy="25199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</a:p>
        </p:txBody>
      </p:sp>
      <p:sp>
        <p:nvSpPr>
          <p:cNvPr id="13" name="Right Arrow 12"/>
          <p:cNvSpPr/>
          <p:nvPr/>
        </p:nvSpPr>
        <p:spPr>
          <a:xfrm>
            <a:off x="2322000" y="4158000"/>
            <a:ext cx="270000" cy="25199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</a:p>
        </p:txBody>
      </p:sp>
      <p:sp>
        <p:nvSpPr>
          <p:cNvPr id="14" name="Rectangle 13"/>
          <p:cNvSpPr/>
          <p:nvPr/>
        </p:nvSpPr>
        <p:spPr>
          <a:xfrm>
            <a:off x="2664000" y="1519200"/>
            <a:ext cx="432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400" b="1" lang="ko-KR" altLang="en-US">
                <a:solidFill>
                  <a:schemeClr val="bg1"/>
                </a:solidFill>
              </a:rPr>
              <a:t>DMS 클라이언트 POC 메뉴 (12개 화면)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4000" y="1998000"/>
            <a:ext cx="1296000" cy="82799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bg1"/>
                </a:solidFill>
              </a:rPr>
              <a:t>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0000" y="1998000"/>
            <a:ext cx="3024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l" latinLnBrk="0"/>
            <a:r>
              <a:rPr sz="1200" b="0" lang="ko-KR" altLang="en-US">
                <a:solidFill>
                  <a:schemeClr val="tx1"/>
                </a:solidFill>
              </a:rPr>
              <a:t>GDS Map Setup / Wafer Map Setup</a:t>
            </a:r>
          </a:p>
          <a:p>
            <a:pPr algn="l" latinLnBrk="0"/>
            <a:r>
              <a:rPr sz="1200" b="0" lang="ko-KR" altLang="en-US">
                <a:solidFill>
                  <a:schemeClr val="tx1"/>
                </a:solidFill>
              </a:rPr>
              <a:t>E-Test Para Register, Setup / E-Test Bin Setup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4000" y="2934000"/>
            <a:ext cx="1296000" cy="82799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bg1"/>
                </a:solidFill>
              </a:rPr>
              <a:t>Data Upload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0000" y="2934000"/>
            <a:ext cx="3024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l" latinLnBrk="0"/>
            <a:r>
              <a:rPr sz="1200" b="0" lang="ko-KR" altLang="en-US">
                <a:solidFill>
                  <a:schemeClr val="tx1"/>
                </a:solidFill>
              </a:rPr>
              <a:t>KLARF File Upload</a:t>
            </a:r>
          </a:p>
          <a:p>
            <a:pPr algn="l" latinLnBrk="0"/>
            <a:r>
              <a:rPr sz="1200" b="0" lang="ko-KR" altLang="en-US">
                <a:solidFill>
                  <a:schemeClr val="tx1"/>
                </a:solidFill>
              </a:rPr>
              <a:t>E-Test Result Upload (YMS 자동 반영)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4000" y="3870000"/>
            <a:ext cx="1296000" cy="82799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bg1"/>
                </a:solidFill>
              </a:rPr>
              <a:t>View</a:t>
            </a:r>
          </a:p>
          <a:p>
            <a:pPr algn="ctr" latinLnBrk="0"/>
            <a:r>
              <a:rPr sz="1300" b="1" lang="ko-KR" altLang="en-US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0" y="3870000"/>
            <a:ext cx="3024000" cy="82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l" latinLnBrk="0"/>
            <a:r>
              <a:rPr sz="1200" b="0" lang="ko-KR" altLang="en-US">
                <a:solidFill>
                  <a:schemeClr val="tx1"/>
                </a:solidFill>
              </a:rPr>
              <a:t>GDS Map View, U8 / Wafer Map View</a:t>
            </a:r>
          </a:p>
          <a:p>
            <a:pPr algn="l" latinLnBrk="0"/>
            <a:r>
              <a:rPr sz="1200" b="0" lang="ko-KR" altLang="en-US">
                <a:solidFill>
                  <a:schemeClr val="tx1"/>
                </a:solidFill>
              </a:rPr>
              <a:t>E-Test Result View / GDS-KLARF-ET Correlation</a:t>
            </a:r>
          </a:p>
        </p:txBody>
      </p:sp>
      <p:sp>
        <p:nvSpPr>
          <p:cNvPr id="21" name="Left-Right Arrow 20"/>
          <p:cNvSpPr/>
          <p:nvPr/>
        </p:nvSpPr>
        <p:spPr>
          <a:xfrm>
            <a:off x="7038000" y="2286000"/>
            <a:ext cx="342000" cy="251999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</a:p>
        </p:txBody>
      </p:sp>
      <p:sp>
        <p:nvSpPr>
          <p:cNvPr id="22" name="Left-Right Arrow 21"/>
          <p:cNvSpPr/>
          <p:nvPr/>
        </p:nvSpPr>
        <p:spPr>
          <a:xfrm>
            <a:off x="7038000" y="3221999"/>
            <a:ext cx="342000" cy="251999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</a:p>
        </p:txBody>
      </p:sp>
      <p:sp>
        <p:nvSpPr>
          <p:cNvPr id="23" name="Left-Right Arrow 22"/>
          <p:cNvSpPr/>
          <p:nvPr/>
        </p:nvSpPr>
        <p:spPr>
          <a:xfrm>
            <a:off x="7038000" y="4158000"/>
            <a:ext cx="342000" cy="251999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</a:p>
        </p:txBody>
      </p:sp>
      <p:sp>
        <p:nvSpPr>
          <p:cNvPr id="24" name="Rectangle 23"/>
          <p:cNvSpPr/>
          <p:nvPr/>
        </p:nvSpPr>
        <p:spPr>
          <a:xfrm>
            <a:off x="7437600" y="1519200"/>
            <a:ext cx="2088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400" b="1" lang="ko-KR" altLang="en-US">
                <a:solidFill>
                  <a:schemeClr val="bg1"/>
                </a:solidFill>
              </a:rPr>
              <a:t>고객 서버 (IT팀)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37600" y="1998000"/>
            <a:ext cx="2088000" cy="827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200" b="1" lang="ko-KR" altLang="en-US">
                <a:solidFill>
                  <a:schemeClr val="tx1"/>
                </a:solidFill>
              </a:rPr>
              <a:t>App 서버</a:t>
            </a:r>
          </a:p>
          <a:p>
            <a:pPr algn="ctr" latinLnBrk="0"/>
            <a:r>
              <a:rPr sz="1200" b="0" lang="ko-KR" altLang="en-US">
                <a:solidFill>
                  <a:schemeClr val="tx1"/>
                </a:solidFill>
              </a:rPr>
              <a:t>업무 서비스 (BSL)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7600" y="2934000"/>
            <a:ext cx="2088000" cy="827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200" b="1" lang="ko-KR" altLang="en-US">
                <a:solidFill>
                  <a:schemeClr val="tx1"/>
                </a:solidFill>
              </a:rPr>
              <a:t>Oracle DB</a:t>
            </a:r>
          </a:p>
          <a:p>
            <a:pPr algn="ctr" latinLnBrk="0"/>
            <a:r>
              <a:rPr sz="1200" b="0" lang="ko-KR" altLang="en-US">
                <a:solidFill>
                  <a:schemeClr val="tx1"/>
                </a:solidFill>
              </a:rPr>
              <a:t>POC 신규 테이블 16 + 기존 DMS/YMS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37600" y="3870000"/>
            <a:ext cx="2088000" cy="827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200" b="1" lang="ko-KR" altLang="en-US">
                <a:solidFill>
                  <a:schemeClr val="tx1"/>
                </a:solidFill>
              </a:rPr>
              <a:t>FTP</a:t>
            </a:r>
          </a:p>
          <a:p>
            <a:pPr algn="ctr" latinLnBrk="0"/>
            <a:r>
              <a:rPr sz="1200" b="0" lang="ko-KR" altLang="en-US">
                <a:solidFill>
                  <a:schemeClr val="tx1"/>
                </a:solidFill>
              </a:rPr>
              <a:t>Defect 이미지 저장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600" y="4896000"/>
            <a:ext cx="91440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400" b="1" lang="ko-KR" altLang="en-US">
                <a:solidFill>
                  <a:schemeClr val="accent1"/>
                </a:solidFill>
              </a:rPr>
              <a:t>분석 흐름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600" y="5310000"/>
            <a:ext cx="22140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200" b="0" lang="ko-KR" altLang="en-US">
                <a:solidFill>
                  <a:schemeClr val="tx1"/>
                </a:solidFill>
              </a:rPr>
              <a:t>① Device별 1회 셋업 (Map, GDS, Chain, Para)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85600" y="5310000"/>
            <a:ext cx="22140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200" b="0" lang="ko-KR" altLang="en-US">
                <a:solidFill>
                  <a:schemeClr val="tx1"/>
                </a:solidFill>
              </a:rPr>
              <a:t>② Lot마다 KLARF, E-Test 업로드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9600" y="5310000"/>
            <a:ext cx="22140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200" b="0" lang="ko-KR" altLang="en-US">
                <a:solidFill>
                  <a:schemeClr val="tx1"/>
                </a:solidFill>
              </a:rPr>
              <a:t>③ Chain 영역과 Defect 위치 겹침 계산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3600" y="5310000"/>
            <a:ext cx="2214000" cy="5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200" b="0" lang="ko-KR" altLang="en-US">
                <a:solidFill>
                  <a:schemeClr val="tx1"/>
                </a:solidFill>
              </a:rPr>
              <a:t>④ 엔지니어가 Die 상세 보고 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600" y="5976000"/>
            <a:ext cx="9144000" cy="23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sz="1000" b="0" lang="ko-KR" altLang="en-US">
                <a:solidFill>
                  <a:schemeClr val="tx1"/>
                </a:solidFill>
              </a:rPr>
              <a:t>※ POC는 모든 파일을 엔지니어가 수동 업로드 / MES 기준정보 연동, 자동 수집은 본 프로젝트 범위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기능별 개발 결과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POC 메뉴 12개 화면 개발, 자동 점검(서버 Probe, 화면 Smoke) 통과 후 고객 환경 화면 확인 단계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III. 주요 수행 내용</a:t>
            </a:r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457199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80000"/>
                <a:gridCol w="2664000"/>
                <a:gridCol w="3960000"/>
                <a:gridCol w="1440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주요 기능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71999">
                <a:tc rowSpan="4">
                  <a:txBody>
                    <a:bodyPr wrap="square"/>
                    <a:lstStyle/>
                    <a:p>
                      <a:pPr algn="ctr" latinLnBrk="0"/>
                      <a:r>
                        <a:rPr sz="1100" b="1" lang="ko-KR" altLang="en-US">
                          <a:solidFill>
                            <a:schemeClr val="tx1"/>
                          </a:solidFill>
                        </a:rPr>
                        <a:t>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GDS Map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GDS 읽기, 필요한 Layer만 저장, 최상위 Cell 선택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화면 확인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71999">
                <a:tc vMerge="1"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Wafer Map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KLARF 기준 Wafer Map 생성, XY 방향, Flat Zone, Pitch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자동 점검 PASS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71999">
                <a:tc vMerge="1"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E-Test Para Register,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결과 파일 헤더를 Parameter로 등록, Spec, GDS Chain 연결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자동 점검 PASS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71999">
                <a:tc vMerge="1"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E-Test Bin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Hardware Bin 기준 정의, 양품 변경 시 수율 재계산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자동 점검 PASS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71999">
                <a:tc rowSpan="2">
                  <a:txBody>
                    <a:bodyPr wrap="square"/>
                    <a:lstStyle/>
                    <a:p>
                      <a:pPr algn="ctr" latinLnBrk="0"/>
                      <a:r>
                        <a:rPr sz="1100" b="1" lang="ko-KR" altLang="en-US">
                          <a:solidFill>
                            <a:schemeClr val="tx1"/>
                          </a:solidFill>
                        </a:rPr>
                        <a:t>Upload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KLARF File Upload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KLARF, Defect 이미지 적재, KLARF 표준 분류, 썸네일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운영 반영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71999">
                <a:tc vMerge="1"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E-Test Result Upload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측정값 저장, Spec 판정, YMS 자동 반영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TRAINING 확인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71999">
                <a:tc rowSpan="3">
                  <a:txBody>
                    <a:bodyPr wrap="square"/>
                    <a:lstStyle/>
                    <a:p>
                      <a:pPr algn="ctr" latinLnBrk="0"/>
                      <a:r>
                        <a:rPr sz="1100" b="1" lang="ko-KR" altLang="en-US">
                          <a:solidFill>
                            <a:schemeClr val="tx1"/>
                          </a:solidFill>
                        </a:rPr>
                        <a:t>View, Analysis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GDS Map View, U8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Chain 설정, Front/Back 전환, Label 검색, 같은 형태 Chain 일괄 생성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자동 점검 PASS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71999">
                <a:tc vMerge="1"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Wafer Map View, E-Test Result View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Wafer별 Defect 분포, Die별 측정값과 판정 조회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자동 점검 PASS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71999">
                <a:tc vMerge="1"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GDS-KLARF-ET Correlation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Wafer 1장 즉시 분석, Die별 Chain 영역 Defect 수, Die 상세(도면 위 Defect, Chain, E-Test)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100" lang="ko-KR" altLang="en-US">
                          <a:solidFill>
                            <a:schemeClr val="tx1"/>
                          </a:solidFill>
                        </a:rPr>
                        <a:t>자동 점검 PASS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600" y="6156000"/>
            <a:ext cx="9144000" cy="23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sz="1000" b="0" lang="ko-KR" altLang="en-US">
                <a:solidFill>
                  <a:schemeClr val="tx1"/>
                </a:solidFill>
              </a:rPr>
              <a:t>※ 상태 기준 '26.10.23 / 자동 점검 PASS 화면은 최신 빌드 고객 서버 반영 후 화면 확인 예정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대용량 도면 처리 성능 개선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U9 대비 3배 큰 U8 도면(도형 181만, Chain 2.7만)까지 처리하도록 구조 개선, 주요 작업 시간 </a:t>
            </a:r>
            <a:r>
              <a:rPr lang="ko-KR" altLang="en-US" dirty="0" b="1"/>
              <a:t>70~99% 단축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III. 주요 수행 내용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311999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400" b="1" lang="ko-KR" altLang="en-US">
                <a:solidFill>
                  <a:schemeClr val="bg1"/>
                </a:solidFill>
              </a:rPr>
              <a:t>Device별 데이터량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1600" y="1944000"/>
          <a:ext cx="3312000" cy="252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24000"/>
                <a:gridCol w="1044000"/>
                <a:gridCol w="1044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U9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U8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GDS 크기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87MB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346MB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도형 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605,080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1,817,538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Label 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30,992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274,162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Chain 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15~19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27,342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Defect (Wafer)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1,122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1,438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888000" y="1519200"/>
            <a:ext cx="56376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400" b="1" lang="ko-KR" altLang="en-US">
                <a:solidFill>
                  <a:schemeClr val="bg1"/>
                </a:solidFill>
              </a:rPr>
              <a:t>주요 작업 처리 시간 (개선 전 → 후)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88000" y="1944000"/>
          <a:ext cx="5637600" cy="252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97600"/>
                <a:gridCol w="1224000"/>
                <a:gridCol w="1080000"/>
                <a:gridCol w="936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작업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개선 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개선 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단축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U8 GDS 열기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메모리 부족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18.1초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열기 가능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KLARF 1,122건 읽기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239초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1.4초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99% ↓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U8 Chain 상세 읽기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약 5분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2.9초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99% ↓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U8 Die 상세보기 열기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67.7초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20.0초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70% ↓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E-Test Para 2,755개 삭제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15.7초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0.1초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99% ↓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81600" y="4680000"/>
            <a:ext cx="9144000" cy="34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36000" bIns="36000"/>
          <a:lstStyle/>
          <a:p>
            <a:pPr algn="l" latinLnBrk="0"/>
            <a:r>
              <a:rPr sz="1400" b="1" lang="ko-KR" altLang="en-US">
                <a:solidFill>
                  <a:schemeClr val="tx1"/>
                </a:solidFill>
              </a:rPr>
              <a:t>적용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999" y="5076000"/>
            <a:ext cx="8928000" cy="104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도면 열기: 필요한 최상위 Cell만 선택해 읽고, 화면 표시용 정점 구조를 바꿔 메모리 사용 축소</a:t>
            </a:r>
          </a:p>
          <a:p>
            <a:pPr lvl="1" latinLnBrk="0"/>
            <a:r>
              <a:rPr sz="1300" lang="ko-KR" altLang="en-US"/>
              <a:t>조회: Chain 단위 반복 조회를 범위 일괄 조회와 Cache로 변경</a:t>
            </a:r>
          </a:p>
          <a:p>
            <a:pPr lvl="1" latinLnBrk="0"/>
            <a:r>
              <a:rPr sz="1300" lang="ko-KR" altLang="en-US"/>
              <a:t>저장: 대량 행을 묶어 저장(Bulk), 중복 테이블 제거로 U9 도면 저장 240.7초 → 22.9초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운영 환경 구성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고객 TRAINING DB와 App 서버 반영 완료, </a:t>
            </a:r>
            <a:r>
              <a:rPr lang="ko-KR" altLang="en-US" dirty="0" b="1"/>
              <a:t>Defect 이미지 FTP와 연구소 망 방화벽 개방이 남음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III. 주요 수행 내용</a:t>
            </a:r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3999" cy="4104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96000"/>
                <a:gridCol w="3600000"/>
                <a:gridCol w="1296000"/>
                <a:gridCol w="2951999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남은 일 (담당)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DB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TRAINING DB(Oracle 11g)에 POC 스키마 반영 (테이블 78, 인덱스 140)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완료 (10.21)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테이블스페이스 분리 (선택, IT팀)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App 서버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업무 서비스 설치, 설정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완료 (10.21)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최신 빌드 반영 (미라콤)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Defect 이미지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FTP 계정 로그인, 이미지 폴더 생성 확인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진행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FTP 경로 설정 반영 (미라콤, IT팀)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방화벽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 PC → 서버 업무 포트, FTP 포트 개방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대기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 망 정보 전달 → 개방 (연구소, IT팀)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설치 파일 생성 (Setup 2026.10.23.1)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진행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 PC 설치 확인 (미라콤)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인계 문서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설치 절차서, 되돌리기 방법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미착수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작성 후 IT팀 전달 (미라콤)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600" y="5832000"/>
            <a:ext cx="9144000" cy="23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sz="1000" b="0" lang="ko-KR" altLang="en-US">
                <a:solidFill>
                  <a:schemeClr val="tx1"/>
                </a:solidFill>
              </a:rPr>
              <a:t>※ 역할 원칙(R&amp;R): IT팀에는 판단이 아닌 실행만 전달, 반영 자료, 절차, 되돌리기 방법은 미라콤이 준비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검증 결과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[고객 검증 후 작성] 사전 검증에서 U9 Wafer 1장 기준 47개 항목 중 44개 PASS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IV. POC 결과</a:t>
            </a:r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309599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04000"/>
                <a:gridCol w="3240000"/>
                <a:gridCol w="2448000"/>
                <a:gridCol w="1152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검증 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검증 기준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판정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61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좌표 대응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KLARF, GDS, E-Test의 Die 위치가 고객 히트맵과 일치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61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Chain 영역 Defect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판정 영역(크기 + 허용오차) 안 Defect 수, 위치 정확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61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E-Test Fail 연결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Spec Out Chain이 도면 Chain에 정확히 표시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61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연관 분류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일치 / Fail만 / Defect만 목록이 엔지니어 판단과 일치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61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대용량 처리 (U8)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Die 상세 응답 시간 </a:t>
                      </a:r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[기준 확인 필요]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61999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사용성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Key User가 매뉴얼만으로 셋업부터 분석까지 수행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[검증 후 작성]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600" y="4752000"/>
            <a:ext cx="9144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36000" bIns="36000"/>
          <a:lstStyle/>
          <a:p>
            <a:pPr algn="l" latinLnBrk="0"/>
            <a:r>
              <a:rPr sz="1400" b="1" lang="ko-KR" altLang="en-US">
                <a:solidFill>
                  <a:schemeClr val="accent1"/>
                </a:solidFill>
              </a:rPr>
              <a:t>사전 검증 결과</a:t>
            </a:r>
            <a:r>
              <a:rPr sz="1400" b="0" lang="ko-KR" altLang="en-US">
                <a:solidFill>
                  <a:schemeClr val="accent1"/>
                </a:solidFill>
              </a:rPr>
              <a:t> ('26.10.19, U9 OMM_TCB Wafer 1장)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5148000"/>
            <a:ext cx="8928000" cy="1080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점검 47개 항목 중 44개 PASS, FAIL 3건은 원본 데이터 문제로 확인</a:t>
            </a:r>
          </a:p>
          <a:p>
            <a:pPr lvl="1" latinLnBrk="0"/>
            <a:r>
              <a:rPr sz="1300" lang="ko-KR" altLang="en-US"/>
              <a:t>Chain에 걸린 Defect 472건 / (Die, Chain) 298칸 분류: 일치 26, Fail만 123, Defect만 106, 비교 불가 43</a:t>
            </a:r>
          </a:p>
          <a:p>
            <a:pPr lvl="1" latinLnBrk="0"/>
            <a:r>
              <a:rPr sz="1300" lang="ko-KR" altLang="en-US"/>
              <a:t>Fail만, Defect만 칸이 많아 허용오차, Wafer 매칭 기준 확정 후 재검증 필요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평가 및 시사점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도면 기반 Defect, Fail 연관 분석의 </a:t>
            </a:r>
            <a:r>
              <a:rPr lang="ko-KR" altLang="en-US" dirty="0" b="1"/>
              <a:t>구현 가능성 확인</a:t>
            </a:r>
            <a:r>
              <a:rPr lang="ko-KR" altLang="en-US" dirty="0"/>
              <a:t>, 실사용에는 데이터 기준 표준화가 선결 과제 [고객 평가 반영 예정]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IV. POC 결과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600" b="1" lang="ko-KR" altLang="en-US">
                <a:solidFill>
                  <a:schemeClr val="bg1"/>
                </a:solidFill>
              </a:rPr>
              <a:t>확인된 가능성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30024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9" name="TextBox 8"/>
          <p:cNvSpPr txBox="1"/>
          <p:nvPr/>
        </p:nvSpPr>
        <p:spPr>
          <a:xfrm>
            <a:off x="489600" y="2052000"/>
            <a:ext cx="2808000" cy="2592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GDS, KLARF, E-Test 3종 데이터를 Die, Chain 단위로 연결</a:t>
            </a:r>
          </a:p>
          <a:p>
            <a:pPr lvl="1" latinLnBrk="0"/>
            <a:r>
              <a:rPr sz="1300" lang="ko-KR" altLang="en-US"/>
              <a:t>대용량 도면(U8)도 기존 DMS 클라이언트 안에서 처리</a:t>
            </a:r>
          </a:p>
          <a:p>
            <a:pPr lvl="1" latinLnBrk="0"/>
            <a:r>
              <a:rPr sz="1300" lang="ko-KR" altLang="en-US"/>
              <a:t>기존 DMS/YMS 화면, 테이블 재사용으로 1개월 안에 구현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600" b="1" lang="ko-KR" altLang="en-US">
                <a:solidFill>
                  <a:schemeClr val="bg1"/>
                </a:solidFill>
              </a:rPr>
              <a:t>남은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1980000"/>
            <a:ext cx="30024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2" name="TextBox 11"/>
          <p:cNvSpPr txBox="1"/>
          <p:nvPr/>
        </p:nvSpPr>
        <p:spPr>
          <a:xfrm>
            <a:off x="3560400" y="2052000"/>
            <a:ext cx="2808000" cy="2592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좌표 100% 일치 어려움 → 허용오차 기준 확정 필요</a:t>
            </a:r>
          </a:p>
          <a:p>
            <a:pPr lvl="1" latinLnBrk="0"/>
            <a:r>
              <a:rPr sz="1300" lang="ko-KR" altLang="en-US"/>
              <a:t>Wafer ID 표기 차이(KLARF FS, E-Test HS) 매칭 규칙 미확정</a:t>
            </a:r>
          </a:p>
          <a:p>
            <a:pPr lvl="1" latinLnBrk="0"/>
            <a:r>
              <a:rPr sz="1300" lang="ko-KR" altLang="en-US"/>
              <a:t>파일 수동 업로드, Chain 이름 수작업 연결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600" b="1" lang="ko-KR" altLang="en-US">
                <a:solidFill>
                  <a:schemeClr val="bg1"/>
                </a:solidFill>
              </a:rPr>
              <a:t>Lesson Learned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99" y="1980000"/>
            <a:ext cx="30024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5" name="TextBox 14"/>
          <p:cNvSpPr txBox="1"/>
          <p:nvPr/>
        </p:nvSpPr>
        <p:spPr>
          <a:xfrm>
            <a:off x="6631199" y="2052000"/>
            <a:ext cx="2808000" cy="2592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판정은 엔지니어, 시스템은 시각화로 범위를 좁혀 일정 리스크 감소</a:t>
            </a:r>
          </a:p>
          <a:p>
            <a:pPr lvl="1" latinLnBrk="0"/>
            <a:r>
              <a:rPr sz="1300" lang="ko-KR" altLang="en-US"/>
              <a:t>파일명, Parameter 이름, Die 대응표 등 데이터 기준은 착수 시 확정 필요</a:t>
            </a:r>
          </a:p>
          <a:p>
            <a:pPr lvl="1" latinLnBrk="0"/>
            <a:r>
              <a:rPr sz="1300" lang="ko-KR" altLang="en-US"/>
              <a:t>고객 서버, 망 준비는 개발 기간 중 선행 필요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600" y="4860000"/>
            <a:ext cx="1800000" cy="1296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600" b="1" lang="ko-KR" altLang="en-US">
                <a:solidFill>
                  <a:schemeClr val="bg1"/>
                </a:solidFill>
              </a:rPr>
              <a:t>고객 평가 의견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81600" y="4860000"/>
            <a:ext cx="7343999" cy="129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36000" bIns="36000"/>
          <a:lstStyle/>
          <a:p>
            <a:pPr algn="l" latinLnBrk="0"/>
            <a:r>
              <a:rPr sz="1400" b="0" lang="ko-KR" altLang="en-US">
                <a:solidFill>
                  <a:schemeClr val="accent6"/>
                </a:solidFill>
              </a:rPr>
              <a:t>[고객 검증 후 작성]</a:t>
            </a:r>
            <a:r>
              <a:rPr sz="1400" b="0" lang="ko-KR" altLang="en-US">
                <a:solidFill>
                  <a:schemeClr val="tx1"/>
                </a:solidFill>
              </a:rPr>
              <a:t> 연구소 Key User 평가, 본사업 확장 의견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철수 후 운영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미라콤 철수 후에도 연구소가 </a:t>
            </a:r>
            <a:r>
              <a:rPr lang="ko-KR" altLang="en-US" dirty="0" b="1"/>
              <a:t>'27.1.31까지 POC 시스템을 직접 사용</a:t>
            </a:r>
            <a:r>
              <a:rPr lang="ko-KR" altLang="en-US" dirty="0"/>
              <a:t>하도록 사용 조건, 운영 역할, 인계 자료를 정함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V. 종료 후 운영 방안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600" b="1" lang="ko-KR" altLang="en-US">
                <a:solidFill>
                  <a:schemeClr val="bg1"/>
                </a:solidFill>
              </a:rPr>
              <a:t>시스템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9" name="TextBox 8"/>
          <p:cNvSpPr txBox="1"/>
          <p:nvPr/>
        </p:nvSpPr>
        <p:spPr>
          <a:xfrm>
            <a:off x="489600" y="2070000"/>
            <a:ext cx="2808000" cy="2520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POC License: '27.1.31까지 데이터 등록, 수정 가능</a:t>
            </a:r>
          </a:p>
          <a:p>
            <a:pPr lvl="1" latinLnBrk="0"/>
            <a:r>
              <a:rPr sz="1300" lang="ko-KR" altLang="en-US"/>
              <a:t>기한 후 조회 전용 전환 (등록 데이터 유지)</a:t>
            </a:r>
          </a:p>
          <a:p>
            <a:pPr lvl="1" latinLnBrk="0"/>
            <a:r>
              <a:rPr sz="1300" lang="ko-KR" altLang="en-US"/>
              <a:t>사용 결과로 본사업 확장 판단 (착수 시 약 3개월 사용 안내)</a:t>
            </a:r>
          </a:p>
          <a:p>
            <a:pPr lvl="1" latinLnBrk="0"/>
            <a:r>
              <a:rPr sz="1300" lang="ko-KR" altLang="en-US"/>
              <a:t>Device 수 제한 여부 </a:t>
            </a:r>
            <a:r>
              <a:rPr sz="1300" lang="ko-KR" altLang="en-US">
                <a:solidFill>
                  <a:schemeClr val="accent6"/>
                </a:solidFill>
              </a:rPr>
              <a:t>[확인 필요]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600" b="1" lang="ko-KR" altLang="en-US">
                <a:solidFill>
                  <a:schemeClr val="bg1"/>
                </a:solidFill>
              </a:rPr>
              <a:t>운영 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2" name="TextBox 11"/>
          <p:cNvSpPr txBox="1"/>
          <p:nvPr/>
        </p:nvSpPr>
        <p:spPr>
          <a:xfrm>
            <a:off x="3560400" y="2070000"/>
            <a:ext cx="2808000" cy="2520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연구소: 파일 업로드, 셋업, 분석 (Key User)</a:t>
            </a:r>
          </a:p>
          <a:p>
            <a:pPr lvl="1" latinLnBrk="0"/>
            <a:r>
              <a:rPr sz="1300" lang="ko-KR" altLang="en-US"/>
              <a:t>IT팀: 서버, DB, 방화벽 관리, 장애 1차 확인</a:t>
            </a:r>
          </a:p>
          <a:p>
            <a:pPr lvl="1" latinLnBrk="0"/>
            <a:r>
              <a:rPr sz="1300" lang="ko-KR" altLang="en-US"/>
              <a:t>미라콤: 문의 대응, 결함 조치 </a:t>
            </a:r>
            <a:r>
              <a:rPr sz="1300" lang="ko-KR" altLang="en-US">
                <a:solidFill>
                  <a:schemeClr val="accent6"/>
                </a:solidFill>
              </a:rPr>
              <a:t>[지원 방식, 기간 확인 필요]</a:t>
            </a:r>
          </a:p>
          <a:p>
            <a:pPr lvl="1" latinLnBrk="0"/>
            <a:r>
              <a:rPr sz="1300" lang="ko-KR" altLang="en-US"/>
              <a:t>상시 운영, 백업, 모니터링은 별도 협의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600" b="1" lang="ko-KR" altLang="en-US">
                <a:solidFill>
                  <a:schemeClr val="bg1"/>
                </a:solidFill>
              </a:rPr>
              <a:t>인계 자료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99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5" name="TextBox 14"/>
          <p:cNvSpPr txBox="1"/>
          <p:nvPr/>
        </p:nvSpPr>
        <p:spPr>
          <a:xfrm>
            <a:off x="6631199" y="2070000"/>
            <a:ext cx="2808000" cy="2520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300" lang="ko-KR" altLang="en-US"/>
              <a:t>사용자 매뉴얼 (2차 시안 </a:t>
            </a:r>
            <a:r>
              <a:rPr sz="1300" lang="ko-KR" altLang="en-US">
                <a:solidFill>
                  <a:schemeClr val="accent6"/>
                </a:solidFill>
              </a:rPr>
              <a:t>[작성 예정]</a:t>
            </a:r>
            <a:r>
              <a:rPr sz="1300" lang="ko-KR" altLang="en-US"/>
              <a:t>)</a:t>
            </a:r>
          </a:p>
          <a:p>
            <a:pPr lvl="1" latinLnBrk="0"/>
            <a:r>
              <a:rPr sz="1300" lang="ko-KR" altLang="en-US"/>
              <a:t>설치 절차서, 되돌리기 방법</a:t>
            </a:r>
          </a:p>
          <a:p>
            <a:pPr lvl="1" latinLnBrk="0"/>
            <a:r>
              <a:rPr sz="1300" lang="ko-KR" altLang="en-US"/>
              <a:t>서버, 클라이언트 설치 파일과 버전 정보</a:t>
            </a:r>
          </a:p>
          <a:p>
            <a:pPr lvl="1" latinLnBrk="0"/>
            <a:r>
              <a:rPr sz="1300" lang="ko-KR" altLang="en-US"/>
              <a:t>운영 유의사항, Key User 교육 자료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600" y="4788000"/>
            <a:ext cx="91440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36000" bIns="36000"/>
          <a:lstStyle/>
          <a:p>
            <a:pPr algn="l" latinLnBrk="0"/>
            <a:r>
              <a:rPr sz="1400" b="1" lang="ko-KR" altLang="en-US">
                <a:solidFill>
                  <a:schemeClr val="accent1"/>
                </a:solidFill>
              </a:rPr>
              <a:t>철수 전후 일정</a:t>
            </a:r>
          </a:p>
        </p:txBody>
      </p:sp>
      <p:sp>
        <p:nvSpPr>
          <p:cNvPr id="17" name="Pentagon 16"/>
          <p:cNvSpPr/>
          <p:nvPr/>
        </p:nvSpPr>
        <p:spPr>
          <a:xfrm>
            <a:off x="381600" y="5202000"/>
            <a:ext cx="1908000" cy="7920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36000" bIns="36000"/>
          <a:lstStyle/>
          <a:p>
            <a:pPr algn="ctr" latinLnBrk="0"/>
            <a:r>
              <a:rPr sz="1200" b="1" lang="ko-KR" altLang="en-US">
                <a:solidFill>
                  <a:schemeClr val="bg1"/>
                </a:solidFill>
              </a:rPr>
              <a:t>10.26~10.28</a:t>
            </a:r>
          </a:p>
          <a:p>
            <a:pPr algn="ctr" latinLnBrk="0"/>
            <a:r>
              <a:rPr sz="1200" b="0" lang="ko-KR" altLang="en-US">
                <a:solidFill>
                  <a:schemeClr val="bg1"/>
                </a:solidFill>
              </a:rPr>
              <a:t>고객 검증</a:t>
            </a:r>
          </a:p>
        </p:txBody>
      </p:sp>
      <p:sp>
        <p:nvSpPr>
          <p:cNvPr id="18" name="Chevron 17"/>
          <p:cNvSpPr/>
          <p:nvPr/>
        </p:nvSpPr>
        <p:spPr>
          <a:xfrm>
            <a:off x="2190600" y="5202000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36000" bIns="36000"/>
          <a:lstStyle/>
          <a:p>
            <a:pPr algn="ctr" latinLnBrk="0"/>
            <a:r>
              <a:rPr sz="1200" b="1" lang="ko-KR" altLang="en-US">
                <a:solidFill>
                  <a:schemeClr val="bg1"/>
                </a:solidFill>
              </a:rPr>
              <a:t>10.29</a:t>
            </a:r>
          </a:p>
          <a:p>
            <a:pPr algn="ctr" latinLnBrk="0"/>
            <a:r>
              <a:rPr sz="1200" b="0" lang="ko-KR" altLang="en-US">
                <a:solidFill>
                  <a:schemeClr val="bg1"/>
                </a:solidFill>
              </a:rPr>
              <a:t>종료 보고</a:t>
            </a:r>
          </a:p>
        </p:txBody>
      </p:sp>
      <p:sp>
        <p:nvSpPr>
          <p:cNvPr id="19" name="Chevron 18"/>
          <p:cNvSpPr/>
          <p:nvPr/>
        </p:nvSpPr>
        <p:spPr>
          <a:xfrm>
            <a:off x="3999600" y="5202000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36000" bIns="36000"/>
          <a:lstStyle/>
          <a:p>
            <a:pPr algn="ctr" latinLnBrk="0"/>
            <a:r>
              <a:rPr sz="1200" b="1" lang="ko-KR" altLang="en-US">
                <a:solidFill>
                  <a:schemeClr val="bg1"/>
                </a:solidFill>
              </a:rPr>
              <a:t>10월 말</a:t>
            </a:r>
          </a:p>
          <a:p>
            <a:pPr algn="ctr" latinLnBrk="0"/>
            <a:r>
              <a:rPr sz="1200" b="0" lang="ko-KR" altLang="en-US">
                <a:solidFill>
                  <a:schemeClr val="bg1"/>
                </a:solidFill>
              </a:rPr>
              <a:t>현장 철수</a:t>
            </a:r>
          </a:p>
        </p:txBody>
      </p:sp>
      <p:sp>
        <p:nvSpPr>
          <p:cNvPr id="20" name="Chevron 19"/>
          <p:cNvSpPr/>
          <p:nvPr/>
        </p:nvSpPr>
        <p:spPr>
          <a:xfrm>
            <a:off x="5808600" y="5202000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36000" bIns="36000"/>
          <a:lstStyle/>
          <a:p>
            <a:pPr algn="ctr" latinLnBrk="0"/>
            <a:r>
              <a:rPr sz="1200" b="1" lang="ko-KR" altLang="en-US">
                <a:solidFill>
                  <a:schemeClr val="bg1"/>
                </a:solidFill>
              </a:rPr>
              <a:t>~'27.1.31</a:t>
            </a:r>
          </a:p>
          <a:p>
            <a:pPr algn="ctr" latinLnBrk="0"/>
            <a:r>
              <a:rPr sz="1200" b="0" lang="ko-KR" altLang="en-US">
                <a:solidFill>
                  <a:schemeClr val="bg1"/>
                </a:solidFill>
              </a:rPr>
              <a:t>POC 사용</a:t>
            </a:r>
          </a:p>
        </p:txBody>
      </p:sp>
      <p:sp>
        <p:nvSpPr>
          <p:cNvPr id="21" name="Chevron 20"/>
          <p:cNvSpPr/>
          <p:nvPr/>
        </p:nvSpPr>
        <p:spPr>
          <a:xfrm>
            <a:off x="7617600" y="5202000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36000" bIns="36000"/>
          <a:lstStyle/>
          <a:p>
            <a:pPr algn="ctr" latinLnBrk="0"/>
            <a:r>
              <a:rPr sz="1200" b="1" lang="ko-KR" altLang="en-US">
                <a:solidFill>
                  <a:schemeClr val="bg1"/>
                </a:solidFill>
              </a:rPr>
              <a:t>'27.1~</a:t>
            </a:r>
          </a:p>
          <a:p>
            <a:pPr algn="ctr" latinLnBrk="0"/>
            <a:r>
              <a:rPr sz="1200" b="0" lang="ko-KR" altLang="en-US">
                <a:solidFill>
                  <a:schemeClr val="bg1"/>
                </a:solidFill>
              </a:rPr>
              <a:t>본사업 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600" y="6083999"/>
            <a:ext cx="9144000" cy="23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sz="1000" b="0" lang="ko-KR" altLang="en-US">
                <a:solidFill>
                  <a:schemeClr val="tx1"/>
                </a:solidFill>
              </a:rPr>
              <a:t>※ 종료 보고일, 현장 철수일, 본사업 판단 시점 </a:t>
            </a:r>
            <a:r>
              <a:rPr sz="1000" b="0" lang="ko-KR" altLang="en-US">
                <a:solidFill>
                  <a:schemeClr val="accent6"/>
                </a:solidFill>
              </a:rPr>
              <a:t>[확인 필요]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철수 전 인계 점검 및 잔여 이슈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철수 전 미라콤 조치 6건을 마무리하고, 고객 회신이 필요한 6건은 담당을 정해 이관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V. 종료 후 운영 방안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4536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400" b="1" lang="ko-KR" altLang="en-US">
                <a:solidFill>
                  <a:schemeClr val="bg1"/>
                </a:solidFill>
              </a:rPr>
              <a:t>철수 전 미라콤 조치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1600" y="1925999"/>
          <a:ext cx="4536000" cy="417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36000"/>
                <a:gridCol w="864000"/>
                <a:gridCol w="936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목표일(안)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상태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최신 빌드 서버, 클라이언트 반영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10.26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진행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Defect 이미지 FTP 적용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10.26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IT팀 대기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POC License 서버 배포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10.26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대기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사용자 매뉴얼 2차, Key User 교육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10.27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진행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설치 절차서, 인계 자료 작성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10.28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미착수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납품 소스 정리, 형상 확정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10.29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진행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89600" y="1519200"/>
            <a:ext cx="4536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400" b="1" lang="ko-KR" altLang="en-US">
                <a:solidFill>
                  <a:schemeClr val="bg1"/>
                </a:solidFill>
              </a:rPr>
              <a:t>고객 확인 필요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89600" y="1925999"/>
          <a:ext cx="4536000" cy="417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84000"/>
                <a:gridCol w="1152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담당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Wafer 매칭 규칙 (KLARF FS ↔ E-Test HS 표기)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U8 판정 기준 (Connectivity, PowerShort 등), 수정 E-Test 파일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U9 나머지 Chain(C4DC, ASICDC, HBMDC, PIC) 이름, Spec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 망 정보 전달 → 방화벽 개방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연구소, IT팀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YMS 화면 POC 노출 범위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42000"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POC 완료 판정 기준, 판정 일자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연구소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1600" y="6192000"/>
            <a:ext cx="9144000" cy="23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sz="1000" b="0" lang="ko-KR" altLang="en-US">
                <a:solidFill>
                  <a:schemeClr val="tx1"/>
                </a:solidFill>
              </a:rPr>
              <a:t>※ 목표일은 미라콤 제안 일정 </a:t>
            </a:r>
            <a:r>
              <a:rPr sz="1000" b="0" lang="ko-KR" altLang="en-US">
                <a:solidFill>
                  <a:schemeClr val="accent6"/>
                </a:solidFill>
              </a:rPr>
              <a:t>[확인 필요]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본 프로젝트 이관 항목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POC에서 수동으로 처리한 연동, 수집, 규칙 확장 7건을 </a:t>
            </a:r>
            <a:r>
              <a:rPr lang="ko-KR" altLang="en-US" dirty="0" b="1"/>
              <a:t>본 프로젝트(Phase 1) 범위로 제안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VI. 향후 추진 방향</a:t>
            </a:r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424799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52000"/>
                <a:gridCol w="1800000"/>
                <a:gridCol w="2520000"/>
                <a:gridCol w="2520000"/>
                <a:gridCol w="1152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POC 처리 방식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본 프로젝트 방향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bg1"/>
                          </a:solidFill>
                        </a:rPr>
                        <a:t>근거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60571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연동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MES 기준정보 연동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BS/FS, Step을 엔지니어가 선택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MES 정보로 자동 설정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10.13 회의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60571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수집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파일 자동 수집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KLARF, E-Test 수동 업로드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FTP 배치 자동 수집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10.02 회의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60571">
                <a:tc rowSpan="2"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규칙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새 Chain Rule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단자 기준 탐색 + U8 같은 형태 일괄 생성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배열, Functional Net 자동 추출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10.19 리뷰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60571">
                <a:tc vMerge="1">
                  <a:txBody>
                    <a:bodyPr wrap="square"/>
                    <a:lstStyle/>
                    <a:p>
                      <a:pPr algn="ctr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E-Test 단자 연결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E-Test 이름을 Chain 이름에 수작업 연결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단자 자동 묶기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개발 검토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60571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Spec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Spec 관리 단위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Parameter 이름 단위 (약 120개)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카테고리 단위 관리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10.13 회의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60571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화면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영문화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한글 화면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영문 화면 지원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10.21 요청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60571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License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정식 License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POC License ('27.1.31)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정식 License 체계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600" y="5903999"/>
            <a:ext cx="9144000" cy="23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sz="1000" b="0" lang="ko-KR" altLang="en-US">
                <a:solidFill>
                  <a:schemeClr val="tx1"/>
                </a:solidFill>
              </a:rPr>
              <a:t>※ 영문화의 본 프로젝트 포함 여부 </a:t>
            </a:r>
            <a:r>
              <a:rPr sz="1000" b="0" lang="ko-KR" altLang="en-US">
                <a:solidFill>
                  <a:schemeClr val="accent6"/>
                </a:solidFill>
              </a:rPr>
              <a:t>[확인 필요]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향후 추진 로드맵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POC 사용 평가('~27.1) 후 Phase 1 본사업으로 전환, 자동 처리와 모니터링까지 단계적 확장 제안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VI. 향후 추진 방향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3510000"/>
            <a:ext cx="2196000" cy="54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bg1"/>
                </a:solidFill>
              </a:rPr>
              <a:t>POC</a:t>
            </a:r>
          </a:p>
          <a:p>
            <a:pPr algn="ctr" latinLnBrk="0"/>
            <a:r>
              <a:rPr sz="1300" b="0" lang="ko-KR" altLang="en-US">
                <a:solidFill>
                  <a:schemeClr val="bg1"/>
                </a:solidFill>
              </a:rPr>
              <a:t>'26.10 (1개월)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4050000"/>
            <a:ext cx="2196000" cy="1421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9" name="TextBox 8"/>
          <p:cNvSpPr txBox="1"/>
          <p:nvPr/>
        </p:nvSpPr>
        <p:spPr>
          <a:xfrm>
            <a:off x="489600" y="4121999"/>
            <a:ext cx="2015999" cy="1152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200" lang="ko-KR" altLang="en-US"/>
              <a:t>도면 기반 연관 분석</a:t>
            </a:r>
          </a:p>
          <a:p>
            <a:pPr lvl="1" latinLnBrk="0"/>
            <a:r>
              <a:rPr sz="1200" lang="ko-KR" altLang="en-US"/>
              <a:t>구현 가능성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6400" y="2880000"/>
            <a:ext cx="2196000" cy="54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bg1"/>
                </a:solidFill>
              </a:rPr>
              <a:t>POC 사용 평가</a:t>
            </a:r>
          </a:p>
          <a:p>
            <a:pPr algn="ctr" latinLnBrk="0"/>
            <a:r>
              <a:rPr sz="1300" b="0" lang="ko-KR" altLang="en-US">
                <a:solidFill>
                  <a:schemeClr val="bg1"/>
                </a:solidFill>
              </a:rPr>
              <a:t>'26.11~'27.1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6400" y="3420000"/>
            <a:ext cx="2196000" cy="2051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2" name="TextBox 11"/>
          <p:cNvSpPr txBox="1"/>
          <p:nvPr/>
        </p:nvSpPr>
        <p:spPr>
          <a:xfrm>
            <a:off x="2804400" y="3491999"/>
            <a:ext cx="2015999" cy="1152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200" lang="ko-KR" altLang="en-US"/>
              <a:t>연구소 실사용</a:t>
            </a:r>
          </a:p>
          <a:p>
            <a:pPr lvl="1" latinLnBrk="0"/>
            <a:r>
              <a:rPr sz="1200" lang="ko-KR" altLang="en-US"/>
              <a:t>개선 요구 수집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1200" y="2250000"/>
            <a:ext cx="2196000" cy="5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bg1"/>
                </a:solidFill>
              </a:rPr>
              <a:t>Phase 1</a:t>
            </a:r>
          </a:p>
          <a:p>
            <a:pPr algn="ctr" latinLnBrk="0"/>
            <a:r>
              <a:rPr sz="1300" b="0" lang="ko-KR" altLang="en-US">
                <a:solidFill>
                  <a:schemeClr val="bg1"/>
                </a:solidFill>
              </a:rPr>
              <a:t>6개월, 8 M/M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1200" y="2790000"/>
            <a:ext cx="2196000" cy="2681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5" name="TextBox 14"/>
          <p:cNvSpPr txBox="1"/>
          <p:nvPr/>
        </p:nvSpPr>
        <p:spPr>
          <a:xfrm>
            <a:off x="5119200" y="2862000"/>
            <a:ext cx="2015999" cy="1152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200" lang="ko-KR" altLang="en-US"/>
              <a:t>기준정보, CAD 데이터 관리</a:t>
            </a:r>
          </a:p>
          <a:p>
            <a:pPr lvl="1" latinLnBrk="0"/>
            <a:r>
              <a:rPr sz="1200" lang="ko-KR" altLang="en-US"/>
              <a:t>Parser, 자동 처리</a:t>
            </a:r>
          </a:p>
          <a:p>
            <a:pPr lvl="1" latinLnBrk="0"/>
            <a:r>
              <a:rPr sz="1200" lang="ko-KR" altLang="en-US"/>
              <a:t>분석, 모니터링 기능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25999" y="1620000"/>
            <a:ext cx="2196000" cy="54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300" b="1" lang="ko-KR" altLang="en-US">
                <a:solidFill>
                  <a:schemeClr val="bg1"/>
                </a:solidFill>
              </a:rPr>
              <a:t>Phase 2</a:t>
            </a:r>
          </a:p>
          <a:p>
            <a:pPr algn="ctr" latinLnBrk="0"/>
            <a:r>
              <a:rPr sz="1300" b="0" lang="ko-KR" altLang="en-US">
                <a:solidFill>
                  <a:schemeClr val="bg1"/>
                </a:solidFill>
              </a:rPr>
              <a:t>3개월, 3 M/M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5999" y="2160000"/>
            <a:ext cx="2196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</a:p>
        </p:txBody>
      </p:sp>
      <p:sp>
        <p:nvSpPr>
          <p:cNvPr id="18" name="TextBox 17"/>
          <p:cNvSpPr txBox="1"/>
          <p:nvPr/>
        </p:nvSpPr>
        <p:spPr>
          <a:xfrm>
            <a:off x="7433999" y="2232000"/>
            <a:ext cx="2015999" cy="1152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sz="1200" lang="ko-KR" altLang="en-US"/>
              <a:t>기준정보 추가 등록</a:t>
            </a:r>
          </a:p>
          <a:p>
            <a:pPr lvl="1" latinLnBrk="0"/>
            <a:r>
              <a:rPr sz="1200" lang="ko-KR" altLang="en-US"/>
              <a:t>Report, 기능 보완</a:t>
            </a:r>
          </a:p>
          <a:p>
            <a:pPr lvl="1" latinLnBrk="0"/>
            <a:r>
              <a:rPr sz="1200" lang="ko-KR" altLang="en-US"/>
              <a:t>안정화, 인수인계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600" y="5598000"/>
            <a:ext cx="1800000" cy="630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/>
            <a:r>
              <a:rPr sz="1500" b="1" lang="ko-KR" altLang="en-US">
                <a:solidFill>
                  <a:schemeClr val="bg1"/>
                </a:solidFill>
              </a:rPr>
              <a:t>결정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81600" y="5598000"/>
            <a:ext cx="7343999" cy="63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36000" bIns="36000"/>
          <a:lstStyle/>
          <a:p>
            <a:pPr algn="l" latinLnBrk="0"/>
            <a:r>
              <a:rPr sz="1200" b="0" lang="ko-KR" altLang="en-US">
                <a:solidFill>
                  <a:schemeClr val="tx1"/>
                </a:solidFill>
              </a:rPr>
              <a:t>POC 완료 판정('26.10.29) / 사용 기간 중 개선 요구 수집 창구 지정</a:t>
            </a:r>
          </a:p>
          <a:p>
            <a:pPr algn="l" latinLnBrk="0"/>
            <a:r>
              <a:rPr sz="1200" b="0" lang="ko-KR" altLang="en-US">
                <a:solidFill>
                  <a:schemeClr val="tx1"/>
                </a:solidFill>
              </a:rPr>
              <a:t>본사업 추진 여부 결정 시점 </a:t>
            </a:r>
            <a:r>
              <a:rPr sz="1200" b="0" lang="ko-KR" altLang="en-US">
                <a:solidFill>
                  <a:schemeClr val="accent6"/>
                </a:solidFill>
              </a:rPr>
              <a:t>['27.1 확인 필요]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600" y="6263999"/>
            <a:ext cx="9144000" cy="234000"/>
          </a:xfrm>
          <a:prstGeom prst="rect">
            <a:avLst/>
          </a:prstGeom>
          <a:noFill/>
        </p:spPr>
        <p:txBody>
          <a:bodyPr wrap="square" anchor="t" lIns="0" rIns="0" tIns="46800" bIns="4680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sz="1000" b="0" lang="ko-KR" altLang="en-US">
                <a:solidFill>
                  <a:schemeClr val="tx1"/>
                </a:solidFill>
              </a:rPr>
              <a:t>※ Phase 1, 2 기간과 인력은 제안서 v1.1('26.7.29) 기준, 범위와 일정은 사용 평가 후 재협의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별첨. 주요 산출물 목록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계획, 설계, 개발, 검증 단계 산출물을 프로젝트 문서 폴더에 정리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별첨자료</a:t>
            </a:r>
            <a:endParaRPr lang="ko-KR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600" y="1519200"/>
          <a:ext cx="9144000" cy="4464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96000"/>
                <a:gridCol w="5256000"/>
                <a:gridCol w="1080000"/>
                <a:gridCol w="1512000"/>
              </a:tblGrid>
              <a:tr h="3240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단계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산출물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수량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300" b="1"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착수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계약서, 견적서, Function List v2, 손익 시뮬레이션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1000.착수단계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계획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WBS, 개발 일정, 역할 범위(R&amp;R)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협의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회의록 (10.02, 10.06, 10.13), 회의 결정 이력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10.19, 10.21 회의록 </a:t>
                      </a:r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[작성 예정]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설계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설계 문서 (계획 10, GDS 18, KLARF 7, E-Test 13, 연관 분석 12, 환경 운영 11)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71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개발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소스 (DMS, YMS, GDS 도면 컨트롤), DB 스크립트 (POC 신규 테이블 16)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납품 형상 </a:t>
                      </a:r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[확인 필요]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검증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자동 점검 스크립트 (서버 약 62, 화면 약 31), 검증 리포트 9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100+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이행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사용자 매뉴얼 1차 시안 (29장), 클라이언트 설치 파일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매뉴얼 2차 </a:t>
                      </a:r>
                      <a:r>
                        <a:rPr sz="1200" lang="ko-KR" altLang="en-US">
                          <a:solidFill>
                            <a:schemeClr val="accent6"/>
                          </a:solidFill>
                        </a:rPr>
                        <a:t>[작성 예정]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7500"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b="1" lang="ko-KR" altLang="en-US">
                          <a:solidFill>
                            <a:schemeClr val="tx1"/>
                          </a:solidFill>
                        </a:rPr>
                        <a:t>종료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완료보고서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/>
                      <a:r>
                        <a:rPr sz="1200" lang="ko-KR" altLang="en-US">
                          <a:solidFill>
                            <a:schemeClr val="tx1"/>
                          </a:solidFill>
                        </a:rPr>
                        <a:t>본 문서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2C52DB-E9E3-46CD-811C-803D077AD9CA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27955</TotalTime>
  <Words>952</Words>
  <Application>Microsoft Office PowerPoint</Application>
  <PresentationFormat>A4 용지(210x297mm)</PresentationFormat>
  <Paragraphs>274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PowerPoint 프레젠테이션</vt:lpstr>
      <vt:lpstr>페이지 제목 (맑은 고딕Bold 26pt)</vt:lpstr>
      <vt:lpstr>테마색 사용 가이드</vt:lpstr>
      <vt:lpstr>페이지 제목 (맑은 고딕Bold 26pt)</vt:lpstr>
      <vt:lpstr>페이지 제목 (맑은 고딕Bold 26pt)</vt:lpstr>
      <vt:lpstr>페이지 제목 (맑은 고딕Bold 26pt)</vt:lpstr>
      <vt:lpstr>페이지 제목 (맑은 고딕Bold 26pt)</vt:lpstr>
      <vt:lpstr>페이지 제목 (맑은 고딕Bold 26pt)</vt:lpstr>
      <vt:lpstr>페이지 제목 (맑은 고딕Bold 26pt)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오브젝트 모음</vt:lpstr>
      <vt:lpstr>오브젝트 모음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Defect / E-Test 자동 분석 시스템 구축 POC 완료보고</dc:title>
  <dc:creator>정병주</dc:creator>
  <cp:lastModifiedBy/>
  <cp:revision>1</cp:revision>
  <dcterms:created xsi:type="dcterms:W3CDTF">2013-11-13T01:08:07Z</dcterms:created>
  <dcterms:modified xsi:type="dcterms:W3CDTF">2026-05-03T23:15:57Z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